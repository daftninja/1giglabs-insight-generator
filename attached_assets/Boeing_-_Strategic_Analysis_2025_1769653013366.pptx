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Hedvig Letters Sans" panose="020B0604020202020204" charset="0"/>
      <p:regular r:id="rId15"/>
    </p:embeddedFont>
    <p:embeddedFont>
      <p:font typeface="Liter" panose="020B0604020202020204" charset="0"/>
      <p:regular r:id="rId16"/>
    </p:embeddedFont>
    <p:embeddedFont>
      <p:font typeface="Quattrocento Sans" panose="020B0502050000020003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819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636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869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ravelandleisure.com/dc907636c530e5edddee09ba37d4c0f9481b9931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728" b="772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3182CE">
                  <a:alpha val="4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400050" y="381000"/>
            <a:ext cx="2619375" cy="342900"/>
          </a:xfrm>
          <a:custGeom>
            <a:avLst/>
            <a:gdLst/>
            <a:ahLst/>
            <a:cxnLst/>
            <a:rect l="l" t="t" r="r" b="b"/>
            <a:pathLst>
              <a:path w="2619375" h="342900">
                <a:moveTo>
                  <a:pt x="0" y="0"/>
                </a:moveTo>
                <a:lnTo>
                  <a:pt x="2619375" y="0"/>
                </a:lnTo>
                <a:lnTo>
                  <a:pt x="26193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00050" y="381000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0" y="0"/>
                </a:moveTo>
                <a:lnTo>
                  <a:pt x="38100" y="0"/>
                </a:lnTo>
                <a:lnTo>
                  <a:pt x="381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09600" y="4572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Analysis 2025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21656"/>
            <a:ext cx="682942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Boeing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940844"/>
            <a:ext cx="66484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900" b="1" dirty="0">
                <a:solidFill>
                  <a:srgbClr val="3182C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Navigating Turbulence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900" b="1" dirty="0">
                <a:solidFill>
                  <a:srgbClr val="3182C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Toward Recovery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407694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Strategic Overview of the Aerospace Giant's Challenges, Transformation, and Path Forward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33400" y="60198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3400" y="621030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1916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344662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497062" y="6019800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7062" y="6210300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170,000+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84847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737247" y="60198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NYSE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737247" y="6210300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58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33500"/>
            <a:ext cx="3686175" cy="866775"/>
          </a:xfrm>
          <a:custGeom>
            <a:avLst/>
            <a:gdLst/>
            <a:ahLst/>
            <a:cxnLst/>
            <a:rect l="l" t="t" r="r" b="b"/>
            <a:pathLst>
              <a:path w="3686175" h="866775">
                <a:moveTo>
                  <a:pt x="38100" y="0"/>
                </a:moveTo>
                <a:lnTo>
                  <a:pt x="3609977" y="0"/>
                </a:lnTo>
                <a:cubicBezTo>
                  <a:pt x="3652060" y="0"/>
                  <a:pt x="3686175" y="34115"/>
                  <a:pt x="3686175" y="76198"/>
                </a:cubicBezTo>
                <a:lnTo>
                  <a:pt x="3686175" y="790577"/>
                </a:lnTo>
                <a:cubicBezTo>
                  <a:pt x="3686175" y="832660"/>
                  <a:pt x="3652060" y="866775"/>
                  <a:pt x="3609977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00050" y="1333500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71500" y="14859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23181" y="1504950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Profile &amp; Legacy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1866900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century of aviation leadership and innovation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2316956"/>
            <a:ext cx="3686175" cy="866775"/>
          </a:xfrm>
          <a:custGeom>
            <a:avLst/>
            <a:gdLst/>
            <a:ahLst/>
            <a:cxnLst/>
            <a:rect l="l" t="t" r="r" b="b"/>
            <a:pathLst>
              <a:path w="3686175" h="866775">
                <a:moveTo>
                  <a:pt x="38100" y="0"/>
                </a:moveTo>
                <a:lnTo>
                  <a:pt x="3609977" y="0"/>
                </a:lnTo>
                <a:cubicBezTo>
                  <a:pt x="3652060" y="0"/>
                  <a:pt x="3686175" y="34115"/>
                  <a:pt x="3686175" y="76198"/>
                </a:cubicBezTo>
                <a:lnTo>
                  <a:pt x="3686175" y="790577"/>
                </a:lnTo>
                <a:cubicBezTo>
                  <a:pt x="3686175" y="832660"/>
                  <a:pt x="3652060" y="866775"/>
                  <a:pt x="3609977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00050" y="2316956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71500" y="2469356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4555" y="2488406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Portfolio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850356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pillars of aerospace excellence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3300413"/>
            <a:ext cx="3686175" cy="866775"/>
          </a:xfrm>
          <a:custGeom>
            <a:avLst/>
            <a:gdLst/>
            <a:ahLst/>
            <a:cxnLst/>
            <a:rect l="l" t="t" r="r" b="b"/>
            <a:pathLst>
              <a:path w="3686175" h="866775">
                <a:moveTo>
                  <a:pt x="38100" y="0"/>
                </a:moveTo>
                <a:lnTo>
                  <a:pt x="3609977" y="0"/>
                </a:lnTo>
                <a:cubicBezTo>
                  <a:pt x="3652060" y="0"/>
                  <a:pt x="3686175" y="34115"/>
                  <a:pt x="3686175" y="76198"/>
                </a:cubicBezTo>
                <a:lnTo>
                  <a:pt x="3686175" y="790577"/>
                </a:lnTo>
                <a:cubicBezTo>
                  <a:pt x="3686175" y="832660"/>
                  <a:pt x="3652060" y="866775"/>
                  <a:pt x="3609977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00050" y="3300413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1500" y="3452813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6639" y="3471863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Commercial Airplanes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3833812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lineup and market positioning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4283869"/>
            <a:ext cx="3686175" cy="866775"/>
          </a:xfrm>
          <a:custGeom>
            <a:avLst/>
            <a:gdLst/>
            <a:ahLst/>
            <a:cxnLst/>
            <a:rect l="l" t="t" r="r" b="b"/>
            <a:pathLst>
              <a:path w="3686175" h="866775">
                <a:moveTo>
                  <a:pt x="38100" y="0"/>
                </a:moveTo>
                <a:lnTo>
                  <a:pt x="3609977" y="0"/>
                </a:lnTo>
                <a:cubicBezTo>
                  <a:pt x="3652060" y="0"/>
                  <a:pt x="3686175" y="34115"/>
                  <a:pt x="3686175" y="76198"/>
                </a:cubicBezTo>
                <a:lnTo>
                  <a:pt x="3686175" y="790577"/>
                </a:lnTo>
                <a:cubicBezTo>
                  <a:pt x="3686175" y="832660"/>
                  <a:pt x="3652060" y="866775"/>
                  <a:pt x="3609977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00050" y="4283869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71500" y="4436269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6341" y="4455319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Defense, Space &amp; Security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4817269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Protecting global interests worldwide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60800" y="1333500"/>
            <a:ext cx="3686175" cy="866775"/>
          </a:xfrm>
          <a:custGeom>
            <a:avLst/>
            <a:gdLst/>
            <a:ahLst/>
            <a:cxnLst/>
            <a:rect l="l" t="t" r="r" b="b"/>
            <a:pathLst>
              <a:path w="3686175" h="866775">
                <a:moveTo>
                  <a:pt x="38100" y="0"/>
                </a:moveTo>
                <a:lnTo>
                  <a:pt x="3609977" y="0"/>
                </a:lnTo>
                <a:cubicBezTo>
                  <a:pt x="3652060" y="0"/>
                  <a:pt x="3686175" y="34115"/>
                  <a:pt x="3686175" y="76198"/>
                </a:cubicBezTo>
                <a:lnTo>
                  <a:pt x="3686175" y="790577"/>
                </a:lnTo>
                <a:cubicBezTo>
                  <a:pt x="3686175" y="832660"/>
                  <a:pt x="3652060" y="866775"/>
                  <a:pt x="3609977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260800" y="1333500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432250" y="14859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24115" y="150495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Services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32250" y="1866900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Support, maintenance, and digital solutions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60800" y="2316956"/>
            <a:ext cx="3686175" cy="866775"/>
          </a:xfrm>
          <a:custGeom>
            <a:avLst/>
            <a:gdLst/>
            <a:ahLst/>
            <a:cxnLst/>
            <a:rect l="l" t="t" r="r" b="b"/>
            <a:pathLst>
              <a:path w="3686175" h="866775">
                <a:moveTo>
                  <a:pt x="38100" y="0"/>
                </a:moveTo>
                <a:lnTo>
                  <a:pt x="3609977" y="0"/>
                </a:lnTo>
                <a:cubicBezTo>
                  <a:pt x="3652060" y="0"/>
                  <a:pt x="3686175" y="34115"/>
                  <a:pt x="3686175" y="76198"/>
                </a:cubicBezTo>
                <a:lnTo>
                  <a:pt x="3686175" y="790577"/>
                </a:lnTo>
                <a:cubicBezTo>
                  <a:pt x="3686175" y="832660"/>
                  <a:pt x="3652060" y="866775"/>
                  <a:pt x="3609977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260800" y="2316956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432250" y="2469356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29175" y="2488406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Performance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32250" y="2850356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Signs of recovery and growth trajectory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60800" y="3300413"/>
            <a:ext cx="3686175" cy="866775"/>
          </a:xfrm>
          <a:custGeom>
            <a:avLst/>
            <a:gdLst/>
            <a:ahLst/>
            <a:cxnLst/>
            <a:rect l="l" t="t" r="r" b="b"/>
            <a:pathLst>
              <a:path w="3686175" h="866775">
                <a:moveTo>
                  <a:pt x="38100" y="0"/>
                </a:moveTo>
                <a:lnTo>
                  <a:pt x="3609977" y="0"/>
                </a:lnTo>
                <a:cubicBezTo>
                  <a:pt x="3652060" y="0"/>
                  <a:pt x="3686175" y="34115"/>
                  <a:pt x="3686175" y="76198"/>
                </a:cubicBezTo>
                <a:lnTo>
                  <a:pt x="3686175" y="790577"/>
                </a:lnTo>
                <a:cubicBezTo>
                  <a:pt x="3686175" y="832660"/>
                  <a:pt x="3652060" y="866775"/>
                  <a:pt x="3609977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260800" y="3300413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432250" y="345281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809530" y="3471863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Position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32250" y="3833812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Duopoly dynamics and competitive landscape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60800" y="4283869"/>
            <a:ext cx="3686175" cy="866775"/>
          </a:xfrm>
          <a:custGeom>
            <a:avLst/>
            <a:gdLst/>
            <a:ahLst/>
            <a:cxnLst/>
            <a:rect l="l" t="t" r="r" b="b"/>
            <a:pathLst>
              <a:path w="3686175" h="866775">
                <a:moveTo>
                  <a:pt x="38100" y="0"/>
                </a:moveTo>
                <a:lnTo>
                  <a:pt x="3609977" y="0"/>
                </a:lnTo>
                <a:cubicBezTo>
                  <a:pt x="3652060" y="0"/>
                  <a:pt x="3686175" y="34115"/>
                  <a:pt x="3686175" y="76198"/>
                </a:cubicBezTo>
                <a:lnTo>
                  <a:pt x="3686175" y="790577"/>
                </a:lnTo>
                <a:cubicBezTo>
                  <a:pt x="3686175" y="832660"/>
                  <a:pt x="3652060" y="866775"/>
                  <a:pt x="3609977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4260800" y="4283869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432250" y="4436269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832896" y="4455319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&amp; Quality Crisis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32250" y="4817269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Lessons from 737 MAX and transformation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21551" y="1333500"/>
            <a:ext cx="3686175" cy="866775"/>
          </a:xfrm>
          <a:custGeom>
            <a:avLst/>
            <a:gdLst/>
            <a:ahLst/>
            <a:cxnLst/>
            <a:rect l="l" t="t" r="r" b="b"/>
            <a:pathLst>
              <a:path w="3686175" h="866775">
                <a:moveTo>
                  <a:pt x="38100" y="0"/>
                </a:moveTo>
                <a:lnTo>
                  <a:pt x="3609977" y="0"/>
                </a:lnTo>
                <a:cubicBezTo>
                  <a:pt x="3652060" y="0"/>
                  <a:pt x="3686175" y="34115"/>
                  <a:pt x="3686175" y="76198"/>
                </a:cubicBezTo>
                <a:lnTo>
                  <a:pt x="3686175" y="790577"/>
                </a:lnTo>
                <a:cubicBezTo>
                  <a:pt x="3686175" y="832660"/>
                  <a:pt x="3652060" y="866775"/>
                  <a:pt x="3609977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8121551" y="1333500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8293001" y="1485900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89925" y="1504950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Leadership Transformation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93001" y="1866900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Kelly Ortberg's turnaround strategy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21551" y="2316956"/>
            <a:ext cx="3686175" cy="866775"/>
          </a:xfrm>
          <a:custGeom>
            <a:avLst/>
            <a:gdLst/>
            <a:ahLst/>
            <a:cxnLst/>
            <a:rect l="l" t="t" r="r" b="b"/>
            <a:pathLst>
              <a:path w="3686175" h="866775">
                <a:moveTo>
                  <a:pt x="38100" y="0"/>
                </a:moveTo>
                <a:lnTo>
                  <a:pt x="3609977" y="0"/>
                </a:lnTo>
                <a:cubicBezTo>
                  <a:pt x="3652060" y="0"/>
                  <a:pt x="3686175" y="34115"/>
                  <a:pt x="3686175" y="76198"/>
                </a:cubicBezTo>
                <a:lnTo>
                  <a:pt x="3686175" y="790577"/>
                </a:lnTo>
                <a:cubicBezTo>
                  <a:pt x="3686175" y="832660"/>
                  <a:pt x="3652060" y="866775"/>
                  <a:pt x="3609977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8121551" y="2316956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8293001" y="2469356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44682" y="2488406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Recovery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93001" y="2850356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Ramping up while maintaining quality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21551" y="3300413"/>
            <a:ext cx="3686175" cy="866775"/>
          </a:xfrm>
          <a:custGeom>
            <a:avLst/>
            <a:gdLst/>
            <a:ahLst/>
            <a:cxnLst/>
            <a:rect l="l" t="t" r="r" b="b"/>
            <a:pathLst>
              <a:path w="3686175" h="866775">
                <a:moveTo>
                  <a:pt x="38100" y="0"/>
                </a:moveTo>
                <a:lnTo>
                  <a:pt x="3609977" y="0"/>
                </a:lnTo>
                <a:cubicBezTo>
                  <a:pt x="3652060" y="0"/>
                  <a:pt x="3686175" y="34115"/>
                  <a:pt x="3686175" y="76198"/>
                </a:cubicBezTo>
                <a:lnTo>
                  <a:pt x="3686175" y="790577"/>
                </a:lnTo>
                <a:cubicBezTo>
                  <a:pt x="3686175" y="832660"/>
                  <a:pt x="3652060" y="866775"/>
                  <a:pt x="3609977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8121551" y="3300413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8293001" y="3452813"/>
            <a:ext cx="295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590211" y="3471863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Outlook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293001" y="3833812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opportunities and growth drivers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21551" y="4283869"/>
            <a:ext cx="3686175" cy="866775"/>
          </a:xfrm>
          <a:custGeom>
            <a:avLst/>
            <a:gdLst/>
            <a:ahLst/>
            <a:cxnLst/>
            <a:rect l="l" t="t" r="r" b="b"/>
            <a:pathLst>
              <a:path w="3686175" h="866775">
                <a:moveTo>
                  <a:pt x="38100" y="0"/>
                </a:moveTo>
                <a:lnTo>
                  <a:pt x="3609977" y="0"/>
                </a:lnTo>
                <a:cubicBezTo>
                  <a:pt x="3652060" y="0"/>
                  <a:pt x="3686175" y="34115"/>
                  <a:pt x="3686175" y="76198"/>
                </a:cubicBezTo>
                <a:lnTo>
                  <a:pt x="3686175" y="790577"/>
                </a:lnTo>
                <a:cubicBezTo>
                  <a:pt x="3686175" y="832660"/>
                  <a:pt x="3652060" y="866775"/>
                  <a:pt x="3609977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8121551" y="4283869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8293001" y="4436269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631585" y="4455319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293001" y="4817269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insights and conclusions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58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Century of Aviation Leadership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6181725" cy="2266950"/>
          </a:xfrm>
          <a:custGeom>
            <a:avLst/>
            <a:gdLst/>
            <a:ahLst/>
            <a:cxnLst/>
            <a:rect l="l" t="t" r="r" b="b"/>
            <a:pathLst>
              <a:path w="6181725" h="2266950">
                <a:moveTo>
                  <a:pt x="76192" y="0"/>
                </a:moveTo>
                <a:lnTo>
                  <a:pt x="6105533" y="0"/>
                </a:lnTo>
                <a:cubicBezTo>
                  <a:pt x="6147613" y="0"/>
                  <a:pt x="6181725" y="34112"/>
                  <a:pt x="6181725" y="76192"/>
                </a:cubicBezTo>
                <a:lnTo>
                  <a:pt x="6181725" y="2190758"/>
                </a:lnTo>
                <a:cubicBezTo>
                  <a:pt x="6181725" y="2232838"/>
                  <a:pt x="6147613" y="2266950"/>
                  <a:pt x="6105533" y="2266950"/>
                </a:cubicBezTo>
                <a:lnTo>
                  <a:pt x="76192" y="2266950"/>
                </a:lnTo>
                <a:cubicBezTo>
                  <a:pt x="34112" y="2266950"/>
                  <a:pt x="0" y="2232838"/>
                  <a:pt x="0" y="219075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71500" y="1371600"/>
            <a:ext cx="58769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Founded in 1916 by William Boeing</a:t>
            </a:r>
            <a:r>
              <a:rPr lang="en-US" sz="12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 Boeing Company has evolved from a small Seattle-based airplane manufacturer into one of the world's largest aerospace conglomerates. With over </a:t>
            </a:r>
            <a:r>
              <a:rPr lang="en-US" sz="1200" dirty="0">
                <a:solidFill>
                  <a:srgbClr val="B7943C"/>
                </a:solidFill>
                <a:highlight>
                  <a:srgbClr val="B7943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108 years of innovation </a:t>
            </a:r>
            <a:r>
              <a:rPr lang="en-US" sz="12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Boeing has shaped the aviation industry through iconic aircraft and technological breakthroughs.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1500" y="2514600"/>
            <a:ext cx="58769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Today, Boeing operates in </a:t>
            </a:r>
            <a:r>
              <a:rPr lang="en-US" sz="120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than 65 countries</a:t>
            </a:r>
            <a:r>
              <a:rPr lang="en-US" sz="12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 workforce exceeding </a:t>
            </a:r>
            <a:r>
              <a:rPr lang="en-US" sz="1200" dirty="0">
                <a:solidFill>
                  <a:srgbClr val="3182CE"/>
                </a:solidFill>
                <a:highlight>
                  <a:srgbClr val="3182CE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170,000 employees </a:t>
            </a:r>
            <a:r>
              <a:rPr lang="en-US" sz="12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company's aircraft fleet of </a:t>
            </a:r>
            <a:r>
              <a:rPr lang="en-US" sz="120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14,000+ commercial jets</a:t>
            </a:r>
            <a:r>
              <a:rPr lang="en-US" sz="12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serves airlines worldwide, while its defense systems protect allied nations across the globe.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3600450"/>
            <a:ext cx="3019425" cy="1200150"/>
          </a:xfrm>
          <a:custGeom>
            <a:avLst/>
            <a:gdLst/>
            <a:ahLst/>
            <a:cxnLst/>
            <a:rect l="l" t="t" r="r" b="b"/>
            <a:pathLst>
              <a:path w="3019425" h="1200150">
                <a:moveTo>
                  <a:pt x="38100" y="0"/>
                </a:moveTo>
                <a:lnTo>
                  <a:pt x="2943227" y="0"/>
                </a:lnTo>
                <a:cubicBezTo>
                  <a:pt x="2985310" y="0"/>
                  <a:pt x="3019425" y="34115"/>
                  <a:pt x="3019425" y="76198"/>
                </a:cubicBezTo>
                <a:lnTo>
                  <a:pt x="3019425" y="1123952"/>
                </a:lnTo>
                <a:cubicBezTo>
                  <a:pt x="3019425" y="1166035"/>
                  <a:pt x="2985310" y="1200150"/>
                  <a:pt x="2943227" y="1200150"/>
                </a:cubicBezTo>
                <a:lnTo>
                  <a:pt x="38100" y="1200150"/>
                </a:lnTo>
                <a:cubicBezTo>
                  <a:pt x="17072" y="1200150"/>
                  <a:pt x="0" y="1183078"/>
                  <a:pt x="0" y="1162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00050" y="3600450"/>
            <a:ext cx="38100" cy="1200150"/>
          </a:xfrm>
          <a:custGeom>
            <a:avLst/>
            <a:gdLst/>
            <a:ahLst/>
            <a:cxnLst/>
            <a:rect l="l" t="t" r="r" b="b"/>
            <a:pathLst>
              <a:path w="38100" h="1200150">
                <a:moveTo>
                  <a:pt x="38100" y="0"/>
                </a:moveTo>
                <a:lnTo>
                  <a:pt x="38100" y="0"/>
                </a:lnTo>
                <a:lnTo>
                  <a:pt x="38100" y="1200150"/>
                </a:lnTo>
                <a:lnTo>
                  <a:pt x="38100" y="1200150"/>
                </a:lnTo>
                <a:cubicBezTo>
                  <a:pt x="17072" y="1200150"/>
                  <a:pt x="0" y="1183078"/>
                  <a:pt x="0" y="1162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85788" y="37719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32172" y="89297"/>
                </a:moveTo>
                <a:cubicBezTo>
                  <a:pt x="245968" y="89297"/>
                  <a:pt x="257175" y="100504"/>
                  <a:pt x="257175" y="114300"/>
                </a:cubicBezTo>
                <a:cubicBezTo>
                  <a:pt x="257175" y="128096"/>
                  <a:pt x="245968" y="139303"/>
                  <a:pt x="232172" y="139303"/>
                </a:cubicBezTo>
                <a:lnTo>
                  <a:pt x="175334" y="139303"/>
                </a:lnTo>
                <a:lnTo>
                  <a:pt x="104254" y="216813"/>
                </a:lnTo>
                <a:cubicBezTo>
                  <a:pt x="101531" y="219760"/>
                  <a:pt x="97735" y="221456"/>
                  <a:pt x="93717" y="221456"/>
                </a:cubicBezTo>
                <a:lnTo>
                  <a:pt x="74206" y="221456"/>
                </a:lnTo>
                <a:cubicBezTo>
                  <a:pt x="69339" y="221456"/>
                  <a:pt x="65901" y="216679"/>
                  <a:pt x="67419" y="212035"/>
                </a:cubicBezTo>
                <a:lnTo>
                  <a:pt x="91663" y="139303"/>
                </a:lnTo>
                <a:lnTo>
                  <a:pt x="47149" y="139303"/>
                </a:lnTo>
                <a:lnTo>
                  <a:pt x="23574" y="168771"/>
                </a:lnTo>
                <a:cubicBezTo>
                  <a:pt x="22235" y="170468"/>
                  <a:pt x="20181" y="171450"/>
                  <a:pt x="17993" y="171450"/>
                </a:cubicBezTo>
                <a:lnTo>
                  <a:pt x="9153" y="171450"/>
                </a:lnTo>
                <a:cubicBezTo>
                  <a:pt x="4509" y="171450"/>
                  <a:pt x="1116" y="167074"/>
                  <a:pt x="2232" y="162565"/>
                </a:cubicBezTo>
                <a:lnTo>
                  <a:pt x="14288" y="114300"/>
                </a:lnTo>
                <a:lnTo>
                  <a:pt x="2232" y="66035"/>
                </a:lnTo>
                <a:cubicBezTo>
                  <a:pt x="1072" y="61526"/>
                  <a:pt x="4509" y="57150"/>
                  <a:pt x="9153" y="57150"/>
                </a:cubicBezTo>
                <a:lnTo>
                  <a:pt x="17993" y="57150"/>
                </a:lnTo>
                <a:cubicBezTo>
                  <a:pt x="20181" y="57150"/>
                  <a:pt x="22235" y="58132"/>
                  <a:pt x="23574" y="59829"/>
                </a:cubicBezTo>
                <a:lnTo>
                  <a:pt x="47149" y="89297"/>
                </a:lnTo>
                <a:lnTo>
                  <a:pt x="91663" y="89297"/>
                </a:lnTo>
                <a:lnTo>
                  <a:pt x="67419" y="16565"/>
                </a:lnTo>
                <a:cubicBezTo>
                  <a:pt x="65901" y="11921"/>
                  <a:pt x="69339" y="7144"/>
                  <a:pt x="74206" y="7144"/>
                </a:cubicBezTo>
                <a:lnTo>
                  <a:pt x="93717" y="7144"/>
                </a:lnTo>
                <a:cubicBezTo>
                  <a:pt x="97735" y="7144"/>
                  <a:pt x="101531" y="8840"/>
                  <a:pt x="104254" y="11787"/>
                </a:cubicBezTo>
                <a:lnTo>
                  <a:pt x="175334" y="89297"/>
                </a:lnTo>
                <a:lnTo>
                  <a:pt x="232172" y="89297"/>
                </a:ln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71550" y="375285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Commercial Aviation Pioneer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4095750"/>
            <a:ext cx="2762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Introduced the 707, first successful commercial jetliner, revolutionizing air travel in 1958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48063" y="3600450"/>
            <a:ext cx="3019425" cy="1200150"/>
          </a:xfrm>
          <a:custGeom>
            <a:avLst/>
            <a:gdLst/>
            <a:ahLst/>
            <a:cxnLst/>
            <a:rect l="l" t="t" r="r" b="b"/>
            <a:pathLst>
              <a:path w="3019425" h="1200150">
                <a:moveTo>
                  <a:pt x="38100" y="0"/>
                </a:moveTo>
                <a:lnTo>
                  <a:pt x="2943227" y="0"/>
                </a:lnTo>
                <a:cubicBezTo>
                  <a:pt x="2985310" y="0"/>
                  <a:pt x="3019425" y="34115"/>
                  <a:pt x="3019425" y="76198"/>
                </a:cubicBezTo>
                <a:lnTo>
                  <a:pt x="3019425" y="1123952"/>
                </a:lnTo>
                <a:cubicBezTo>
                  <a:pt x="3019425" y="1166035"/>
                  <a:pt x="2985310" y="1200150"/>
                  <a:pt x="2943227" y="1200150"/>
                </a:cubicBezTo>
                <a:lnTo>
                  <a:pt x="38100" y="1200150"/>
                </a:lnTo>
                <a:cubicBezTo>
                  <a:pt x="17072" y="1200150"/>
                  <a:pt x="0" y="1183078"/>
                  <a:pt x="0" y="1162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548063" y="3600450"/>
            <a:ext cx="38100" cy="1200150"/>
          </a:xfrm>
          <a:custGeom>
            <a:avLst/>
            <a:gdLst/>
            <a:ahLst/>
            <a:cxnLst/>
            <a:rect l="l" t="t" r="r" b="b"/>
            <a:pathLst>
              <a:path w="38100" h="1200150">
                <a:moveTo>
                  <a:pt x="38100" y="0"/>
                </a:moveTo>
                <a:lnTo>
                  <a:pt x="38100" y="0"/>
                </a:lnTo>
                <a:lnTo>
                  <a:pt x="38100" y="1200150"/>
                </a:lnTo>
                <a:lnTo>
                  <a:pt x="38100" y="1200150"/>
                </a:lnTo>
                <a:cubicBezTo>
                  <a:pt x="17072" y="1200150"/>
                  <a:pt x="0" y="1183078"/>
                  <a:pt x="0" y="1162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748087" y="3771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119562" y="375285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 Industry Leader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19512" y="4095750"/>
            <a:ext cx="2762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contractor to U.S. Department of Defense and allied military forces worldwide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912519"/>
            <a:ext cx="3019425" cy="1200150"/>
          </a:xfrm>
          <a:custGeom>
            <a:avLst/>
            <a:gdLst/>
            <a:ahLst/>
            <a:cxnLst/>
            <a:rect l="l" t="t" r="r" b="b"/>
            <a:pathLst>
              <a:path w="3019425" h="1200150">
                <a:moveTo>
                  <a:pt x="38100" y="0"/>
                </a:moveTo>
                <a:lnTo>
                  <a:pt x="2943227" y="0"/>
                </a:lnTo>
                <a:cubicBezTo>
                  <a:pt x="2985310" y="0"/>
                  <a:pt x="3019425" y="34115"/>
                  <a:pt x="3019425" y="76198"/>
                </a:cubicBezTo>
                <a:lnTo>
                  <a:pt x="3019425" y="1123952"/>
                </a:lnTo>
                <a:cubicBezTo>
                  <a:pt x="3019425" y="1166035"/>
                  <a:pt x="2985310" y="1200150"/>
                  <a:pt x="2943227" y="1200150"/>
                </a:cubicBezTo>
                <a:lnTo>
                  <a:pt x="38100" y="1200150"/>
                </a:lnTo>
                <a:cubicBezTo>
                  <a:pt x="17072" y="1200150"/>
                  <a:pt x="0" y="1183078"/>
                  <a:pt x="0" y="1162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00050" y="4912519"/>
            <a:ext cx="38100" cy="1200150"/>
          </a:xfrm>
          <a:custGeom>
            <a:avLst/>
            <a:gdLst/>
            <a:ahLst/>
            <a:cxnLst/>
            <a:rect l="l" t="t" r="r" b="b"/>
            <a:pathLst>
              <a:path w="38100" h="1200150">
                <a:moveTo>
                  <a:pt x="38100" y="0"/>
                </a:moveTo>
                <a:lnTo>
                  <a:pt x="38100" y="0"/>
                </a:lnTo>
                <a:lnTo>
                  <a:pt x="38100" y="1200150"/>
                </a:lnTo>
                <a:lnTo>
                  <a:pt x="38100" y="1200150"/>
                </a:lnTo>
                <a:cubicBezTo>
                  <a:pt x="17072" y="1200150"/>
                  <a:pt x="0" y="1183078"/>
                  <a:pt x="0" y="1162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00075" y="50839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71550" y="5064919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 Exploration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5407819"/>
            <a:ext cx="2762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partner in NASA programs including International Space Station and Artemis missions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48063" y="4912519"/>
            <a:ext cx="3019425" cy="1200150"/>
          </a:xfrm>
          <a:custGeom>
            <a:avLst/>
            <a:gdLst/>
            <a:ahLst/>
            <a:cxnLst/>
            <a:rect l="l" t="t" r="r" b="b"/>
            <a:pathLst>
              <a:path w="3019425" h="1200150">
                <a:moveTo>
                  <a:pt x="38100" y="0"/>
                </a:moveTo>
                <a:lnTo>
                  <a:pt x="2943227" y="0"/>
                </a:lnTo>
                <a:cubicBezTo>
                  <a:pt x="2985310" y="0"/>
                  <a:pt x="3019425" y="34115"/>
                  <a:pt x="3019425" y="76198"/>
                </a:cubicBezTo>
                <a:lnTo>
                  <a:pt x="3019425" y="1123952"/>
                </a:lnTo>
                <a:cubicBezTo>
                  <a:pt x="3019425" y="1166035"/>
                  <a:pt x="2985310" y="1200150"/>
                  <a:pt x="2943227" y="1200150"/>
                </a:cubicBezTo>
                <a:lnTo>
                  <a:pt x="38100" y="1200150"/>
                </a:lnTo>
                <a:cubicBezTo>
                  <a:pt x="17072" y="1200150"/>
                  <a:pt x="0" y="1183078"/>
                  <a:pt x="0" y="1162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548063" y="4912519"/>
            <a:ext cx="38100" cy="1200150"/>
          </a:xfrm>
          <a:custGeom>
            <a:avLst/>
            <a:gdLst/>
            <a:ahLst/>
            <a:cxnLst/>
            <a:rect l="l" t="t" r="r" b="b"/>
            <a:pathLst>
              <a:path w="38100" h="1200150">
                <a:moveTo>
                  <a:pt x="38100" y="0"/>
                </a:moveTo>
                <a:lnTo>
                  <a:pt x="38100" y="0"/>
                </a:lnTo>
                <a:lnTo>
                  <a:pt x="38100" y="1200150"/>
                </a:lnTo>
                <a:lnTo>
                  <a:pt x="38100" y="1200150"/>
                </a:lnTo>
                <a:cubicBezTo>
                  <a:pt x="17072" y="1200150"/>
                  <a:pt x="0" y="1183078"/>
                  <a:pt x="0" y="1162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748087" y="50839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119562" y="5064919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Reach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19512" y="5407819"/>
            <a:ext cx="2762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in 150+ countries with manufacturing and service facilities across six continents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53225" y="1181100"/>
            <a:ext cx="5057775" cy="2743200"/>
          </a:xfrm>
          <a:custGeom>
            <a:avLst/>
            <a:gdLst/>
            <a:ahLst/>
            <a:cxnLst/>
            <a:rect l="l" t="t" r="r" b="b"/>
            <a:pathLst>
              <a:path w="5057775" h="2743200">
                <a:moveTo>
                  <a:pt x="76206" y="0"/>
                </a:moveTo>
                <a:lnTo>
                  <a:pt x="4981569" y="0"/>
                </a:lnTo>
                <a:cubicBezTo>
                  <a:pt x="5023656" y="0"/>
                  <a:pt x="5057775" y="34119"/>
                  <a:pt x="5057775" y="76206"/>
                </a:cubicBezTo>
                <a:lnTo>
                  <a:pt x="5057775" y="2666994"/>
                </a:lnTo>
                <a:cubicBezTo>
                  <a:pt x="5057775" y="2709081"/>
                  <a:pt x="5023656" y="2743200"/>
                  <a:pt x="4981569" y="2743200"/>
                </a:cubicBezTo>
                <a:lnTo>
                  <a:pt x="76206" y="2743200"/>
                </a:lnTo>
                <a:cubicBezTo>
                  <a:pt x="34119" y="2743200"/>
                  <a:pt x="0" y="2709081"/>
                  <a:pt x="0" y="26669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929438" y="137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143750" y="13335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05625" y="17145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1916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9525" y="1714500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William Boeing incorporates Pacific Aero Products Co.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05625" y="19812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1958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9525" y="1981200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Boeing 707 enters service, ushering in jet age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05625" y="22479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1969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9525" y="2247900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Boeing 747 "Jumbo Jet" makes maiden flight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05625" y="25146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29525" y="2514600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Merges with McDonnell Douglas, expands defense portfolio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05625" y="27813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29525" y="2781300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787 Dreamliner first flight, composite materials revolution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05625" y="30480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29525" y="30480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Deliveries of the 787 Dreamliner begin.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05625" y="33147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29525" y="3314700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737 MAX enters service, most advanced single-aisle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05625" y="35814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629525" y="3581400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Leadership transition with Kelly Ortberg as CEO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57988" y="4081463"/>
            <a:ext cx="1600200" cy="771525"/>
          </a:xfrm>
          <a:custGeom>
            <a:avLst/>
            <a:gdLst/>
            <a:ahLst/>
            <a:cxnLst/>
            <a:rect l="l" t="t" r="r" b="b"/>
            <a:pathLst>
              <a:path w="1600200" h="771525">
                <a:moveTo>
                  <a:pt x="76204" y="0"/>
                </a:moveTo>
                <a:lnTo>
                  <a:pt x="1523996" y="0"/>
                </a:lnTo>
                <a:cubicBezTo>
                  <a:pt x="1566083" y="0"/>
                  <a:pt x="1600200" y="34117"/>
                  <a:pt x="1600200" y="76204"/>
                </a:cubicBezTo>
                <a:lnTo>
                  <a:pt x="1600200" y="695321"/>
                </a:lnTo>
                <a:cubicBezTo>
                  <a:pt x="1600200" y="737408"/>
                  <a:pt x="1566083" y="771525"/>
                  <a:pt x="152399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805613" y="4200525"/>
            <a:ext cx="1504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48475" y="4581525"/>
            <a:ext cx="1419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Years of Innovation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82013" y="4081463"/>
            <a:ext cx="1600200" cy="771525"/>
          </a:xfrm>
          <a:custGeom>
            <a:avLst/>
            <a:gdLst/>
            <a:ahLst/>
            <a:cxnLst/>
            <a:rect l="l" t="t" r="r" b="b"/>
            <a:pathLst>
              <a:path w="1600200" h="771525">
                <a:moveTo>
                  <a:pt x="76204" y="0"/>
                </a:moveTo>
                <a:lnTo>
                  <a:pt x="1523996" y="0"/>
                </a:lnTo>
                <a:cubicBezTo>
                  <a:pt x="1566083" y="0"/>
                  <a:pt x="1600200" y="34117"/>
                  <a:pt x="1600200" y="76204"/>
                </a:cubicBezTo>
                <a:lnTo>
                  <a:pt x="1600200" y="695321"/>
                </a:lnTo>
                <a:cubicBezTo>
                  <a:pt x="1600200" y="737408"/>
                  <a:pt x="1566083" y="771525"/>
                  <a:pt x="152399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B7943C">
              <a:alpha val="20000"/>
            </a:srgbClr>
          </a:solidFill>
          <a:ln w="12700">
            <a:solidFill>
              <a:srgbClr val="B794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8529638" y="4200525"/>
            <a:ext cx="1504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170K+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72500" y="4581525"/>
            <a:ext cx="1419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Employees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206038" y="4081463"/>
            <a:ext cx="1600200" cy="771525"/>
          </a:xfrm>
          <a:custGeom>
            <a:avLst/>
            <a:gdLst/>
            <a:ahLst/>
            <a:cxnLst/>
            <a:rect l="l" t="t" r="r" b="b"/>
            <a:pathLst>
              <a:path w="1600200" h="771525">
                <a:moveTo>
                  <a:pt x="76204" y="0"/>
                </a:moveTo>
                <a:lnTo>
                  <a:pt x="1523996" y="0"/>
                </a:lnTo>
                <a:cubicBezTo>
                  <a:pt x="1566083" y="0"/>
                  <a:pt x="1600200" y="34117"/>
                  <a:pt x="1600200" y="76204"/>
                </a:cubicBezTo>
                <a:lnTo>
                  <a:pt x="1600200" y="695321"/>
                </a:lnTo>
                <a:cubicBezTo>
                  <a:pt x="1600200" y="737408"/>
                  <a:pt x="1566083" y="771525"/>
                  <a:pt x="152399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10253663" y="4200525"/>
            <a:ext cx="1504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65+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296525" y="4581525"/>
            <a:ext cx="1419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Countries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58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Pillars of Aerospace Excellence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38250"/>
            <a:ext cx="3705225" cy="4343400"/>
          </a:xfrm>
          <a:custGeom>
            <a:avLst/>
            <a:gdLst/>
            <a:ahLst/>
            <a:cxnLst/>
            <a:rect l="l" t="t" r="r" b="b"/>
            <a:pathLst>
              <a:path w="3705225" h="43434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267184"/>
                </a:lnTo>
                <a:cubicBezTo>
                  <a:pt x="3705225" y="4309277"/>
                  <a:pt x="3671102" y="4343400"/>
                  <a:pt x="3629009" y="4343400"/>
                </a:cubicBezTo>
                <a:lnTo>
                  <a:pt x="76216" y="4343400"/>
                </a:lnTo>
                <a:cubicBezTo>
                  <a:pt x="34123" y="4343400"/>
                  <a:pt x="0" y="4309277"/>
                  <a:pt x="0" y="426718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81000" y="1238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715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71513" y="1562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6092" y="64249"/>
                </a:moveTo>
                <a:lnTo>
                  <a:pt x="77108" y="17949"/>
                </a:lnTo>
                <a:cubicBezTo>
                  <a:pt x="73536" y="16118"/>
                  <a:pt x="69384" y="15806"/>
                  <a:pt x="65633" y="17190"/>
                </a:cubicBezTo>
                <a:lnTo>
                  <a:pt x="47283" y="23887"/>
                </a:lnTo>
                <a:cubicBezTo>
                  <a:pt x="42684" y="25539"/>
                  <a:pt x="41121" y="31209"/>
                  <a:pt x="44113" y="35049"/>
                </a:cubicBezTo>
                <a:lnTo>
                  <a:pt x="89431" y="92154"/>
                </a:lnTo>
                <a:lnTo>
                  <a:pt x="44693" y="108406"/>
                </a:lnTo>
                <a:lnTo>
                  <a:pt x="17859" y="92065"/>
                </a:lnTo>
                <a:cubicBezTo>
                  <a:pt x="15091" y="90368"/>
                  <a:pt x="11698" y="90056"/>
                  <a:pt x="8617" y="91127"/>
                </a:cubicBezTo>
                <a:lnTo>
                  <a:pt x="1339" y="93806"/>
                </a:lnTo>
                <a:cubicBezTo>
                  <a:pt x="-2857" y="95324"/>
                  <a:pt x="-4643" y="100280"/>
                  <a:pt x="-2366" y="104120"/>
                </a:cubicBezTo>
                <a:lnTo>
                  <a:pt x="21565" y="145107"/>
                </a:lnTo>
                <a:cubicBezTo>
                  <a:pt x="28530" y="157029"/>
                  <a:pt x="43041" y="162252"/>
                  <a:pt x="55989" y="157520"/>
                </a:cubicBezTo>
                <a:lnTo>
                  <a:pt x="61749" y="155421"/>
                </a:lnTo>
                <a:lnTo>
                  <a:pt x="61749" y="155421"/>
                </a:lnTo>
                <a:lnTo>
                  <a:pt x="239628" y="90681"/>
                </a:lnTo>
                <a:cubicBezTo>
                  <a:pt x="252621" y="85948"/>
                  <a:pt x="259273" y="71616"/>
                  <a:pt x="254585" y="58623"/>
                </a:cubicBezTo>
                <a:cubicBezTo>
                  <a:pt x="249897" y="45631"/>
                  <a:pt x="235521" y="38978"/>
                  <a:pt x="222528" y="43666"/>
                </a:cubicBezTo>
                <a:lnTo>
                  <a:pt x="166092" y="64249"/>
                </a:lnTo>
                <a:close/>
                <a:moveTo>
                  <a:pt x="14377" y="200025"/>
                </a:moveTo>
                <a:cubicBezTo>
                  <a:pt x="6474" y="200025"/>
                  <a:pt x="89" y="206410"/>
                  <a:pt x="89" y="214313"/>
                </a:cubicBezTo>
                <a:cubicBezTo>
                  <a:pt x="89" y="222215"/>
                  <a:pt x="6474" y="228600"/>
                  <a:pt x="14377" y="228600"/>
                </a:cubicBezTo>
                <a:lnTo>
                  <a:pt x="242977" y="228600"/>
                </a:lnTo>
                <a:cubicBezTo>
                  <a:pt x="250880" y="228600"/>
                  <a:pt x="257264" y="222215"/>
                  <a:pt x="257264" y="214313"/>
                </a:cubicBezTo>
                <a:cubicBezTo>
                  <a:pt x="257264" y="206410"/>
                  <a:pt x="250880" y="200025"/>
                  <a:pt x="242977" y="200025"/>
                </a:cubicBezTo>
                <a:lnTo>
                  <a:pt x="14377" y="200025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143000" y="1543050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Commercial Airplanes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019300"/>
            <a:ext cx="3390900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Design, manufacture, and sale of commercial jetliners, including the 737, 747, 767, 777, and 787 families. Serves passenger and cargo airlines worldwide with the industry's most complete aircraft portfolio.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466725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Deliveries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13199" y="4667250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600 aircraft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493395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Backlog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84190" y="4933950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6,130 units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52006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Position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4453" y="5200650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#2 Globally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1750" y="1238250"/>
            <a:ext cx="3705225" cy="4343400"/>
          </a:xfrm>
          <a:custGeom>
            <a:avLst/>
            <a:gdLst/>
            <a:ahLst/>
            <a:cxnLst/>
            <a:rect l="l" t="t" r="r" b="b"/>
            <a:pathLst>
              <a:path w="3705225" h="43434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267184"/>
                </a:lnTo>
                <a:cubicBezTo>
                  <a:pt x="3705225" y="4309277"/>
                  <a:pt x="3671102" y="4343400"/>
                  <a:pt x="3629009" y="4343400"/>
                </a:cubicBezTo>
                <a:lnTo>
                  <a:pt x="76216" y="4343400"/>
                </a:lnTo>
                <a:cubicBezTo>
                  <a:pt x="34123" y="4343400"/>
                  <a:pt x="0" y="4309277"/>
                  <a:pt x="0" y="426718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241750" y="1238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43225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7943C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546550" y="156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003750" y="1543050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Defense, Space &amp; Security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32250" y="2019300"/>
            <a:ext cx="3390900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and production of military aircraft, rotorcraft, space systems, satellites, and advanced weapons. Primary contractor to the U.S. Department of Defense and allied governments.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32250" y="466725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Programs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16464" y="466725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F-15, F/A-18, T-7A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2250" y="493395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 Systems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00391" y="493395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Starliner, Satellites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32250" y="520065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 Revenue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84975" y="5200650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$7.42B Q4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2501" y="1238250"/>
            <a:ext cx="3705225" cy="4343400"/>
          </a:xfrm>
          <a:custGeom>
            <a:avLst/>
            <a:gdLst/>
            <a:ahLst/>
            <a:cxnLst/>
            <a:rect l="l" t="t" r="r" b="b"/>
            <a:pathLst>
              <a:path w="3705225" h="43434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267184"/>
                </a:lnTo>
                <a:cubicBezTo>
                  <a:pt x="3705225" y="4309277"/>
                  <a:pt x="3671102" y="4343400"/>
                  <a:pt x="3629009" y="4343400"/>
                </a:cubicBezTo>
                <a:lnTo>
                  <a:pt x="76216" y="4343400"/>
                </a:lnTo>
                <a:cubicBezTo>
                  <a:pt x="34123" y="4343400"/>
                  <a:pt x="0" y="4309277"/>
                  <a:pt x="0" y="426718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8102501" y="1238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8293001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8393013" y="1562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8864501" y="154305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Services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93001" y="2019300"/>
            <a:ext cx="3390900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aftermarket services including parts supply, maintenance, engineering, digital analytics, and training. Supports commercial, government, and aviation industry customers with innovative solutions.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93001" y="466725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Portfolio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454134" y="466725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MRO, Parts, Training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93001" y="493395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Solutions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676632" y="493395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Analytics, AI/ML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93001" y="520065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Footprint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726192" y="520065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300+ Locations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5763" y="5738813"/>
            <a:ext cx="2762250" cy="733425"/>
          </a:xfrm>
          <a:custGeom>
            <a:avLst/>
            <a:gdLst/>
            <a:ahLst/>
            <a:cxnLst/>
            <a:rect l="l" t="t" r="r" b="b"/>
            <a:pathLst>
              <a:path w="2762250" h="733425">
                <a:moveTo>
                  <a:pt x="76203" y="0"/>
                </a:moveTo>
                <a:lnTo>
                  <a:pt x="2686047" y="0"/>
                </a:lnTo>
                <a:cubicBezTo>
                  <a:pt x="2728105" y="0"/>
                  <a:pt x="2762250" y="34145"/>
                  <a:pt x="2762250" y="76203"/>
                </a:cubicBezTo>
                <a:lnTo>
                  <a:pt x="2762250" y="657222"/>
                </a:lnTo>
                <a:cubicBezTo>
                  <a:pt x="2762250" y="699280"/>
                  <a:pt x="2728105" y="733425"/>
                  <a:pt x="268604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47675" y="5857875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$23.95B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76250" y="6200775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2025 Revenue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71838" y="5738813"/>
            <a:ext cx="2762250" cy="733425"/>
          </a:xfrm>
          <a:custGeom>
            <a:avLst/>
            <a:gdLst/>
            <a:ahLst/>
            <a:cxnLst/>
            <a:rect l="l" t="t" r="r" b="b"/>
            <a:pathLst>
              <a:path w="2762250" h="733425">
                <a:moveTo>
                  <a:pt x="76203" y="0"/>
                </a:moveTo>
                <a:lnTo>
                  <a:pt x="2686047" y="0"/>
                </a:lnTo>
                <a:cubicBezTo>
                  <a:pt x="2728105" y="0"/>
                  <a:pt x="2762250" y="34145"/>
                  <a:pt x="2762250" y="76203"/>
                </a:cubicBezTo>
                <a:lnTo>
                  <a:pt x="2762250" y="657222"/>
                </a:lnTo>
                <a:cubicBezTo>
                  <a:pt x="2762250" y="699280"/>
                  <a:pt x="2728105" y="733425"/>
                  <a:pt x="268604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B7943C">
              <a:alpha val="20000"/>
            </a:srgbClr>
          </a:solidFill>
          <a:ln w="12700">
            <a:solidFill>
              <a:srgbClr val="B794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3333750" y="5857875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362325" y="6200775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YoY Revenue Growth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57913" y="5738813"/>
            <a:ext cx="2762250" cy="733425"/>
          </a:xfrm>
          <a:custGeom>
            <a:avLst/>
            <a:gdLst/>
            <a:ahLst/>
            <a:cxnLst/>
            <a:rect l="l" t="t" r="r" b="b"/>
            <a:pathLst>
              <a:path w="2762250" h="733425">
                <a:moveTo>
                  <a:pt x="76203" y="0"/>
                </a:moveTo>
                <a:lnTo>
                  <a:pt x="2686047" y="0"/>
                </a:lnTo>
                <a:cubicBezTo>
                  <a:pt x="2728105" y="0"/>
                  <a:pt x="2762250" y="34145"/>
                  <a:pt x="2762250" y="76203"/>
                </a:cubicBezTo>
                <a:lnTo>
                  <a:pt x="2762250" y="657222"/>
                </a:lnTo>
                <a:cubicBezTo>
                  <a:pt x="2762250" y="699280"/>
                  <a:pt x="2728105" y="733425"/>
                  <a:pt x="268604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219825" y="5857875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$400M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48400" y="6200775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Cash Flow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43988" y="5738813"/>
            <a:ext cx="2762250" cy="733425"/>
          </a:xfrm>
          <a:custGeom>
            <a:avLst/>
            <a:gdLst/>
            <a:ahLst/>
            <a:cxnLst/>
            <a:rect l="l" t="t" r="r" b="b"/>
            <a:pathLst>
              <a:path w="2762250" h="733425">
                <a:moveTo>
                  <a:pt x="76203" y="0"/>
                </a:moveTo>
                <a:lnTo>
                  <a:pt x="2686047" y="0"/>
                </a:lnTo>
                <a:cubicBezTo>
                  <a:pt x="2728105" y="0"/>
                  <a:pt x="2762250" y="34145"/>
                  <a:pt x="2762250" y="76203"/>
                </a:cubicBezTo>
                <a:lnTo>
                  <a:pt x="2762250" y="657222"/>
                </a:lnTo>
                <a:cubicBezTo>
                  <a:pt x="2762250" y="699280"/>
                  <a:pt x="2728105" y="733425"/>
                  <a:pt x="268604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B7943C">
              <a:alpha val="20000"/>
            </a:srgbClr>
          </a:solidFill>
          <a:ln w="12700">
            <a:solidFill>
              <a:srgbClr val="B794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9105900" y="5857875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600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34475" y="6200775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Aircraft Delivered 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hemanual.com/ec89567e037f6eb7892d92429bd37ee36fd5f347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3125" b="312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3182CE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58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Commercial Division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Lineup &amp; Market Position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181100"/>
            <a:ext cx="6762750" cy="2628900"/>
          </a:xfrm>
          <a:custGeom>
            <a:avLst/>
            <a:gdLst/>
            <a:ahLst/>
            <a:cxnLst/>
            <a:rect l="l" t="t" r="r" b="b"/>
            <a:pathLst>
              <a:path w="6762750" h="2628900">
                <a:moveTo>
                  <a:pt x="76212" y="0"/>
                </a:moveTo>
                <a:lnTo>
                  <a:pt x="6686538" y="0"/>
                </a:lnTo>
                <a:cubicBezTo>
                  <a:pt x="6728629" y="0"/>
                  <a:pt x="6762750" y="34121"/>
                  <a:pt x="6762750" y="76212"/>
                </a:cubicBezTo>
                <a:lnTo>
                  <a:pt x="6762750" y="2552688"/>
                </a:lnTo>
                <a:cubicBezTo>
                  <a:pt x="6762750" y="2594779"/>
                  <a:pt x="6728629" y="2628900"/>
                  <a:pt x="6686538" y="2628900"/>
                </a:cubicBezTo>
                <a:lnTo>
                  <a:pt x="76212" y="2628900"/>
                </a:lnTo>
                <a:cubicBezTo>
                  <a:pt x="34121" y="2628900"/>
                  <a:pt x="0" y="2594779"/>
                  <a:pt x="0" y="2552688"/>
                </a:cubicBezTo>
                <a:lnTo>
                  <a:pt x="0" y="76212"/>
                </a:lnTo>
                <a:cubicBezTo>
                  <a:pt x="0" y="34149"/>
                  <a:pt x="34149" y="0"/>
                  <a:pt x="76212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46497" y="13811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4129" y="66973"/>
                </a:moveTo>
                <a:cubicBezTo>
                  <a:pt x="184476" y="66973"/>
                  <a:pt x="192881" y="75378"/>
                  <a:pt x="192881" y="85725"/>
                </a:cubicBezTo>
                <a:cubicBezTo>
                  <a:pt x="192881" y="96072"/>
                  <a:pt x="184476" y="104477"/>
                  <a:pt x="174129" y="104477"/>
                </a:cubicBezTo>
                <a:lnTo>
                  <a:pt x="131501" y="104477"/>
                </a:lnTo>
                <a:lnTo>
                  <a:pt x="78191" y="162610"/>
                </a:lnTo>
                <a:cubicBezTo>
                  <a:pt x="76148" y="164820"/>
                  <a:pt x="73302" y="166092"/>
                  <a:pt x="70288" y="166092"/>
                </a:cubicBezTo>
                <a:lnTo>
                  <a:pt x="55654" y="166092"/>
                </a:lnTo>
                <a:cubicBezTo>
                  <a:pt x="52004" y="166092"/>
                  <a:pt x="49426" y="162509"/>
                  <a:pt x="50564" y="159027"/>
                </a:cubicBezTo>
                <a:lnTo>
                  <a:pt x="68747" y="104477"/>
                </a:lnTo>
                <a:lnTo>
                  <a:pt x="35362" y="104477"/>
                </a:lnTo>
                <a:lnTo>
                  <a:pt x="17681" y="126578"/>
                </a:lnTo>
                <a:cubicBezTo>
                  <a:pt x="16676" y="127851"/>
                  <a:pt x="15136" y="128588"/>
                  <a:pt x="13495" y="128588"/>
                </a:cubicBezTo>
                <a:lnTo>
                  <a:pt x="6865" y="128588"/>
                </a:lnTo>
                <a:cubicBezTo>
                  <a:pt x="3382" y="128588"/>
                  <a:pt x="837" y="125306"/>
                  <a:pt x="1674" y="121924"/>
                </a:cubicBezTo>
                <a:lnTo>
                  <a:pt x="10716" y="85725"/>
                </a:lnTo>
                <a:lnTo>
                  <a:pt x="1674" y="49526"/>
                </a:lnTo>
                <a:cubicBezTo>
                  <a:pt x="804" y="46144"/>
                  <a:pt x="3382" y="42863"/>
                  <a:pt x="6865" y="42863"/>
                </a:cubicBezTo>
                <a:lnTo>
                  <a:pt x="13495" y="42863"/>
                </a:lnTo>
                <a:cubicBezTo>
                  <a:pt x="15136" y="42863"/>
                  <a:pt x="16676" y="43599"/>
                  <a:pt x="17681" y="44872"/>
                </a:cubicBezTo>
                <a:lnTo>
                  <a:pt x="35362" y="66973"/>
                </a:lnTo>
                <a:lnTo>
                  <a:pt x="68747" y="66973"/>
                </a:lnTo>
                <a:lnTo>
                  <a:pt x="50564" y="12423"/>
                </a:lnTo>
                <a:cubicBezTo>
                  <a:pt x="49426" y="8941"/>
                  <a:pt x="52004" y="5358"/>
                  <a:pt x="55654" y="5358"/>
                </a:cubicBezTo>
                <a:lnTo>
                  <a:pt x="70288" y="5358"/>
                </a:lnTo>
                <a:cubicBezTo>
                  <a:pt x="73302" y="5358"/>
                  <a:pt x="76148" y="6630"/>
                  <a:pt x="78191" y="8840"/>
                </a:cubicBezTo>
                <a:lnTo>
                  <a:pt x="131501" y="66973"/>
                </a:lnTo>
                <a:lnTo>
                  <a:pt x="174129" y="66973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52475" y="1333500"/>
            <a:ext cx="632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Aircraft Portfolio Overview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2450" y="1714500"/>
            <a:ext cx="3152775" cy="914400"/>
          </a:xfrm>
          <a:custGeom>
            <a:avLst/>
            <a:gdLst/>
            <a:ahLst/>
            <a:cxnLst/>
            <a:rect l="l" t="t" r="r" b="b"/>
            <a:pathLst>
              <a:path w="3152775" h="914400">
                <a:moveTo>
                  <a:pt x="38100" y="0"/>
                </a:moveTo>
                <a:lnTo>
                  <a:pt x="3114672" y="0"/>
                </a:lnTo>
                <a:cubicBezTo>
                  <a:pt x="3135716" y="0"/>
                  <a:pt x="3152775" y="17059"/>
                  <a:pt x="3152775" y="38103"/>
                </a:cubicBezTo>
                <a:lnTo>
                  <a:pt x="3152775" y="876297"/>
                </a:lnTo>
                <a:cubicBezTo>
                  <a:pt x="3152775" y="897341"/>
                  <a:pt x="3135716" y="914400"/>
                  <a:pt x="3114672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52450" y="17145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1828800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737 MAX Family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926854" y="1828800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38101" y="0"/>
                </a:moveTo>
                <a:lnTo>
                  <a:pt x="628649" y="0"/>
                </a:lnTo>
                <a:cubicBezTo>
                  <a:pt x="649692" y="0"/>
                  <a:pt x="666750" y="17058"/>
                  <a:pt x="666750" y="38101"/>
                </a:cubicBezTo>
                <a:lnTo>
                  <a:pt x="666750" y="190499"/>
                </a:lnTo>
                <a:cubicBezTo>
                  <a:pt x="666750" y="211542"/>
                  <a:pt x="649692" y="228600"/>
                  <a:pt x="6286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926854" y="1828800"/>
            <a:ext cx="7239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Seller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" y="2133600"/>
            <a:ext cx="2962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Single-aisle workhorse, 138-230 passengers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23622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Deliveries: </a:t>
            </a:r>
            <a:r>
              <a:rPr lang="en-US" sz="90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879824" y="2362200"/>
            <a:ext cx="771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Backlog: </a:t>
            </a:r>
            <a:r>
              <a:rPr lang="en-US" sz="90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4,869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40510" y="1714500"/>
            <a:ext cx="3152775" cy="914400"/>
          </a:xfrm>
          <a:custGeom>
            <a:avLst/>
            <a:gdLst/>
            <a:ahLst/>
            <a:cxnLst/>
            <a:rect l="l" t="t" r="r" b="b"/>
            <a:pathLst>
              <a:path w="3152775" h="914400">
                <a:moveTo>
                  <a:pt x="38100" y="0"/>
                </a:moveTo>
                <a:lnTo>
                  <a:pt x="3114672" y="0"/>
                </a:lnTo>
                <a:cubicBezTo>
                  <a:pt x="3135716" y="0"/>
                  <a:pt x="3152775" y="17059"/>
                  <a:pt x="3152775" y="38103"/>
                </a:cubicBezTo>
                <a:lnTo>
                  <a:pt x="3152775" y="876297"/>
                </a:lnTo>
                <a:cubicBezTo>
                  <a:pt x="3152775" y="897341"/>
                  <a:pt x="3135716" y="914400"/>
                  <a:pt x="3114672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3840510" y="17145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3973860" y="182880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787 Dreamliner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99287" y="1828800"/>
            <a:ext cx="685800" cy="228600"/>
          </a:xfrm>
          <a:custGeom>
            <a:avLst/>
            <a:gdLst/>
            <a:ahLst/>
            <a:cxnLst/>
            <a:rect l="l" t="t" r="r" b="b"/>
            <a:pathLst>
              <a:path w="685800" h="228600">
                <a:moveTo>
                  <a:pt x="38101" y="0"/>
                </a:moveTo>
                <a:lnTo>
                  <a:pt x="647699" y="0"/>
                </a:lnTo>
                <a:cubicBezTo>
                  <a:pt x="668742" y="0"/>
                  <a:pt x="685800" y="17058"/>
                  <a:pt x="685800" y="38101"/>
                </a:cubicBezTo>
                <a:lnTo>
                  <a:pt x="685800" y="190499"/>
                </a:lnTo>
                <a:cubicBezTo>
                  <a:pt x="685800" y="211542"/>
                  <a:pt x="668742" y="228600"/>
                  <a:pt x="6476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199287" y="1828800"/>
            <a:ext cx="7429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Widebody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973860" y="2133600"/>
            <a:ext cx="2962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Fuel-efficient twin-aisle, 248-336 passengers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973860" y="2362200"/>
            <a:ext cx="1009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Deliveries: </a:t>
            </a:r>
            <a:r>
              <a:rPr lang="en-US" sz="90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88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190208" y="2362200"/>
            <a:ext cx="752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Backlog: </a:t>
            </a:r>
            <a:r>
              <a:rPr lang="en-US" sz="90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1,076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52450" y="2743200"/>
            <a:ext cx="3152775" cy="914400"/>
          </a:xfrm>
          <a:custGeom>
            <a:avLst/>
            <a:gdLst/>
            <a:ahLst/>
            <a:cxnLst/>
            <a:rect l="l" t="t" r="r" b="b"/>
            <a:pathLst>
              <a:path w="3152775" h="914400">
                <a:moveTo>
                  <a:pt x="38100" y="0"/>
                </a:moveTo>
                <a:lnTo>
                  <a:pt x="3114672" y="0"/>
                </a:lnTo>
                <a:cubicBezTo>
                  <a:pt x="3135716" y="0"/>
                  <a:pt x="3152775" y="17059"/>
                  <a:pt x="3152775" y="38103"/>
                </a:cubicBezTo>
                <a:lnTo>
                  <a:pt x="3152775" y="876297"/>
                </a:lnTo>
                <a:cubicBezTo>
                  <a:pt x="3152775" y="897341"/>
                  <a:pt x="3135716" y="914400"/>
                  <a:pt x="3114672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552450" y="27432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85800" y="285750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777/777X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039070" y="2857500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38101" y="0"/>
                </a:moveTo>
                <a:lnTo>
                  <a:pt x="514349" y="0"/>
                </a:lnTo>
                <a:cubicBezTo>
                  <a:pt x="535392" y="0"/>
                  <a:pt x="552450" y="17058"/>
                  <a:pt x="552450" y="38101"/>
                </a:cubicBezTo>
                <a:lnTo>
                  <a:pt x="552450" y="190499"/>
                </a:lnTo>
                <a:cubicBezTo>
                  <a:pt x="552450" y="211542"/>
                  <a:pt x="535392" y="228600"/>
                  <a:pt x="5143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3039070" y="2857500"/>
            <a:ext cx="6096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Flagship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85800" y="3162300"/>
            <a:ext cx="2962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Long-haul leader, 365-426 passengers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85800" y="3390900"/>
            <a:ext cx="1000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Deliveries: </a:t>
            </a:r>
            <a:r>
              <a:rPr lang="en-US" sz="90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2992487" y="3390900"/>
            <a:ext cx="65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Backlog: </a:t>
            </a:r>
            <a:r>
              <a:rPr lang="en-US" sz="90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681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840510" y="2743200"/>
            <a:ext cx="3152775" cy="914400"/>
          </a:xfrm>
          <a:custGeom>
            <a:avLst/>
            <a:gdLst/>
            <a:ahLst/>
            <a:cxnLst/>
            <a:rect l="l" t="t" r="r" b="b"/>
            <a:pathLst>
              <a:path w="3152775" h="914400">
                <a:moveTo>
                  <a:pt x="38100" y="0"/>
                </a:moveTo>
                <a:lnTo>
                  <a:pt x="3114672" y="0"/>
                </a:lnTo>
                <a:cubicBezTo>
                  <a:pt x="3135716" y="0"/>
                  <a:pt x="3152775" y="17059"/>
                  <a:pt x="3152775" y="38103"/>
                </a:cubicBezTo>
                <a:lnTo>
                  <a:pt x="3152775" y="876297"/>
                </a:lnTo>
                <a:cubicBezTo>
                  <a:pt x="3152775" y="897341"/>
                  <a:pt x="3135716" y="914400"/>
                  <a:pt x="3114672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3840510" y="27432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3973860" y="28575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767 Freighter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435179" y="2857500"/>
            <a:ext cx="447675" cy="228600"/>
          </a:xfrm>
          <a:custGeom>
            <a:avLst/>
            <a:gdLst/>
            <a:ahLst/>
            <a:cxnLst/>
            <a:rect l="l" t="t" r="r" b="b"/>
            <a:pathLst>
              <a:path w="447675" h="228600">
                <a:moveTo>
                  <a:pt x="38101" y="0"/>
                </a:moveTo>
                <a:lnTo>
                  <a:pt x="409574" y="0"/>
                </a:lnTo>
                <a:cubicBezTo>
                  <a:pt x="430617" y="0"/>
                  <a:pt x="447675" y="17058"/>
                  <a:pt x="447675" y="38101"/>
                </a:cubicBezTo>
                <a:lnTo>
                  <a:pt x="447675" y="190499"/>
                </a:lnTo>
                <a:cubicBezTo>
                  <a:pt x="447675" y="211542"/>
                  <a:pt x="430617" y="228600"/>
                  <a:pt x="4095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6435179" y="2857500"/>
            <a:ext cx="5048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Cargo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3973860" y="3162300"/>
            <a:ext cx="2962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Versatile cargo aircraft, 90%+ market share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973860" y="3390900"/>
            <a:ext cx="1019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Deliveries: </a:t>
            </a:r>
            <a:r>
              <a:rPr lang="en-US" sz="90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322368" y="3390900"/>
            <a:ext cx="61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Backlog: </a:t>
            </a:r>
            <a:r>
              <a:rPr lang="en-US" sz="90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81000" y="3924300"/>
            <a:ext cx="6762750" cy="1562100"/>
          </a:xfrm>
          <a:custGeom>
            <a:avLst/>
            <a:gdLst/>
            <a:ahLst/>
            <a:cxnLst/>
            <a:rect l="l" t="t" r="r" b="b"/>
            <a:pathLst>
              <a:path w="6762750" h="1562100">
                <a:moveTo>
                  <a:pt x="76199" y="0"/>
                </a:moveTo>
                <a:lnTo>
                  <a:pt x="6686551" y="0"/>
                </a:lnTo>
                <a:cubicBezTo>
                  <a:pt x="6728634" y="0"/>
                  <a:pt x="6762750" y="34116"/>
                  <a:pt x="6762750" y="76199"/>
                </a:cubicBezTo>
                <a:lnTo>
                  <a:pt x="6762750" y="1485901"/>
                </a:lnTo>
                <a:cubicBezTo>
                  <a:pt x="6762750" y="1527984"/>
                  <a:pt x="6728634" y="1562100"/>
                  <a:pt x="668655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557213" y="4124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752475" y="4076700"/>
            <a:ext cx="632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Delivery Performance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33400" y="4419600"/>
            <a:ext cx="1533525" cy="914400"/>
          </a:xfrm>
          <a:custGeom>
            <a:avLst/>
            <a:gdLst/>
            <a:ahLst/>
            <a:cxnLst/>
            <a:rect l="l" t="t" r="r" b="b"/>
            <a:pathLst>
              <a:path w="1533525" h="914400">
                <a:moveTo>
                  <a:pt x="38103" y="0"/>
                </a:moveTo>
                <a:lnTo>
                  <a:pt x="1495422" y="0"/>
                </a:lnTo>
                <a:cubicBezTo>
                  <a:pt x="1516466" y="0"/>
                  <a:pt x="1533525" y="17059"/>
                  <a:pt x="1533525" y="38103"/>
                </a:cubicBezTo>
                <a:lnTo>
                  <a:pt x="1533525" y="876297"/>
                </a:lnTo>
                <a:cubicBezTo>
                  <a:pt x="1533525" y="897341"/>
                  <a:pt x="1516466" y="914400"/>
                  <a:pt x="14954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576263" y="4533900"/>
            <a:ext cx="144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600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19125" y="4914900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Deliveries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19125" y="5067300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+72% vs 2024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2177355" y="4419600"/>
            <a:ext cx="1533525" cy="914400"/>
          </a:xfrm>
          <a:custGeom>
            <a:avLst/>
            <a:gdLst/>
            <a:ahLst/>
            <a:cxnLst/>
            <a:rect l="l" t="t" r="r" b="b"/>
            <a:pathLst>
              <a:path w="1533525" h="914400">
                <a:moveTo>
                  <a:pt x="38103" y="0"/>
                </a:moveTo>
                <a:lnTo>
                  <a:pt x="1495422" y="0"/>
                </a:lnTo>
                <a:cubicBezTo>
                  <a:pt x="1516466" y="0"/>
                  <a:pt x="1533525" y="17059"/>
                  <a:pt x="1533525" y="38103"/>
                </a:cubicBezTo>
                <a:lnTo>
                  <a:pt x="1533525" y="876297"/>
                </a:lnTo>
                <a:cubicBezTo>
                  <a:pt x="1533525" y="897341"/>
                  <a:pt x="1516466" y="914400"/>
                  <a:pt x="14954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2220218" y="4533900"/>
            <a:ext cx="144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160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2263080" y="4914900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Deliveries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2263080" y="5067300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finish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3821460" y="4419600"/>
            <a:ext cx="1533525" cy="914400"/>
          </a:xfrm>
          <a:custGeom>
            <a:avLst/>
            <a:gdLst/>
            <a:ahLst/>
            <a:cxnLst/>
            <a:rect l="l" t="t" r="r" b="b"/>
            <a:pathLst>
              <a:path w="1533525" h="914400">
                <a:moveTo>
                  <a:pt x="38103" y="0"/>
                </a:moveTo>
                <a:lnTo>
                  <a:pt x="1495422" y="0"/>
                </a:lnTo>
                <a:cubicBezTo>
                  <a:pt x="1516466" y="0"/>
                  <a:pt x="1533525" y="17059"/>
                  <a:pt x="1533525" y="38103"/>
                </a:cubicBezTo>
                <a:lnTo>
                  <a:pt x="1533525" y="876297"/>
                </a:lnTo>
                <a:cubicBezTo>
                  <a:pt x="1533525" y="897341"/>
                  <a:pt x="1516466" y="914400"/>
                  <a:pt x="14954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3864322" y="4533900"/>
            <a:ext cx="144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$11.38B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3907185" y="4914900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Revenue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3907185" y="5067300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+140% YoY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5465415" y="4419600"/>
            <a:ext cx="1533525" cy="914400"/>
          </a:xfrm>
          <a:custGeom>
            <a:avLst/>
            <a:gdLst/>
            <a:ahLst/>
            <a:cxnLst/>
            <a:rect l="l" t="t" r="r" b="b"/>
            <a:pathLst>
              <a:path w="1533525" h="914400">
                <a:moveTo>
                  <a:pt x="38103" y="0"/>
                </a:moveTo>
                <a:lnTo>
                  <a:pt x="1495422" y="0"/>
                </a:lnTo>
                <a:cubicBezTo>
                  <a:pt x="1516466" y="0"/>
                  <a:pt x="1533525" y="17059"/>
                  <a:pt x="1533525" y="38103"/>
                </a:cubicBezTo>
                <a:lnTo>
                  <a:pt x="1533525" y="876297"/>
                </a:lnTo>
                <a:cubicBezTo>
                  <a:pt x="1533525" y="897341"/>
                  <a:pt x="1516466" y="914400"/>
                  <a:pt x="14954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/>
          <p:nvPr/>
        </p:nvSpPr>
        <p:spPr>
          <a:xfrm>
            <a:off x="5508278" y="4533900"/>
            <a:ext cx="144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6,130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5551140" y="4914900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Backlog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5551140" y="5067300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Years of work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7300020" y="1181100"/>
            <a:ext cx="4514850" cy="2400300"/>
          </a:xfrm>
          <a:custGeom>
            <a:avLst/>
            <a:gdLst/>
            <a:ahLst/>
            <a:cxnLst/>
            <a:rect l="l" t="t" r="r" b="b"/>
            <a:pathLst>
              <a:path w="4514850" h="2400300">
                <a:moveTo>
                  <a:pt x="76210" y="0"/>
                </a:moveTo>
                <a:lnTo>
                  <a:pt x="4438640" y="0"/>
                </a:lnTo>
                <a:cubicBezTo>
                  <a:pt x="4480730" y="0"/>
                  <a:pt x="4514850" y="34120"/>
                  <a:pt x="4514850" y="76210"/>
                </a:cubicBezTo>
                <a:lnTo>
                  <a:pt x="4514850" y="2324090"/>
                </a:lnTo>
                <a:cubicBezTo>
                  <a:pt x="4514850" y="2366180"/>
                  <a:pt x="4480730" y="2400300"/>
                  <a:pt x="4438640" y="2400300"/>
                </a:cubicBezTo>
                <a:lnTo>
                  <a:pt x="76210" y="2400300"/>
                </a:lnTo>
                <a:cubicBezTo>
                  <a:pt x="34120" y="2400300"/>
                  <a:pt x="0" y="2366180"/>
                  <a:pt x="0" y="23240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8"/>
          <p:cNvSpPr/>
          <p:nvPr/>
        </p:nvSpPr>
        <p:spPr>
          <a:xfrm>
            <a:off x="7452420" y="1333500"/>
            <a:ext cx="429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Targets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7452420" y="1714500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737 MAX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10751641" y="171450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 → 52/month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7452420" y="1943100"/>
            <a:ext cx="4210050" cy="76200"/>
          </a:xfrm>
          <a:custGeom>
            <a:avLst/>
            <a:gdLst/>
            <a:ahLst/>
            <a:cxnLst/>
            <a:rect l="l" t="t" r="r" b="b"/>
            <a:pathLst>
              <a:path w="4210050" h="76200">
                <a:moveTo>
                  <a:pt x="38100" y="0"/>
                </a:moveTo>
                <a:lnTo>
                  <a:pt x="4171950" y="0"/>
                </a:lnTo>
                <a:cubicBezTo>
                  <a:pt x="4192978" y="0"/>
                  <a:pt x="4210050" y="17072"/>
                  <a:pt x="4210050" y="38100"/>
                </a:cubicBezTo>
                <a:lnTo>
                  <a:pt x="4210050" y="38100"/>
                </a:lnTo>
                <a:cubicBezTo>
                  <a:pt x="4210050" y="59128"/>
                  <a:pt x="4192978" y="76200"/>
                  <a:pt x="41719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7452420" y="1943100"/>
            <a:ext cx="3152775" cy="76200"/>
          </a:xfrm>
          <a:custGeom>
            <a:avLst/>
            <a:gdLst/>
            <a:ahLst/>
            <a:cxnLst/>
            <a:rect l="l" t="t" r="r" b="b"/>
            <a:pathLst>
              <a:path w="3152775" h="76200">
                <a:moveTo>
                  <a:pt x="38100" y="0"/>
                </a:moveTo>
                <a:lnTo>
                  <a:pt x="3114675" y="0"/>
                </a:lnTo>
                <a:cubicBezTo>
                  <a:pt x="3135703" y="0"/>
                  <a:pt x="3152775" y="17072"/>
                  <a:pt x="3152775" y="38100"/>
                </a:cubicBezTo>
                <a:lnTo>
                  <a:pt x="3152775" y="38100"/>
                </a:lnTo>
                <a:cubicBezTo>
                  <a:pt x="3152775" y="59128"/>
                  <a:pt x="3135703" y="76200"/>
                  <a:pt x="31146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/>
              </a:gs>
              <a:gs pos="100000">
                <a:srgbClr val="B7943C"/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/>
          <p:nvPr/>
        </p:nvSpPr>
        <p:spPr>
          <a:xfrm>
            <a:off x="7452420" y="2057400"/>
            <a:ext cx="4267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47-52 by end of 2026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7452420" y="232410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787 Dreamliner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10823674" y="23241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→ 10/month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7452420" y="2552700"/>
            <a:ext cx="4210050" cy="76200"/>
          </a:xfrm>
          <a:custGeom>
            <a:avLst/>
            <a:gdLst/>
            <a:ahLst/>
            <a:cxnLst/>
            <a:rect l="l" t="t" r="r" b="b"/>
            <a:pathLst>
              <a:path w="4210050" h="76200">
                <a:moveTo>
                  <a:pt x="38100" y="0"/>
                </a:moveTo>
                <a:lnTo>
                  <a:pt x="4171950" y="0"/>
                </a:lnTo>
                <a:cubicBezTo>
                  <a:pt x="4192978" y="0"/>
                  <a:pt x="4210050" y="17072"/>
                  <a:pt x="4210050" y="38100"/>
                </a:cubicBezTo>
                <a:lnTo>
                  <a:pt x="4210050" y="38100"/>
                </a:lnTo>
                <a:cubicBezTo>
                  <a:pt x="4210050" y="59128"/>
                  <a:pt x="4192978" y="76200"/>
                  <a:pt x="41719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Shape 67"/>
          <p:cNvSpPr/>
          <p:nvPr/>
        </p:nvSpPr>
        <p:spPr>
          <a:xfrm>
            <a:off x="7452420" y="2552700"/>
            <a:ext cx="3362325" cy="76200"/>
          </a:xfrm>
          <a:custGeom>
            <a:avLst/>
            <a:gdLst/>
            <a:ahLst/>
            <a:cxnLst/>
            <a:rect l="l" t="t" r="r" b="b"/>
            <a:pathLst>
              <a:path w="3362325" h="76200">
                <a:moveTo>
                  <a:pt x="38100" y="0"/>
                </a:moveTo>
                <a:lnTo>
                  <a:pt x="3324225" y="0"/>
                </a:lnTo>
                <a:cubicBezTo>
                  <a:pt x="3345253" y="0"/>
                  <a:pt x="3362325" y="17072"/>
                  <a:pt x="3362325" y="38100"/>
                </a:cubicBezTo>
                <a:lnTo>
                  <a:pt x="3362325" y="38100"/>
                </a:lnTo>
                <a:cubicBezTo>
                  <a:pt x="3362325" y="59128"/>
                  <a:pt x="3345253" y="76200"/>
                  <a:pt x="33242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B7943C"/>
              </a:gs>
              <a:gs pos="100000">
                <a:srgbClr val="3182CE"/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Text 68"/>
          <p:cNvSpPr/>
          <p:nvPr/>
        </p:nvSpPr>
        <p:spPr>
          <a:xfrm>
            <a:off x="7452420" y="2667000"/>
            <a:ext cx="4267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Charleston expansion: $1B investment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7452420" y="2933700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777X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10962233" y="293370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Certification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7452420" y="3162300"/>
            <a:ext cx="4210050" cy="76200"/>
          </a:xfrm>
          <a:custGeom>
            <a:avLst/>
            <a:gdLst/>
            <a:ahLst/>
            <a:cxnLst/>
            <a:rect l="l" t="t" r="r" b="b"/>
            <a:pathLst>
              <a:path w="4210050" h="76200">
                <a:moveTo>
                  <a:pt x="38100" y="0"/>
                </a:moveTo>
                <a:lnTo>
                  <a:pt x="4171950" y="0"/>
                </a:lnTo>
                <a:cubicBezTo>
                  <a:pt x="4192978" y="0"/>
                  <a:pt x="4210050" y="17072"/>
                  <a:pt x="4210050" y="38100"/>
                </a:cubicBezTo>
                <a:lnTo>
                  <a:pt x="4210050" y="38100"/>
                </a:lnTo>
                <a:cubicBezTo>
                  <a:pt x="4210050" y="59128"/>
                  <a:pt x="4192978" y="76200"/>
                  <a:pt x="41719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7452420" y="3162300"/>
            <a:ext cx="2524125" cy="76200"/>
          </a:xfrm>
          <a:custGeom>
            <a:avLst/>
            <a:gdLst/>
            <a:ahLst/>
            <a:cxnLst/>
            <a:rect l="l" t="t" r="r" b="b"/>
            <a:pathLst>
              <a:path w="2524125" h="76200">
                <a:moveTo>
                  <a:pt x="38100" y="0"/>
                </a:moveTo>
                <a:lnTo>
                  <a:pt x="2486025" y="0"/>
                </a:lnTo>
                <a:cubicBezTo>
                  <a:pt x="2507053" y="0"/>
                  <a:pt x="2524125" y="17072"/>
                  <a:pt x="2524125" y="38100"/>
                </a:cubicBezTo>
                <a:lnTo>
                  <a:pt x="2524125" y="38100"/>
                </a:lnTo>
                <a:cubicBezTo>
                  <a:pt x="2524125" y="59128"/>
                  <a:pt x="2507053" y="76200"/>
                  <a:pt x="2486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/>
              </a:gs>
              <a:gs pos="100000">
                <a:srgbClr val="B7943C"/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/>
          <p:nvPr/>
        </p:nvSpPr>
        <p:spPr>
          <a:xfrm>
            <a:off x="7452420" y="3276600"/>
            <a:ext cx="4267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delivery: 2027</a:t>
            </a: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7300020" y="3695700"/>
            <a:ext cx="4514850" cy="2781300"/>
          </a:xfrm>
          <a:custGeom>
            <a:avLst/>
            <a:gdLst/>
            <a:ahLst/>
            <a:cxnLst/>
            <a:rect l="l" t="t" r="r" b="b"/>
            <a:pathLst>
              <a:path w="4514850" h="2781300">
                <a:moveTo>
                  <a:pt x="76208" y="0"/>
                </a:moveTo>
                <a:lnTo>
                  <a:pt x="4438642" y="0"/>
                </a:lnTo>
                <a:cubicBezTo>
                  <a:pt x="4480731" y="0"/>
                  <a:pt x="4514850" y="34119"/>
                  <a:pt x="4514850" y="76208"/>
                </a:cubicBezTo>
                <a:lnTo>
                  <a:pt x="4514850" y="2705092"/>
                </a:lnTo>
                <a:cubicBezTo>
                  <a:pt x="4514850" y="2747181"/>
                  <a:pt x="4480731" y="2781300"/>
                  <a:pt x="4438642" y="2781300"/>
                </a:cubicBezTo>
                <a:lnTo>
                  <a:pt x="76208" y="2781300"/>
                </a:lnTo>
                <a:cubicBezTo>
                  <a:pt x="34119" y="2781300"/>
                  <a:pt x="0" y="2747181"/>
                  <a:pt x="0" y="2705092"/>
                </a:cubicBezTo>
                <a:lnTo>
                  <a:pt x="0" y="76208"/>
                </a:lnTo>
                <a:cubicBezTo>
                  <a:pt x="0" y="34119"/>
                  <a:pt x="34119" y="0"/>
                  <a:pt x="76208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75"/>
          <p:cNvSpPr/>
          <p:nvPr/>
        </p:nvSpPr>
        <p:spPr>
          <a:xfrm>
            <a:off x="7452420" y="3848100"/>
            <a:ext cx="429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Customers 2025</a:t>
            </a: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7452420" y="4229100"/>
            <a:ext cx="4210050" cy="342900"/>
          </a:xfrm>
          <a:custGeom>
            <a:avLst/>
            <a:gdLst/>
            <a:ahLst/>
            <a:cxnLst/>
            <a:rect l="l" t="t" r="r" b="b"/>
            <a:pathLst>
              <a:path w="4210050" h="342900">
                <a:moveTo>
                  <a:pt x="38100" y="0"/>
                </a:moveTo>
                <a:lnTo>
                  <a:pt x="4171950" y="0"/>
                </a:lnTo>
                <a:cubicBezTo>
                  <a:pt x="4192992" y="0"/>
                  <a:pt x="4210050" y="17058"/>
                  <a:pt x="4210050" y="38100"/>
                </a:cubicBezTo>
                <a:lnTo>
                  <a:pt x="4210050" y="304800"/>
                </a:lnTo>
                <a:cubicBezTo>
                  <a:pt x="4210050" y="325842"/>
                  <a:pt x="4192992" y="342900"/>
                  <a:pt x="41719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/>
          <p:nvPr/>
        </p:nvSpPr>
        <p:spPr>
          <a:xfrm>
            <a:off x="7528620" y="43053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Delta Air Lines</a:t>
            </a:r>
            <a:endParaRPr lang="en-US" sz="1600" dirty="0"/>
          </a:p>
        </p:txBody>
      </p:sp>
      <p:sp>
        <p:nvSpPr>
          <p:cNvPr id="81" name="Text 78"/>
          <p:cNvSpPr/>
          <p:nvPr/>
        </p:nvSpPr>
        <p:spPr>
          <a:xfrm>
            <a:off x="10898237" y="4324350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 to 60 787s</a:t>
            </a:r>
            <a:endParaRPr lang="en-US" sz="1600" dirty="0"/>
          </a:p>
        </p:txBody>
      </p:sp>
      <p:sp>
        <p:nvSpPr>
          <p:cNvPr id="82" name="Shape 79"/>
          <p:cNvSpPr/>
          <p:nvPr/>
        </p:nvSpPr>
        <p:spPr>
          <a:xfrm>
            <a:off x="7452420" y="4648200"/>
            <a:ext cx="4210050" cy="342900"/>
          </a:xfrm>
          <a:custGeom>
            <a:avLst/>
            <a:gdLst/>
            <a:ahLst/>
            <a:cxnLst/>
            <a:rect l="l" t="t" r="r" b="b"/>
            <a:pathLst>
              <a:path w="4210050" h="342900">
                <a:moveTo>
                  <a:pt x="38100" y="0"/>
                </a:moveTo>
                <a:lnTo>
                  <a:pt x="4171950" y="0"/>
                </a:lnTo>
                <a:cubicBezTo>
                  <a:pt x="4192992" y="0"/>
                  <a:pt x="4210050" y="17058"/>
                  <a:pt x="4210050" y="38100"/>
                </a:cubicBezTo>
                <a:lnTo>
                  <a:pt x="4210050" y="304800"/>
                </a:lnTo>
                <a:cubicBezTo>
                  <a:pt x="4210050" y="325842"/>
                  <a:pt x="4192992" y="342900"/>
                  <a:pt x="41719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Text 80"/>
          <p:cNvSpPr/>
          <p:nvPr/>
        </p:nvSpPr>
        <p:spPr>
          <a:xfrm>
            <a:off x="7528620" y="4724400"/>
            <a:ext cx="27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IAG</a:t>
            </a:r>
            <a:endParaRPr lang="en-US" sz="1600" dirty="0"/>
          </a:p>
        </p:txBody>
      </p:sp>
      <p:sp>
        <p:nvSpPr>
          <p:cNvPr id="84" name="Text 81"/>
          <p:cNvSpPr/>
          <p:nvPr/>
        </p:nvSpPr>
        <p:spPr>
          <a:xfrm>
            <a:off x="10999738" y="4743450"/>
            <a:ext cx="638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order</a:t>
            </a:r>
            <a:endParaRPr lang="en-US" sz="1600" dirty="0"/>
          </a:p>
        </p:txBody>
      </p:sp>
      <p:sp>
        <p:nvSpPr>
          <p:cNvPr id="85" name="Shape 82"/>
          <p:cNvSpPr/>
          <p:nvPr/>
        </p:nvSpPr>
        <p:spPr>
          <a:xfrm>
            <a:off x="7452420" y="5067300"/>
            <a:ext cx="4210050" cy="342900"/>
          </a:xfrm>
          <a:custGeom>
            <a:avLst/>
            <a:gdLst/>
            <a:ahLst/>
            <a:cxnLst/>
            <a:rect l="l" t="t" r="r" b="b"/>
            <a:pathLst>
              <a:path w="4210050" h="342900">
                <a:moveTo>
                  <a:pt x="38100" y="0"/>
                </a:moveTo>
                <a:lnTo>
                  <a:pt x="4171950" y="0"/>
                </a:lnTo>
                <a:cubicBezTo>
                  <a:pt x="4192992" y="0"/>
                  <a:pt x="4210050" y="17058"/>
                  <a:pt x="4210050" y="38100"/>
                </a:cubicBezTo>
                <a:lnTo>
                  <a:pt x="4210050" y="304800"/>
                </a:lnTo>
                <a:cubicBezTo>
                  <a:pt x="4210050" y="325842"/>
                  <a:pt x="4192992" y="342900"/>
                  <a:pt x="41719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6" name="Text 83"/>
          <p:cNvSpPr/>
          <p:nvPr/>
        </p:nvSpPr>
        <p:spPr>
          <a:xfrm>
            <a:off x="7528620" y="51435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Alaska Airlines</a:t>
            </a:r>
            <a:endParaRPr lang="en-US" sz="1600" dirty="0"/>
          </a:p>
        </p:txBody>
      </p:sp>
      <p:sp>
        <p:nvSpPr>
          <p:cNvPr id="87" name="Text 84"/>
          <p:cNvSpPr/>
          <p:nvPr/>
        </p:nvSpPr>
        <p:spPr>
          <a:xfrm>
            <a:off x="11145143" y="5162550"/>
            <a:ext cx="495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737 MAX</a:t>
            </a:r>
            <a:endParaRPr lang="en-US" sz="1600" dirty="0"/>
          </a:p>
        </p:txBody>
      </p:sp>
      <p:sp>
        <p:nvSpPr>
          <p:cNvPr id="88" name="Shape 85"/>
          <p:cNvSpPr/>
          <p:nvPr/>
        </p:nvSpPr>
        <p:spPr>
          <a:xfrm>
            <a:off x="7452420" y="5486400"/>
            <a:ext cx="4210050" cy="342900"/>
          </a:xfrm>
          <a:custGeom>
            <a:avLst/>
            <a:gdLst/>
            <a:ahLst/>
            <a:cxnLst/>
            <a:rect l="l" t="t" r="r" b="b"/>
            <a:pathLst>
              <a:path w="4210050" h="342900">
                <a:moveTo>
                  <a:pt x="38100" y="0"/>
                </a:moveTo>
                <a:lnTo>
                  <a:pt x="4171950" y="0"/>
                </a:lnTo>
                <a:cubicBezTo>
                  <a:pt x="4192992" y="0"/>
                  <a:pt x="4210050" y="17058"/>
                  <a:pt x="4210050" y="38100"/>
                </a:cubicBezTo>
                <a:lnTo>
                  <a:pt x="4210050" y="304800"/>
                </a:lnTo>
                <a:cubicBezTo>
                  <a:pt x="4210050" y="325842"/>
                  <a:pt x="4192992" y="342900"/>
                  <a:pt x="41719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9" name="Text 86"/>
          <p:cNvSpPr/>
          <p:nvPr/>
        </p:nvSpPr>
        <p:spPr>
          <a:xfrm>
            <a:off x="7528620" y="5562600"/>
            <a:ext cx="438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VietJet</a:t>
            </a:r>
            <a:endParaRPr lang="en-US" sz="1600" dirty="0"/>
          </a:p>
        </p:txBody>
      </p:sp>
      <p:sp>
        <p:nvSpPr>
          <p:cNvPr id="90" name="Text 87"/>
          <p:cNvSpPr/>
          <p:nvPr/>
        </p:nvSpPr>
        <p:spPr>
          <a:xfrm>
            <a:off x="11053316" y="5581650"/>
            <a:ext cx="590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737 MAX 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hips.hearstapps.com/81aca715da6d00242f605d0fbe7bd79dc2b74365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9284" r="928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8421688">
                <a:moveTo>
                  <a:pt x="0" y="0"/>
                </a:moveTo>
                <a:lnTo>
                  <a:pt x="12192000" y="0"/>
                </a:lnTo>
                <a:lnTo>
                  <a:pt x="12192000" y="8421688"/>
                </a:lnTo>
                <a:lnTo>
                  <a:pt x="0" y="842168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B7943C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13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 Division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Protecting Global Interests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7500" y="984250"/>
            <a:ext cx="6286500" cy="1381125"/>
          </a:xfrm>
          <a:custGeom>
            <a:avLst/>
            <a:gdLst/>
            <a:ahLst/>
            <a:cxnLst/>
            <a:rect l="l" t="t" r="r" b="b"/>
            <a:pathLst>
              <a:path w="6286500" h="1381125">
                <a:moveTo>
                  <a:pt x="63504" y="0"/>
                </a:moveTo>
                <a:lnTo>
                  <a:pt x="6222996" y="0"/>
                </a:lnTo>
                <a:cubicBezTo>
                  <a:pt x="6258068" y="0"/>
                  <a:pt x="6286500" y="28432"/>
                  <a:pt x="6286500" y="63504"/>
                </a:cubicBezTo>
                <a:lnTo>
                  <a:pt x="6286500" y="1317621"/>
                </a:lnTo>
                <a:cubicBezTo>
                  <a:pt x="6286500" y="1352693"/>
                  <a:pt x="6258068" y="1381125"/>
                  <a:pt x="6222996" y="1381125"/>
                </a:cubicBezTo>
                <a:lnTo>
                  <a:pt x="63504" y="1381125"/>
                </a:lnTo>
                <a:cubicBezTo>
                  <a:pt x="28432" y="1381125"/>
                  <a:pt x="0" y="1352693"/>
                  <a:pt x="0" y="1317621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44500" y="1111250"/>
            <a:ext cx="6096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Boeing Defense, Space &amp; Security (BDS)</a:t>
            </a: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leading global provider of military aircraft, rotorcraft, space systems, and advanced defense technologies. As a primary contractor to the U.S. Department of Defense and allied nations, BDS delivers critical capabilities for national security and global stability.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4500" y="1825625"/>
            <a:ext cx="6096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division reported </a:t>
            </a:r>
            <a:r>
              <a:rPr lang="en-US" sz="1000" dirty="0">
                <a:solidFill>
                  <a:srgbClr val="B7943C"/>
                </a:solidFill>
                <a:highlight>
                  <a:srgbClr val="B7943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$7.42 billion in Q4 2025 revenue </a:t>
            </a: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representing a </a:t>
            </a:r>
            <a:r>
              <a:rPr lang="en-US" sz="100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37% year-over-year increase</a:t>
            </a: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demonstrating strong demand for defense capabilities amid global security challenges.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175" y="2601434"/>
            <a:ext cx="3079750" cy="1598538"/>
          </a:xfrm>
          <a:custGeom>
            <a:avLst/>
            <a:gdLst/>
            <a:ahLst/>
            <a:cxnLst/>
            <a:rect l="l" t="t" r="r" b="b"/>
            <a:pathLst>
              <a:path w="3079750" h="2770188">
                <a:moveTo>
                  <a:pt x="31750" y="0"/>
                </a:moveTo>
                <a:lnTo>
                  <a:pt x="3016257" y="0"/>
                </a:lnTo>
                <a:cubicBezTo>
                  <a:pt x="3051323" y="0"/>
                  <a:pt x="3079750" y="28427"/>
                  <a:pt x="3079750" y="63493"/>
                </a:cubicBezTo>
                <a:lnTo>
                  <a:pt x="3079750" y="2706695"/>
                </a:lnTo>
                <a:cubicBezTo>
                  <a:pt x="3079750" y="2741761"/>
                  <a:pt x="3051323" y="2770188"/>
                  <a:pt x="3016257" y="2770188"/>
                </a:cubicBezTo>
                <a:lnTo>
                  <a:pt x="31750" y="2770188"/>
                </a:lnTo>
                <a:cubicBezTo>
                  <a:pt x="14227" y="2770188"/>
                  <a:pt x="0" y="2755961"/>
                  <a:pt x="0" y="2738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384175" y="2601434"/>
            <a:ext cx="31750" cy="1598538"/>
          </a:xfrm>
          <a:custGeom>
            <a:avLst/>
            <a:gdLst/>
            <a:ahLst/>
            <a:cxnLst/>
            <a:rect l="l" t="t" r="r" b="b"/>
            <a:pathLst>
              <a:path w="31750" h="2770188">
                <a:moveTo>
                  <a:pt x="31750" y="0"/>
                </a:moveTo>
                <a:lnTo>
                  <a:pt x="31750" y="0"/>
                </a:lnTo>
                <a:lnTo>
                  <a:pt x="31750" y="2770188"/>
                </a:lnTo>
                <a:lnTo>
                  <a:pt x="31750" y="2770188"/>
                </a:lnTo>
                <a:cubicBezTo>
                  <a:pt x="14227" y="2770188"/>
                  <a:pt x="0" y="2755961"/>
                  <a:pt x="0" y="2738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36972" y="276018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53851" y="64120"/>
                </a:moveTo>
                <a:cubicBezTo>
                  <a:pt x="150533" y="62725"/>
                  <a:pt x="146968" y="62012"/>
                  <a:pt x="143371" y="62012"/>
                </a:cubicBezTo>
                <a:lnTo>
                  <a:pt x="112241" y="62012"/>
                </a:lnTo>
                <a:lnTo>
                  <a:pt x="76895" y="14883"/>
                </a:lnTo>
                <a:lnTo>
                  <a:pt x="91777" y="14883"/>
                </a:lnTo>
                <a:cubicBezTo>
                  <a:pt x="95901" y="14883"/>
                  <a:pt x="99219" y="11565"/>
                  <a:pt x="99219" y="7441"/>
                </a:cubicBezTo>
                <a:cubicBezTo>
                  <a:pt x="99219" y="3318"/>
                  <a:pt x="95901" y="0"/>
                  <a:pt x="91777" y="0"/>
                </a:cubicBezTo>
                <a:lnTo>
                  <a:pt x="47129" y="0"/>
                </a:lnTo>
                <a:cubicBezTo>
                  <a:pt x="43005" y="0"/>
                  <a:pt x="39688" y="3318"/>
                  <a:pt x="39688" y="7441"/>
                </a:cubicBezTo>
                <a:cubicBezTo>
                  <a:pt x="39688" y="11565"/>
                  <a:pt x="43005" y="14883"/>
                  <a:pt x="47129" y="14883"/>
                </a:cubicBezTo>
                <a:lnTo>
                  <a:pt x="49609" y="14883"/>
                </a:lnTo>
                <a:lnTo>
                  <a:pt x="49609" y="62012"/>
                </a:lnTo>
                <a:lnTo>
                  <a:pt x="32742" y="62012"/>
                </a:lnTo>
                <a:lnTo>
                  <a:pt x="16371" y="41548"/>
                </a:lnTo>
                <a:cubicBezTo>
                  <a:pt x="15441" y="40370"/>
                  <a:pt x="14015" y="39688"/>
                  <a:pt x="12495" y="39688"/>
                </a:cubicBezTo>
                <a:lnTo>
                  <a:pt x="4961" y="39688"/>
                </a:lnTo>
                <a:cubicBezTo>
                  <a:pt x="2232" y="39688"/>
                  <a:pt x="0" y="41920"/>
                  <a:pt x="0" y="44648"/>
                </a:cubicBezTo>
                <a:lnTo>
                  <a:pt x="0" y="71934"/>
                </a:lnTo>
                <a:lnTo>
                  <a:pt x="12402" y="71934"/>
                </a:lnTo>
                <a:cubicBezTo>
                  <a:pt x="16526" y="71934"/>
                  <a:pt x="19844" y="75251"/>
                  <a:pt x="19844" y="79375"/>
                </a:cubicBezTo>
                <a:cubicBezTo>
                  <a:pt x="19844" y="83499"/>
                  <a:pt x="16526" y="86816"/>
                  <a:pt x="12402" y="86816"/>
                </a:cubicBezTo>
                <a:lnTo>
                  <a:pt x="0" y="86816"/>
                </a:lnTo>
                <a:lnTo>
                  <a:pt x="0" y="114102"/>
                </a:lnTo>
                <a:cubicBezTo>
                  <a:pt x="0" y="116830"/>
                  <a:pt x="2232" y="119062"/>
                  <a:pt x="4961" y="119062"/>
                </a:cubicBezTo>
                <a:lnTo>
                  <a:pt x="12495" y="119062"/>
                </a:lnTo>
                <a:cubicBezTo>
                  <a:pt x="14015" y="119062"/>
                  <a:pt x="15441" y="118380"/>
                  <a:pt x="16371" y="117202"/>
                </a:cubicBezTo>
                <a:lnTo>
                  <a:pt x="32742" y="96738"/>
                </a:lnTo>
                <a:lnTo>
                  <a:pt x="49609" y="96738"/>
                </a:lnTo>
                <a:lnTo>
                  <a:pt x="49609" y="143867"/>
                </a:lnTo>
                <a:lnTo>
                  <a:pt x="47129" y="143867"/>
                </a:lnTo>
                <a:cubicBezTo>
                  <a:pt x="43005" y="143867"/>
                  <a:pt x="39688" y="147185"/>
                  <a:pt x="39688" y="151309"/>
                </a:cubicBezTo>
                <a:cubicBezTo>
                  <a:pt x="39688" y="155432"/>
                  <a:pt x="43005" y="158750"/>
                  <a:pt x="47129" y="158750"/>
                </a:cubicBezTo>
                <a:lnTo>
                  <a:pt x="91777" y="158750"/>
                </a:lnTo>
                <a:cubicBezTo>
                  <a:pt x="95901" y="158750"/>
                  <a:pt x="99219" y="155432"/>
                  <a:pt x="99219" y="151309"/>
                </a:cubicBezTo>
                <a:cubicBezTo>
                  <a:pt x="99219" y="147185"/>
                  <a:pt x="95901" y="143867"/>
                  <a:pt x="91777" y="143867"/>
                </a:cubicBezTo>
                <a:lnTo>
                  <a:pt x="76895" y="143867"/>
                </a:lnTo>
                <a:lnTo>
                  <a:pt x="112241" y="96738"/>
                </a:lnTo>
                <a:lnTo>
                  <a:pt x="143371" y="96738"/>
                </a:lnTo>
                <a:cubicBezTo>
                  <a:pt x="146968" y="96738"/>
                  <a:pt x="150533" y="96025"/>
                  <a:pt x="153851" y="94630"/>
                </a:cubicBezTo>
                <a:lnTo>
                  <a:pt x="174005" y="86227"/>
                </a:lnTo>
                <a:cubicBezTo>
                  <a:pt x="176764" y="85080"/>
                  <a:pt x="178594" y="82352"/>
                  <a:pt x="178594" y="79344"/>
                </a:cubicBezTo>
                <a:cubicBezTo>
                  <a:pt x="178594" y="76336"/>
                  <a:pt x="176795" y="73639"/>
                  <a:pt x="174005" y="72461"/>
                </a:cubicBezTo>
                <a:lnTo>
                  <a:pt x="153851" y="64058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88988" y="2728434"/>
            <a:ext cx="1023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Military Aircraft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7050" y="3045934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F-15 Eagle/Strike Eagle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7050" y="3236434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F/A-18 Super Hornet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27050" y="3426934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T-7A Red Hawk Trainer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7050" y="3617434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P-8 Poseidon Maritime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575050" y="2601434"/>
            <a:ext cx="3079750" cy="1598538"/>
          </a:xfrm>
          <a:custGeom>
            <a:avLst/>
            <a:gdLst/>
            <a:ahLst/>
            <a:cxnLst/>
            <a:rect l="l" t="t" r="r" b="b"/>
            <a:pathLst>
              <a:path w="3079750" h="2770188">
                <a:moveTo>
                  <a:pt x="31750" y="0"/>
                </a:moveTo>
                <a:lnTo>
                  <a:pt x="3016257" y="0"/>
                </a:lnTo>
                <a:cubicBezTo>
                  <a:pt x="3051323" y="0"/>
                  <a:pt x="3079750" y="28427"/>
                  <a:pt x="3079750" y="63493"/>
                </a:cubicBezTo>
                <a:lnTo>
                  <a:pt x="3079750" y="2706695"/>
                </a:lnTo>
                <a:cubicBezTo>
                  <a:pt x="3079750" y="2741761"/>
                  <a:pt x="3051323" y="2770188"/>
                  <a:pt x="3016257" y="2770188"/>
                </a:cubicBezTo>
                <a:lnTo>
                  <a:pt x="31750" y="2770188"/>
                </a:lnTo>
                <a:cubicBezTo>
                  <a:pt x="14227" y="2770188"/>
                  <a:pt x="0" y="2755961"/>
                  <a:pt x="0" y="2738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3575050" y="2601434"/>
            <a:ext cx="31750" cy="1598538"/>
          </a:xfrm>
          <a:custGeom>
            <a:avLst/>
            <a:gdLst/>
            <a:ahLst/>
            <a:cxnLst/>
            <a:rect l="l" t="t" r="r" b="b"/>
            <a:pathLst>
              <a:path w="31750" h="2770188">
                <a:moveTo>
                  <a:pt x="31750" y="0"/>
                </a:moveTo>
                <a:lnTo>
                  <a:pt x="31750" y="0"/>
                </a:lnTo>
                <a:lnTo>
                  <a:pt x="31750" y="2770188"/>
                </a:lnTo>
                <a:lnTo>
                  <a:pt x="31750" y="2770188"/>
                </a:lnTo>
                <a:cubicBezTo>
                  <a:pt x="14227" y="2770188"/>
                  <a:pt x="0" y="2755961"/>
                  <a:pt x="0" y="2738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3727847" y="276018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54570" y="9922"/>
                </a:moveTo>
                <a:cubicBezTo>
                  <a:pt x="50447" y="9922"/>
                  <a:pt x="47129" y="13240"/>
                  <a:pt x="47129" y="17363"/>
                </a:cubicBezTo>
                <a:cubicBezTo>
                  <a:pt x="47129" y="21487"/>
                  <a:pt x="50447" y="24805"/>
                  <a:pt x="54570" y="24805"/>
                </a:cubicBezTo>
                <a:lnTo>
                  <a:pt x="101699" y="24805"/>
                </a:lnTo>
                <a:lnTo>
                  <a:pt x="101699" y="39688"/>
                </a:lnTo>
                <a:lnTo>
                  <a:pt x="33238" y="39688"/>
                </a:lnTo>
                <a:lnTo>
                  <a:pt x="23068" y="27471"/>
                </a:lnTo>
                <a:cubicBezTo>
                  <a:pt x="21673" y="25797"/>
                  <a:pt x="19565" y="24805"/>
                  <a:pt x="17363" y="24805"/>
                </a:cubicBezTo>
                <a:lnTo>
                  <a:pt x="7441" y="24805"/>
                </a:lnTo>
                <a:cubicBezTo>
                  <a:pt x="4868" y="24805"/>
                  <a:pt x="2480" y="26138"/>
                  <a:pt x="1116" y="28339"/>
                </a:cubicBezTo>
                <a:cubicBezTo>
                  <a:pt x="-248" y="30541"/>
                  <a:pt x="-372" y="33269"/>
                  <a:pt x="775" y="35595"/>
                </a:cubicBezTo>
                <a:lnTo>
                  <a:pt x="15658" y="65360"/>
                </a:lnTo>
                <a:cubicBezTo>
                  <a:pt x="16929" y="67872"/>
                  <a:pt x="19503" y="69453"/>
                  <a:pt x="22324" y="69453"/>
                </a:cubicBezTo>
                <a:lnTo>
                  <a:pt x="55749" y="69453"/>
                </a:lnTo>
                <a:lnTo>
                  <a:pt x="87995" y="113823"/>
                </a:lnTo>
                <a:cubicBezTo>
                  <a:pt x="92677" y="120241"/>
                  <a:pt x="100118" y="124023"/>
                  <a:pt x="108055" y="124023"/>
                </a:cubicBezTo>
                <a:lnTo>
                  <a:pt x="131465" y="124023"/>
                </a:lnTo>
                <a:cubicBezTo>
                  <a:pt x="154750" y="124023"/>
                  <a:pt x="173633" y="105141"/>
                  <a:pt x="173633" y="81855"/>
                </a:cubicBezTo>
                <a:cubicBezTo>
                  <a:pt x="173633" y="58570"/>
                  <a:pt x="154750" y="39688"/>
                  <a:pt x="131465" y="39688"/>
                </a:cubicBezTo>
                <a:lnTo>
                  <a:pt x="116582" y="39688"/>
                </a:lnTo>
                <a:lnTo>
                  <a:pt x="116582" y="24805"/>
                </a:lnTo>
                <a:lnTo>
                  <a:pt x="163711" y="24805"/>
                </a:lnTo>
                <a:cubicBezTo>
                  <a:pt x="167835" y="24805"/>
                  <a:pt x="171152" y="21487"/>
                  <a:pt x="171152" y="17363"/>
                </a:cubicBezTo>
                <a:cubicBezTo>
                  <a:pt x="171152" y="13240"/>
                  <a:pt x="167835" y="9922"/>
                  <a:pt x="163711" y="9922"/>
                </a:cubicBezTo>
                <a:lnTo>
                  <a:pt x="54570" y="9922"/>
                </a:lnTo>
                <a:close/>
                <a:moveTo>
                  <a:pt x="116582" y="59531"/>
                </a:moveTo>
                <a:lnTo>
                  <a:pt x="131465" y="59531"/>
                </a:lnTo>
                <a:cubicBezTo>
                  <a:pt x="143805" y="59531"/>
                  <a:pt x="153789" y="69515"/>
                  <a:pt x="153789" y="81855"/>
                </a:cubicBezTo>
                <a:cubicBezTo>
                  <a:pt x="153789" y="94196"/>
                  <a:pt x="143805" y="104180"/>
                  <a:pt x="131465" y="104180"/>
                </a:cubicBezTo>
                <a:lnTo>
                  <a:pt x="116582" y="104180"/>
                </a:lnTo>
                <a:lnTo>
                  <a:pt x="116582" y="59531"/>
                </a:lnTo>
                <a:close/>
                <a:moveTo>
                  <a:pt x="171152" y="128984"/>
                </a:moveTo>
                <a:cubicBezTo>
                  <a:pt x="167029" y="128984"/>
                  <a:pt x="163711" y="132302"/>
                  <a:pt x="163711" y="136426"/>
                </a:cubicBezTo>
                <a:cubicBezTo>
                  <a:pt x="163711" y="137790"/>
                  <a:pt x="162595" y="138906"/>
                  <a:pt x="161230" y="138906"/>
                </a:cubicBezTo>
                <a:lnTo>
                  <a:pt x="76895" y="138906"/>
                </a:lnTo>
                <a:cubicBezTo>
                  <a:pt x="72771" y="138906"/>
                  <a:pt x="69453" y="142224"/>
                  <a:pt x="69453" y="146348"/>
                </a:cubicBezTo>
                <a:cubicBezTo>
                  <a:pt x="69453" y="150471"/>
                  <a:pt x="72771" y="153789"/>
                  <a:pt x="76895" y="153789"/>
                </a:cubicBezTo>
                <a:lnTo>
                  <a:pt x="161230" y="153789"/>
                </a:lnTo>
                <a:cubicBezTo>
                  <a:pt x="170811" y="153789"/>
                  <a:pt x="178594" y="146007"/>
                  <a:pt x="178594" y="136426"/>
                </a:cubicBezTo>
                <a:cubicBezTo>
                  <a:pt x="178594" y="132302"/>
                  <a:pt x="175276" y="128984"/>
                  <a:pt x="171152" y="128984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979863" y="2728434"/>
            <a:ext cx="690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Rotorcraft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717925" y="3045934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AH-64 Apache Attack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717925" y="3236434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CH-47 Chinook Heavy-Lift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717925" y="3426934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V-22 Osprey Tiltrotor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717925" y="3617434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AH-6 Little Bird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68300" y="4433962"/>
            <a:ext cx="3079750" cy="1598538"/>
          </a:xfrm>
          <a:custGeom>
            <a:avLst/>
            <a:gdLst/>
            <a:ahLst/>
            <a:cxnLst/>
            <a:rect l="l" t="t" r="r" b="b"/>
            <a:pathLst>
              <a:path w="3079750" h="2770188">
                <a:moveTo>
                  <a:pt x="31750" y="0"/>
                </a:moveTo>
                <a:lnTo>
                  <a:pt x="3016257" y="0"/>
                </a:lnTo>
                <a:cubicBezTo>
                  <a:pt x="3051323" y="0"/>
                  <a:pt x="3079750" y="28427"/>
                  <a:pt x="3079750" y="63493"/>
                </a:cubicBezTo>
                <a:lnTo>
                  <a:pt x="3079750" y="2706695"/>
                </a:lnTo>
                <a:cubicBezTo>
                  <a:pt x="3079750" y="2741761"/>
                  <a:pt x="3051323" y="2770188"/>
                  <a:pt x="3016257" y="2770188"/>
                </a:cubicBezTo>
                <a:lnTo>
                  <a:pt x="31750" y="2770188"/>
                </a:lnTo>
                <a:cubicBezTo>
                  <a:pt x="14227" y="2770188"/>
                  <a:pt x="0" y="2755961"/>
                  <a:pt x="0" y="2738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368300" y="4433962"/>
            <a:ext cx="31750" cy="1598538"/>
          </a:xfrm>
          <a:custGeom>
            <a:avLst/>
            <a:gdLst/>
            <a:ahLst/>
            <a:cxnLst/>
            <a:rect l="l" t="t" r="r" b="b"/>
            <a:pathLst>
              <a:path w="31750" h="2770188">
                <a:moveTo>
                  <a:pt x="31750" y="0"/>
                </a:moveTo>
                <a:lnTo>
                  <a:pt x="31750" y="0"/>
                </a:lnTo>
                <a:lnTo>
                  <a:pt x="31750" y="2770188"/>
                </a:lnTo>
                <a:lnTo>
                  <a:pt x="31750" y="2770188"/>
                </a:lnTo>
                <a:cubicBezTo>
                  <a:pt x="14227" y="2770188"/>
                  <a:pt x="0" y="2755961"/>
                  <a:pt x="0" y="2738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531019" y="459271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1702" y="2170"/>
                </a:moveTo>
                <a:cubicBezTo>
                  <a:pt x="64616" y="-744"/>
                  <a:pt x="69329" y="-744"/>
                  <a:pt x="72213" y="2170"/>
                </a:cubicBezTo>
                <a:lnTo>
                  <a:pt x="99932" y="29890"/>
                </a:lnTo>
                <a:lnTo>
                  <a:pt x="116985" y="12836"/>
                </a:lnTo>
                <a:cubicBezTo>
                  <a:pt x="120861" y="8961"/>
                  <a:pt x="127155" y="8961"/>
                  <a:pt x="131031" y="12836"/>
                </a:cubicBezTo>
                <a:lnTo>
                  <a:pt x="145914" y="27719"/>
                </a:lnTo>
                <a:cubicBezTo>
                  <a:pt x="149789" y="31595"/>
                  <a:pt x="149789" y="37889"/>
                  <a:pt x="145914" y="41765"/>
                </a:cubicBezTo>
                <a:lnTo>
                  <a:pt x="128860" y="58818"/>
                </a:lnTo>
                <a:lnTo>
                  <a:pt x="156580" y="86537"/>
                </a:lnTo>
                <a:cubicBezTo>
                  <a:pt x="159494" y="89452"/>
                  <a:pt x="159494" y="94165"/>
                  <a:pt x="156580" y="97048"/>
                </a:cubicBezTo>
                <a:lnTo>
                  <a:pt x="126814" y="126814"/>
                </a:lnTo>
                <a:cubicBezTo>
                  <a:pt x="123899" y="129729"/>
                  <a:pt x="119187" y="129729"/>
                  <a:pt x="116303" y="126814"/>
                </a:cubicBezTo>
                <a:lnTo>
                  <a:pt x="88584" y="99095"/>
                </a:lnTo>
                <a:lnTo>
                  <a:pt x="83778" y="103901"/>
                </a:lnTo>
                <a:cubicBezTo>
                  <a:pt x="87313" y="111528"/>
                  <a:pt x="89297" y="120024"/>
                  <a:pt x="89297" y="128984"/>
                </a:cubicBezTo>
                <a:cubicBezTo>
                  <a:pt x="89297" y="138813"/>
                  <a:pt x="86909" y="148053"/>
                  <a:pt x="82724" y="156208"/>
                </a:cubicBezTo>
                <a:cubicBezTo>
                  <a:pt x="81266" y="158998"/>
                  <a:pt x="77546" y="159401"/>
                  <a:pt x="75344" y="157169"/>
                </a:cubicBezTo>
                <a:lnTo>
                  <a:pt x="45486" y="127310"/>
                </a:lnTo>
                <a:lnTo>
                  <a:pt x="26882" y="145914"/>
                </a:lnTo>
                <a:cubicBezTo>
                  <a:pt x="23006" y="149789"/>
                  <a:pt x="16712" y="149789"/>
                  <a:pt x="12836" y="145914"/>
                </a:cubicBezTo>
                <a:cubicBezTo>
                  <a:pt x="8961" y="142038"/>
                  <a:pt x="8961" y="135744"/>
                  <a:pt x="12836" y="131868"/>
                </a:cubicBezTo>
                <a:lnTo>
                  <a:pt x="31440" y="113264"/>
                </a:lnTo>
                <a:lnTo>
                  <a:pt x="1581" y="83406"/>
                </a:lnTo>
                <a:cubicBezTo>
                  <a:pt x="-651" y="81173"/>
                  <a:pt x="-248" y="77453"/>
                  <a:pt x="2542" y="76026"/>
                </a:cubicBezTo>
                <a:cubicBezTo>
                  <a:pt x="10697" y="71810"/>
                  <a:pt x="19968" y="69453"/>
                  <a:pt x="29766" y="69453"/>
                </a:cubicBezTo>
                <a:cubicBezTo>
                  <a:pt x="38726" y="69453"/>
                  <a:pt x="47222" y="71438"/>
                  <a:pt x="54849" y="74972"/>
                </a:cubicBezTo>
                <a:lnTo>
                  <a:pt x="59655" y="70166"/>
                </a:lnTo>
                <a:lnTo>
                  <a:pt x="31936" y="42478"/>
                </a:lnTo>
                <a:cubicBezTo>
                  <a:pt x="29021" y="39563"/>
                  <a:pt x="29021" y="34851"/>
                  <a:pt x="31936" y="31967"/>
                </a:cubicBezTo>
                <a:lnTo>
                  <a:pt x="61702" y="2170"/>
                </a:lnTo>
                <a:close/>
                <a:moveTo>
                  <a:pt x="66973" y="17952"/>
                </a:moveTo>
                <a:lnTo>
                  <a:pt x="47718" y="37207"/>
                </a:lnTo>
                <a:lnTo>
                  <a:pt x="70166" y="59655"/>
                </a:lnTo>
                <a:lnTo>
                  <a:pt x="89421" y="40401"/>
                </a:lnTo>
                <a:lnTo>
                  <a:pt x="66973" y="17952"/>
                </a:lnTo>
                <a:close/>
                <a:moveTo>
                  <a:pt x="121543" y="111032"/>
                </a:moveTo>
                <a:lnTo>
                  <a:pt x="140798" y="91777"/>
                </a:lnTo>
                <a:lnTo>
                  <a:pt x="118349" y="69329"/>
                </a:lnTo>
                <a:lnTo>
                  <a:pt x="99095" y="88584"/>
                </a:lnTo>
                <a:lnTo>
                  <a:pt x="121543" y="111032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773113" y="4560962"/>
            <a:ext cx="100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 Systems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1175" y="4878462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Starliner Crew Capsule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1175" y="5068962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Satellite Systems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1175" y="5259462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 Launch Systems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1175" y="5449962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 Integration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559175" y="4433962"/>
            <a:ext cx="3079750" cy="1598538"/>
          </a:xfrm>
          <a:custGeom>
            <a:avLst/>
            <a:gdLst/>
            <a:ahLst/>
            <a:cxnLst/>
            <a:rect l="l" t="t" r="r" b="b"/>
            <a:pathLst>
              <a:path w="3079750" h="2770188">
                <a:moveTo>
                  <a:pt x="31750" y="0"/>
                </a:moveTo>
                <a:lnTo>
                  <a:pt x="3016257" y="0"/>
                </a:lnTo>
                <a:cubicBezTo>
                  <a:pt x="3051323" y="0"/>
                  <a:pt x="3079750" y="28427"/>
                  <a:pt x="3079750" y="63493"/>
                </a:cubicBezTo>
                <a:lnTo>
                  <a:pt x="3079750" y="2706695"/>
                </a:lnTo>
                <a:cubicBezTo>
                  <a:pt x="3079750" y="2741761"/>
                  <a:pt x="3051323" y="2770188"/>
                  <a:pt x="3016257" y="2770188"/>
                </a:cubicBezTo>
                <a:lnTo>
                  <a:pt x="31750" y="2770188"/>
                </a:lnTo>
                <a:cubicBezTo>
                  <a:pt x="14227" y="2770188"/>
                  <a:pt x="0" y="2755961"/>
                  <a:pt x="0" y="2738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3559175" y="4433962"/>
            <a:ext cx="31750" cy="1598538"/>
          </a:xfrm>
          <a:custGeom>
            <a:avLst/>
            <a:gdLst/>
            <a:ahLst/>
            <a:cxnLst/>
            <a:rect l="l" t="t" r="r" b="b"/>
            <a:pathLst>
              <a:path w="31750" h="2770188">
                <a:moveTo>
                  <a:pt x="31750" y="0"/>
                </a:moveTo>
                <a:lnTo>
                  <a:pt x="31750" y="0"/>
                </a:lnTo>
                <a:lnTo>
                  <a:pt x="31750" y="2770188"/>
                </a:lnTo>
                <a:lnTo>
                  <a:pt x="31750" y="2770188"/>
                </a:lnTo>
                <a:cubicBezTo>
                  <a:pt x="14227" y="2770188"/>
                  <a:pt x="0" y="2755961"/>
                  <a:pt x="0" y="2738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3711972" y="459271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-4961"/>
                </a:moveTo>
                <a:cubicBezTo>
                  <a:pt x="94785" y="-4961"/>
                  <a:pt x="99219" y="-527"/>
                  <a:pt x="99219" y="4961"/>
                </a:cubicBezTo>
                <a:lnTo>
                  <a:pt x="99219" y="10635"/>
                </a:lnTo>
                <a:cubicBezTo>
                  <a:pt x="129635" y="14976"/>
                  <a:pt x="153696" y="39036"/>
                  <a:pt x="158037" y="69453"/>
                </a:cubicBezTo>
                <a:lnTo>
                  <a:pt x="163711" y="69453"/>
                </a:lnTo>
                <a:cubicBezTo>
                  <a:pt x="169199" y="69453"/>
                  <a:pt x="173633" y="73887"/>
                  <a:pt x="173633" y="79375"/>
                </a:cubicBezTo>
                <a:cubicBezTo>
                  <a:pt x="173633" y="84863"/>
                  <a:pt x="169199" y="89297"/>
                  <a:pt x="163711" y="89297"/>
                </a:cubicBezTo>
                <a:lnTo>
                  <a:pt x="158037" y="89297"/>
                </a:lnTo>
                <a:cubicBezTo>
                  <a:pt x="153696" y="119714"/>
                  <a:pt x="129635" y="143774"/>
                  <a:pt x="99219" y="148115"/>
                </a:cubicBezTo>
                <a:lnTo>
                  <a:pt x="99219" y="153789"/>
                </a:lnTo>
                <a:cubicBezTo>
                  <a:pt x="99219" y="159277"/>
                  <a:pt x="94785" y="163711"/>
                  <a:pt x="89297" y="163711"/>
                </a:cubicBezTo>
                <a:cubicBezTo>
                  <a:pt x="83809" y="163711"/>
                  <a:pt x="79375" y="159277"/>
                  <a:pt x="79375" y="153789"/>
                </a:cubicBezTo>
                <a:lnTo>
                  <a:pt x="79375" y="148115"/>
                </a:lnTo>
                <a:cubicBezTo>
                  <a:pt x="48958" y="143774"/>
                  <a:pt x="24898" y="119714"/>
                  <a:pt x="20557" y="89297"/>
                </a:cubicBezTo>
                <a:lnTo>
                  <a:pt x="14883" y="89297"/>
                </a:lnTo>
                <a:cubicBezTo>
                  <a:pt x="9395" y="89297"/>
                  <a:pt x="4961" y="84863"/>
                  <a:pt x="4961" y="79375"/>
                </a:cubicBezTo>
                <a:cubicBezTo>
                  <a:pt x="4961" y="73887"/>
                  <a:pt x="9395" y="69453"/>
                  <a:pt x="14883" y="69453"/>
                </a:cubicBezTo>
                <a:lnTo>
                  <a:pt x="20557" y="69453"/>
                </a:lnTo>
                <a:cubicBezTo>
                  <a:pt x="24898" y="39036"/>
                  <a:pt x="48958" y="14976"/>
                  <a:pt x="79375" y="10635"/>
                </a:cubicBezTo>
                <a:lnTo>
                  <a:pt x="79375" y="4961"/>
                </a:lnTo>
                <a:cubicBezTo>
                  <a:pt x="79375" y="-527"/>
                  <a:pt x="83809" y="-4961"/>
                  <a:pt x="89297" y="-4961"/>
                </a:cubicBezTo>
                <a:close/>
                <a:moveTo>
                  <a:pt x="40680" y="89297"/>
                </a:moveTo>
                <a:cubicBezTo>
                  <a:pt x="44617" y="108738"/>
                  <a:pt x="59934" y="124054"/>
                  <a:pt x="79375" y="127992"/>
                </a:cubicBezTo>
                <a:lnTo>
                  <a:pt x="79375" y="124023"/>
                </a:lnTo>
                <a:cubicBezTo>
                  <a:pt x="79375" y="118535"/>
                  <a:pt x="83809" y="114102"/>
                  <a:pt x="89297" y="114102"/>
                </a:cubicBezTo>
                <a:cubicBezTo>
                  <a:pt x="94785" y="114102"/>
                  <a:pt x="99219" y="118535"/>
                  <a:pt x="99219" y="124023"/>
                </a:cubicBezTo>
                <a:lnTo>
                  <a:pt x="99219" y="127992"/>
                </a:lnTo>
                <a:cubicBezTo>
                  <a:pt x="118659" y="124054"/>
                  <a:pt x="133976" y="108738"/>
                  <a:pt x="137914" y="89297"/>
                </a:cubicBezTo>
                <a:lnTo>
                  <a:pt x="133945" y="89297"/>
                </a:lnTo>
                <a:cubicBezTo>
                  <a:pt x="128457" y="89297"/>
                  <a:pt x="124023" y="84863"/>
                  <a:pt x="124023" y="79375"/>
                </a:cubicBezTo>
                <a:cubicBezTo>
                  <a:pt x="124023" y="73887"/>
                  <a:pt x="128457" y="69453"/>
                  <a:pt x="133945" y="69453"/>
                </a:cubicBezTo>
                <a:lnTo>
                  <a:pt x="137914" y="69453"/>
                </a:lnTo>
                <a:cubicBezTo>
                  <a:pt x="133976" y="50012"/>
                  <a:pt x="118659" y="34696"/>
                  <a:pt x="99219" y="30758"/>
                </a:cubicBezTo>
                <a:lnTo>
                  <a:pt x="99219" y="34727"/>
                </a:lnTo>
                <a:cubicBezTo>
                  <a:pt x="99219" y="40215"/>
                  <a:pt x="94785" y="44648"/>
                  <a:pt x="89297" y="44648"/>
                </a:cubicBezTo>
                <a:cubicBezTo>
                  <a:pt x="83809" y="44648"/>
                  <a:pt x="79375" y="40215"/>
                  <a:pt x="79375" y="34727"/>
                </a:cubicBezTo>
                <a:lnTo>
                  <a:pt x="79375" y="30758"/>
                </a:lnTo>
                <a:cubicBezTo>
                  <a:pt x="59934" y="34696"/>
                  <a:pt x="44617" y="50012"/>
                  <a:pt x="40680" y="69453"/>
                </a:cubicBezTo>
                <a:lnTo>
                  <a:pt x="44648" y="69453"/>
                </a:lnTo>
                <a:cubicBezTo>
                  <a:pt x="50136" y="69453"/>
                  <a:pt x="54570" y="73887"/>
                  <a:pt x="54570" y="79375"/>
                </a:cubicBezTo>
                <a:cubicBezTo>
                  <a:pt x="54570" y="84863"/>
                  <a:pt x="50136" y="89297"/>
                  <a:pt x="44648" y="89297"/>
                </a:cubicBezTo>
                <a:lnTo>
                  <a:pt x="40680" y="89297"/>
                </a:lnTo>
                <a:close/>
                <a:moveTo>
                  <a:pt x="89297" y="64492"/>
                </a:moveTo>
                <a:cubicBezTo>
                  <a:pt x="97511" y="64492"/>
                  <a:pt x="104180" y="71161"/>
                  <a:pt x="104180" y="79375"/>
                </a:cubicBezTo>
                <a:cubicBezTo>
                  <a:pt x="104180" y="87589"/>
                  <a:pt x="97511" y="94258"/>
                  <a:pt x="89297" y="94258"/>
                </a:cubicBezTo>
                <a:cubicBezTo>
                  <a:pt x="81083" y="94258"/>
                  <a:pt x="74414" y="87589"/>
                  <a:pt x="74414" y="79375"/>
                </a:cubicBezTo>
                <a:cubicBezTo>
                  <a:pt x="74414" y="71161"/>
                  <a:pt x="81083" y="64492"/>
                  <a:pt x="89297" y="64492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3963988" y="4560962"/>
            <a:ext cx="1325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Weapons &amp; Missiles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702050" y="4878462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Munitions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3702050" y="5068962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Missile Defense Systems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702050" y="5259462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Deterrence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3702050" y="5449962"/>
            <a:ext cx="286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Directed Energy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731000" y="984250"/>
            <a:ext cx="5143500" cy="1905000"/>
          </a:xfrm>
          <a:custGeom>
            <a:avLst/>
            <a:gdLst/>
            <a:ahLst/>
            <a:cxnLst/>
            <a:rect l="l" t="t" r="r" b="b"/>
            <a:pathLst>
              <a:path w="5143500" h="2159000">
                <a:moveTo>
                  <a:pt x="63496" y="0"/>
                </a:moveTo>
                <a:lnTo>
                  <a:pt x="5080004" y="0"/>
                </a:lnTo>
                <a:cubicBezTo>
                  <a:pt x="5115072" y="0"/>
                  <a:pt x="5143500" y="28428"/>
                  <a:pt x="5143500" y="63496"/>
                </a:cubicBezTo>
                <a:lnTo>
                  <a:pt x="5143500" y="2095504"/>
                </a:lnTo>
                <a:cubicBezTo>
                  <a:pt x="5143500" y="2130572"/>
                  <a:pt x="5115072" y="2159000"/>
                  <a:pt x="5080004" y="2159000"/>
                </a:cubicBezTo>
                <a:lnTo>
                  <a:pt x="63496" y="2159000"/>
                </a:lnTo>
                <a:cubicBezTo>
                  <a:pt x="28428" y="2159000"/>
                  <a:pt x="0" y="2130572"/>
                  <a:pt x="0" y="20955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6868914" y="1150938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42987" y="66973"/>
                </a:moveTo>
                <a:lnTo>
                  <a:pt x="93873" y="66973"/>
                </a:lnTo>
                <a:cubicBezTo>
                  <a:pt x="88934" y="66973"/>
                  <a:pt x="84944" y="62982"/>
                  <a:pt x="84944" y="58043"/>
                </a:cubicBezTo>
                <a:lnTo>
                  <a:pt x="84944" y="8930"/>
                </a:lnTo>
                <a:cubicBezTo>
                  <a:pt x="84944" y="3990"/>
                  <a:pt x="88962" y="-56"/>
                  <a:pt x="93845" y="586"/>
                </a:cubicBezTo>
                <a:cubicBezTo>
                  <a:pt x="123704" y="4549"/>
                  <a:pt x="147368" y="28212"/>
                  <a:pt x="151330" y="58071"/>
                </a:cubicBezTo>
                <a:cubicBezTo>
                  <a:pt x="151972" y="62954"/>
                  <a:pt x="147926" y="66973"/>
                  <a:pt x="142987" y="66973"/>
                </a:cubicBezTo>
                <a:close/>
                <a:moveTo>
                  <a:pt x="62117" y="10381"/>
                </a:moveTo>
                <a:cubicBezTo>
                  <a:pt x="67168" y="9320"/>
                  <a:pt x="71549" y="13450"/>
                  <a:pt x="71549" y="18613"/>
                </a:cubicBezTo>
                <a:lnTo>
                  <a:pt x="71549" y="73670"/>
                </a:lnTo>
                <a:cubicBezTo>
                  <a:pt x="71549" y="75233"/>
                  <a:pt x="72107" y="76740"/>
                  <a:pt x="73084" y="77939"/>
                </a:cubicBezTo>
                <a:lnTo>
                  <a:pt x="109947" y="122420"/>
                </a:lnTo>
                <a:cubicBezTo>
                  <a:pt x="113212" y="126355"/>
                  <a:pt x="112514" y="132299"/>
                  <a:pt x="108021" y="134727"/>
                </a:cubicBezTo>
                <a:cubicBezTo>
                  <a:pt x="98506" y="139917"/>
                  <a:pt x="87595" y="142875"/>
                  <a:pt x="76014" y="142875"/>
                </a:cubicBezTo>
                <a:cubicBezTo>
                  <a:pt x="39039" y="142875"/>
                  <a:pt x="9041" y="112877"/>
                  <a:pt x="9041" y="75902"/>
                </a:cubicBezTo>
                <a:cubicBezTo>
                  <a:pt x="9041" y="43672"/>
                  <a:pt x="31784" y="16771"/>
                  <a:pt x="62117" y="10381"/>
                </a:cubicBezTo>
                <a:close/>
                <a:moveTo>
                  <a:pt x="133331" y="80367"/>
                </a:moveTo>
                <a:lnTo>
                  <a:pt x="151191" y="80367"/>
                </a:lnTo>
                <a:cubicBezTo>
                  <a:pt x="156353" y="80367"/>
                  <a:pt x="160483" y="84748"/>
                  <a:pt x="159423" y="89799"/>
                </a:cubicBezTo>
                <a:cubicBezTo>
                  <a:pt x="156576" y="103305"/>
                  <a:pt x="149656" y="115305"/>
                  <a:pt x="140001" y="124458"/>
                </a:cubicBezTo>
                <a:cubicBezTo>
                  <a:pt x="136568" y="127722"/>
                  <a:pt x="131183" y="127025"/>
                  <a:pt x="128169" y="123369"/>
                </a:cubicBezTo>
                <a:lnTo>
                  <a:pt x="104617" y="94990"/>
                </a:lnTo>
                <a:cubicBezTo>
                  <a:pt x="99789" y="89157"/>
                  <a:pt x="103947" y="80367"/>
                  <a:pt x="111482" y="80367"/>
                </a:cubicBezTo>
                <a:lnTo>
                  <a:pt x="133303" y="80367"/>
                </a:ln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7040563" y="1111250"/>
            <a:ext cx="477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 Revenue Breakdown</a:t>
            </a:r>
            <a:endParaRPr lang="en-US" sz="1600" dirty="0"/>
          </a:p>
        </p:txBody>
      </p:sp>
      <p:pic>
        <p:nvPicPr>
          <p:cNvPr id="44" name="Image 1" descr="https://kimi-img.moonshot.cn/pub/slides/26-01-29-10:08:58-d5tc2eiliqu7stic4pc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0" y="1428750"/>
            <a:ext cx="3976687" cy="1587500"/>
          </a:xfrm>
          <a:prstGeom prst="roundRect">
            <a:avLst>
              <a:gd name="adj" fmla="val 0"/>
            </a:avLst>
          </a:prstGeom>
        </p:spPr>
      </p:pic>
      <p:sp>
        <p:nvSpPr>
          <p:cNvPr id="45" name="Shape 41"/>
          <p:cNvSpPr/>
          <p:nvPr/>
        </p:nvSpPr>
        <p:spPr>
          <a:xfrm>
            <a:off x="6731000" y="2952750"/>
            <a:ext cx="5143500" cy="2032000"/>
          </a:xfrm>
          <a:custGeom>
            <a:avLst/>
            <a:gdLst/>
            <a:ahLst/>
            <a:cxnLst/>
            <a:rect l="l" t="t" r="r" b="b"/>
            <a:pathLst>
              <a:path w="5143500" h="2032000">
                <a:moveTo>
                  <a:pt x="63500" y="0"/>
                </a:moveTo>
                <a:lnTo>
                  <a:pt x="5080000" y="0"/>
                </a:lnTo>
                <a:cubicBezTo>
                  <a:pt x="5115047" y="0"/>
                  <a:pt x="5143500" y="28453"/>
                  <a:pt x="5143500" y="63500"/>
                </a:cubicBezTo>
                <a:lnTo>
                  <a:pt x="5143500" y="1968500"/>
                </a:lnTo>
                <a:cubicBezTo>
                  <a:pt x="5143500" y="2003547"/>
                  <a:pt x="5115047" y="2032000"/>
                  <a:pt x="5080000" y="2032000"/>
                </a:cubicBezTo>
                <a:lnTo>
                  <a:pt x="63500" y="2032000"/>
                </a:lnTo>
                <a:cubicBezTo>
                  <a:pt x="28453" y="2032000"/>
                  <a:pt x="0" y="2003547"/>
                  <a:pt x="0" y="1968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2"/>
          <p:cNvSpPr/>
          <p:nvPr/>
        </p:nvSpPr>
        <p:spPr>
          <a:xfrm>
            <a:off x="6886773" y="311943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8930" y="0"/>
                </a:moveTo>
                <a:cubicBezTo>
                  <a:pt x="13869" y="0"/>
                  <a:pt x="17859" y="3990"/>
                  <a:pt x="17859" y="8930"/>
                </a:cubicBezTo>
                <a:lnTo>
                  <a:pt x="17859" y="13395"/>
                </a:lnTo>
                <a:lnTo>
                  <a:pt x="37114" y="8595"/>
                </a:lnTo>
                <a:cubicBezTo>
                  <a:pt x="47746" y="5944"/>
                  <a:pt x="58964" y="7172"/>
                  <a:pt x="68786" y="12083"/>
                </a:cubicBezTo>
                <a:cubicBezTo>
                  <a:pt x="81707" y="18557"/>
                  <a:pt x="96915" y="18557"/>
                  <a:pt x="109835" y="12083"/>
                </a:cubicBezTo>
                <a:lnTo>
                  <a:pt x="112514" y="10744"/>
                </a:lnTo>
                <a:cubicBezTo>
                  <a:pt x="118263" y="7841"/>
                  <a:pt x="125016" y="12027"/>
                  <a:pt x="125016" y="18445"/>
                </a:cubicBezTo>
                <a:lnTo>
                  <a:pt x="125016" y="28519"/>
                </a:lnTo>
                <a:lnTo>
                  <a:pt x="112542" y="33040"/>
                </a:lnTo>
                <a:cubicBezTo>
                  <a:pt x="100599" y="37393"/>
                  <a:pt x="87427" y="36919"/>
                  <a:pt x="75819" y="31756"/>
                </a:cubicBezTo>
                <a:lnTo>
                  <a:pt x="71326" y="29747"/>
                </a:lnTo>
                <a:cubicBezTo>
                  <a:pt x="65661" y="27236"/>
                  <a:pt x="59661" y="25645"/>
                  <a:pt x="53578" y="25031"/>
                </a:cubicBezTo>
                <a:lnTo>
                  <a:pt x="53578" y="34017"/>
                </a:lnTo>
                <a:cubicBezTo>
                  <a:pt x="58434" y="34603"/>
                  <a:pt x="63178" y="35886"/>
                  <a:pt x="67698" y="37895"/>
                </a:cubicBezTo>
                <a:lnTo>
                  <a:pt x="72191" y="39905"/>
                </a:lnTo>
                <a:cubicBezTo>
                  <a:pt x="85920" y="46016"/>
                  <a:pt x="101491" y="46546"/>
                  <a:pt x="115612" y="41411"/>
                </a:cubicBezTo>
                <a:lnTo>
                  <a:pt x="125016" y="37979"/>
                </a:lnTo>
                <a:lnTo>
                  <a:pt x="125016" y="55280"/>
                </a:lnTo>
                <a:lnTo>
                  <a:pt x="112542" y="59801"/>
                </a:lnTo>
                <a:cubicBezTo>
                  <a:pt x="100599" y="64154"/>
                  <a:pt x="87427" y="63680"/>
                  <a:pt x="75819" y="58517"/>
                </a:cubicBezTo>
                <a:lnTo>
                  <a:pt x="71326" y="56508"/>
                </a:lnTo>
                <a:cubicBezTo>
                  <a:pt x="60108" y="51513"/>
                  <a:pt x="47606" y="50229"/>
                  <a:pt x="35579" y="52797"/>
                </a:cubicBezTo>
                <a:lnTo>
                  <a:pt x="17859" y="56592"/>
                </a:lnTo>
                <a:lnTo>
                  <a:pt x="17859" y="65717"/>
                </a:lnTo>
                <a:lnTo>
                  <a:pt x="37449" y="61503"/>
                </a:lnTo>
                <a:cubicBezTo>
                  <a:pt x="47606" y="59327"/>
                  <a:pt x="58182" y="60415"/>
                  <a:pt x="67698" y="64657"/>
                </a:cubicBezTo>
                <a:lnTo>
                  <a:pt x="72191" y="66666"/>
                </a:lnTo>
                <a:cubicBezTo>
                  <a:pt x="85920" y="72777"/>
                  <a:pt x="101491" y="73307"/>
                  <a:pt x="115612" y="68173"/>
                </a:cubicBezTo>
                <a:lnTo>
                  <a:pt x="125016" y="64740"/>
                </a:lnTo>
                <a:lnTo>
                  <a:pt x="125016" y="82014"/>
                </a:lnTo>
                <a:lnTo>
                  <a:pt x="112542" y="86534"/>
                </a:lnTo>
                <a:cubicBezTo>
                  <a:pt x="100599" y="90887"/>
                  <a:pt x="87427" y="90413"/>
                  <a:pt x="75819" y="85251"/>
                </a:cubicBezTo>
                <a:lnTo>
                  <a:pt x="71326" y="83241"/>
                </a:lnTo>
                <a:cubicBezTo>
                  <a:pt x="60108" y="78246"/>
                  <a:pt x="47606" y="76963"/>
                  <a:pt x="35579" y="79530"/>
                </a:cubicBezTo>
                <a:lnTo>
                  <a:pt x="17859" y="83325"/>
                </a:lnTo>
                <a:lnTo>
                  <a:pt x="17859" y="92450"/>
                </a:lnTo>
                <a:lnTo>
                  <a:pt x="37449" y="88236"/>
                </a:lnTo>
                <a:cubicBezTo>
                  <a:pt x="47606" y="86060"/>
                  <a:pt x="58182" y="87148"/>
                  <a:pt x="67698" y="91390"/>
                </a:cubicBezTo>
                <a:lnTo>
                  <a:pt x="72191" y="93399"/>
                </a:lnTo>
                <a:cubicBezTo>
                  <a:pt x="85920" y="99510"/>
                  <a:pt x="101491" y="100040"/>
                  <a:pt x="115612" y="94906"/>
                </a:cubicBezTo>
                <a:lnTo>
                  <a:pt x="125016" y="91473"/>
                </a:lnTo>
                <a:lnTo>
                  <a:pt x="125016" y="100822"/>
                </a:lnTo>
                <a:cubicBezTo>
                  <a:pt x="125016" y="104533"/>
                  <a:pt x="122699" y="107882"/>
                  <a:pt x="119211" y="109193"/>
                </a:cubicBezTo>
                <a:lnTo>
                  <a:pt x="109528" y="112821"/>
                </a:lnTo>
                <a:cubicBezTo>
                  <a:pt x="96636" y="117649"/>
                  <a:pt x="82293" y="116895"/>
                  <a:pt x="69986" y="110756"/>
                </a:cubicBezTo>
                <a:cubicBezTo>
                  <a:pt x="59410" y="105454"/>
                  <a:pt x="47272" y="104142"/>
                  <a:pt x="35802" y="107017"/>
                </a:cubicBezTo>
                <a:lnTo>
                  <a:pt x="17859" y="111621"/>
                </a:lnTo>
                <a:lnTo>
                  <a:pt x="17859" y="133945"/>
                </a:lnTo>
                <a:cubicBezTo>
                  <a:pt x="17859" y="138885"/>
                  <a:pt x="13869" y="142875"/>
                  <a:pt x="8930" y="142875"/>
                </a:cubicBezTo>
                <a:cubicBezTo>
                  <a:pt x="3990" y="142875"/>
                  <a:pt x="0" y="138885"/>
                  <a:pt x="0" y="133945"/>
                </a:cubicBezTo>
                <a:lnTo>
                  <a:pt x="0" y="8930"/>
                </a:lnTo>
                <a:cubicBezTo>
                  <a:pt x="0" y="3990"/>
                  <a:pt x="3990" y="0"/>
                  <a:pt x="8930" y="0"/>
                </a:cubicBezTo>
                <a:close/>
                <a:moveTo>
                  <a:pt x="31254" y="26789"/>
                </a:moveTo>
                <a:cubicBezTo>
                  <a:pt x="31254" y="24325"/>
                  <a:pt x="29253" y="22324"/>
                  <a:pt x="26789" y="22324"/>
                </a:cubicBezTo>
                <a:cubicBezTo>
                  <a:pt x="24325" y="22324"/>
                  <a:pt x="22324" y="24325"/>
                  <a:pt x="22324" y="26789"/>
                </a:cubicBezTo>
                <a:cubicBezTo>
                  <a:pt x="22324" y="29253"/>
                  <a:pt x="24325" y="31254"/>
                  <a:pt x="26789" y="31254"/>
                </a:cubicBezTo>
                <a:cubicBezTo>
                  <a:pt x="29253" y="31254"/>
                  <a:pt x="31254" y="29253"/>
                  <a:pt x="31254" y="26789"/>
                </a:cubicBezTo>
                <a:close/>
                <a:moveTo>
                  <a:pt x="40184" y="26789"/>
                </a:moveTo>
                <a:cubicBezTo>
                  <a:pt x="42648" y="26789"/>
                  <a:pt x="44648" y="24788"/>
                  <a:pt x="44648" y="22324"/>
                </a:cubicBezTo>
                <a:cubicBezTo>
                  <a:pt x="44648" y="19860"/>
                  <a:pt x="42648" y="17859"/>
                  <a:pt x="40184" y="17859"/>
                </a:cubicBezTo>
                <a:cubicBezTo>
                  <a:pt x="37719" y="17859"/>
                  <a:pt x="35719" y="19860"/>
                  <a:pt x="35719" y="22324"/>
                </a:cubicBezTo>
                <a:cubicBezTo>
                  <a:pt x="35719" y="24788"/>
                  <a:pt x="37719" y="26789"/>
                  <a:pt x="40184" y="26789"/>
                </a:cubicBezTo>
                <a:close/>
                <a:moveTo>
                  <a:pt x="31254" y="40184"/>
                </a:moveTo>
                <a:cubicBezTo>
                  <a:pt x="31254" y="37719"/>
                  <a:pt x="29253" y="35719"/>
                  <a:pt x="26789" y="35719"/>
                </a:cubicBezTo>
                <a:cubicBezTo>
                  <a:pt x="24325" y="35719"/>
                  <a:pt x="22324" y="37719"/>
                  <a:pt x="22324" y="40184"/>
                </a:cubicBezTo>
                <a:cubicBezTo>
                  <a:pt x="22324" y="42648"/>
                  <a:pt x="24325" y="44648"/>
                  <a:pt x="26789" y="44648"/>
                </a:cubicBezTo>
                <a:cubicBezTo>
                  <a:pt x="29253" y="44648"/>
                  <a:pt x="31254" y="42648"/>
                  <a:pt x="31254" y="40184"/>
                </a:cubicBezTo>
                <a:close/>
                <a:moveTo>
                  <a:pt x="40184" y="40184"/>
                </a:moveTo>
                <a:cubicBezTo>
                  <a:pt x="42648" y="40184"/>
                  <a:pt x="44648" y="38183"/>
                  <a:pt x="44648" y="35719"/>
                </a:cubicBezTo>
                <a:cubicBezTo>
                  <a:pt x="44648" y="33255"/>
                  <a:pt x="42648" y="31254"/>
                  <a:pt x="40184" y="31254"/>
                </a:cubicBezTo>
                <a:cubicBezTo>
                  <a:pt x="37719" y="31254"/>
                  <a:pt x="35719" y="33255"/>
                  <a:pt x="35719" y="35719"/>
                </a:cubicBezTo>
                <a:cubicBezTo>
                  <a:pt x="35719" y="38183"/>
                  <a:pt x="37719" y="40184"/>
                  <a:pt x="40184" y="40184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3"/>
          <p:cNvSpPr/>
          <p:nvPr/>
        </p:nvSpPr>
        <p:spPr>
          <a:xfrm>
            <a:off x="7040563" y="3079750"/>
            <a:ext cx="477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Customers &amp; Partners</a:t>
            </a:r>
            <a:endParaRPr lang="en-US" sz="1600" dirty="0"/>
          </a:p>
        </p:txBody>
      </p:sp>
      <p:sp>
        <p:nvSpPr>
          <p:cNvPr id="48" name="Shape 44"/>
          <p:cNvSpPr/>
          <p:nvPr/>
        </p:nvSpPr>
        <p:spPr>
          <a:xfrm>
            <a:off x="6858000" y="3397250"/>
            <a:ext cx="4889500" cy="317500"/>
          </a:xfrm>
          <a:custGeom>
            <a:avLst/>
            <a:gdLst/>
            <a:ahLst/>
            <a:cxnLst/>
            <a:rect l="l" t="t" r="r" b="b"/>
            <a:pathLst>
              <a:path w="4889500" h="317500">
                <a:moveTo>
                  <a:pt x="31750" y="0"/>
                </a:moveTo>
                <a:lnTo>
                  <a:pt x="4857750" y="0"/>
                </a:lnTo>
                <a:cubicBezTo>
                  <a:pt x="4875273" y="0"/>
                  <a:pt x="4889500" y="14227"/>
                  <a:pt x="4889500" y="31750"/>
                </a:cubicBezTo>
                <a:lnTo>
                  <a:pt x="4889500" y="285750"/>
                </a:lnTo>
                <a:cubicBezTo>
                  <a:pt x="4889500" y="303273"/>
                  <a:pt x="4875273" y="317500"/>
                  <a:pt x="4857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45"/>
          <p:cNvSpPr/>
          <p:nvPr/>
        </p:nvSpPr>
        <p:spPr>
          <a:xfrm>
            <a:off x="6937375" y="3492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6"/>
          <p:cNvSpPr/>
          <p:nvPr/>
        </p:nvSpPr>
        <p:spPr>
          <a:xfrm>
            <a:off x="7143750" y="3476625"/>
            <a:ext cx="139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U.S. Department of Defense</a:t>
            </a:r>
            <a:endParaRPr lang="en-US" sz="1600" dirty="0"/>
          </a:p>
        </p:txBody>
      </p:sp>
      <p:sp>
        <p:nvSpPr>
          <p:cNvPr id="51" name="Shape 47"/>
          <p:cNvSpPr/>
          <p:nvPr/>
        </p:nvSpPr>
        <p:spPr>
          <a:xfrm>
            <a:off x="11238384" y="3460750"/>
            <a:ext cx="444500" cy="190500"/>
          </a:xfrm>
          <a:custGeom>
            <a:avLst/>
            <a:gdLst/>
            <a:ahLst/>
            <a:cxnLst/>
            <a:rect l="l" t="t" r="r" b="b"/>
            <a:pathLst>
              <a:path w="444500" h="190500">
                <a:moveTo>
                  <a:pt x="31751" y="0"/>
                </a:moveTo>
                <a:lnTo>
                  <a:pt x="412749" y="0"/>
                </a:lnTo>
                <a:cubicBezTo>
                  <a:pt x="430285" y="0"/>
                  <a:pt x="444500" y="14215"/>
                  <a:pt x="444500" y="31751"/>
                </a:cubicBezTo>
                <a:lnTo>
                  <a:pt x="444500" y="158749"/>
                </a:lnTo>
                <a:cubicBezTo>
                  <a:pt x="444500" y="176285"/>
                  <a:pt x="430285" y="190500"/>
                  <a:pt x="412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48"/>
          <p:cNvSpPr/>
          <p:nvPr/>
        </p:nvSpPr>
        <p:spPr>
          <a:xfrm>
            <a:off x="11238384" y="3460750"/>
            <a:ext cx="49212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</a:t>
            </a:r>
            <a:endParaRPr lang="en-US" sz="1600" dirty="0"/>
          </a:p>
        </p:txBody>
      </p:sp>
      <p:sp>
        <p:nvSpPr>
          <p:cNvPr id="53" name="Shape 49"/>
          <p:cNvSpPr/>
          <p:nvPr/>
        </p:nvSpPr>
        <p:spPr>
          <a:xfrm>
            <a:off x="6858000" y="3778250"/>
            <a:ext cx="4889500" cy="317500"/>
          </a:xfrm>
          <a:custGeom>
            <a:avLst/>
            <a:gdLst/>
            <a:ahLst/>
            <a:cxnLst/>
            <a:rect l="l" t="t" r="r" b="b"/>
            <a:pathLst>
              <a:path w="4889500" h="317500">
                <a:moveTo>
                  <a:pt x="31750" y="0"/>
                </a:moveTo>
                <a:lnTo>
                  <a:pt x="4857750" y="0"/>
                </a:lnTo>
                <a:cubicBezTo>
                  <a:pt x="4875273" y="0"/>
                  <a:pt x="4889500" y="14227"/>
                  <a:pt x="4889500" y="31750"/>
                </a:cubicBezTo>
                <a:lnTo>
                  <a:pt x="4889500" y="285750"/>
                </a:lnTo>
                <a:cubicBezTo>
                  <a:pt x="4889500" y="303273"/>
                  <a:pt x="4875273" y="317500"/>
                  <a:pt x="4857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Shape 50"/>
          <p:cNvSpPr/>
          <p:nvPr/>
        </p:nvSpPr>
        <p:spPr>
          <a:xfrm>
            <a:off x="6937375" y="3873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87288" y="69453"/>
                </a:moveTo>
                <a:lnTo>
                  <a:pt x="39936" y="69453"/>
                </a:lnTo>
                <a:cubicBezTo>
                  <a:pt x="40655" y="85452"/>
                  <a:pt x="44202" y="100186"/>
                  <a:pt x="49237" y="110976"/>
                </a:cubicBezTo>
                <a:cubicBezTo>
                  <a:pt x="52065" y="117053"/>
                  <a:pt x="55116" y="121345"/>
                  <a:pt x="57944" y="123974"/>
                </a:cubicBezTo>
                <a:cubicBezTo>
                  <a:pt x="60722" y="126578"/>
                  <a:pt x="62632" y="127000"/>
                  <a:pt x="63624" y="127000"/>
                </a:cubicBezTo>
                <a:cubicBezTo>
                  <a:pt x="64616" y="127000"/>
                  <a:pt x="66526" y="126578"/>
                  <a:pt x="69304" y="123974"/>
                </a:cubicBezTo>
                <a:cubicBezTo>
                  <a:pt x="72132" y="121345"/>
                  <a:pt x="75183" y="117029"/>
                  <a:pt x="78011" y="110976"/>
                </a:cubicBezTo>
                <a:cubicBezTo>
                  <a:pt x="83046" y="100186"/>
                  <a:pt x="86593" y="85452"/>
                  <a:pt x="87313" y="69453"/>
                </a:cubicBezTo>
                <a:close/>
                <a:moveTo>
                  <a:pt x="39911" y="57547"/>
                </a:moveTo>
                <a:lnTo>
                  <a:pt x="87263" y="57547"/>
                </a:lnTo>
                <a:cubicBezTo>
                  <a:pt x="86568" y="41548"/>
                  <a:pt x="83021" y="26814"/>
                  <a:pt x="77986" y="16024"/>
                </a:cubicBezTo>
                <a:cubicBezTo>
                  <a:pt x="75158" y="9971"/>
                  <a:pt x="72107" y="5655"/>
                  <a:pt x="69279" y="3026"/>
                </a:cubicBezTo>
                <a:cubicBezTo>
                  <a:pt x="66501" y="422"/>
                  <a:pt x="64591" y="0"/>
                  <a:pt x="63599" y="0"/>
                </a:cubicBezTo>
                <a:cubicBezTo>
                  <a:pt x="62607" y="0"/>
                  <a:pt x="60697" y="422"/>
                  <a:pt x="57919" y="3026"/>
                </a:cubicBezTo>
                <a:cubicBezTo>
                  <a:pt x="55091" y="5655"/>
                  <a:pt x="52040" y="9971"/>
                  <a:pt x="49212" y="16024"/>
                </a:cubicBezTo>
                <a:cubicBezTo>
                  <a:pt x="44177" y="26814"/>
                  <a:pt x="40630" y="41548"/>
                  <a:pt x="39911" y="57547"/>
                </a:cubicBezTo>
                <a:close/>
                <a:moveTo>
                  <a:pt x="28004" y="57547"/>
                </a:moveTo>
                <a:cubicBezTo>
                  <a:pt x="28873" y="36314"/>
                  <a:pt x="34354" y="16594"/>
                  <a:pt x="42366" y="3646"/>
                </a:cubicBezTo>
                <a:cubicBezTo>
                  <a:pt x="19521" y="11733"/>
                  <a:pt x="2704" y="32544"/>
                  <a:pt x="372" y="57547"/>
                </a:cubicBezTo>
                <a:lnTo>
                  <a:pt x="28004" y="57547"/>
                </a:lnTo>
                <a:close/>
                <a:moveTo>
                  <a:pt x="372" y="69453"/>
                </a:moveTo>
                <a:cubicBezTo>
                  <a:pt x="2704" y="94456"/>
                  <a:pt x="19521" y="115267"/>
                  <a:pt x="42366" y="123354"/>
                </a:cubicBezTo>
                <a:cubicBezTo>
                  <a:pt x="34354" y="110406"/>
                  <a:pt x="28873" y="90686"/>
                  <a:pt x="28004" y="69453"/>
                </a:cubicBezTo>
                <a:lnTo>
                  <a:pt x="372" y="69453"/>
                </a:lnTo>
                <a:close/>
                <a:moveTo>
                  <a:pt x="99194" y="69453"/>
                </a:moveTo>
                <a:cubicBezTo>
                  <a:pt x="98326" y="90686"/>
                  <a:pt x="92844" y="110406"/>
                  <a:pt x="84832" y="123354"/>
                </a:cubicBezTo>
                <a:cubicBezTo>
                  <a:pt x="107677" y="115243"/>
                  <a:pt x="124495" y="94456"/>
                  <a:pt x="126826" y="69453"/>
                </a:cubicBezTo>
                <a:lnTo>
                  <a:pt x="99194" y="69453"/>
                </a:lnTo>
                <a:close/>
                <a:moveTo>
                  <a:pt x="126826" y="57547"/>
                </a:moveTo>
                <a:cubicBezTo>
                  <a:pt x="124495" y="32544"/>
                  <a:pt x="107677" y="11733"/>
                  <a:pt x="84832" y="3646"/>
                </a:cubicBezTo>
                <a:cubicBezTo>
                  <a:pt x="92844" y="16594"/>
                  <a:pt x="98326" y="36314"/>
                  <a:pt x="99194" y="57547"/>
                </a:cubicBezTo>
                <a:lnTo>
                  <a:pt x="126826" y="57547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1"/>
          <p:cNvSpPr/>
          <p:nvPr/>
        </p:nvSpPr>
        <p:spPr>
          <a:xfrm>
            <a:off x="7143750" y="3857625"/>
            <a:ext cx="10398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NATO Allied Nations</a:t>
            </a:r>
            <a:endParaRPr lang="en-US" sz="1600" dirty="0"/>
          </a:p>
        </p:txBody>
      </p:sp>
      <p:sp>
        <p:nvSpPr>
          <p:cNvPr id="56" name="Shape 52"/>
          <p:cNvSpPr/>
          <p:nvPr/>
        </p:nvSpPr>
        <p:spPr>
          <a:xfrm>
            <a:off x="11039822" y="3841750"/>
            <a:ext cx="642938" cy="190500"/>
          </a:xfrm>
          <a:custGeom>
            <a:avLst/>
            <a:gdLst/>
            <a:ahLst/>
            <a:cxnLst/>
            <a:rect l="l" t="t" r="r" b="b"/>
            <a:pathLst>
              <a:path w="642938" h="190500">
                <a:moveTo>
                  <a:pt x="31751" y="0"/>
                </a:moveTo>
                <a:lnTo>
                  <a:pt x="611187" y="0"/>
                </a:lnTo>
                <a:cubicBezTo>
                  <a:pt x="628722" y="0"/>
                  <a:pt x="642938" y="14215"/>
                  <a:pt x="642938" y="31751"/>
                </a:cubicBezTo>
                <a:lnTo>
                  <a:pt x="642938" y="158749"/>
                </a:lnTo>
                <a:cubicBezTo>
                  <a:pt x="642938" y="176285"/>
                  <a:pt x="628722" y="190500"/>
                  <a:pt x="61118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3"/>
          <p:cNvSpPr/>
          <p:nvPr/>
        </p:nvSpPr>
        <p:spPr>
          <a:xfrm>
            <a:off x="11039822" y="3841750"/>
            <a:ext cx="69056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International</a:t>
            </a:r>
            <a:endParaRPr lang="en-US" sz="1600" dirty="0"/>
          </a:p>
        </p:txBody>
      </p:sp>
      <p:sp>
        <p:nvSpPr>
          <p:cNvPr id="58" name="Shape 54"/>
          <p:cNvSpPr/>
          <p:nvPr/>
        </p:nvSpPr>
        <p:spPr>
          <a:xfrm>
            <a:off x="6858000" y="4159250"/>
            <a:ext cx="4889500" cy="317500"/>
          </a:xfrm>
          <a:custGeom>
            <a:avLst/>
            <a:gdLst/>
            <a:ahLst/>
            <a:cxnLst/>
            <a:rect l="l" t="t" r="r" b="b"/>
            <a:pathLst>
              <a:path w="4889500" h="317500">
                <a:moveTo>
                  <a:pt x="31750" y="0"/>
                </a:moveTo>
                <a:lnTo>
                  <a:pt x="4857750" y="0"/>
                </a:lnTo>
                <a:cubicBezTo>
                  <a:pt x="4875273" y="0"/>
                  <a:pt x="4889500" y="14227"/>
                  <a:pt x="4889500" y="31750"/>
                </a:cubicBezTo>
                <a:lnTo>
                  <a:pt x="4889500" y="285750"/>
                </a:lnTo>
                <a:cubicBezTo>
                  <a:pt x="4889500" y="303273"/>
                  <a:pt x="4875273" y="317500"/>
                  <a:pt x="4857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Shape 55"/>
          <p:cNvSpPr/>
          <p:nvPr/>
        </p:nvSpPr>
        <p:spPr>
          <a:xfrm>
            <a:off x="6937375" y="4254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79375"/>
                </a:moveTo>
                <a:lnTo>
                  <a:pt x="6077" y="79375"/>
                </a:lnTo>
                <a:cubicBezTo>
                  <a:pt x="-99" y="79375"/>
                  <a:pt x="-3894" y="72653"/>
                  <a:pt x="-719" y="67345"/>
                </a:cubicBezTo>
                <a:lnTo>
                  <a:pt x="12402" y="45467"/>
                </a:lnTo>
                <a:cubicBezTo>
                  <a:pt x="14560" y="41870"/>
                  <a:pt x="18430" y="39688"/>
                  <a:pt x="22622" y="39688"/>
                </a:cubicBezTo>
                <a:lnTo>
                  <a:pt x="46186" y="39688"/>
                </a:lnTo>
                <a:cubicBezTo>
                  <a:pt x="65063" y="7714"/>
                  <a:pt x="93216" y="6102"/>
                  <a:pt x="112043" y="8855"/>
                </a:cubicBezTo>
                <a:cubicBezTo>
                  <a:pt x="115218" y="9327"/>
                  <a:pt x="117698" y="11807"/>
                  <a:pt x="118145" y="14957"/>
                </a:cubicBezTo>
                <a:cubicBezTo>
                  <a:pt x="120898" y="33784"/>
                  <a:pt x="119286" y="61937"/>
                  <a:pt x="87313" y="80814"/>
                </a:cubicBezTo>
                <a:lnTo>
                  <a:pt x="87313" y="104378"/>
                </a:lnTo>
                <a:cubicBezTo>
                  <a:pt x="87313" y="108570"/>
                  <a:pt x="85130" y="112440"/>
                  <a:pt x="81533" y="114598"/>
                </a:cubicBezTo>
                <a:lnTo>
                  <a:pt x="59655" y="127719"/>
                </a:lnTo>
                <a:cubicBezTo>
                  <a:pt x="54372" y="130894"/>
                  <a:pt x="47625" y="127074"/>
                  <a:pt x="47625" y="120923"/>
                </a:cubicBezTo>
                <a:lnTo>
                  <a:pt x="47625" y="95250"/>
                </a:lnTo>
                <a:cubicBezTo>
                  <a:pt x="47625" y="86494"/>
                  <a:pt x="40506" y="79375"/>
                  <a:pt x="31750" y="79375"/>
                </a:cubicBezTo>
                <a:lnTo>
                  <a:pt x="31725" y="79375"/>
                </a:lnTo>
                <a:close/>
                <a:moveTo>
                  <a:pt x="99219" y="39688"/>
                </a:moveTo>
                <a:cubicBezTo>
                  <a:pt x="99219" y="33116"/>
                  <a:pt x="93884" y="27781"/>
                  <a:pt x="87313" y="27781"/>
                </a:cubicBezTo>
                <a:cubicBezTo>
                  <a:pt x="80741" y="27781"/>
                  <a:pt x="75406" y="33116"/>
                  <a:pt x="75406" y="39688"/>
                </a:cubicBezTo>
                <a:cubicBezTo>
                  <a:pt x="75406" y="46259"/>
                  <a:pt x="80741" y="51594"/>
                  <a:pt x="87313" y="51594"/>
                </a:cubicBezTo>
                <a:cubicBezTo>
                  <a:pt x="93884" y="51594"/>
                  <a:pt x="99219" y="46259"/>
                  <a:pt x="99219" y="39688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6"/>
          <p:cNvSpPr/>
          <p:nvPr/>
        </p:nvSpPr>
        <p:spPr>
          <a:xfrm>
            <a:off x="7143750" y="4238625"/>
            <a:ext cx="34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NASA</a:t>
            </a:r>
            <a:endParaRPr lang="en-US" sz="1600" dirty="0"/>
          </a:p>
        </p:txBody>
      </p:sp>
      <p:sp>
        <p:nvSpPr>
          <p:cNvPr id="61" name="Shape 57"/>
          <p:cNvSpPr/>
          <p:nvPr/>
        </p:nvSpPr>
        <p:spPr>
          <a:xfrm>
            <a:off x="11305356" y="4222750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31751" y="0"/>
                </a:moveTo>
                <a:lnTo>
                  <a:pt x="349249" y="0"/>
                </a:lnTo>
                <a:cubicBezTo>
                  <a:pt x="366785" y="0"/>
                  <a:pt x="381000" y="14215"/>
                  <a:pt x="381000" y="31751"/>
                </a:cubicBezTo>
                <a:lnTo>
                  <a:pt x="381000" y="158749"/>
                </a:lnTo>
                <a:cubicBezTo>
                  <a:pt x="381000" y="176285"/>
                  <a:pt x="366785" y="190500"/>
                  <a:pt x="3492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58"/>
          <p:cNvSpPr/>
          <p:nvPr/>
        </p:nvSpPr>
        <p:spPr>
          <a:xfrm>
            <a:off x="11305356" y="4222750"/>
            <a:ext cx="42862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</a:t>
            </a:r>
            <a:endParaRPr lang="en-US" sz="1600" dirty="0"/>
          </a:p>
        </p:txBody>
      </p:sp>
      <p:sp>
        <p:nvSpPr>
          <p:cNvPr id="63" name="Shape 59"/>
          <p:cNvSpPr/>
          <p:nvPr/>
        </p:nvSpPr>
        <p:spPr>
          <a:xfrm>
            <a:off x="6858000" y="4540250"/>
            <a:ext cx="4889500" cy="317500"/>
          </a:xfrm>
          <a:custGeom>
            <a:avLst/>
            <a:gdLst/>
            <a:ahLst/>
            <a:cxnLst/>
            <a:rect l="l" t="t" r="r" b="b"/>
            <a:pathLst>
              <a:path w="4889500" h="317500">
                <a:moveTo>
                  <a:pt x="31750" y="0"/>
                </a:moveTo>
                <a:lnTo>
                  <a:pt x="4857750" y="0"/>
                </a:lnTo>
                <a:cubicBezTo>
                  <a:pt x="4875273" y="0"/>
                  <a:pt x="4889500" y="14227"/>
                  <a:pt x="4889500" y="31750"/>
                </a:cubicBezTo>
                <a:lnTo>
                  <a:pt x="4889500" y="285750"/>
                </a:lnTo>
                <a:cubicBezTo>
                  <a:pt x="4889500" y="303273"/>
                  <a:pt x="4875273" y="317500"/>
                  <a:pt x="4857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Shape 60"/>
          <p:cNvSpPr/>
          <p:nvPr/>
        </p:nvSpPr>
        <p:spPr>
          <a:xfrm>
            <a:off x="6929438" y="463550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28984" y="49609"/>
                </a:moveTo>
                <a:cubicBezTo>
                  <a:pt x="136649" y="49609"/>
                  <a:pt x="142875" y="55835"/>
                  <a:pt x="142875" y="63500"/>
                </a:cubicBezTo>
                <a:cubicBezTo>
                  <a:pt x="142875" y="71165"/>
                  <a:pt x="136649" y="77391"/>
                  <a:pt x="128984" y="77391"/>
                </a:cubicBezTo>
                <a:lnTo>
                  <a:pt x="97408" y="77391"/>
                </a:lnTo>
                <a:lnTo>
                  <a:pt x="57919" y="120452"/>
                </a:lnTo>
                <a:cubicBezTo>
                  <a:pt x="56406" y="122089"/>
                  <a:pt x="54297" y="123031"/>
                  <a:pt x="52065" y="123031"/>
                </a:cubicBezTo>
                <a:lnTo>
                  <a:pt x="41225" y="123031"/>
                </a:lnTo>
                <a:cubicBezTo>
                  <a:pt x="38522" y="123031"/>
                  <a:pt x="36612" y="120377"/>
                  <a:pt x="37455" y="117797"/>
                </a:cubicBezTo>
                <a:lnTo>
                  <a:pt x="50924" y="77391"/>
                </a:lnTo>
                <a:lnTo>
                  <a:pt x="26194" y="77391"/>
                </a:lnTo>
                <a:lnTo>
                  <a:pt x="13097" y="93762"/>
                </a:lnTo>
                <a:cubicBezTo>
                  <a:pt x="12353" y="94704"/>
                  <a:pt x="11212" y="95250"/>
                  <a:pt x="9996" y="95250"/>
                </a:cubicBezTo>
                <a:lnTo>
                  <a:pt x="5085" y="95250"/>
                </a:lnTo>
                <a:cubicBezTo>
                  <a:pt x="2505" y="95250"/>
                  <a:pt x="620" y="92819"/>
                  <a:pt x="1240" y="90314"/>
                </a:cubicBezTo>
                <a:lnTo>
                  <a:pt x="7938" y="63500"/>
                </a:lnTo>
                <a:lnTo>
                  <a:pt x="1240" y="36686"/>
                </a:lnTo>
                <a:cubicBezTo>
                  <a:pt x="595" y="34181"/>
                  <a:pt x="2505" y="31750"/>
                  <a:pt x="5085" y="31750"/>
                </a:cubicBezTo>
                <a:lnTo>
                  <a:pt x="9996" y="31750"/>
                </a:lnTo>
                <a:cubicBezTo>
                  <a:pt x="11212" y="31750"/>
                  <a:pt x="12353" y="32296"/>
                  <a:pt x="13097" y="33238"/>
                </a:cubicBezTo>
                <a:lnTo>
                  <a:pt x="26194" y="49609"/>
                </a:lnTo>
                <a:lnTo>
                  <a:pt x="50924" y="49609"/>
                </a:lnTo>
                <a:lnTo>
                  <a:pt x="37455" y="9203"/>
                </a:lnTo>
                <a:cubicBezTo>
                  <a:pt x="36612" y="6623"/>
                  <a:pt x="38522" y="3969"/>
                  <a:pt x="41225" y="3969"/>
                </a:cubicBezTo>
                <a:lnTo>
                  <a:pt x="52065" y="3969"/>
                </a:lnTo>
                <a:cubicBezTo>
                  <a:pt x="54297" y="3969"/>
                  <a:pt x="56406" y="4911"/>
                  <a:pt x="57919" y="6548"/>
                </a:cubicBezTo>
                <a:lnTo>
                  <a:pt x="97408" y="49609"/>
                </a:lnTo>
                <a:lnTo>
                  <a:pt x="128984" y="49609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1"/>
          <p:cNvSpPr/>
          <p:nvPr/>
        </p:nvSpPr>
        <p:spPr>
          <a:xfrm>
            <a:off x="7143750" y="4619625"/>
            <a:ext cx="116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International Air Forces</a:t>
            </a:r>
            <a:endParaRPr lang="en-US" sz="1600" dirty="0"/>
          </a:p>
        </p:txBody>
      </p:sp>
      <p:sp>
        <p:nvSpPr>
          <p:cNvPr id="66" name="Shape 62"/>
          <p:cNvSpPr/>
          <p:nvPr/>
        </p:nvSpPr>
        <p:spPr>
          <a:xfrm>
            <a:off x="11291962" y="4603750"/>
            <a:ext cx="388938" cy="190500"/>
          </a:xfrm>
          <a:custGeom>
            <a:avLst/>
            <a:gdLst/>
            <a:ahLst/>
            <a:cxnLst/>
            <a:rect l="l" t="t" r="r" b="b"/>
            <a:pathLst>
              <a:path w="388938" h="190500">
                <a:moveTo>
                  <a:pt x="31751" y="0"/>
                </a:moveTo>
                <a:lnTo>
                  <a:pt x="357187" y="0"/>
                </a:lnTo>
                <a:cubicBezTo>
                  <a:pt x="374722" y="0"/>
                  <a:pt x="388938" y="14215"/>
                  <a:pt x="388938" y="31751"/>
                </a:cubicBezTo>
                <a:lnTo>
                  <a:pt x="388938" y="158749"/>
                </a:lnTo>
                <a:cubicBezTo>
                  <a:pt x="388938" y="176285"/>
                  <a:pt x="374722" y="190500"/>
                  <a:pt x="35718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63"/>
          <p:cNvSpPr/>
          <p:nvPr/>
        </p:nvSpPr>
        <p:spPr>
          <a:xfrm>
            <a:off x="11291962" y="4603750"/>
            <a:ext cx="43656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</a:t>
            </a:r>
            <a:endParaRPr lang="en-US" sz="1600" dirty="0"/>
          </a:p>
        </p:txBody>
      </p:sp>
      <p:sp>
        <p:nvSpPr>
          <p:cNvPr id="68" name="Shape 64"/>
          <p:cNvSpPr/>
          <p:nvPr/>
        </p:nvSpPr>
        <p:spPr>
          <a:xfrm>
            <a:off x="6731000" y="5080000"/>
            <a:ext cx="5143500" cy="1651000"/>
          </a:xfrm>
          <a:custGeom>
            <a:avLst/>
            <a:gdLst/>
            <a:ahLst/>
            <a:cxnLst/>
            <a:rect l="l" t="t" r="r" b="b"/>
            <a:pathLst>
              <a:path w="5143500" h="1651000">
                <a:moveTo>
                  <a:pt x="63497" y="0"/>
                </a:moveTo>
                <a:lnTo>
                  <a:pt x="5080003" y="0"/>
                </a:lnTo>
                <a:cubicBezTo>
                  <a:pt x="5115071" y="0"/>
                  <a:pt x="5143500" y="28429"/>
                  <a:pt x="5143500" y="63497"/>
                </a:cubicBezTo>
                <a:lnTo>
                  <a:pt x="5143500" y="1587503"/>
                </a:lnTo>
                <a:cubicBezTo>
                  <a:pt x="5143500" y="1622571"/>
                  <a:pt x="5115071" y="1651000"/>
                  <a:pt x="5080003" y="1651000"/>
                </a:cubicBezTo>
                <a:lnTo>
                  <a:pt x="63497" y="1651000"/>
                </a:lnTo>
                <a:cubicBezTo>
                  <a:pt x="28429" y="1651000"/>
                  <a:pt x="0" y="1622571"/>
                  <a:pt x="0" y="1587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5"/>
          <p:cNvSpPr/>
          <p:nvPr/>
        </p:nvSpPr>
        <p:spPr>
          <a:xfrm>
            <a:off x="6858000" y="5207000"/>
            <a:ext cx="496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Recent Developments</a:t>
            </a:r>
            <a:endParaRPr lang="en-US" sz="1600" dirty="0"/>
          </a:p>
        </p:txBody>
      </p:sp>
      <p:sp>
        <p:nvSpPr>
          <p:cNvPr id="70" name="Shape 66"/>
          <p:cNvSpPr/>
          <p:nvPr/>
        </p:nvSpPr>
        <p:spPr>
          <a:xfrm>
            <a:off x="6873875" y="5524500"/>
            <a:ext cx="4873625" cy="508000"/>
          </a:xfrm>
          <a:custGeom>
            <a:avLst/>
            <a:gdLst/>
            <a:ahLst/>
            <a:cxnLst/>
            <a:rect l="l" t="t" r="r" b="b"/>
            <a:pathLst>
              <a:path w="4873625" h="508000">
                <a:moveTo>
                  <a:pt x="31750" y="0"/>
                </a:moveTo>
                <a:lnTo>
                  <a:pt x="4841875" y="0"/>
                </a:lnTo>
                <a:cubicBezTo>
                  <a:pt x="4859398" y="0"/>
                  <a:pt x="4873625" y="14227"/>
                  <a:pt x="4873625" y="31750"/>
                </a:cubicBezTo>
                <a:lnTo>
                  <a:pt x="4873625" y="476250"/>
                </a:lnTo>
                <a:cubicBezTo>
                  <a:pt x="4873625" y="493773"/>
                  <a:pt x="4859398" y="508000"/>
                  <a:pt x="4841875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Shape 67"/>
          <p:cNvSpPr/>
          <p:nvPr/>
        </p:nvSpPr>
        <p:spPr>
          <a:xfrm>
            <a:off x="6873875" y="5524500"/>
            <a:ext cx="31750" cy="508000"/>
          </a:xfrm>
          <a:custGeom>
            <a:avLst/>
            <a:gdLst/>
            <a:ahLst/>
            <a:cxnLst/>
            <a:rect l="l" t="t" r="r" b="b"/>
            <a:pathLst>
              <a:path w="31750" h="508000">
                <a:moveTo>
                  <a:pt x="31750" y="0"/>
                </a:moveTo>
                <a:lnTo>
                  <a:pt x="31750" y="0"/>
                </a:lnTo>
                <a:lnTo>
                  <a:pt x="31750" y="508000"/>
                </a:ln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Text 68"/>
          <p:cNvSpPr/>
          <p:nvPr/>
        </p:nvSpPr>
        <p:spPr>
          <a:xfrm>
            <a:off x="6985000" y="5619750"/>
            <a:ext cx="47228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Starliner Challenges: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NASA opted not to use Starliner for astronaut return from ISS, highlighting technical issues requiring resolution.</a:t>
            </a:r>
            <a:endParaRPr lang="en-US" sz="1600" dirty="0"/>
          </a:p>
        </p:txBody>
      </p:sp>
      <p:sp>
        <p:nvSpPr>
          <p:cNvPr id="73" name="Shape 69"/>
          <p:cNvSpPr/>
          <p:nvPr/>
        </p:nvSpPr>
        <p:spPr>
          <a:xfrm>
            <a:off x="6873875" y="6096000"/>
            <a:ext cx="4873625" cy="508000"/>
          </a:xfrm>
          <a:custGeom>
            <a:avLst/>
            <a:gdLst/>
            <a:ahLst/>
            <a:cxnLst/>
            <a:rect l="l" t="t" r="r" b="b"/>
            <a:pathLst>
              <a:path w="4873625" h="508000">
                <a:moveTo>
                  <a:pt x="31750" y="0"/>
                </a:moveTo>
                <a:lnTo>
                  <a:pt x="4841875" y="0"/>
                </a:lnTo>
                <a:cubicBezTo>
                  <a:pt x="4859398" y="0"/>
                  <a:pt x="4873625" y="14227"/>
                  <a:pt x="4873625" y="31750"/>
                </a:cubicBezTo>
                <a:lnTo>
                  <a:pt x="4873625" y="476250"/>
                </a:lnTo>
                <a:cubicBezTo>
                  <a:pt x="4873625" y="493773"/>
                  <a:pt x="4859398" y="508000"/>
                  <a:pt x="4841875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Shape 70"/>
          <p:cNvSpPr/>
          <p:nvPr/>
        </p:nvSpPr>
        <p:spPr>
          <a:xfrm>
            <a:off x="6873875" y="6096000"/>
            <a:ext cx="31750" cy="508000"/>
          </a:xfrm>
          <a:custGeom>
            <a:avLst/>
            <a:gdLst/>
            <a:ahLst/>
            <a:cxnLst/>
            <a:rect l="l" t="t" r="r" b="b"/>
            <a:pathLst>
              <a:path w="31750" h="508000">
                <a:moveTo>
                  <a:pt x="31750" y="0"/>
                </a:moveTo>
                <a:lnTo>
                  <a:pt x="31750" y="0"/>
                </a:lnTo>
                <a:lnTo>
                  <a:pt x="31750" y="508000"/>
                </a:ln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Text 71"/>
          <p:cNvSpPr/>
          <p:nvPr/>
        </p:nvSpPr>
        <p:spPr>
          <a:xfrm>
            <a:off x="6985000" y="6191250"/>
            <a:ext cx="47228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Leadership Change: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Ted Colbert departed as BDS CEO; Steve Parker appointed interim leader under Ortberg's restructuring.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53321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kern="0" spc="149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977" y="613661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Signs of Recovery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0977" y="1119029"/>
            <a:ext cx="6795393" cy="3339038"/>
          </a:xfrm>
          <a:custGeom>
            <a:avLst/>
            <a:gdLst/>
            <a:ahLst/>
            <a:cxnLst/>
            <a:rect l="l" t="t" r="r" b="b"/>
            <a:pathLst>
              <a:path w="6795393" h="3339038">
                <a:moveTo>
                  <a:pt x="72190" y="0"/>
                </a:moveTo>
                <a:lnTo>
                  <a:pt x="6723203" y="0"/>
                </a:lnTo>
                <a:cubicBezTo>
                  <a:pt x="6763072" y="0"/>
                  <a:pt x="6795393" y="32321"/>
                  <a:pt x="6795393" y="72190"/>
                </a:cubicBezTo>
                <a:lnTo>
                  <a:pt x="6795393" y="3266848"/>
                </a:lnTo>
                <a:cubicBezTo>
                  <a:pt x="6795393" y="3306717"/>
                  <a:pt x="6763072" y="3339038"/>
                  <a:pt x="6723203" y="3339038"/>
                </a:cubicBezTo>
                <a:lnTo>
                  <a:pt x="72190" y="3339038"/>
                </a:lnTo>
                <a:cubicBezTo>
                  <a:pt x="32347" y="3339038"/>
                  <a:pt x="0" y="3306690"/>
                  <a:pt x="0" y="3266848"/>
                </a:cubicBezTo>
                <a:lnTo>
                  <a:pt x="0" y="72190"/>
                </a:lnTo>
                <a:cubicBezTo>
                  <a:pt x="0" y="32347"/>
                  <a:pt x="32347" y="0"/>
                  <a:pt x="7219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27929" y="1308542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20305" y="20305"/>
                </a:moveTo>
                <a:cubicBezTo>
                  <a:pt x="20305" y="14689"/>
                  <a:pt x="15768" y="10152"/>
                  <a:pt x="10152" y="10152"/>
                </a:cubicBezTo>
                <a:cubicBezTo>
                  <a:pt x="4537" y="10152"/>
                  <a:pt x="0" y="14689"/>
                  <a:pt x="0" y="20305"/>
                </a:cubicBezTo>
                <a:lnTo>
                  <a:pt x="0" y="126906"/>
                </a:lnTo>
                <a:cubicBezTo>
                  <a:pt x="0" y="140929"/>
                  <a:pt x="11358" y="152287"/>
                  <a:pt x="25381" y="152287"/>
                </a:cubicBezTo>
                <a:lnTo>
                  <a:pt x="152287" y="152287"/>
                </a:lnTo>
                <a:cubicBezTo>
                  <a:pt x="157903" y="152287"/>
                  <a:pt x="162440" y="147750"/>
                  <a:pt x="162440" y="142135"/>
                </a:cubicBezTo>
                <a:cubicBezTo>
                  <a:pt x="162440" y="136519"/>
                  <a:pt x="157903" y="131982"/>
                  <a:pt x="152287" y="131982"/>
                </a:cubicBezTo>
                <a:lnTo>
                  <a:pt x="25381" y="131982"/>
                </a:lnTo>
                <a:cubicBezTo>
                  <a:pt x="22589" y="131982"/>
                  <a:pt x="20305" y="129698"/>
                  <a:pt x="20305" y="126906"/>
                </a:cubicBezTo>
                <a:lnTo>
                  <a:pt x="20305" y="20305"/>
                </a:lnTo>
                <a:close/>
                <a:moveTo>
                  <a:pt x="149305" y="47780"/>
                </a:moveTo>
                <a:cubicBezTo>
                  <a:pt x="153271" y="43814"/>
                  <a:pt x="153271" y="37374"/>
                  <a:pt x="149305" y="33408"/>
                </a:cubicBezTo>
                <a:cubicBezTo>
                  <a:pt x="145339" y="29442"/>
                  <a:pt x="138899" y="29442"/>
                  <a:pt x="134933" y="33408"/>
                </a:cubicBezTo>
                <a:lnTo>
                  <a:pt x="101525" y="66848"/>
                </a:lnTo>
                <a:lnTo>
                  <a:pt x="83314" y="48668"/>
                </a:lnTo>
                <a:cubicBezTo>
                  <a:pt x="79348" y="44703"/>
                  <a:pt x="72907" y="44703"/>
                  <a:pt x="68942" y="48668"/>
                </a:cubicBezTo>
                <a:lnTo>
                  <a:pt x="38484" y="79126"/>
                </a:lnTo>
                <a:cubicBezTo>
                  <a:pt x="34518" y="83092"/>
                  <a:pt x="34518" y="89532"/>
                  <a:pt x="38484" y="93498"/>
                </a:cubicBezTo>
                <a:cubicBezTo>
                  <a:pt x="42450" y="97464"/>
                  <a:pt x="48891" y="97464"/>
                  <a:pt x="52856" y="93498"/>
                </a:cubicBezTo>
                <a:lnTo>
                  <a:pt x="76144" y="70211"/>
                </a:lnTo>
                <a:lnTo>
                  <a:pt x="94355" y="88422"/>
                </a:lnTo>
                <a:cubicBezTo>
                  <a:pt x="98320" y="92388"/>
                  <a:pt x="104761" y="92388"/>
                  <a:pt x="108727" y="88422"/>
                </a:cubicBezTo>
                <a:lnTo>
                  <a:pt x="149337" y="47812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12930" y="1263420"/>
            <a:ext cx="638026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2025 Financial Highlights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5368" y="1624397"/>
            <a:ext cx="6569782" cy="415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Boeing's Q4 2025 results demonstrate </a:t>
            </a:r>
            <a:r>
              <a:rPr lang="en-US" sz="995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momentum in the turnaround</a:t>
            </a:r>
            <a:r>
              <a:rPr lang="en-US" sz="99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with revenue exceeding Wall Street expectations and positive cash flow signaling stabilization after years of crisis.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3417" y="2179399"/>
            <a:ext cx="3185623" cy="1010736"/>
          </a:xfrm>
          <a:custGeom>
            <a:avLst/>
            <a:gdLst/>
            <a:ahLst/>
            <a:cxnLst/>
            <a:rect l="l" t="t" r="r" b="b"/>
            <a:pathLst>
              <a:path w="3185623" h="1010736">
                <a:moveTo>
                  <a:pt x="36098" y="0"/>
                </a:moveTo>
                <a:lnTo>
                  <a:pt x="3113426" y="0"/>
                </a:lnTo>
                <a:cubicBezTo>
                  <a:pt x="3153299" y="0"/>
                  <a:pt x="3185623" y="32324"/>
                  <a:pt x="3185623" y="72197"/>
                </a:cubicBezTo>
                <a:lnTo>
                  <a:pt x="3185623" y="938539"/>
                </a:lnTo>
                <a:cubicBezTo>
                  <a:pt x="3185623" y="978412"/>
                  <a:pt x="3153299" y="1010736"/>
                  <a:pt x="3113426" y="1010736"/>
                </a:cubicBezTo>
                <a:lnTo>
                  <a:pt x="36098" y="1010736"/>
                </a:lnTo>
                <a:cubicBezTo>
                  <a:pt x="16161" y="1010736"/>
                  <a:pt x="0" y="994574"/>
                  <a:pt x="0" y="974638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23417" y="2179399"/>
            <a:ext cx="36098" cy="1010736"/>
          </a:xfrm>
          <a:custGeom>
            <a:avLst/>
            <a:gdLst/>
            <a:ahLst/>
            <a:cxnLst/>
            <a:rect l="l" t="t" r="r" b="b"/>
            <a:pathLst>
              <a:path w="36098" h="1010736">
                <a:moveTo>
                  <a:pt x="36098" y="0"/>
                </a:moveTo>
                <a:lnTo>
                  <a:pt x="36098" y="0"/>
                </a:lnTo>
                <a:lnTo>
                  <a:pt x="36098" y="1010736"/>
                </a:lnTo>
                <a:lnTo>
                  <a:pt x="36098" y="1010736"/>
                </a:lnTo>
                <a:cubicBezTo>
                  <a:pt x="16161" y="1010736"/>
                  <a:pt x="0" y="994574"/>
                  <a:pt x="0" y="97463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85856" y="2323790"/>
            <a:ext cx="1091956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56" y="2504278"/>
            <a:ext cx="1173175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2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$23.95B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55923" y="2350863"/>
            <a:ext cx="604496" cy="189513"/>
          </a:xfrm>
          <a:custGeom>
            <a:avLst/>
            <a:gdLst/>
            <a:ahLst/>
            <a:cxnLst/>
            <a:rect l="l" t="t" r="r" b="b"/>
            <a:pathLst>
              <a:path w="604496" h="189513">
                <a:moveTo>
                  <a:pt x="36098" y="0"/>
                </a:moveTo>
                <a:lnTo>
                  <a:pt x="568397" y="0"/>
                </a:lnTo>
                <a:cubicBezTo>
                  <a:pt x="588334" y="0"/>
                  <a:pt x="604496" y="16162"/>
                  <a:pt x="604496" y="36098"/>
                </a:cubicBezTo>
                <a:lnTo>
                  <a:pt x="604496" y="153415"/>
                </a:lnTo>
                <a:cubicBezTo>
                  <a:pt x="604496" y="173351"/>
                  <a:pt x="588334" y="189513"/>
                  <a:pt x="568397" y="189513"/>
                </a:cubicBezTo>
                <a:lnTo>
                  <a:pt x="36098" y="189513"/>
                </a:lnTo>
                <a:cubicBezTo>
                  <a:pt x="16162" y="189513"/>
                  <a:pt x="0" y="173351"/>
                  <a:pt x="0" y="153415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901776" y="2350863"/>
            <a:ext cx="658642" cy="189513"/>
          </a:xfrm>
          <a:prstGeom prst="rect">
            <a:avLst/>
          </a:prstGeom>
          <a:noFill/>
          <a:ln/>
        </p:spPr>
        <p:txBody>
          <a:bodyPr wrap="square" lIns="72195" tIns="36098" rIns="72195" bIns="36098" rtlCol="0" anchor="ctr"/>
          <a:lstStyle/>
          <a:p>
            <a:pPr algn="r">
              <a:lnSpc>
                <a:spcPct val="110000"/>
              </a:lnSpc>
            </a:pPr>
            <a:r>
              <a:rPr lang="en-US" sz="853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+57% YoY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56" y="2901353"/>
            <a:ext cx="2932939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Beat expectations of $22.6B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31151" y="2179399"/>
            <a:ext cx="3185623" cy="1010736"/>
          </a:xfrm>
          <a:custGeom>
            <a:avLst/>
            <a:gdLst/>
            <a:ahLst/>
            <a:cxnLst/>
            <a:rect l="l" t="t" r="r" b="b"/>
            <a:pathLst>
              <a:path w="3185623" h="1010736">
                <a:moveTo>
                  <a:pt x="36098" y="0"/>
                </a:moveTo>
                <a:lnTo>
                  <a:pt x="3113426" y="0"/>
                </a:lnTo>
                <a:cubicBezTo>
                  <a:pt x="3153299" y="0"/>
                  <a:pt x="3185623" y="32324"/>
                  <a:pt x="3185623" y="72197"/>
                </a:cubicBezTo>
                <a:lnTo>
                  <a:pt x="3185623" y="938539"/>
                </a:lnTo>
                <a:cubicBezTo>
                  <a:pt x="3185623" y="978412"/>
                  <a:pt x="3153299" y="1010736"/>
                  <a:pt x="3113426" y="1010736"/>
                </a:cubicBezTo>
                <a:lnTo>
                  <a:pt x="36098" y="1010736"/>
                </a:lnTo>
                <a:cubicBezTo>
                  <a:pt x="16161" y="1010736"/>
                  <a:pt x="0" y="994574"/>
                  <a:pt x="0" y="974638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831151" y="2179399"/>
            <a:ext cx="36098" cy="1010736"/>
          </a:xfrm>
          <a:custGeom>
            <a:avLst/>
            <a:gdLst/>
            <a:ahLst/>
            <a:cxnLst/>
            <a:rect l="l" t="t" r="r" b="b"/>
            <a:pathLst>
              <a:path w="36098" h="1010736">
                <a:moveTo>
                  <a:pt x="36098" y="0"/>
                </a:moveTo>
                <a:lnTo>
                  <a:pt x="36098" y="0"/>
                </a:lnTo>
                <a:lnTo>
                  <a:pt x="36098" y="1010736"/>
                </a:lnTo>
                <a:lnTo>
                  <a:pt x="36098" y="1010736"/>
                </a:lnTo>
                <a:cubicBezTo>
                  <a:pt x="16161" y="1010736"/>
                  <a:pt x="0" y="994574"/>
                  <a:pt x="0" y="97463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993591" y="2323790"/>
            <a:ext cx="965614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Cash 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93591" y="2504278"/>
            <a:ext cx="1046833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2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$400M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62644" y="2350863"/>
            <a:ext cx="505509" cy="189513"/>
          </a:xfrm>
          <a:custGeom>
            <a:avLst/>
            <a:gdLst/>
            <a:ahLst/>
            <a:cxnLst/>
            <a:rect l="l" t="t" r="r" b="b"/>
            <a:pathLst>
              <a:path w="505509" h="189513">
                <a:moveTo>
                  <a:pt x="36098" y="0"/>
                </a:moveTo>
                <a:lnTo>
                  <a:pt x="469410" y="0"/>
                </a:lnTo>
                <a:cubicBezTo>
                  <a:pt x="489347" y="0"/>
                  <a:pt x="505509" y="16162"/>
                  <a:pt x="505509" y="36098"/>
                </a:cubicBezTo>
                <a:lnTo>
                  <a:pt x="505509" y="153415"/>
                </a:lnTo>
                <a:cubicBezTo>
                  <a:pt x="505509" y="173351"/>
                  <a:pt x="489347" y="189513"/>
                  <a:pt x="469410" y="189513"/>
                </a:cubicBezTo>
                <a:lnTo>
                  <a:pt x="36098" y="189513"/>
                </a:lnTo>
                <a:cubicBezTo>
                  <a:pt x="16162" y="189513"/>
                  <a:pt x="0" y="173351"/>
                  <a:pt x="0" y="153415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B7943C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308497" y="2350863"/>
            <a:ext cx="559655" cy="189513"/>
          </a:xfrm>
          <a:prstGeom prst="rect">
            <a:avLst/>
          </a:prstGeom>
          <a:noFill/>
          <a:ln/>
        </p:spPr>
        <p:txBody>
          <a:bodyPr wrap="square" lIns="72195" tIns="36098" rIns="72195" bIns="36098" rtlCol="0" anchor="ctr"/>
          <a:lstStyle/>
          <a:p>
            <a:pPr algn="r">
              <a:lnSpc>
                <a:spcPct val="110000"/>
              </a:lnSpc>
            </a:pPr>
            <a:r>
              <a:rPr lang="en-US" sz="853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93591" y="2901353"/>
            <a:ext cx="2932939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analyst expectations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3417" y="3298428"/>
            <a:ext cx="3185623" cy="1010736"/>
          </a:xfrm>
          <a:custGeom>
            <a:avLst/>
            <a:gdLst/>
            <a:ahLst/>
            <a:cxnLst/>
            <a:rect l="l" t="t" r="r" b="b"/>
            <a:pathLst>
              <a:path w="3185623" h="1010736">
                <a:moveTo>
                  <a:pt x="36098" y="0"/>
                </a:moveTo>
                <a:lnTo>
                  <a:pt x="3113426" y="0"/>
                </a:lnTo>
                <a:cubicBezTo>
                  <a:pt x="3153299" y="0"/>
                  <a:pt x="3185623" y="32324"/>
                  <a:pt x="3185623" y="72197"/>
                </a:cubicBezTo>
                <a:lnTo>
                  <a:pt x="3185623" y="938539"/>
                </a:lnTo>
                <a:cubicBezTo>
                  <a:pt x="3185623" y="978412"/>
                  <a:pt x="3153299" y="1010736"/>
                  <a:pt x="3113426" y="1010736"/>
                </a:cubicBezTo>
                <a:lnTo>
                  <a:pt x="36098" y="1010736"/>
                </a:lnTo>
                <a:cubicBezTo>
                  <a:pt x="16161" y="1010736"/>
                  <a:pt x="0" y="994574"/>
                  <a:pt x="0" y="974638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23417" y="3298428"/>
            <a:ext cx="36098" cy="1010736"/>
          </a:xfrm>
          <a:custGeom>
            <a:avLst/>
            <a:gdLst/>
            <a:ahLst/>
            <a:cxnLst/>
            <a:rect l="l" t="t" r="r" b="b"/>
            <a:pathLst>
              <a:path w="36098" h="1010736">
                <a:moveTo>
                  <a:pt x="36098" y="0"/>
                </a:moveTo>
                <a:lnTo>
                  <a:pt x="36098" y="0"/>
                </a:lnTo>
                <a:lnTo>
                  <a:pt x="36098" y="1010736"/>
                </a:lnTo>
                <a:lnTo>
                  <a:pt x="36098" y="1010736"/>
                </a:lnTo>
                <a:cubicBezTo>
                  <a:pt x="16161" y="1010736"/>
                  <a:pt x="0" y="994574"/>
                  <a:pt x="0" y="97463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5856" y="3442819"/>
            <a:ext cx="1055858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Commercial Revenue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56" y="3623307"/>
            <a:ext cx="1137078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2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$11.38B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113991" y="3469892"/>
            <a:ext cx="446427" cy="189513"/>
          </a:xfrm>
          <a:custGeom>
            <a:avLst/>
            <a:gdLst/>
            <a:ahLst/>
            <a:cxnLst/>
            <a:rect l="l" t="t" r="r" b="b"/>
            <a:pathLst>
              <a:path w="446427" h="189513">
                <a:moveTo>
                  <a:pt x="36098" y="0"/>
                </a:moveTo>
                <a:lnTo>
                  <a:pt x="410329" y="0"/>
                </a:lnTo>
                <a:cubicBezTo>
                  <a:pt x="430265" y="0"/>
                  <a:pt x="446427" y="16162"/>
                  <a:pt x="446427" y="36098"/>
                </a:cubicBezTo>
                <a:lnTo>
                  <a:pt x="446427" y="153415"/>
                </a:lnTo>
                <a:cubicBezTo>
                  <a:pt x="446427" y="173351"/>
                  <a:pt x="430265" y="189513"/>
                  <a:pt x="410329" y="189513"/>
                </a:cubicBezTo>
                <a:lnTo>
                  <a:pt x="36098" y="189513"/>
                </a:lnTo>
                <a:cubicBezTo>
                  <a:pt x="16162" y="189513"/>
                  <a:pt x="0" y="173351"/>
                  <a:pt x="0" y="153415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059845" y="3469892"/>
            <a:ext cx="500574" cy="189513"/>
          </a:xfrm>
          <a:prstGeom prst="rect">
            <a:avLst/>
          </a:prstGeom>
          <a:noFill/>
          <a:ln/>
        </p:spPr>
        <p:txBody>
          <a:bodyPr wrap="square" lIns="72195" tIns="36098" rIns="72195" bIns="36098" rtlCol="0" anchor="ctr"/>
          <a:lstStyle/>
          <a:p>
            <a:pPr algn="r">
              <a:lnSpc>
                <a:spcPct val="110000"/>
              </a:lnSpc>
            </a:pPr>
            <a:r>
              <a:rPr lang="en-US" sz="853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+140%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56" y="4020382"/>
            <a:ext cx="2932939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Driven by 600 deliveries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31151" y="3298428"/>
            <a:ext cx="3185623" cy="1010736"/>
          </a:xfrm>
          <a:custGeom>
            <a:avLst/>
            <a:gdLst/>
            <a:ahLst/>
            <a:cxnLst/>
            <a:rect l="l" t="t" r="r" b="b"/>
            <a:pathLst>
              <a:path w="3185623" h="1010736">
                <a:moveTo>
                  <a:pt x="36098" y="0"/>
                </a:moveTo>
                <a:lnTo>
                  <a:pt x="3113426" y="0"/>
                </a:lnTo>
                <a:cubicBezTo>
                  <a:pt x="3153299" y="0"/>
                  <a:pt x="3185623" y="32324"/>
                  <a:pt x="3185623" y="72197"/>
                </a:cubicBezTo>
                <a:lnTo>
                  <a:pt x="3185623" y="938539"/>
                </a:lnTo>
                <a:cubicBezTo>
                  <a:pt x="3185623" y="978412"/>
                  <a:pt x="3153299" y="1010736"/>
                  <a:pt x="3113426" y="1010736"/>
                </a:cubicBezTo>
                <a:lnTo>
                  <a:pt x="36098" y="1010736"/>
                </a:lnTo>
                <a:cubicBezTo>
                  <a:pt x="16161" y="1010736"/>
                  <a:pt x="0" y="994574"/>
                  <a:pt x="0" y="974638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831151" y="3298428"/>
            <a:ext cx="36098" cy="1010736"/>
          </a:xfrm>
          <a:custGeom>
            <a:avLst/>
            <a:gdLst/>
            <a:ahLst/>
            <a:cxnLst/>
            <a:rect l="l" t="t" r="r" b="b"/>
            <a:pathLst>
              <a:path w="36098" h="1010736">
                <a:moveTo>
                  <a:pt x="36098" y="0"/>
                </a:moveTo>
                <a:lnTo>
                  <a:pt x="36098" y="0"/>
                </a:lnTo>
                <a:lnTo>
                  <a:pt x="36098" y="1010736"/>
                </a:lnTo>
                <a:lnTo>
                  <a:pt x="36098" y="1010736"/>
                </a:lnTo>
                <a:cubicBezTo>
                  <a:pt x="16161" y="1010736"/>
                  <a:pt x="0" y="994574"/>
                  <a:pt x="0" y="97463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993591" y="3442819"/>
            <a:ext cx="911467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 Revenue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993591" y="3623307"/>
            <a:ext cx="992687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2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$7.42B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73898" y="3469892"/>
            <a:ext cx="394255" cy="189513"/>
          </a:xfrm>
          <a:custGeom>
            <a:avLst/>
            <a:gdLst/>
            <a:ahLst/>
            <a:cxnLst/>
            <a:rect l="l" t="t" r="r" b="b"/>
            <a:pathLst>
              <a:path w="394255" h="189513">
                <a:moveTo>
                  <a:pt x="36098" y="0"/>
                </a:moveTo>
                <a:lnTo>
                  <a:pt x="358156" y="0"/>
                </a:lnTo>
                <a:cubicBezTo>
                  <a:pt x="378093" y="0"/>
                  <a:pt x="394255" y="16162"/>
                  <a:pt x="394255" y="36098"/>
                </a:cubicBezTo>
                <a:lnTo>
                  <a:pt x="394255" y="153415"/>
                </a:lnTo>
                <a:cubicBezTo>
                  <a:pt x="394255" y="173351"/>
                  <a:pt x="378093" y="189513"/>
                  <a:pt x="358156" y="189513"/>
                </a:cubicBezTo>
                <a:lnTo>
                  <a:pt x="36098" y="189513"/>
                </a:lnTo>
                <a:cubicBezTo>
                  <a:pt x="16162" y="189513"/>
                  <a:pt x="0" y="173351"/>
                  <a:pt x="0" y="153415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B7943C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419751" y="3469892"/>
            <a:ext cx="448401" cy="189513"/>
          </a:xfrm>
          <a:prstGeom prst="rect">
            <a:avLst/>
          </a:prstGeom>
          <a:noFill/>
          <a:ln/>
        </p:spPr>
        <p:txBody>
          <a:bodyPr wrap="square" lIns="72195" tIns="36098" rIns="72195" bIns="36098" rtlCol="0" anchor="ctr"/>
          <a:lstStyle/>
          <a:p>
            <a:pPr algn="r">
              <a:lnSpc>
                <a:spcPct val="110000"/>
              </a:lnSpc>
            </a:pPr>
            <a:r>
              <a:rPr lang="en-US" sz="853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+37%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993591" y="4020382"/>
            <a:ext cx="2932939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government demand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977" y="4561848"/>
            <a:ext cx="6795393" cy="1299517"/>
          </a:xfrm>
          <a:custGeom>
            <a:avLst/>
            <a:gdLst/>
            <a:ahLst/>
            <a:cxnLst/>
            <a:rect l="l" t="t" r="r" b="b"/>
            <a:pathLst>
              <a:path w="6795393" h="1299517">
                <a:moveTo>
                  <a:pt x="72201" y="0"/>
                </a:moveTo>
                <a:lnTo>
                  <a:pt x="6723192" y="0"/>
                </a:lnTo>
                <a:cubicBezTo>
                  <a:pt x="6763067" y="0"/>
                  <a:pt x="6795393" y="32326"/>
                  <a:pt x="6795393" y="72201"/>
                </a:cubicBezTo>
                <a:lnTo>
                  <a:pt x="6795393" y="1227316"/>
                </a:lnTo>
                <a:cubicBezTo>
                  <a:pt x="6795393" y="1267192"/>
                  <a:pt x="6763067" y="1299517"/>
                  <a:pt x="6723192" y="1299517"/>
                </a:cubicBezTo>
                <a:lnTo>
                  <a:pt x="72201" y="1299517"/>
                </a:lnTo>
                <a:cubicBezTo>
                  <a:pt x="32326" y="1299517"/>
                  <a:pt x="0" y="1267192"/>
                  <a:pt x="0" y="1227316"/>
                </a:cubicBezTo>
                <a:lnTo>
                  <a:pt x="0" y="72201"/>
                </a:lnTo>
                <a:cubicBezTo>
                  <a:pt x="0" y="32352"/>
                  <a:pt x="32352" y="0"/>
                  <a:pt x="72201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05368" y="4706238"/>
            <a:ext cx="6587831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Full Year Performance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37685" y="5067215"/>
            <a:ext cx="1678543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2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78295" y="5428192"/>
            <a:ext cx="1597323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Aircraft Delivered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78295" y="5572583"/>
            <a:ext cx="1597323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since 2018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091552" y="5067215"/>
            <a:ext cx="1678543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2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6,130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132162" y="5428192"/>
            <a:ext cx="1597323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Backlog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132162" y="5572583"/>
            <a:ext cx="1597323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+10% vs 2024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745419" y="5067215"/>
            <a:ext cx="1678543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2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$9.6B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786029" y="5428192"/>
            <a:ext cx="1597323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Jeppesen Sale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786029" y="5572583"/>
            <a:ext cx="1597323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divestment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99286" y="5067215"/>
            <a:ext cx="1678543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2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$1-3B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39896" y="5428192"/>
            <a:ext cx="1597323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 FCF Target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439896" y="5572583"/>
            <a:ext cx="1597323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 to $10B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301325" y="1119029"/>
            <a:ext cx="4530262" cy="3104403"/>
          </a:xfrm>
          <a:custGeom>
            <a:avLst/>
            <a:gdLst/>
            <a:ahLst/>
            <a:cxnLst/>
            <a:rect l="l" t="t" r="r" b="b"/>
            <a:pathLst>
              <a:path w="4530262" h="3104403">
                <a:moveTo>
                  <a:pt x="72208" y="0"/>
                </a:moveTo>
                <a:lnTo>
                  <a:pt x="4458054" y="0"/>
                </a:lnTo>
                <a:cubicBezTo>
                  <a:pt x="4497933" y="0"/>
                  <a:pt x="4530262" y="32329"/>
                  <a:pt x="4530262" y="72208"/>
                </a:cubicBezTo>
                <a:lnTo>
                  <a:pt x="4530262" y="3032194"/>
                </a:lnTo>
                <a:cubicBezTo>
                  <a:pt x="4530262" y="3072074"/>
                  <a:pt x="4497933" y="3104403"/>
                  <a:pt x="4458054" y="3104403"/>
                </a:cubicBezTo>
                <a:lnTo>
                  <a:pt x="72208" y="3104403"/>
                </a:lnTo>
                <a:cubicBezTo>
                  <a:pt x="32329" y="3104403"/>
                  <a:pt x="0" y="3072074"/>
                  <a:pt x="0" y="3032194"/>
                </a:cubicBezTo>
                <a:lnTo>
                  <a:pt x="0" y="72208"/>
                </a:lnTo>
                <a:cubicBezTo>
                  <a:pt x="0" y="32356"/>
                  <a:pt x="32356" y="0"/>
                  <a:pt x="72208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7445716" y="1263420"/>
            <a:ext cx="4322700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Performance</a:t>
            </a:r>
            <a:endParaRPr lang="en-US" sz="1600" dirty="0"/>
          </a:p>
        </p:txBody>
      </p:sp>
      <p:pic>
        <p:nvPicPr>
          <p:cNvPr id="52" name="Image 0" descr="https://kimi-img.moonshot.cn/pub/slides/26-01-29-10:08:58-d5tc2ej1huil5lbmjc7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45716" y="1624397"/>
            <a:ext cx="3988796" cy="1804885"/>
          </a:xfrm>
          <a:prstGeom prst="roundRect">
            <a:avLst>
              <a:gd name="adj" fmla="val 0"/>
            </a:avLst>
          </a:prstGeom>
        </p:spPr>
      </p:pic>
      <p:sp>
        <p:nvSpPr>
          <p:cNvPr id="53" name="Shape 50"/>
          <p:cNvSpPr/>
          <p:nvPr/>
        </p:nvSpPr>
        <p:spPr>
          <a:xfrm>
            <a:off x="7445716" y="3537575"/>
            <a:ext cx="2084642" cy="541466"/>
          </a:xfrm>
          <a:custGeom>
            <a:avLst/>
            <a:gdLst/>
            <a:ahLst/>
            <a:cxnLst/>
            <a:rect l="l" t="t" r="r" b="b"/>
            <a:pathLst>
              <a:path w="2084642" h="541466">
                <a:moveTo>
                  <a:pt x="36100" y="0"/>
                </a:moveTo>
                <a:lnTo>
                  <a:pt x="2048543" y="0"/>
                </a:lnTo>
                <a:cubicBezTo>
                  <a:pt x="2068480" y="0"/>
                  <a:pt x="2084642" y="16162"/>
                  <a:pt x="2084642" y="36100"/>
                </a:cubicBezTo>
                <a:lnTo>
                  <a:pt x="2084642" y="505366"/>
                </a:lnTo>
                <a:cubicBezTo>
                  <a:pt x="2084642" y="525303"/>
                  <a:pt x="2068480" y="541466"/>
                  <a:pt x="2048543" y="541466"/>
                </a:cubicBezTo>
                <a:lnTo>
                  <a:pt x="36100" y="541466"/>
                </a:lnTo>
                <a:cubicBezTo>
                  <a:pt x="16162" y="541466"/>
                  <a:pt x="0" y="525303"/>
                  <a:pt x="0" y="505366"/>
                </a:cubicBezTo>
                <a:lnTo>
                  <a:pt x="0" y="36100"/>
                </a:lnTo>
                <a:cubicBezTo>
                  <a:pt x="0" y="16176"/>
                  <a:pt x="16176" y="0"/>
                  <a:pt x="3610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/>
          <p:nvPr/>
        </p:nvSpPr>
        <p:spPr>
          <a:xfrm>
            <a:off x="7490838" y="3609771"/>
            <a:ext cx="1994398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Price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472789" y="3754161"/>
            <a:ext cx="2030496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~$204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9602695" y="3537575"/>
            <a:ext cx="2084642" cy="541466"/>
          </a:xfrm>
          <a:custGeom>
            <a:avLst/>
            <a:gdLst/>
            <a:ahLst/>
            <a:cxnLst/>
            <a:rect l="l" t="t" r="r" b="b"/>
            <a:pathLst>
              <a:path w="2084642" h="541466">
                <a:moveTo>
                  <a:pt x="36100" y="0"/>
                </a:moveTo>
                <a:lnTo>
                  <a:pt x="2048543" y="0"/>
                </a:lnTo>
                <a:cubicBezTo>
                  <a:pt x="2068480" y="0"/>
                  <a:pt x="2084642" y="16162"/>
                  <a:pt x="2084642" y="36100"/>
                </a:cubicBezTo>
                <a:lnTo>
                  <a:pt x="2084642" y="505366"/>
                </a:lnTo>
                <a:cubicBezTo>
                  <a:pt x="2084642" y="525303"/>
                  <a:pt x="2068480" y="541466"/>
                  <a:pt x="2048543" y="541466"/>
                </a:cubicBezTo>
                <a:lnTo>
                  <a:pt x="36100" y="541466"/>
                </a:lnTo>
                <a:cubicBezTo>
                  <a:pt x="16162" y="541466"/>
                  <a:pt x="0" y="525303"/>
                  <a:pt x="0" y="505366"/>
                </a:cubicBezTo>
                <a:lnTo>
                  <a:pt x="0" y="36100"/>
                </a:lnTo>
                <a:cubicBezTo>
                  <a:pt x="0" y="16176"/>
                  <a:pt x="16176" y="0"/>
                  <a:pt x="3610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/>
          <p:nvPr/>
        </p:nvSpPr>
        <p:spPr>
          <a:xfrm>
            <a:off x="9647817" y="3609771"/>
            <a:ext cx="1994398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52-Week Range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9643305" y="3754161"/>
            <a:ext cx="2003423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$137 - $242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7301325" y="4331725"/>
            <a:ext cx="4530262" cy="2328302"/>
          </a:xfrm>
          <a:custGeom>
            <a:avLst/>
            <a:gdLst/>
            <a:ahLst/>
            <a:cxnLst/>
            <a:rect l="l" t="t" r="r" b="b"/>
            <a:pathLst>
              <a:path w="4530262" h="2328302">
                <a:moveTo>
                  <a:pt x="72201" y="0"/>
                </a:moveTo>
                <a:lnTo>
                  <a:pt x="4458061" y="0"/>
                </a:lnTo>
                <a:cubicBezTo>
                  <a:pt x="4497937" y="0"/>
                  <a:pt x="4530262" y="32325"/>
                  <a:pt x="4530262" y="72201"/>
                </a:cubicBezTo>
                <a:lnTo>
                  <a:pt x="4530262" y="2256101"/>
                </a:lnTo>
                <a:cubicBezTo>
                  <a:pt x="4530262" y="2295977"/>
                  <a:pt x="4497937" y="2328302"/>
                  <a:pt x="4458061" y="2328302"/>
                </a:cubicBezTo>
                <a:lnTo>
                  <a:pt x="72201" y="2328302"/>
                </a:lnTo>
                <a:cubicBezTo>
                  <a:pt x="32325" y="2328302"/>
                  <a:pt x="0" y="2295977"/>
                  <a:pt x="0" y="2256101"/>
                </a:cubicBezTo>
                <a:lnTo>
                  <a:pt x="0" y="72201"/>
                </a:lnTo>
                <a:cubicBezTo>
                  <a:pt x="0" y="32352"/>
                  <a:pt x="32352" y="0"/>
                  <a:pt x="72201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/>
          <p:nvPr/>
        </p:nvSpPr>
        <p:spPr>
          <a:xfrm>
            <a:off x="7445716" y="4476115"/>
            <a:ext cx="4322700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CEO Outlook: Kelly Ortberg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7445716" y="4837093"/>
            <a:ext cx="4241480" cy="631710"/>
          </a:xfrm>
          <a:custGeom>
            <a:avLst/>
            <a:gdLst/>
            <a:ahLst/>
            <a:cxnLst/>
            <a:rect l="l" t="t" r="r" b="b"/>
            <a:pathLst>
              <a:path w="4241480" h="631710">
                <a:moveTo>
                  <a:pt x="72198" y="0"/>
                </a:moveTo>
                <a:lnTo>
                  <a:pt x="4169282" y="0"/>
                </a:lnTo>
                <a:cubicBezTo>
                  <a:pt x="4209156" y="0"/>
                  <a:pt x="4241480" y="32324"/>
                  <a:pt x="4241480" y="72198"/>
                </a:cubicBezTo>
                <a:lnTo>
                  <a:pt x="4241480" y="559512"/>
                </a:lnTo>
                <a:cubicBezTo>
                  <a:pt x="4241480" y="599386"/>
                  <a:pt x="4209156" y="631710"/>
                  <a:pt x="4169282" y="631710"/>
                </a:cubicBezTo>
                <a:lnTo>
                  <a:pt x="72198" y="631710"/>
                </a:lnTo>
                <a:cubicBezTo>
                  <a:pt x="32351" y="631710"/>
                  <a:pt x="0" y="599359"/>
                  <a:pt x="0" y="559512"/>
                </a:cubicBezTo>
                <a:lnTo>
                  <a:pt x="0" y="72198"/>
                </a:lnTo>
                <a:cubicBezTo>
                  <a:pt x="0" y="32351"/>
                  <a:pt x="32351" y="0"/>
                  <a:pt x="7219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/>
          <p:nvPr/>
        </p:nvSpPr>
        <p:spPr>
          <a:xfrm>
            <a:off x="7554009" y="4945386"/>
            <a:ext cx="4088065" cy="415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"We're marching to this $10 billion free cash flow number and it's going to take us a little bit of time but we've got a methodical plan to get there."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7463765" y="5599657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/>
          <p:nvPr/>
        </p:nvSpPr>
        <p:spPr>
          <a:xfrm>
            <a:off x="7675839" y="5572583"/>
            <a:ext cx="213878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free cash flow expected 2026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7463765" y="5852340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/>
          <p:nvPr/>
        </p:nvSpPr>
        <p:spPr>
          <a:xfrm>
            <a:off x="7675839" y="5825267"/>
            <a:ext cx="1651470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ramp-up on track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7463765" y="6105024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/>
          <p:nvPr/>
        </p:nvSpPr>
        <p:spPr>
          <a:xfrm>
            <a:off x="7675839" y="6077951"/>
            <a:ext cx="216586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improvements showing results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7463765" y="6357708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/>
          <p:nvPr/>
        </p:nvSpPr>
        <p:spPr>
          <a:xfrm>
            <a:off x="7675839" y="6330635"/>
            <a:ext cx="1804885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confidence rebuilding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boeing.cn/154ee5ec58ffcc042fa74dadc6561c1c6054104d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4308" b="430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7427714">
                <a:moveTo>
                  <a:pt x="0" y="0"/>
                </a:moveTo>
                <a:lnTo>
                  <a:pt x="12192000" y="0"/>
                </a:lnTo>
                <a:lnTo>
                  <a:pt x="12192000" y="7427714"/>
                </a:lnTo>
                <a:lnTo>
                  <a:pt x="0" y="742771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B7943C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351608" y="351608"/>
            <a:ext cx="11550316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kern="0" spc="145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Landscape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51608" y="597733"/>
            <a:ext cx="11647008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Duopoly Dynamics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51608" y="1089984"/>
            <a:ext cx="5669676" cy="3023827"/>
          </a:xfrm>
          <a:custGeom>
            <a:avLst/>
            <a:gdLst/>
            <a:ahLst/>
            <a:cxnLst/>
            <a:rect l="l" t="t" r="r" b="b"/>
            <a:pathLst>
              <a:path w="5669676" h="3023827">
                <a:moveTo>
                  <a:pt x="70334" y="0"/>
                </a:moveTo>
                <a:lnTo>
                  <a:pt x="5599341" y="0"/>
                </a:lnTo>
                <a:cubicBezTo>
                  <a:pt x="5638186" y="0"/>
                  <a:pt x="5669676" y="31490"/>
                  <a:pt x="5669676" y="70334"/>
                </a:cubicBezTo>
                <a:lnTo>
                  <a:pt x="5669676" y="2953493"/>
                </a:lnTo>
                <a:cubicBezTo>
                  <a:pt x="5669676" y="2992337"/>
                  <a:pt x="5638186" y="3023827"/>
                  <a:pt x="5599341" y="3023827"/>
                </a:cubicBezTo>
                <a:lnTo>
                  <a:pt x="70334" y="3023827"/>
                </a:lnTo>
                <a:cubicBezTo>
                  <a:pt x="31490" y="3023827"/>
                  <a:pt x="0" y="2992337"/>
                  <a:pt x="0" y="2953493"/>
                </a:cubicBezTo>
                <a:lnTo>
                  <a:pt x="0" y="70334"/>
                </a:lnTo>
                <a:cubicBezTo>
                  <a:pt x="0" y="31516"/>
                  <a:pt x="31516" y="0"/>
                  <a:pt x="70334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92251" y="1230627"/>
            <a:ext cx="5458711" cy="914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Boeing and Airbus control ~99% of the global commercial jet market</a:t>
            </a:r>
            <a:r>
              <a:rPr lang="en-US" sz="1107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creating an effective duopoly with extremely high barriers to entry. However, recent years have seen </a:t>
            </a:r>
            <a:r>
              <a:rPr lang="en-US" sz="1107" dirty="0">
                <a:solidFill>
                  <a:srgbClr val="B7943C"/>
                </a:solidFill>
                <a:highlight>
                  <a:srgbClr val="B7943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Airbus gaining significant momentum </a:t>
            </a:r>
            <a:r>
              <a:rPr lang="en-US" sz="1107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while Boeing navigates production and safety challenges.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9831" y="2285451"/>
            <a:ext cx="2628268" cy="1687717"/>
          </a:xfrm>
          <a:custGeom>
            <a:avLst/>
            <a:gdLst/>
            <a:ahLst/>
            <a:cxnLst/>
            <a:rect l="l" t="t" r="r" b="b"/>
            <a:pathLst>
              <a:path w="2628268" h="1687717">
                <a:moveTo>
                  <a:pt x="35155" y="0"/>
                </a:moveTo>
                <a:lnTo>
                  <a:pt x="2593113" y="0"/>
                </a:lnTo>
                <a:cubicBezTo>
                  <a:pt x="2612529" y="0"/>
                  <a:pt x="2628268" y="15739"/>
                  <a:pt x="2628268" y="35155"/>
                </a:cubicBezTo>
                <a:lnTo>
                  <a:pt x="2628268" y="1652562"/>
                </a:lnTo>
                <a:cubicBezTo>
                  <a:pt x="2628268" y="1671978"/>
                  <a:pt x="2612529" y="1687717"/>
                  <a:pt x="2593113" y="1687717"/>
                </a:cubicBezTo>
                <a:lnTo>
                  <a:pt x="35155" y="1687717"/>
                </a:lnTo>
                <a:cubicBezTo>
                  <a:pt x="15739" y="1687717"/>
                  <a:pt x="0" y="1671978"/>
                  <a:pt x="0" y="1652562"/>
                </a:cubicBezTo>
                <a:lnTo>
                  <a:pt x="0" y="35155"/>
                </a:lnTo>
                <a:cubicBezTo>
                  <a:pt x="0" y="15739"/>
                  <a:pt x="15739" y="0"/>
                  <a:pt x="35155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09831" y="2285451"/>
            <a:ext cx="35161" cy="1687717"/>
          </a:xfrm>
          <a:custGeom>
            <a:avLst/>
            <a:gdLst/>
            <a:ahLst/>
            <a:cxnLst/>
            <a:rect l="l" t="t" r="r" b="b"/>
            <a:pathLst>
              <a:path w="35161" h="1687717">
                <a:moveTo>
                  <a:pt x="35161" y="0"/>
                </a:moveTo>
                <a:lnTo>
                  <a:pt x="35161" y="0"/>
                </a:lnTo>
                <a:lnTo>
                  <a:pt x="35161" y="1687717"/>
                </a:lnTo>
                <a:lnTo>
                  <a:pt x="35161" y="1687717"/>
                </a:lnTo>
                <a:cubicBezTo>
                  <a:pt x="15742" y="1687717"/>
                  <a:pt x="0" y="1671975"/>
                  <a:pt x="0" y="165255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68055" y="2426094"/>
            <a:ext cx="2408513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Boeing Position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8055" y="2795282"/>
            <a:ext cx="764747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Share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495454" y="2777702"/>
            <a:ext cx="57136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36-40%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8055" y="3076568"/>
            <a:ext cx="887810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Deliveries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734300" y="3058988"/>
            <a:ext cx="33402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600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8055" y="3357854"/>
            <a:ext cx="817488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Backlog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671532" y="3340274"/>
            <a:ext cx="39555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6,130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8055" y="3639141"/>
            <a:ext cx="729586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Orders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691173" y="3621560"/>
            <a:ext cx="377978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~668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258141" y="2285451"/>
            <a:ext cx="2628268" cy="1687717"/>
          </a:xfrm>
          <a:custGeom>
            <a:avLst/>
            <a:gdLst/>
            <a:ahLst/>
            <a:cxnLst/>
            <a:rect l="l" t="t" r="r" b="b"/>
            <a:pathLst>
              <a:path w="2628268" h="1687717">
                <a:moveTo>
                  <a:pt x="35155" y="0"/>
                </a:moveTo>
                <a:lnTo>
                  <a:pt x="2593113" y="0"/>
                </a:lnTo>
                <a:cubicBezTo>
                  <a:pt x="2612529" y="0"/>
                  <a:pt x="2628268" y="15739"/>
                  <a:pt x="2628268" y="35155"/>
                </a:cubicBezTo>
                <a:lnTo>
                  <a:pt x="2628268" y="1652562"/>
                </a:lnTo>
                <a:cubicBezTo>
                  <a:pt x="2628268" y="1671978"/>
                  <a:pt x="2612529" y="1687717"/>
                  <a:pt x="2593113" y="1687717"/>
                </a:cubicBezTo>
                <a:lnTo>
                  <a:pt x="35155" y="1687717"/>
                </a:lnTo>
                <a:cubicBezTo>
                  <a:pt x="15739" y="1687717"/>
                  <a:pt x="0" y="1671978"/>
                  <a:pt x="0" y="1652562"/>
                </a:cubicBezTo>
                <a:lnTo>
                  <a:pt x="0" y="35155"/>
                </a:lnTo>
                <a:cubicBezTo>
                  <a:pt x="0" y="15739"/>
                  <a:pt x="15739" y="0"/>
                  <a:pt x="35155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258141" y="2285451"/>
            <a:ext cx="35161" cy="1687717"/>
          </a:xfrm>
          <a:custGeom>
            <a:avLst/>
            <a:gdLst/>
            <a:ahLst/>
            <a:cxnLst/>
            <a:rect l="l" t="t" r="r" b="b"/>
            <a:pathLst>
              <a:path w="35161" h="1687717">
                <a:moveTo>
                  <a:pt x="35161" y="0"/>
                </a:moveTo>
                <a:lnTo>
                  <a:pt x="35161" y="0"/>
                </a:lnTo>
                <a:lnTo>
                  <a:pt x="35161" y="1687717"/>
                </a:lnTo>
                <a:lnTo>
                  <a:pt x="35161" y="1687717"/>
                </a:lnTo>
                <a:cubicBezTo>
                  <a:pt x="15742" y="1687717"/>
                  <a:pt x="0" y="1671975"/>
                  <a:pt x="0" y="165255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3416364" y="2426094"/>
            <a:ext cx="2408513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Airbus Position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16364" y="2795282"/>
            <a:ext cx="764747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Share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237445" y="2777702"/>
            <a:ext cx="58015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56-60%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416364" y="3076568"/>
            <a:ext cx="887810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 Deliveries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23539" y="3058988"/>
            <a:ext cx="29007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766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416364" y="3357854"/>
            <a:ext cx="817488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Backlog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18743" y="3340274"/>
            <a:ext cx="39555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8,754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16364" y="3639141"/>
            <a:ext cx="729586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 Orders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521616" y="3621560"/>
            <a:ext cx="29007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878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51608" y="4219293"/>
            <a:ext cx="5669676" cy="2250290"/>
          </a:xfrm>
          <a:custGeom>
            <a:avLst/>
            <a:gdLst/>
            <a:ahLst/>
            <a:cxnLst/>
            <a:rect l="l" t="t" r="r" b="b"/>
            <a:pathLst>
              <a:path w="5669676" h="2250290">
                <a:moveTo>
                  <a:pt x="70322" y="0"/>
                </a:moveTo>
                <a:lnTo>
                  <a:pt x="5599354" y="0"/>
                </a:lnTo>
                <a:cubicBezTo>
                  <a:pt x="5638192" y="0"/>
                  <a:pt x="5669676" y="31484"/>
                  <a:pt x="5669676" y="70322"/>
                </a:cubicBezTo>
                <a:lnTo>
                  <a:pt x="5669676" y="2179968"/>
                </a:lnTo>
                <a:cubicBezTo>
                  <a:pt x="5669676" y="2218806"/>
                  <a:pt x="5638192" y="2250290"/>
                  <a:pt x="5599354" y="2250290"/>
                </a:cubicBezTo>
                <a:lnTo>
                  <a:pt x="70322" y="2250290"/>
                </a:lnTo>
                <a:cubicBezTo>
                  <a:pt x="31510" y="2250290"/>
                  <a:pt x="0" y="2218780"/>
                  <a:pt x="0" y="2179968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492251" y="4359937"/>
            <a:ext cx="5467501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Market Strengths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92251" y="4711544"/>
            <a:ext cx="2663429" cy="773537"/>
          </a:xfrm>
          <a:custGeom>
            <a:avLst/>
            <a:gdLst/>
            <a:ahLst/>
            <a:cxnLst/>
            <a:rect l="l" t="t" r="r" b="b"/>
            <a:pathLst>
              <a:path w="2663429" h="773537">
                <a:moveTo>
                  <a:pt x="35157" y="0"/>
                </a:moveTo>
                <a:lnTo>
                  <a:pt x="2628272" y="0"/>
                </a:lnTo>
                <a:cubicBezTo>
                  <a:pt x="2647689" y="0"/>
                  <a:pt x="2663429" y="15740"/>
                  <a:pt x="2663429" y="35157"/>
                </a:cubicBezTo>
                <a:lnTo>
                  <a:pt x="2663429" y="738380"/>
                </a:lnTo>
                <a:cubicBezTo>
                  <a:pt x="2663429" y="757797"/>
                  <a:pt x="2647689" y="773537"/>
                  <a:pt x="2628272" y="773537"/>
                </a:cubicBezTo>
                <a:lnTo>
                  <a:pt x="35157" y="773537"/>
                </a:lnTo>
                <a:cubicBezTo>
                  <a:pt x="15740" y="773537"/>
                  <a:pt x="0" y="757797"/>
                  <a:pt x="0" y="738380"/>
                </a:cubicBezTo>
                <a:lnTo>
                  <a:pt x="0" y="35157"/>
                </a:lnTo>
                <a:cubicBezTo>
                  <a:pt x="0" y="15753"/>
                  <a:pt x="15753" y="0"/>
                  <a:pt x="35157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624104" y="4834607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8790" y="0"/>
                </a:moveTo>
                <a:cubicBezTo>
                  <a:pt x="13652" y="0"/>
                  <a:pt x="17580" y="3928"/>
                  <a:pt x="17580" y="8790"/>
                </a:cubicBezTo>
                <a:lnTo>
                  <a:pt x="17580" y="13185"/>
                </a:lnTo>
                <a:lnTo>
                  <a:pt x="36534" y="8461"/>
                </a:lnTo>
                <a:cubicBezTo>
                  <a:pt x="47000" y="5851"/>
                  <a:pt x="58043" y="7060"/>
                  <a:pt x="67712" y="11894"/>
                </a:cubicBezTo>
                <a:cubicBezTo>
                  <a:pt x="80430" y="18267"/>
                  <a:pt x="95401" y="18267"/>
                  <a:pt x="108119" y="11894"/>
                </a:cubicBezTo>
                <a:lnTo>
                  <a:pt x="110756" y="10576"/>
                </a:lnTo>
                <a:cubicBezTo>
                  <a:pt x="116415" y="7719"/>
                  <a:pt x="123063" y="11839"/>
                  <a:pt x="123063" y="18157"/>
                </a:cubicBezTo>
                <a:lnTo>
                  <a:pt x="123063" y="28074"/>
                </a:lnTo>
                <a:lnTo>
                  <a:pt x="110784" y="32524"/>
                </a:lnTo>
                <a:cubicBezTo>
                  <a:pt x="99027" y="36809"/>
                  <a:pt x="86061" y="36342"/>
                  <a:pt x="74634" y="31260"/>
                </a:cubicBezTo>
                <a:lnTo>
                  <a:pt x="70212" y="29282"/>
                </a:lnTo>
                <a:cubicBezTo>
                  <a:pt x="64635" y="26810"/>
                  <a:pt x="58729" y="25244"/>
                  <a:pt x="52741" y="24640"/>
                </a:cubicBezTo>
                <a:lnTo>
                  <a:pt x="52741" y="33485"/>
                </a:lnTo>
                <a:cubicBezTo>
                  <a:pt x="57521" y="34062"/>
                  <a:pt x="62191" y="35326"/>
                  <a:pt x="66641" y="37303"/>
                </a:cubicBezTo>
                <a:lnTo>
                  <a:pt x="71063" y="39281"/>
                </a:lnTo>
                <a:cubicBezTo>
                  <a:pt x="84578" y="45297"/>
                  <a:pt x="99906" y="45819"/>
                  <a:pt x="113806" y="40765"/>
                </a:cubicBezTo>
                <a:lnTo>
                  <a:pt x="123063" y="37386"/>
                </a:lnTo>
                <a:lnTo>
                  <a:pt x="123063" y="54417"/>
                </a:lnTo>
                <a:lnTo>
                  <a:pt x="110784" y="58867"/>
                </a:lnTo>
                <a:cubicBezTo>
                  <a:pt x="99027" y="63152"/>
                  <a:pt x="86061" y="62685"/>
                  <a:pt x="74634" y="57603"/>
                </a:cubicBezTo>
                <a:lnTo>
                  <a:pt x="70212" y="55625"/>
                </a:lnTo>
                <a:cubicBezTo>
                  <a:pt x="59169" y="50708"/>
                  <a:pt x="46863" y="49445"/>
                  <a:pt x="35023" y="51972"/>
                </a:cubicBezTo>
                <a:lnTo>
                  <a:pt x="17580" y="55708"/>
                </a:lnTo>
                <a:lnTo>
                  <a:pt x="17580" y="64690"/>
                </a:lnTo>
                <a:lnTo>
                  <a:pt x="36864" y="60542"/>
                </a:lnTo>
                <a:cubicBezTo>
                  <a:pt x="46863" y="58400"/>
                  <a:pt x="57274" y="59471"/>
                  <a:pt x="66641" y="63647"/>
                </a:cubicBezTo>
                <a:lnTo>
                  <a:pt x="71063" y="65624"/>
                </a:lnTo>
                <a:cubicBezTo>
                  <a:pt x="84578" y="71640"/>
                  <a:pt x="99906" y="72162"/>
                  <a:pt x="113806" y="67108"/>
                </a:cubicBezTo>
                <a:lnTo>
                  <a:pt x="123063" y="63729"/>
                </a:lnTo>
                <a:lnTo>
                  <a:pt x="123063" y="80732"/>
                </a:lnTo>
                <a:lnTo>
                  <a:pt x="110784" y="85182"/>
                </a:lnTo>
                <a:cubicBezTo>
                  <a:pt x="99027" y="89468"/>
                  <a:pt x="86061" y="89001"/>
                  <a:pt x="74634" y="83919"/>
                </a:cubicBezTo>
                <a:lnTo>
                  <a:pt x="70212" y="81941"/>
                </a:lnTo>
                <a:cubicBezTo>
                  <a:pt x="59169" y="77024"/>
                  <a:pt x="46863" y="75760"/>
                  <a:pt x="35023" y="78288"/>
                </a:cubicBezTo>
                <a:lnTo>
                  <a:pt x="17580" y="82024"/>
                </a:lnTo>
                <a:lnTo>
                  <a:pt x="17580" y="91006"/>
                </a:lnTo>
                <a:lnTo>
                  <a:pt x="36864" y="86858"/>
                </a:lnTo>
                <a:cubicBezTo>
                  <a:pt x="46863" y="84716"/>
                  <a:pt x="57274" y="85787"/>
                  <a:pt x="66641" y="89962"/>
                </a:cubicBezTo>
                <a:lnTo>
                  <a:pt x="71063" y="91940"/>
                </a:lnTo>
                <a:cubicBezTo>
                  <a:pt x="84578" y="97956"/>
                  <a:pt x="99906" y="98478"/>
                  <a:pt x="113806" y="93423"/>
                </a:cubicBezTo>
                <a:lnTo>
                  <a:pt x="123063" y="90045"/>
                </a:lnTo>
                <a:lnTo>
                  <a:pt x="123063" y="99247"/>
                </a:lnTo>
                <a:cubicBezTo>
                  <a:pt x="123063" y="102900"/>
                  <a:pt x="120783" y="106197"/>
                  <a:pt x="117349" y="107488"/>
                </a:cubicBezTo>
                <a:lnTo>
                  <a:pt x="107817" y="111059"/>
                </a:lnTo>
                <a:cubicBezTo>
                  <a:pt x="95126" y="115811"/>
                  <a:pt x="81007" y="115069"/>
                  <a:pt x="68893" y="109026"/>
                </a:cubicBezTo>
                <a:cubicBezTo>
                  <a:pt x="58482" y="103807"/>
                  <a:pt x="46533" y="102516"/>
                  <a:pt x="35243" y="105345"/>
                </a:cubicBezTo>
                <a:lnTo>
                  <a:pt x="17580" y="109877"/>
                </a:lnTo>
                <a:lnTo>
                  <a:pt x="17580" y="131853"/>
                </a:lnTo>
                <a:cubicBezTo>
                  <a:pt x="17580" y="136715"/>
                  <a:pt x="13652" y="140643"/>
                  <a:pt x="8790" y="140643"/>
                </a:cubicBezTo>
                <a:cubicBezTo>
                  <a:pt x="3928" y="140643"/>
                  <a:pt x="0" y="136715"/>
                  <a:pt x="0" y="131853"/>
                </a:cubicBezTo>
                <a:lnTo>
                  <a:pt x="0" y="8790"/>
                </a:lnTo>
                <a:cubicBezTo>
                  <a:pt x="0" y="3928"/>
                  <a:pt x="3928" y="0"/>
                  <a:pt x="8790" y="0"/>
                </a:cubicBezTo>
                <a:close/>
                <a:moveTo>
                  <a:pt x="30766" y="26371"/>
                </a:moveTo>
                <a:cubicBezTo>
                  <a:pt x="30766" y="23945"/>
                  <a:pt x="28796" y="21975"/>
                  <a:pt x="26371" y="21975"/>
                </a:cubicBezTo>
                <a:cubicBezTo>
                  <a:pt x="23945" y="21975"/>
                  <a:pt x="21975" y="23945"/>
                  <a:pt x="21975" y="26371"/>
                </a:cubicBezTo>
                <a:cubicBezTo>
                  <a:pt x="21975" y="28796"/>
                  <a:pt x="23945" y="30766"/>
                  <a:pt x="26371" y="30766"/>
                </a:cubicBezTo>
                <a:cubicBezTo>
                  <a:pt x="28796" y="30766"/>
                  <a:pt x="30766" y="28796"/>
                  <a:pt x="30766" y="26371"/>
                </a:cubicBezTo>
                <a:close/>
                <a:moveTo>
                  <a:pt x="39556" y="26371"/>
                </a:moveTo>
                <a:cubicBezTo>
                  <a:pt x="41982" y="26371"/>
                  <a:pt x="43951" y="24401"/>
                  <a:pt x="43951" y="21975"/>
                </a:cubicBezTo>
                <a:cubicBezTo>
                  <a:pt x="43951" y="19550"/>
                  <a:pt x="41982" y="17580"/>
                  <a:pt x="39556" y="17580"/>
                </a:cubicBezTo>
                <a:cubicBezTo>
                  <a:pt x="37130" y="17580"/>
                  <a:pt x="35161" y="19550"/>
                  <a:pt x="35161" y="21975"/>
                </a:cubicBezTo>
                <a:cubicBezTo>
                  <a:pt x="35161" y="24401"/>
                  <a:pt x="37130" y="26371"/>
                  <a:pt x="39556" y="26371"/>
                </a:cubicBezTo>
                <a:close/>
                <a:moveTo>
                  <a:pt x="30766" y="39556"/>
                </a:moveTo>
                <a:cubicBezTo>
                  <a:pt x="30766" y="37130"/>
                  <a:pt x="28796" y="35161"/>
                  <a:pt x="26371" y="35161"/>
                </a:cubicBezTo>
                <a:cubicBezTo>
                  <a:pt x="23945" y="35161"/>
                  <a:pt x="21975" y="37130"/>
                  <a:pt x="21975" y="39556"/>
                </a:cubicBezTo>
                <a:cubicBezTo>
                  <a:pt x="21975" y="41982"/>
                  <a:pt x="23945" y="43951"/>
                  <a:pt x="26371" y="43951"/>
                </a:cubicBezTo>
                <a:cubicBezTo>
                  <a:pt x="28796" y="43951"/>
                  <a:pt x="30766" y="41982"/>
                  <a:pt x="30766" y="39556"/>
                </a:cubicBezTo>
                <a:close/>
                <a:moveTo>
                  <a:pt x="39556" y="39556"/>
                </a:moveTo>
                <a:cubicBezTo>
                  <a:pt x="41982" y="39556"/>
                  <a:pt x="43951" y="37586"/>
                  <a:pt x="43951" y="35161"/>
                </a:cubicBezTo>
                <a:cubicBezTo>
                  <a:pt x="43951" y="32735"/>
                  <a:pt x="41982" y="30766"/>
                  <a:pt x="39556" y="30766"/>
                </a:cubicBezTo>
                <a:cubicBezTo>
                  <a:pt x="37130" y="30766"/>
                  <a:pt x="35161" y="32735"/>
                  <a:pt x="35161" y="35161"/>
                </a:cubicBezTo>
                <a:cubicBezTo>
                  <a:pt x="35161" y="37586"/>
                  <a:pt x="37130" y="39556"/>
                  <a:pt x="39556" y="39556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843859" y="4817027"/>
            <a:ext cx="843859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North America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97733" y="5063152"/>
            <a:ext cx="2505205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Boeing's stronghold with 54% of revenue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97733" y="5238956"/>
            <a:ext cx="2505205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Advantage: Boeing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222980" y="4711544"/>
            <a:ext cx="2663429" cy="773537"/>
          </a:xfrm>
          <a:custGeom>
            <a:avLst/>
            <a:gdLst/>
            <a:ahLst/>
            <a:cxnLst/>
            <a:rect l="l" t="t" r="r" b="b"/>
            <a:pathLst>
              <a:path w="2663429" h="773537">
                <a:moveTo>
                  <a:pt x="35157" y="0"/>
                </a:moveTo>
                <a:lnTo>
                  <a:pt x="2628272" y="0"/>
                </a:lnTo>
                <a:cubicBezTo>
                  <a:pt x="2647689" y="0"/>
                  <a:pt x="2663429" y="15740"/>
                  <a:pt x="2663429" y="35157"/>
                </a:cubicBezTo>
                <a:lnTo>
                  <a:pt x="2663429" y="738380"/>
                </a:lnTo>
                <a:cubicBezTo>
                  <a:pt x="2663429" y="757797"/>
                  <a:pt x="2647689" y="773537"/>
                  <a:pt x="2628272" y="773537"/>
                </a:cubicBezTo>
                <a:lnTo>
                  <a:pt x="35157" y="773537"/>
                </a:lnTo>
                <a:cubicBezTo>
                  <a:pt x="15740" y="773537"/>
                  <a:pt x="0" y="757797"/>
                  <a:pt x="0" y="738380"/>
                </a:cubicBezTo>
                <a:lnTo>
                  <a:pt x="0" y="35157"/>
                </a:lnTo>
                <a:cubicBezTo>
                  <a:pt x="0" y="15753"/>
                  <a:pt x="15753" y="0"/>
                  <a:pt x="35157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3346043" y="4834607"/>
            <a:ext cx="140643" cy="140643"/>
          </a:xfrm>
          <a:custGeom>
            <a:avLst/>
            <a:gdLst/>
            <a:ahLst/>
            <a:cxnLst/>
            <a:rect l="l" t="t" r="r" b="b"/>
            <a:pathLst>
              <a:path w="140643" h="140643">
                <a:moveTo>
                  <a:pt x="70376" y="13185"/>
                </a:moveTo>
                <a:cubicBezTo>
                  <a:pt x="101911" y="13213"/>
                  <a:pt x="127458" y="38787"/>
                  <a:pt x="127458" y="70322"/>
                </a:cubicBezTo>
                <a:cubicBezTo>
                  <a:pt x="127458" y="76392"/>
                  <a:pt x="126524" y="82243"/>
                  <a:pt x="124766" y="87737"/>
                </a:cubicBezTo>
                <a:cubicBezTo>
                  <a:pt x="124216" y="87847"/>
                  <a:pt x="123640" y="87902"/>
                  <a:pt x="123063" y="87902"/>
                </a:cubicBezTo>
                <a:lnTo>
                  <a:pt x="122321" y="87902"/>
                </a:lnTo>
                <a:cubicBezTo>
                  <a:pt x="119986" y="87902"/>
                  <a:pt x="117761" y="86968"/>
                  <a:pt x="116113" y="85320"/>
                </a:cubicBezTo>
                <a:lnTo>
                  <a:pt x="108064" y="77271"/>
                </a:lnTo>
                <a:cubicBezTo>
                  <a:pt x="106416" y="75623"/>
                  <a:pt x="105482" y="73398"/>
                  <a:pt x="105482" y="71063"/>
                </a:cubicBezTo>
                <a:lnTo>
                  <a:pt x="105482" y="57136"/>
                </a:lnTo>
                <a:cubicBezTo>
                  <a:pt x="105482" y="54719"/>
                  <a:pt x="107460" y="52741"/>
                  <a:pt x="109877" y="52741"/>
                </a:cubicBezTo>
                <a:cubicBezTo>
                  <a:pt x="112295" y="52741"/>
                  <a:pt x="114273" y="50763"/>
                  <a:pt x="114273" y="48346"/>
                </a:cubicBezTo>
                <a:cubicBezTo>
                  <a:pt x="114273" y="45929"/>
                  <a:pt x="112295" y="43951"/>
                  <a:pt x="109877" y="43951"/>
                </a:cubicBezTo>
                <a:lnTo>
                  <a:pt x="103285" y="43951"/>
                </a:lnTo>
                <a:cubicBezTo>
                  <a:pt x="99631" y="43951"/>
                  <a:pt x="96692" y="46890"/>
                  <a:pt x="96692" y="50544"/>
                </a:cubicBezTo>
                <a:cubicBezTo>
                  <a:pt x="96692" y="54197"/>
                  <a:pt x="93753" y="57136"/>
                  <a:pt x="90099" y="57136"/>
                </a:cubicBezTo>
                <a:lnTo>
                  <a:pt x="74717" y="57136"/>
                </a:lnTo>
                <a:cubicBezTo>
                  <a:pt x="72299" y="57136"/>
                  <a:pt x="70322" y="59114"/>
                  <a:pt x="70322" y="61531"/>
                </a:cubicBezTo>
                <a:cubicBezTo>
                  <a:pt x="70322" y="63949"/>
                  <a:pt x="68344" y="65926"/>
                  <a:pt x="65926" y="65926"/>
                </a:cubicBezTo>
                <a:lnTo>
                  <a:pt x="58949" y="65926"/>
                </a:lnTo>
                <a:cubicBezTo>
                  <a:pt x="55516" y="65926"/>
                  <a:pt x="52741" y="63152"/>
                  <a:pt x="52741" y="59718"/>
                </a:cubicBezTo>
                <a:cubicBezTo>
                  <a:pt x="52741" y="58070"/>
                  <a:pt x="53400" y="56477"/>
                  <a:pt x="54554" y="55323"/>
                </a:cubicBezTo>
                <a:lnTo>
                  <a:pt x="73810" y="36067"/>
                </a:lnTo>
                <a:cubicBezTo>
                  <a:pt x="74387" y="35490"/>
                  <a:pt x="74717" y="34694"/>
                  <a:pt x="74717" y="33870"/>
                </a:cubicBezTo>
                <a:cubicBezTo>
                  <a:pt x="74717" y="32167"/>
                  <a:pt x="73316" y="30766"/>
                  <a:pt x="71613" y="30766"/>
                </a:cubicBezTo>
                <a:lnTo>
                  <a:pt x="67739" y="30766"/>
                </a:lnTo>
                <a:cubicBezTo>
                  <a:pt x="64306" y="30766"/>
                  <a:pt x="61531" y="27991"/>
                  <a:pt x="61531" y="24558"/>
                </a:cubicBezTo>
                <a:cubicBezTo>
                  <a:pt x="61531" y="22909"/>
                  <a:pt x="62191" y="21316"/>
                  <a:pt x="63344" y="20163"/>
                </a:cubicBezTo>
                <a:lnTo>
                  <a:pt x="69690" y="13817"/>
                </a:lnTo>
                <a:cubicBezTo>
                  <a:pt x="69910" y="13597"/>
                  <a:pt x="70129" y="13405"/>
                  <a:pt x="70376" y="13213"/>
                </a:cubicBezTo>
                <a:close/>
                <a:moveTo>
                  <a:pt x="120426" y="97818"/>
                </a:moveTo>
                <a:cubicBezTo>
                  <a:pt x="111416" y="114190"/>
                  <a:pt x="94632" y="125672"/>
                  <a:pt x="75046" y="127266"/>
                </a:cubicBezTo>
                <a:cubicBezTo>
                  <a:pt x="74854" y="126634"/>
                  <a:pt x="74744" y="125947"/>
                  <a:pt x="74744" y="125260"/>
                </a:cubicBezTo>
                <a:cubicBezTo>
                  <a:pt x="74744" y="121607"/>
                  <a:pt x="71805" y="118668"/>
                  <a:pt x="68151" y="118668"/>
                </a:cubicBezTo>
                <a:lnTo>
                  <a:pt x="60817" y="118668"/>
                </a:lnTo>
                <a:cubicBezTo>
                  <a:pt x="58482" y="118668"/>
                  <a:pt x="56257" y="117734"/>
                  <a:pt x="54609" y="116086"/>
                </a:cubicBezTo>
                <a:lnTo>
                  <a:pt x="46561" y="108037"/>
                </a:lnTo>
                <a:cubicBezTo>
                  <a:pt x="44912" y="106389"/>
                  <a:pt x="43978" y="104164"/>
                  <a:pt x="43978" y="101829"/>
                </a:cubicBezTo>
                <a:lnTo>
                  <a:pt x="43978" y="83507"/>
                </a:lnTo>
                <a:cubicBezTo>
                  <a:pt x="43978" y="78645"/>
                  <a:pt x="47907" y="74717"/>
                  <a:pt x="52769" y="74717"/>
                </a:cubicBezTo>
                <a:lnTo>
                  <a:pt x="79881" y="74717"/>
                </a:lnTo>
                <a:cubicBezTo>
                  <a:pt x="82216" y="74717"/>
                  <a:pt x="84441" y="75651"/>
                  <a:pt x="86089" y="77299"/>
                </a:cubicBezTo>
                <a:lnTo>
                  <a:pt x="94137" y="85347"/>
                </a:lnTo>
                <a:cubicBezTo>
                  <a:pt x="95786" y="86995"/>
                  <a:pt x="98011" y="87929"/>
                  <a:pt x="100346" y="87929"/>
                </a:cubicBezTo>
                <a:lnTo>
                  <a:pt x="101856" y="87929"/>
                </a:lnTo>
                <a:cubicBezTo>
                  <a:pt x="104191" y="87929"/>
                  <a:pt x="106416" y="88863"/>
                  <a:pt x="108064" y="90512"/>
                </a:cubicBezTo>
                <a:lnTo>
                  <a:pt x="112460" y="94907"/>
                </a:lnTo>
                <a:cubicBezTo>
                  <a:pt x="113613" y="96060"/>
                  <a:pt x="115206" y="96720"/>
                  <a:pt x="116855" y="96720"/>
                </a:cubicBezTo>
                <a:cubicBezTo>
                  <a:pt x="118173" y="96720"/>
                  <a:pt x="119409" y="97132"/>
                  <a:pt x="120426" y="97846"/>
                </a:cubicBezTo>
                <a:close/>
                <a:moveTo>
                  <a:pt x="70322" y="140643"/>
                </a:moveTo>
                <a:lnTo>
                  <a:pt x="77519" y="140286"/>
                </a:lnTo>
                <a:cubicBezTo>
                  <a:pt x="75156" y="140533"/>
                  <a:pt x="72766" y="140643"/>
                  <a:pt x="70322" y="140643"/>
                </a:cubicBezTo>
                <a:close/>
                <a:moveTo>
                  <a:pt x="77519" y="140286"/>
                </a:moveTo>
                <a:cubicBezTo>
                  <a:pt x="112981" y="136688"/>
                  <a:pt x="140643" y="106746"/>
                  <a:pt x="140643" y="70322"/>
                </a:cubicBezTo>
                <a:cubicBezTo>
                  <a:pt x="140643" y="31480"/>
                  <a:pt x="109163" y="0"/>
                  <a:pt x="70322" y="0"/>
                </a:cubicBezTo>
                <a:lnTo>
                  <a:pt x="70322" y="0"/>
                </a:lnTo>
                <a:cubicBezTo>
                  <a:pt x="31480" y="0"/>
                  <a:pt x="0" y="31480"/>
                  <a:pt x="0" y="70322"/>
                </a:cubicBezTo>
                <a:cubicBezTo>
                  <a:pt x="0" y="105345"/>
                  <a:pt x="25601" y="134408"/>
                  <a:pt x="59142" y="139764"/>
                </a:cubicBezTo>
                <a:cubicBezTo>
                  <a:pt x="62767" y="140341"/>
                  <a:pt x="66503" y="140643"/>
                  <a:pt x="70322" y="140643"/>
                </a:cubicBezTo>
                <a:close/>
                <a:moveTo>
                  <a:pt x="51450" y="33870"/>
                </a:moveTo>
                <a:lnTo>
                  <a:pt x="42660" y="42660"/>
                </a:lnTo>
                <a:cubicBezTo>
                  <a:pt x="40957" y="44363"/>
                  <a:pt x="38155" y="44363"/>
                  <a:pt x="36452" y="42660"/>
                </a:cubicBezTo>
                <a:cubicBezTo>
                  <a:pt x="34749" y="40957"/>
                  <a:pt x="34749" y="38155"/>
                  <a:pt x="36452" y="36452"/>
                </a:cubicBezTo>
                <a:lnTo>
                  <a:pt x="45242" y="27662"/>
                </a:lnTo>
                <a:cubicBezTo>
                  <a:pt x="46945" y="25959"/>
                  <a:pt x="49747" y="25959"/>
                  <a:pt x="51450" y="27662"/>
                </a:cubicBezTo>
                <a:cubicBezTo>
                  <a:pt x="53153" y="29365"/>
                  <a:pt x="53153" y="32167"/>
                  <a:pt x="51450" y="3387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3574588" y="4817027"/>
            <a:ext cx="439510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Europe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3328462" y="5063152"/>
            <a:ext cx="2505205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Airbus dominates home market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3328462" y="5238956"/>
            <a:ext cx="2505205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Advantage: Airbus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492251" y="5555403"/>
            <a:ext cx="2663429" cy="773537"/>
          </a:xfrm>
          <a:custGeom>
            <a:avLst/>
            <a:gdLst/>
            <a:ahLst/>
            <a:cxnLst/>
            <a:rect l="l" t="t" r="r" b="b"/>
            <a:pathLst>
              <a:path w="2663429" h="773537">
                <a:moveTo>
                  <a:pt x="35157" y="0"/>
                </a:moveTo>
                <a:lnTo>
                  <a:pt x="2628272" y="0"/>
                </a:lnTo>
                <a:cubicBezTo>
                  <a:pt x="2647689" y="0"/>
                  <a:pt x="2663429" y="15740"/>
                  <a:pt x="2663429" y="35157"/>
                </a:cubicBezTo>
                <a:lnTo>
                  <a:pt x="2663429" y="738380"/>
                </a:lnTo>
                <a:cubicBezTo>
                  <a:pt x="2663429" y="757797"/>
                  <a:pt x="2647689" y="773537"/>
                  <a:pt x="2628272" y="773537"/>
                </a:cubicBezTo>
                <a:lnTo>
                  <a:pt x="35157" y="773537"/>
                </a:lnTo>
                <a:cubicBezTo>
                  <a:pt x="15740" y="773537"/>
                  <a:pt x="0" y="757797"/>
                  <a:pt x="0" y="738380"/>
                </a:cubicBezTo>
                <a:lnTo>
                  <a:pt x="0" y="35157"/>
                </a:lnTo>
                <a:cubicBezTo>
                  <a:pt x="0" y="15753"/>
                  <a:pt x="15753" y="0"/>
                  <a:pt x="35157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615314" y="5678466"/>
            <a:ext cx="140643" cy="140643"/>
          </a:xfrm>
          <a:custGeom>
            <a:avLst/>
            <a:gdLst/>
            <a:ahLst/>
            <a:cxnLst/>
            <a:rect l="l" t="t" r="r" b="b"/>
            <a:pathLst>
              <a:path w="140643" h="140643">
                <a:moveTo>
                  <a:pt x="13735" y="78233"/>
                </a:moveTo>
                <a:cubicBezTo>
                  <a:pt x="14888" y="78810"/>
                  <a:pt x="16207" y="79112"/>
                  <a:pt x="17580" y="79112"/>
                </a:cubicBezTo>
                <a:lnTo>
                  <a:pt x="31507" y="79112"/>
                </a:lnTo>
                <a:cubicBezTo>
                  <a:pt x="33842" y="79112"/>
                  <a:pt x="36067" y="80046"/>
                  <a:pt x="37715" y="81694"/>
                </a:cubicBezTo>
                <a:lnTo>
                  <a:pt x="41369" y="85347"/>
                </a:lnTo>
                <a:cubicBezTo>
                  <a:pt x="43017" y="86995"/>
                  <a:pt x="45242" y="87929"/>
                  <a:pt x="47577" y="87929"/>
                </a:cubicBezTo>
                <a:lnTo>
                  <a:pt x="52714" y="87929"/>
                </a:lnTo>
                <a:cubicBezTo>
                  <a:pt x="57576" y="87929"/>
                  <a:pt x="61504" y="84001"/>
                  <a:pt x="61504" y="79139"/>
                </a:cubicBezTo>
                <a:lnTo>
                  <a:pt x="61504" y="68151"/>
                </a:lnTo>
                <a:cubicBezTo>
                  <a:pt x="61504" y="64498"/>
                  <a:pt x="64443" y="61559"/>
                  <a:pt x="68097" y="61559"/>
                </a:cubicBezTo>
                <a:cubicBezTo>
                  <a:pt x="71750" y="61559"/>
                  <a:pt x="74689" y="58620"/>
                  <a:pt x="74689" y="54966"/>
                </a:cubicBezTo>
                <a:lnTo>
                  <a:pt x="74689" y="43237"/>
                </a:lnTo>
                <a:cubicBezTo>
                  <a:pt x="74689" y="40902"/>
                  <a:pt x="75623" y="38677"/>
                  <a:pt x="77271" y="37029"/>
                </a:cubicBezTo>
                <a:lnTo>
                  <a:pt x="80925" y="33375"/>
                </a:lnTo>
                <a:cubicBezTo>
                  <a:pt x="82573" y="31727"/>
                  <a:pt x="83507" y="29502"/>
                  <a:pt x="83507" y="27167"/>
                </a:cubicBezTo>
                <a:lnTo>
                  <a:pt x="83507" y="15658"/>
                </a:lnTo>
                <a:cubicBezTo>
                  <a:pt x="83507" y="15328"/>
                  <a:pt x="83479" y="15026"/>
                  <a:pt x="83452" y="14696"/>
                </a:cubicBezTo>
                <a:cubicBezTo>
                  <a:pt x="79222" y="13707"/>
                  <a:pt x="74827" y="13185"/>
                  <a:pt x="70322" y="13185"/>
                </a:cubicBezTo>
                <a:cubicBezTo>
                  <a:pt x="38759" y="13185"/>
                  <a:pt x="13185" y="38759"/>
                  <a:pt x="13185" y="70322"/>
                </a:cubicBezTo>
                <a:cubicBezTo>
                  <a:pt x="13185" y="73014"/>
                  <a:pt x="13378" y="75651"/>
                  <a:pt x="13735" y="78233"/>
                </a:cubicBezTo>
                <a:close/>
                <a:moveTo>
                  <a:pt x="124519" y="88479"/>
                </a:moveTo>
                <a:cubicBezTo>
                  <a:pt x="123640" y="88094"/>
                  <a:pt x="122678" y="87902"/>
                  <a:pt x="121634" y="87902"/>
                </a:cubicBezTo>
                <a:lnTo>
                  <a:pt x="118668" y="87902"/>
                </a:lnTo>
                <a:cubicBezTo>
                  <a:pt x="116250" y="87902"/>
                  <a:pt x="114273" y="85924"/>
                  <a:pt x="114273" y="83507"/>
                </a:cubicBezTo>
                <a:cubicBezTo>
                  <a:pt x="114273" y="81090"/>
                  <a:pt x="112295" y="79112"/>
                  <a:pt x="109877" y="79112"/>
                </a:cubicBezTo>
                <a:lnTo>
                  <a:pt x="100346" y="79112"/>
                </a:lnTo>
                <a:cubicBezTo>
                  <a:pt x="98011" y="79112"/>
                  <a:pt x="95786" y="80046"/>
                  <a:pt x="94137" y="81694"/>
                </a:cubicBezTo>
                <a:lnTo>
                  <a:pt x="81694" y="94137"/>
                </a:lnTo>
                <a:cubicBezTo>
                  <a:pt x="80046" y="95786"/>
                  <a:pt x="79112" y="98011"/>
                  <a:pt x="79112" y="100346"/>
                </a:cubicBezTo>
                <a:lnTo>
                  <a:pt x="79112" y="105482"/>
                </a:lnTo>
                <a:cubicBezTo>
                  <a:pt x="79112" y="110344"/>
                  <a:pt x="83040" y="114273"/>
                  <a:pt x="87902" y="114273"/>
                </a:cubicBezTo>
                <a:lnTo>
                  <a:pt x="93039" y="114273"/>
                </a:lnTo>
                <a:cubicBezTo>
                  <a:pt x="95374" y="114273"/>
                  <a:pt x="97599" y="115206"/>
                  <a:pt x="99247" y="116855"/>
                </a:cubicBezTo>
                <a:cubicBezTo>
                  <a:pt x="99851" y="117459"/>
                  <a:pt x="100538" y="117981"/>
                  <a:pt x="101252" y="118365"/>
                </a:cubicBezTo>
                <a:cubicBezTo>
                  <a:pt x="112048" y="111388"/>
                  <a:pt x="120343" y="100895"/>
                  <a:pt x="124491" y="88479"/>
                </a:cubicBezTo>
                <a:close/>
                <a:moveTo>
                  <a:pt x="0" y="70322"/>
                </a:moveTo>
                <a:cubicBezTo>
                  <a:pt x="0" y="31510"/>
                  <a:pt x="31510" y="0"/>
                  <a:pt x="70322" y="0"/>
                </a:cubicBezTo>
                <a:cubicBezTo>
                  <a:pt x="109133" y="0"/>
                  <a:pt x="140643" y="31510"/>
                  <a:pt x="140643" y="70322"/>
                </a:cubicBezTo>
                <a:cubicBezTo>
                  <a:pt x="140643" y="109133"/>
                  <a:pt x="109133" y="140643"/>
                  <a:pt x="70322" y="140643"/>
                </a:cubicBezTo>
                <a:cubicBezTo>
                  <a:pt x="31510" y="140643"/>
                  <a:pt x="0" y="109133"/>
                  <a:pt x="0" y="70322"/>
                </a:cubicBezTo>
                <a:close/>
                <a:moveTo>
                  <a:pt x="35161" y="101087"/>
                </a:moveTo>
                <a:cubicBezTo>
                  <a:pt x="35161" y="103505"/>
                  <a:pt x="37139" y="105482"/>
                  <a:pt x="39556" y="105482"/>
                </a:cubicBezTo>
                <a:lnTo>
                  <a:pt x="48346" y="105482"/>
                </a:lnTo>
                <a:cubicBezTo>
                  <a:pt x="50763" y="105482"/>
                  <a:pt x="52741" y="103505"/>
                  <a:pt x="52741" y="101087"/>
                </a:cubicBezTo>
                <a:cubicBezTo>
                  <a:pt x="52741" y="98670"/>
                  <a:pt x="50763" y="96692"/>
                  <a:pt x="48346" y="96692"/>
                </a:cubicBezTo>
                <a:lnTo>
                  <a:pt x="39556" y="96692"/>
                </a:lnTo>
                <a:cubicBezTo>
                  <a:pt x="37139" y="96692"/>
                  <a:pt x="35161" y="98670"/>
                  <a:pt x="35161" y="101087"/>
                </a:cubicBezTo>
                <a:close/>
                <a:moveTo>
                  <a:pt x="74717" y="70322"/>
                </a:moveTo>
                <a:cubicBezTo>
                  <a:pt x="72299" y="70322"/>
                  <a:pt x="70322" y="72299"/>
                  <a:pt x="70322" y="74717"/>
                </a:cubicBezTo>
                <a:lnTo>
                  <a:pt x="70322" y="83507"/>
                </a:lnTo>
                <a:cubicBezTo>
                  <a:pt x="70322" y="85924"/>
                  <a:pt x="72299" y="87902"/>
                  <a:pt x="74717" y="87902"/>
                </a:cubicBezTo>
                <a:cubicBezTo>
                  <a:pt x="77134" y="87902"/>
                  <a:pt x="79112" y="85924"/>
                  <a:pt x="79112" y="83507"/>
                </a:cubicBezTo>
                <a:lnTo>
                  <a:pt x="79112" y="74717"/>
                </a:lnTo>
                <a:cubicBezTo>
                  <a:pt x="79112" y="72299"/>
                  <a:pt x="77134" y="70322"/>
                  <a:pt x="74717" y="70322"/>
                </a:cubicBezTo>
                <a:close/>
                <a:moveTo>
                  <a:pt x="87902" y="39556"/>
                </a:moveTo>
                <a:lnTo>
                  <a:pt x="87902" y="48346"/>
                </a:lnTo>
                <a:cubicBezTo>
                  <a:pt x="87902" y="50763"/>
                  <a:pt x="89880" y="52741"/>
                  <a:pt x="92297" y="52741"/>
                </a:cubicBezTo>
                <a:cubicBezTo>
                  <a:pt x="94714" y="52741"/>
                  <a:pt x="96692" y="50763"/>
                  <a:pt x="96692" y="48346"/>
                </a:cubicBezTo>
                <a:lnTo>
                  <a:pt x="96692" y="39556"/>
                </a:lnTo>
                <a:cubicBezTo>
                  <a:pt x="96692" y="37139"/>
                  <a:pt x="94714" y="35161"/>
                  <a:pt x="92297" y="35161"/>
                </a:cubicBezTo>
                <a:cubicBezTo>
                  <a:pt x="89880" y="35161"/>
                  <a:pt x="87902" y="37139"/>
                  <a:pt x="87902" y="39556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843859" y="5660885"/>
            <a:ext cx="685635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Asia-Pacific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597733" y="5907011"/>
            <a:ext cx="2505205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Fastest growing region, $12B Boeing revenue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597733" y="6082815"/>
            <a:ext cx="2505205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battleground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222980" y="5555403"/>
            <a:ext cx="2663429" cy="773537"/>
          </a:xfrm>
          <a:custGeom>
            <a:avLst/>
            <a:gdLst/>
            <a:ahLst/>
            <a:cxnLst/>
            <a:rect l="l" t="t" r="r" b="b"/>
            <a:pathLst>
              <a:path w="2663429" h="773537">
                <a:moveTo>
                  <a:pt x="35157" y="0"/>
                </a:moveTo>
                <a:lnTo>
                  <a:pt x="2628272" y="0"/>
                </a:lnTo>
                <a:cubicBezTo>
                  <a:pt x="2647689" y="0"/>
                  <a:pt x="2663429" y="15740"/>
                  <a:pt x="2663429" y="35157"/>
                </a:cubicBezTo>
                <a:lnTo>
                  <a:pt x="2663429" y="738380"/>
                </a:lnTo>
                <a:cubicBezTo>
                  <a:pt x="2663429" y="757797"/>
                  <a:pt x="2647689" y="773537"/>
                  <a:pt x="2628272" y="773537"/>
                </a:cubicBezTo>
                <a:lnTo>
                  <a:pt x="35157" y="773537"/>
                </a:lnTo>
                <a:cubicBezTo>
                  <a:pt x="15740" y="773537"/>
                  <a:pt x="0" y="757797"/>
                  <a:pt x="0" y="738380"/>
                </a:cubicBezTo>
                <a:lnTo>
                  <a:pt x="0" y="35157"/>
                </a:lnTo>
                <a:cubicBezTo>
                  <a:pt x="0" y="15753"/>
                  <a:pt x="15753" y="0"/>
                  <a:pt x="35157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3337252" y="5678466"/>
            <a:ext cx="158224" cy="140643"/>
          </a:xfrm>
          <a:custGeom>
            <a:avLst/>
            <a:gdLst/>
            <a:ahLst/>
            <a:cxnLst/>
            <a:rect l="l" t="t" r="r" b="b"/>
            <a:pathLst>
              <a:path w="158224" h="140643">
                <a:moveTo>
                  <a:pt x="142841" y="54939"/>
                </a:moveTo>
                <a:cubicBezTo>
                  <a:pt x="151329" y="54939"/>
                  <a:pt x="158224" y="61834"/>
                  <a:pt x="158224" y="70322"/>
                </a:cubicBezTo>
                <a:cubicBezTo>
                  <a:pt x="158224" y="78810"/>
                  <a:pt x="151329" y="85704"/>
                  <a:pt x="142841" y="85704"/>
                </a:cubicBezTo>
                <a:lnTo>
                  <a:pt x="107872" y="85704"/>
                </a:lnTo>
                <a:lnTo>
                  <a:pt x="64141" y="133391"/>
                </a:lnTo>
                <a:cubicBezTo>
                  <a:pt x="62465" y="135204"/>
                  <a:pt x="60130" y="136248"/>
                  <a:pt x="57658" y="136248"/>
                </a:cubicBezTo>
                <a:lnTo>
                  <a:pt x="45654" y="136248"/>
                </a:lnTo>
                <a:cubicBezTo>
                  <a:pt x="42660" y="136248"/>
                  <a:pt x="40545" y="133309"/>
                  <a:pt x="41479" y="130452"/>
                </a:cubicBezTo>
                <a:lnTo>
                  <a:pt x="56395" y="85704"/>
                </a:lnTo>
                <a:lnTo>
                  <a:pt x="29008" y="85704"/>
                </a:lnTo>
                <a:lnTo>
                  <a:pt x="14504" y="103834"/>
                </a:lnTo>
                <a:cubicBezTo>
                  <a:pt x="13680" y="104878"/>
                  <a:pt x="12416" y="105482"/>
                  <a:pt x="11070" y="105482"/>
                </a:cubicBezTo>
                <a:lnTo>
                  <a:pt x="5631" y="105482"/>
                </a:lnTo>
                <a:cubicBezTo>
                  <a:pt x="2774" y="105482"/>
                  <a:pt x="687" y="102790"/>
                  <a:pt x="1373" y="100016"/>
                </a:cubicBezTo>
                <a:lnTo>
                  <a:pt x="8790" y="70322"/>
                </a:lnTo>
                <a:lnTo>
                  <a:pt x="1373" y="40627"/>
                </a:lnTo>
                <a:cubicBezTo>
                  <a:pt x="659" y="37853"/>
                  <a:pt x="2774" y="35161"/>
                  <a:pt x="5631" y="35161"/>
                </a:cubicBezTo>
                <a:lnTo>
                  <a:pt x="11070" y="35161"/>
                </a:lnTo>
                <a:cubicBezTo>
                  <a:pt x="12416" y="35161"/>
                  <a:pt x="13680" y="35765"/>
                  <a:pt x="14504" y="36809"/>
                </a:cubicBezTo>
                <a:lnTo>
                  <a:pt x="29008" y="54939"/>
                </a:lnTo>
                <a:lnTo>
                  <a:pt x="56395" y="54939"/>
                </a:lnTo>
                <a:lnTo>
                  <a:pt x="41479" y="10191"/>
                </a:lnTo>
                <a:cubicBezTo>
                  <a:pt x="40545" y="7334"/>
                  <a:pt x="42660" y="4395"/>
                  <a:pt x="45654" y="4395"/>
                </a:cubicBezTo>
                <a:lnTo>
                  <a:pt x="57658" y="4395"/>
                </a:lnTo>
                <a:cubicBezTo>
                  <a:pt x="60130" y="4395"/>
                  <a:pt x="62465" y="5439"/>
                  <a:pt x="64141" y="7252"/>
                </a:cubicBezTo>
                <a:lnTo>
                  <a:pt x="107872" y="54939"/>
                </a:lnTo>
                <a:lnTo>
                  <a:pt x="142841" y="54939"/>
                </a:ln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3574588" y="5660885"/>
            <a:ext cx="102845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Widebody Market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3328462" y="5907011"/>
            <a:ext cx="2505205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Boeing 787/777 vs Airbus A350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3328462" y="6082815"/>
            <a:ext cx="2505205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Boeing competitive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164811" y="1089984"/>
            <a:ext cx="5669676" cy="2566737"/>
          </a:xfrm>
          <a:custGeom>
            <a:avLst/>
            <a:gdLst/>
            <a:ahLst/>
            <a:cxnLst/>
            <a:rect l="l" t="t" r="r" b="b"/>
            <a:pathLst>
              <a:path w="5669676" h="2566737">
                <a:moveTo>
                  <a:pt x="70329" y="0"/>
                </a:moveTo>
                <a:lnTo>
                  <a:pt x="5599347" y="0"/>
                </a:lnTo>
                <a:cubicBezTo>
                  <a:pt x="5638188" y="0"/>
                  <a:pt x="5669676" y="31487"/>
                  <a:pt x="5669676" y="70329"/>
                </a:cubicBezTo>
                <a:lnTo>
                  <a:pt x="5669676" y="2496408"/>
                </a:lnTo>
                <a:cubicBezTo>
                  <a:pt x="5669676" y="2535250"/>
                  <a:pt x="5638188" y="2566737"/>
                  <a:pt x="5599347" y="2566737"/>
                </a:cubicBezTo>
                <a:lnTo>
                  <a:pt x="70329" y="2566737"/>
                </a:lnTo>
                <a:cubicBezTo>
                  <a:pt x="31487" y="2566737"/>
                  <a:pt x="0" y="2535250"/>
                  <a:pt x="0" y="2496408"/>
                </a:cubicBezTo>
                <a:lnTo>
                  <a:pt x="0" y="70329"/>
                </a:lnTo>
                <a:cubicBezTo>
                  <a:pt x="0" y="31513"/>
                  <a:pt x="31513" y="0"/>
                  <a:pt x="70329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6305454" y="1230627"/>
            <a:ext cx="5467501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Share by Segment</a:t>
            </a:r>
            <a:endParaRPr lang="en-US" sz="1600" dirty="0"/>
          </a:p>
        </p:txBody>
      </p:sp>
      <p:pic>
        <p:nvPicPr>
          <p:cNvPr id="54" name="Image 1" descr="https://kimi-img.moonshot.cn/pub/slides/26-01-29-10:08:58-d5tc2ejfosll07ra875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5454" y="1582235"/>
            <a:ext cx="4922509" cy="1933843"/>
          </a:xfrm>
          <a:prstGeom prst="roundRect">
            <a:avLst>
              <a:gd name="adj" fmla="val 0"/>
            </a:avLst>
          </a:prstGeom>
        </p:spPr>
      </p:pic>
      <p:sp>
        <p:nvSpPr>
          <p:cNvPr id="55" name="Shape 51"/>
          <p:cNvSpPr/>
          <p:nvPr/>
        </p:nvSpPr>
        <p:spPr>
          <a:xfrm>
            <a:off x="6164811" y="3762203"/>
            <a:ext cx="5669676" cy="3094149"/>
          </a:xfrm>
          <a:custGeom>
            <a:avLst/>
            <a:gdLst/>
            <a:ahLst/>
            <a:cxnLst/>
            <a:rect l="l" t="t" r="r" b="b"/>
            <a:pathLst>
              <a:path w="5669676" h="3094149">
                <a:moveTo>
                  <a:pt x="70330" y="0"/>
                </a:moveTo>
                <a:lnTo>
                  <a:pt x="5599346" y="0"/>
                </a:lnTo>
                <a:cubicBezTo>
                  <a:pt x="5638188" y="0"/>
                  <a:pt x="5669676" y="31488"/>
                  <a:pt x="5669676" y="70330"/>
                </a:cubicBezTo>
                <a:lnTo>
                  <a:pt x="5669676" y="3023819"/>
                </a:lnTo>
                <a:cubicBezTo>
                  <a:pt x="5669676" y="3062661"/>
                  <a:pt x="5638188" y="3094149"/>
                  <a:pt x="5599346" y="3094149"/>
                </a:cubicBezTo>
                <a:lnTo>
                  <a:pt x="70330" y="3094149"/>
                </a:lnTo>
                <a:cubicBezTo>
                  <a:pt x="31488" y="3094149"/>
                  <a:pt x="0" y="3062661"/>
                  <a:pt x="0" y="3023819"/>
                </a:cubicBezTo>
                <a:lnTo>
                  <a:pt x="0" y="70330"/>
                </a:lnTo>
                <a:cubicBezTo>
                  <a:pt x="0" y="31514"/>
                  <a:pt x="31514" y="0"/>
                  <a:pt x="70330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2"/>
          <p:cNvSpPr/>
          <p:nvPr/>
        </p:nvSpPr>
        <p:spPr>
          <a:xfrm>
            <a:off x="6305454" y="3902846"/>
            <a:ext cx="5467501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Dynamics</a:t>
            </a:r>
            <a:endParaRPr lang="en-US" sz="1600" dirty="0"/>
          </a:p>
        </p:txBody>
      </p:sp>
      <p:sp>
        <p:nvSpPr>
          <p:cNvPr id="57" name="Shape 53"/>
          <p:cNvSpPr/>
          <p:nvPr/>
        </p:nvSpPr>
        <p:spPr>
          <a:xfrm>
            <a:off x="6323034" y="4254454"/>
            <a:ext cx="5370809" cy="562572"/>
          </a:xfrm>
          <a:custGeom>
            <a:avLst/>
            <a:gdLst/>
            <a:ahLst/>
            <a:cxnLst/>
            <a:rect l="l" t="t" r="r" b="b"/>
            <a:pathLst>
              <a:path w="5370809" h="562572">
                <a:moveTo>
                  <a:pt x="35161" y="0"/>
                </a:moveTo>
                <a:lnTo>
                  <a:pt x="5335648" y="0"/>
                </a:lnTo>
                <a:cubicBezTo>
                  <a:pt x="5355067" y="0"/>
                  <a:pt x="5370809" y="15742"/>
                  <a:pt x="5370809" y="35161"/>
                </a:cubicBezTo>
                <a:lnTo>
                  <a:pt x="5370809" y="527412"/>
                </a:lnTo>
                <a:cubicBezTo>
                  <a:pt x="5370809" y="546830"/>
                  <a:pt x="5355067" y="562572"/>
                  <a:pt x="5335648" y="562572"/>
                </a:cubicBezTo>
                <a:lnTo>
                  <a:pt x="35161" y="562572"/>
                </a:lnTo>
                <a:cubicBezTo>
                  <a:pt x="15755" y="562572"/>
                  <a:pt x="0" y="546817"/>
                  <a:pt x="0" y="52741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Shape 54"/>
          <p:cNvSpPr/>
          <p:nvPr/>
        </p:nvSpPr>
        <p:spPr>
          <a:xfrm>
            <a:off x="6323034" y="4254454"/>
            <a:ext cx="35161" cy="562572"/>
          </a:xfrm>
          <a:custGeom>
            <a:avLst/>
            <a:gdLst/>
            <a:ahLst/>
            <a:cxnLst/>
            <a:rect l="l" t="t" r="r" b="b"/>
            <a:pathLst>
              <a:path w="35161" h="562572">
                <a:moveTo>
                  <a:pt x="35161" y="0"/>
                </a:moveTo>
                <a:lnTo>
                  <a:pt x="35161" y="0"/>
                </a:lnTo>
                <a:lnTo>
                  <a:pt x="35161" y="562572"/>
                </a:lnTo>
                <a:lnTo>
                  <a:pt x="35161" y="562572"/>
                </a:lnTo>
                <a:cubicBezTo>
                  <a:pt x="15755" y="562572"/>
                  <a:pt x="0" y="546817"/>
                  <a:pt x="0" y="52741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5"/>
          <p:cNvSpPr/>
          <p:nvPr/>
        </p:nvSpPr>
        <p:spPr>
          <a:xfrm>
            <a:off x="6446097" y="4359937"/>
            <a:ext cx="5203795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Narrowbody Dominance</a:t>
            </a:r>
            <a:endParaRPr lang="en-US" sz="1600" dirty="0"/>
          </a:p>
        </p:txBody>
      </p:sp>
      <p:sp>
        <p:nvSpPr>
          <p:cNvPr id="60" name="Text 56"/>
          <p:cNvSpPr/>
          <p:nvPr/>
        </p:nvSpPr>
        <p:spPr>
          <a:xfrm>
            <a:off x="6446097" y="4570901"/>
            <a:ext cx="5195005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Airbus A320neo family commands 60%+ market share vs Boeing 737 MAX at ~40%</a:t>
            </a:r>
            <a:endParaRPr lang="en-US" sz="1600" dirty="0"/>
          </a:p>
        </p:txBody>
      </p:sp>
      <p:sp>
        <p:nvSpPr>
          <p:cNvPr id="61" name="Shape 57"/>
          <p:cNvSpPr/>
          <p:nvPr/>
        </p:nvSpPr>
        <p:spPr>
          <a:xfrm>
            <a:off x="6323034" y="4887348"/>
            <a:ext cx="5370809" cy="562572"/>
          </a:xfrm>
          <a:custGeom>
            <a:avLst/>
            <a:gdLst/>
            <a:ahLst/>
            <a:cxnLst/>
            <a:rect l="l" t="t" r="r" b="b"/>
            <a:pathLst>
              <a:path w="5370809" h="562572">
                <a:moveTo>
                  <a:pt x="35161" y="0"/>
                </a:moveTo>
                <a:lnTo>
                  <a:pt x="5335648" y="0"/>
                </a:lnTo>
                <a:cubicBezTo>
                  <a:pt x="5355067" y="0"/>
                  <a:pt x="5370809" y="15742"/>
                  <a:pt x="5370809" y="35161"/>
                </a:cubicBezTo>
                <a:lnTo>
                  <a:pt x="5370809" y="527412"/>
                </a:lnTo>
                <a:cubicBezTo>
                  <a:pt x="5370809" y="546830"/>
                  <a:pt x="5355067" y="562572"/>
                  <a:pt x="5335648" y="562572"/>
                </a:cubicBezTo>
                <a:lnTo>
                  <a:pt x="35161" y="562572"/>
                </a:lnTo>
                <a:cubicBezTo>
                  <a:pt x="15755" y="562572"/>
                  <a:pt x="0" y="546817"/>
                  <a:pt x="0" y="52741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Shape 58"/>
          <p:cNvSpPr/>
          <p:nvPr/>
        </p:nvSpPr>
        <p:spPr>
          <a:xfrm>
            <a:off x="6323034" y="4887348"/>
            <a:ext cx="35161" cy="562572"/>
          </a:xfrm>
          <a:custGeom>
            <a:avLst/>
            <a:gdLst/>
            <a:ahLst/>
            <a:cxnLst/>
            <a:rect l="l" t="t" r="r" b="b"/>
            <a:pathLst>
              <a:path w="35161" h="562572">
                <a:moveTo>
                  <a:pt x="35161" y="0"/>
                </a:moveTo>
                <a:lnTo>
                  <a:pt x="35161" y="0"/>
                </a:lnTo>
                <a:lnTo>
                  <a:pt x="35161" y="562572"/>
                </a:lnTo>
                <a:lnTo>
                  <a:pt x="35161" y="562572"/>
                </a:lnTo>
                <a:cubicBezTo>
                  <a:pt x="15755" y="562572"/>
                  <a:pt x="0" y="546817"/>
                  <a:pt x="0" y="52741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59"/>
          <p:cNvSpPr/>
          <p:nvPr/>
        </p:nvSpPr>
        <p:spPr>
          <a:xfrm>
            <a:off x="6446097" y="4992831"/>
            <a:ext cx="5203795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Capacity</a:t>
            </a:r>
            <a:endParaRPr lang="en-US" sz="1600" dirty="0"/>
          </a:p>
        </p:txBody>
      </p:sp>
      <p:sp>
        <p:nvSpPr>
          <p:cNvPr id="64" name="Text 60"/>
          <p:cNvSpPr/>
          <p:nvPr/>
        </p:nvSpPr>
        <p:spPr>
          <a:xfrm>
            <a:off x="6446097" y="5203795"/>
            <a:ext cx="5195005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Airbus targets 75 A320s/month by 2026 vs Boeing's 47-52 737 MAX/month</a:t>
            </a:r>
            <a:endParaRPr lang="en-US" sz="1600" dirty="0"/>
          </a:p>
        </p:txBody>
      </p:sp>
      <p:sp>
        <p:nvSpPr>
          <p:cNvPr id="65" name="Shape 61"/>
          <p:cNvSpPr/>
          <p:nvPr/>
        </p:nvSpPr>
        <p:spPr>
          <a:xfrm>
            <a:off x="6323034" y="5520242"/>
            <a:ext cx="5370809" cy="562572"/>
          </a:xfrm>
          <a:custGeom>
            <a:avLst/>
            <a:gdLst/>
            <a:ahLst/>
            <a:cxnLst/>
            <a:rect l="l" t="t" r="r" b="b"/>
            <a:pathLst>
              <a:path w="5370809" h="562572">
                <a:moveTo>
                  <a:pt x="35161" y="0"/>
                </a:moveTo>
                <a:lnTo>
                  <a:pt x="5335648" y="0"/>
                </a:lnTo>
                <a:cubicBezTo>
                  <a:pt x="5355067" y="0"/>
                  <a:pt x="5370809" y="15742"/>
                  <a:pt x="5370809" y="35161"/>
                </a:cubicBezTo>
                <a:lnTo>
                  <a:pt x="5370809" y="527412"/>
                </a:lnTo>
                <a:cubicBezTo>
                  <a:pt x="5370809" y="546830"/>
                  <a:pt x="5355067" y="562572"/>
                  <a:pt x="5335648" y="562572"/>
                </a:cubicBezTo>
                <a:lnTo>
                  <a:pt x="35161" y="562572"/>
                </a:lnTo>
                <a:cubicBezTo>
                  <a:pt x="15755" y="562572"/>
                  <a:pt x="0" y="546817"/>
                  <a:pt x="0" y="52741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Shape 62"/>
          <p:cNvSpPr/>
          <p:nvPr/>
        </p:nvSpPr>
        <p:spPr>
          <a:xfrm>
            <a:off x="6323034" y="5520242"/>
            <a:ext cx="35161" cy="562572"/>
          </a:xfrm>
          <a:custGeom>
            <a:avLst/>
            <a:gdLst/>
            <a:ahLst/>
            <a:cxnLst/>
            <a:rect l="l" t="t" r="r" b="b"/>
            <a:pathLst>
              <a:path w="35161" h="562572">
                <a:moveTo>
                  <a:pt x="35161" y="0"/>
                </a:moveTo>
                <a:lnTo>
                  <a:pt x="35161" y="0"/>
                </a:lnTo>
                <a:lnTo>
                  <a:pt x="35161" y="562572"/>
                </a:lnTo>
                <a:lnTo>
                  <a:pt x="35161" y="562572"/>
                </a:lnTo>
                <a:cubicBezTo>
                  <a:pt x="15755" y="562572"/>
                  <a:pt x="0" y="546817"/>
                  <a:pt x="0" y="52741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63"/>
          <p:cNvSpPr/>
          <p:nvPr/>
        </p:nvSpPr>
        <p:spPr>
          <a:xfrm>
            <a:off x="6446097" y="5625725"/>
            <a:ext cx="5203795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Emerging Competition</a:t>
            </a:r>
            <a:endParaRPr lang="en-US" sz="1600" dirty="0"/>
          </a:p>
        </p:txBody>
      </p:sp>
      <p:sp>
        <p:nvSpPr>
          <p:cNvPr id="68" name="Text 64"/>
          <p:cNvSpPr/>
          <p:nvPr/>
        </p:nvSpPr>
        <p:spPr>
          <a:xfrm>
            <a:off x="6446097" y="5836689"/>
            <a:ext cx="5195005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COMAC C919 gaining traction in China with 1,200+ orders, challenging duopoly</a:t>
            </a:r>
            <a:endParaRPr lang="en-US" sz="1600" dirty="0"/>
          </a:p>
        </p:txBody>
      </p:sp>
      <p:sp>
        <p:nvSpPr>
          <p:cNvPr id="69" name="Shape 65"/>
          <p:cNvSpPr/>
          <p:nvPr/>
        </p:nvSpPr>
        <p:spPr>
          <a:xfrm>
            <a:off x="6323034" y="6153136"/>
            <a:ext cx="5370809" cy="562572"/>
          </a:xfrm>
          <a:custGeom>
            <a:avLst/>
            <a:gdLst/>
            <a:ahLst/>
            <a:cxnLst/>
            <a:rect l="l" t="t" r="r" b="b"/>
            <a:pathLst>
              <a:path w="5370809" h="562572">
                <a:moveTo>
                  <a:pt x="35161" y="0"/>
                </a:moveTo>
                <a:lnTo>
                  <a:pt x="5335648" y="0"/>
                </a:lnTo>
                <a:cubicBezTo>
                  <a:pt x="5355067" y="0"/>
                  <a:pt x="5370809" y="15742"/>
                  <a:pt x="5370809" y="35161"/>
                </a:cubicBezTo>
                <a:lnTo>
                  <a:pt x="5370809" y="527412"/>
                </a:lnTo>
                <a:cubicBezTo>
                  <a:pt x="5370809" y="546830"/>
                  <a:pt x="5355067" y="562572"/>
                  <a:pt x="5335648" y="562572"/>
                </a:cubicBezTo>
                <a:lnTo>
                  <a:pt x="35161" y="562572"/>
                </a:lnTo>
                <a:cubicBezTo>
                  <a:pt x="15755" y="562572"/>
                  <a:pt x="0" y="546817"/>
                  <a:pt x="0" y="52741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Shape 66"/>
          <p:cNvSpPr/>
          <p:nvPr/>
        </p:nvSpPr>
        <p:spPr>
          <a:xfrm>
            <a:off x="6323034" y="6153136"/>
            <a:ext cx="35161" cy="562572"/>
          </a:xfrm>
          <a:custGeom>
            <a:avLst/>
            <a:gdLst/>
            <a:ahLst/>
            <a:cxnLst/>
            <a:rect l="l" t="t" r="r" b="b"/>
            <a:pathLst>
              <a:path w="35161" h="562572">
                <a:moveTo>
                  <a:pt x="35161" y="0"/>
                </a:moveTo>
                <a:lnTo>
                  <a:pt x="35161" y="0"/>
                </a:lnTo>
                <a:lnTo>
                  <a:pt x="35161" y="562572"/>
                </a:lnTo>
                <a:lnTo>
                  <a:pt x="35161" y="562572"/>
                </a:lnTo>
                <a:cubicBezTo>
                  <a:pt x="15755" y="562572"/>
                  <a:pt x="0" y="546817"/>
                  <a:pt x="0" y="52741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Text 67"/>
          <p:cNvSpPr/>
          <p:nvPr/>
        </p:nvSpPr>
        <p:spPr>
          <a:xfrm>
            <a:off x="6446097" y="6258619"/>
            <a:ext cx="5203795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Momentum</a:t>
            </a:r>
            <a:endParaRPr lang="en-US" sz="1600" dirty="0"/>
          </a:p>
        </p:txBody>
      </p:sp>
      <p:sp>
        <p:nvSpPr>
          <p:cNvPr id="72" name="Text 68"/>
          <p:cNvSpPr/>
          <p:nvPr/>
        </p:nvSpPr>
        <p:spPr>
          <a:xfrm>
            <a:off x="6446097" y="6469583"/>
            <a:ext cx="5195005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1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Boeing outpaced Airbus in 2025 H1 orders (668 vs 494), signaling recovery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13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Challenges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&amp; Quality Crisis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286500" cy="2794000"/>
          </a:xfrm>
          <a:custGeom>
            <a:avLst/>
            <a:gdLst/>
            <a:ahLst/>
            <a:cxnLst/>
            <a:rect l="l" t="t" r="r" b="b"/>
            <a:pathLst>
              <a:path w="6286500" h="2794000">
                <a:moveTo>
                  <a:pt x="63508" y="0"/>
                </a:moveTo>
                <a:lnTo>
                  <a:pt x="6222992" y="0"/>
                </a:lnTo>
                <a:cubicBezTo>
                  <a:pt x="6258067" y="0"/>
                  <a:pt x="6286500" y="28433"/>
                  <a:pt x="6286500" y="63508"/>
                </a:cubicBezTo>
                <a:lnTo>
                  <a:pt x="6286500" y="2730492"/>
                </a:lnTo>
                <a:cubicBezTo>
                  <a:pt x="6286500" y="2765567"/>
                  <a:pt x="6258067" y="2794000"/>
                  <a:pt x="6222992" y="2794000"/>
                </a:cubicBezTo>
                <a:lnTo>
                  <a:pt x="63508" y="2794000"/>
                </a:lnTo>
                <a:cubicBezTo>
                  <a:pt x="28433" y="2794000"/>
                  <a:pt x="0" y="2765567"/>
                  <a:pt x="0" y="2730492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64344" y="115093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5540" y="0"/>
                  <a:pt x="79307" y="2260"/>
                  <a:pt x="81260" y="5860"/>
                </a:cubicBezTo>
                <a:lnTo>
                  <a:pt x="141536" y="117481"/>
                </a:lnTo>
                <a:cubicBezTo>
                  <a:pt x="143405" y="120941"/>
                  <a:pt x="143321" y="125127"/>
                  <a:pt x="141312" y="128504"/>
                </a:cubicBezTo>
                <a:cubicBezTo>
                  <a:pt x="139303" y="131880"/>
                  <a:pt x="135648" y="133945"/>
                  <a:pt x="131713" y="133945"/>
                </a:cubicBezTo>
                <a:lnTo>
                  <a:pt x="11162" y="133945"/>
                </a:lnTo>
                <a:cubicBezTo>
                  <a:pt x="7227" y="133945"/>
                  <a:pt x="3600" y="131880"/>
                  <a:pt x="1563" y="128504"/>
                </a:cubicBezTo>
                <a:cubicBezTo>
                  <a:pt x="-474" y="125127"/>
                  <a:pt x="-530" y="120941"/>
                  <a:pt x="1339" y="117481"/>
                </a:cubicBezTo>
                <a:lnTo>
                  <a:pt x="61615" y="5860"/>
                </a:lnTo>
                <a:cubicBezTo>
                  <a:pt x="63568" y="2260"/>
                  <a:pt x="67335" y="0"/>
                  <a:pt x="71438" y="0"/>
                </a:cubicBezTo>
                <a:close/>
                <a:moveTo>
                  <a:pt x="71438" y="46881"/>
                </a:moveTo>
                <a:cubicBezTo>
                  <a:pt x="67726" y="46881"/>
                  <a:pt x="64740" y="49867"/>
                  <a:pt x="64740" y="53578"/>
                </a:cubicBezTo>
                <a:lnTo>
                  <a:pt x="64740" y="84832"/>
                </a:lnTo>
                <a:cubicBezTo>
                  <a:pt x="64740" y="88543"/>
                  <a:pt x="67726" y="91529"/>
                  <a:pt x="71438" y="91529"/>
                </a:cubicBezTo>
                <a:cubicBezTo>
                  <a:pt x="75149" y="91529"/>
                  <a:pt x="78135" y="88543"/>
                  <a:pt x="78135" y="84832"/>
                </a:cubicBezTo>
                <a:lnTo>
                  <a:pt x="78135" y="53578"/>
                </a:lnTo>
                <a:cubicBezTo>
                  <a:pt x="78135" y="49867"/>
                  <a:pt x="75149" y="46881"/>
                  <a:pt x="71438" y="46881"/>
                </a:cubicBezTo>
                <a:close/>
                <a:moveTo>
                  <a:pt x="78888" y="107156"/>
                </a:moveTo>
                <a:cubicBezTo>
                  <a:pt x="79058" y="104391"/>
                  <a:pt x="77678" y="101759"/>
                  <a:pt x="75308" y="100325"/>
                </a:cubicBezTo>
                <a:cubicBezTo>
                  <a:pt x="72937" y="98891"/>
                  <a:pt x="69966" y="98891"/>
                  <a:pt x="67595" y="100325"/>
                </a:cubicBezTo>
                <a:cubicBezTo>
                  <a:pt x="65224" y="101759"/>
                  <a:pt x="63845" y="104391"/>
                  <a:pt x="64015" y="107156"/>
                </a:cubicBezTo>
                <a:cubicBezTo>
                  <a:pt x="63845" y="109922"/>
                  <a:pt x="65224" y="112553"/>
                  <a:pt x="67595" y="113987"/>
                </a:cubicBezTo>
                <a:cubicBezTo>
                  <a:pt x="69966" y="115421"/>
                  <a:pt x="72937" y="115421"/>
                  <a:pt x="75308" y="113987"/>
                </a:cubicBezTo>
                <a:cubicBezTo>
                  <a:pt x="77678" y="112553"/>
                  <a:pt x="79058" y="109922"/>
                  <a:pt x="78888" y="107156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27063" y="1111250"/>
            <a:ext cx="592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737 MAX Crisis Timeline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4500" y="1428750"/>
            <a:ext cx="69056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2018-2019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90625" y="1428750"/>
            <a:ext cx="5286375" cy="508000"/>
          </a:xfrm>
          <a:custGeom>
            <a:avLst/>
            <a:gdLst/>
            <a:ahLst/>
            <a:cxnLst/>
            <a:rect l="l" t="t" r="r" b="b"/>
            <a:pathLst>
              <a:path w="5286375" h="508000">
                <a:moveTo>
                  <a:pt x="31750" y="0"/>
                </a:moveTo>
                <a:lnTo>
                  <a:pt x="5254625" y="0"/>
                </a:lnTo>
                <a:cubicBezTo>
                  <a:pt x="5272148" y="0"/>
                  <a:pt x="5286375" y="14227"/>
                  <a:pt x="5286375" y="31750"/>
                </a:cubicBezTo>
                <a:lnTo>
                  <a:pt x="5286375" y="476250"/>
                </a:lnTo>
                <a:cubicBezTo>
                  <a:pt x="5286375" y="493773"/>
                  <a:pt x="5272148" y="508000"/>
                  <a:pt x="5254625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90625" y="1428750"/>
            <a:ext cx="31750" cy="508000"/>
          </a:xfrm>
          <a:custGeom>
            <a:avLst/>
            <a:gdLst/>
            <a:ahLst/>
            <a:cxnLst/>
            <a:rect l="l" t="t" r="r" b="b"/>
            <a:pathLst>
              <a:path w="31750" h="508000">
                <a:moveTo>
                  <a:pt x="31750" y="0"/>
                </a:moveTo>
                <a:lnTo>
                  <a:pt x="31750" y="0"/>
                </a:lnTo>
                <a:lnTo>
                  <a:pt x="31750" y="508000"/>
                </a:ln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01750" y="1524000"/>
            <a:ext cx="51355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Fatal Crashes: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Lion Air Flight 610 (October 2018) and Ethiopian Airlines Flight 302 (March 2019) killed 346 people, leading to global grounding of 737 MAX fleet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4500" y="2000250"/>
            <a:ext cx="69056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 2024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90625" y="2000250"/>
            <a:ext cx="5286375" cy="508000"/>
          </a:xfrm>
          <a:custGeom>
            <a:avLst/>
            <a:gdLst/>
            <a:ahLst/>
            <a:cxnLst/>
            <a:rect l="l" t="t" r="r" b="b"/>
            <a:pathLst>
              <a:path w="5286375" h="508000">
                <a:moveTo>
                  <a:pt x="31750" y="0"/>
                </a:moveTo>
                <a:lnTo>
                  <a:pt x="5254625" y="0"/>
                </a:lnTo>
                <a:cubicBezTo>
                  <a:pt x="5272148" y="0"/>
                  <a:pt x="5286375" y="14227"/>
                  <a:pt x="5286375" y="31750"/>
                </a:cubicBezTo>
                <a:lnTo>
                  <a:pt x="5286375" y="476250"/>
                </a:lnTo>
                <a:cubicBezTo>
                  <a:pt x="5286375" y="493773"/>
                  <a:pt x="5272148" y="508000"/>
                  <a:pt x="5254625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190625" y="2000250"/>
            <a:ext cx="31750" cy="508000"/>
          </a:xfrm>
          <a:custGeom>
            <a:avLst/>
            <a:gdLst/>
            <a:ahLst/>
            <a:cxnLst/>
            <a:rect l="l" t="t" r="r" b="b"/>
            <a:pathLst>
              <a:path w="31750" h="508000">
                <a:moveTo>
                  <a:pt x="31750" y="0"/>
                </a:moveTo>
                <a:lnTo>
                  <a:pt x="31750" y="0"/>
                </a:lnTo>
                <a:lnTo>
                  <a:pt x="31750" y="508000"/>
                </a:ln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01750" y="2095500"/>
            <a:ext cx="51355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Alaska Airlines Door Plug: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Door panel blew out mid-flight on 737 MAX 9, exposing severe quality control failures and triggering FAA production audit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4500" y="2571750"/>
            <a:ext cx="69056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 2024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90625" y="2571750"/>
            <a:ext cx="5286375" cy="508000"/>
          </a:xfrm>
          <a:custGeom>
            <a:avLst/>
            <a:gdLst/>
            <a:ahLst/>
            <a:cxnLst/>
            <a:rect l="l" t="t" r="r" b="b"/>
            <a:pathLst>
              <a:path w="5286375" h="508000">
                <a:moveTo>
                  <a:pt x="31750" y="0"/>
                </a:moveTo>
                <a:lnTo>
                  <a:pt x="5254625" y="0"/>
                </a:lnTo>
                <a:cubicBezTo>
                  <a:pt x="5272148" y="0"/>
                  <a:pt x="5286375" y="14227"/>
                  <a:pt x="5286375" y="31750"/>
                </a:cubicBezTo>
                <a:lnTo>
                  <a:pt x="5286375" y="476250"/>
                </a:lnTo>
                <a:cubicBezTo>
                  <a:pt x="5286375" y="493773"/>
                  <a:pt x="5272148" y="508000"/>
                  <a:pt x="5254625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190625" y="2571750"/>
            <a:ext cx="31750" cy="508000"/>
          </a:xfrm>
          <a:custGeom>
            <a:avLst/>
            <a:gdLst/>
            <a:ahLst/>
            <a:cxnLst/>
            <a:rect l="l" t="t" r="r" b="b"/>
            <a:pathLst>
              <a:path w="31750" h="508000">
                <a:moveTo>
                  <a:pt x="31750" y="0"/>
                </a:moveTo>
                <a:lnTo>
                  <a:pt x="31750" y="0"/>
                </a:lnTo>
                <a:lnTo>
                  <a:pt x="31750" y="508000"/>
                </a:ln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01750" y="2667000"/>
            <a:ext cx="51355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FAA Audit Findings: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89 production audits conducted; Boeing failed 33 tests (37% failure rate), mostly related to manufacturing control procedures and quality escapes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4500" y="3143250"/>
            <a:ext cx="69056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Jul 2024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90625" y="3143250"/>
            <a:ext cx="5286375" cy="508000"/>
          </a:xfrm>
          <a:custGeom>
            <a:avLst/>
            <a:gdLst/>
            <a:ahLst/>
            <a:cxnLst/>
            <a:rect l="l" t="t" r="r" b="b"/>
            <a:pathLst>
              <a:path w="5286375" h="508000">
                <a:moveTo>
                  <a:pt x="31750" y="0"/>
                </a:moveTo>
                <a:lnTo>
                  <a:pt x="5254625" y="0"/>
                </a:lnTo>
                <a:cubicBezTo>
                  <a:pt x="5272148" y="0"/>
                  <a:pt x="5286375" y="14227"/>
                  <a:pt x="5286375" y="31750"/>
                </a:cubicBezTo>
                <a:lnTo>
                  <a:pt x="5286375" y="476250"/>
                </a:lnTo>
                <a:cubicBezTo>
                  <a:pt x="5286375" y="493773"/>
                  <a:pt x="5272148" y="508000"/>
                  <a:pt x="5254625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190625" y="3143250"/>
            <a:ext cx="31750" cy="508000"/>
          </a:xfrm>
          <a:custGeom>
            <a:avLst/>
            <a:gdLst/>
            <a:ahLst/>
            <a:cxnLst/>
            <a:rect l="l" t="t" r="r" b="b"/>
            <a:pathLst>
              <a:path w="31750" h="508000">
                <a:moveTo>
                  <a:pt x="31750" y="0"/>
                </a:moveTo>
                <a:lnTo>
                  <a:pt x="31750" y="0"/>
                </a:lnTo>
                <a:lnTo>
                  <a:pt x="31750" y="508000"/>
                </a:ln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301750" y="3238500"/>
            <a:ext cx="51355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Guilty Plea: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Boeing agreed to plead guilty to fraud and pay up to $487 million for misleading regulators about 737 MAX safety before certification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7500" y="3873500"/>
            <a:ext cx="6286500" cy="1905000"/>
          </a:xfrm>
          <a:custGeom>
            <a:avLst/>
            <a:gdLst/>
            <a:ahLst/>
            <a:cxnLst/>
            <a:rect l="l" t="t" r="r" b="b"/>
            <a:pathLst>
              <a:path w="6286500" h="1905000">
                <a:moveTo>
                  <a:pt x="63494" y="0"/>
                </a:moveTo>
                <a:lnTo>
                  <a:pt x="6223006" y="0"/>
                </a:lnTo>
                <a:cubicBezTo>
                  <a:pt x="6258073" y="0"/>
                  <a:pt x="6286500" y="28427"/>
                  <a:pt x="6286500" y="63494"/>
                </a:cubicBezTo>
                <a:lnTo>
                  <a:pt x="6286500" y="1841506"/>
                </a:lnTo>
                <a:cubicBezTo>
                  <a:pt x="6286500" y="1876573"/>
                  <a:pt x="6258073" y="1905000"/>
                  <a:pt x="6223006" y="1905000"/>
                </a:cubicBezTo>
                <a:lnTo>
                  <a:pt x="63494" y="1905000"/>
                </a:lnTo>
                <a:cubicBezTo>
                  <a:pt x="28427" y="1905000"/>
                  <a:pt x="0" y="1876573"/>
                  <a:pt x="0" y="18415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64344" y="404018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16086" y="58043"/>
                </a:moveTo>
                <a:cubicBezTo>
                  <a:pt x="116086" y="70851"/>
                  <a:pt x="111928" y="82683"/>
                  <a:pt x="104924" y="92283"/>
                </a:cubicBezTo>
                <a:lnTo>
                  <a:pt x="140252" y="127639"/>
                </a:lnTo>
                <a:cubicBezTo>
                  <a:pt x="143740" y="131127"/>
                  <a:pt x="143740" y="136792"/>
                  <a:pt x="140252" y="140280"/>
                </a:cubicBezTo>
                <a:cubicBezTo>
                  <a:pt x="136764" y="143768"/>
                  <a:pt x="131099" y="143768"/>
                  <a:pt x="127611" y="140280"/>
                </a:cubicBezTo>
                <a:lnTo>
                  <a:pt x="92283" y="104924"/>
                </a:lnTo>
                <a:cubicBezTo>
                  <a:pt x="82683" y="111928"/>
                  <a:pt x="70851" y="116086"/>
                  <a:pt x="58043" y="116086"/>
                </a:cubicBezTo>
                <a:cubicBezTo>
                  <a:pt x="25980" y="116086"/>
                  <a:pt x="0" y="90106"/>
                  <a:pt x="0" y="58043"/>
                </a:cubicBezTo>
                <a:cubicBezTo>
                  <a:pt x="0" y="25980"/>
                  <a:pt x="25980" y="0"/>
                  <a:pt x="58043" y="0"/>
                </a:cubicBezTo>
                <a:cubicBezTo>
                  <a:pt x="90106" y="0"/>
                  <a:pt x="116086" y="25980"/>
                  <a:pt x="116086" y="58043"/>
                </a:cubicBezTo>
                <a:close/>
                <a:moveTo>
                  <a:pt x="58043" y="98227"/>
                </a:moveTo>
                <a:cubicBezTo>
                  <a:pt x="80221" y="98227"/>
                  <a:pt x="98227" y="80221"/>
                  <a:pt x="98227" y="58043"/>
                </a:cubicBezTo>
                <a:cubicBezTo>
                  <a:pt x="98227" y="35865"/>
                  <a:pt x="80221" y="17859"/>
                  <a:pt x="58043" y="17859"/>
                </a:cubicBezTo>
                <a:cubicBezTo>
                  <a:pt x="35865" y="17859"/>
                  <a:pt x="17859" y="35865"/>
                  <a:pt x="17859" y="58043"/>
                </a:cubicBezTo>
                <a:cubicBezTo>
                  <a:pt x="17859" y="80221"/>
                  <a:pt x="35865" y="98227"/>
                  <a:pt x="58043" y="98227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27063" y="4000500"/>
            <a:ext cx="592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Cause Analysis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0375" y="4318000"/>
            <a:ext cx="2952750" cy="635000"/>
          </a:xfrm>
          <a:custGeom>
            <a:avLst/>
            <a:gdLst/>
            <a:ahLst/>
            <a:cxnLst/>
            <a:rect l="l" t="t" r="r" b="b"/>
            <a:pathLst>
              <a:path w="2952750" h="635000">
                <a:moveTo>
                  <a:pt x="31750" y="0"/>
                </a:moveTo>
                <a:lnTo>
                  <a:pt x="2921000" y="0"/>
                </a:lnTo>
                <a:cubicBezTo>
                  <a:pt x="2938523" y="0"/>
                  <a:pt x="2952750" y="14227"/>
                  <a:pt x="2952750" y="31750"/>
                </a:cubicBezTo>
                <a:lnTo>
                  <a:pt x="2952750" y="603250"/>
                </a:lnTo>
                <a:cubicBezTo>
                  <a:pt x="2952750" y="620773"/>
                  <a:pt x="2938523" y="635000"/>
                  <a:pt x="2921000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0375" y="4318000"/>
            <a:ext cx="31750" cy="635000"/>
          </a:xfrm>
          <a:custGeom>
            <a:avLst/>
            <a:gdLst/>
            <a:ahLst/>
            <a:cxnLst/>
            <a:rect l="l" t="t" r="r" b="b"/>
            <a:pathLst>
              <a:path w="31750" h="635000">
                <a:moveTo>
                  <a:pt x="31750" y="0"/>
                </a:moveTo>
                <a:lnTo>
                  <a:pt x="31750" y="0"/>
                </a:lnTo>
                <a:lnTo>
                  <a:pt x="31750" y="635000"/>
                </a:ln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71500" y="4413250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Organizational Culture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460375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Disconnect between senior management and employees on safety culture; financial incentives prioritized over safety metrics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0375" y="5016500"/>
            <a:ext cx="2952750" cy="635000"/>
          </a:xfrm>
          <a:custGeom>
            <a:avLst/>
            <a:gdLst/>
            <a:ahLst/>
            <a:cxnLst/>
            <a:rect l="l" t="t" r="r" b="b"/>
            <a:pathLst>
              <a:path w="2952750" h="635000">
                <a:moveTo>
                  <a:pt x="31750" y="0"/>
                </a:moveTo>
                <a:lnTo>
                  <a:pt x="2921000" y="0"/>
                </a:lnTo>
                <a:cubicBezTo>
                  <a:pt x="2938523" y="0"/>
                  <a:pt x="2952750" y="14227"/>
                  <a:pt x="2952750" y="31750"/>
                </a:cubicBezTo>
                <a:lnTo>
                  <a:pt x="2952750" y="603250"/>
                </a:lnTo>
                <a:cubicBezTo>
                  <a:pt x="2952750" y="620773"/>
                  <a:pt x="2938523" y="635000"/>
                  <a:pt x="2921000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60375" y="5016500"/>
            <a:ext cx="31750" cy="635000"/>
          </a:xfrm>
          <a:custGeom>
            <a:avLst/>
            <a:gdLst/>
            <a:ahLst/>
            <a:cxnLst/>
            <a:rect l="l" t="t" r="r" b="b"/>
            <a:pathLst>
              <a:path w="31750" h="635000">
                <a:moveTo>
                  <a:pt x="31750" y="0"/>
                </a:moveTo>
                <a:lnTo>
                  <a:pt x="31750" y="0"/>
                </a:lnTo>
                <a:lnTo>
                  <a:pt x="31750" y="635000"/>
                </a:ln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71500" y="5111750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Control Failures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1500" y="530225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Inadequate manufacturing controls, "traveled work" practices, and insufficient inspection procedures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524250" y="4318000"/>
            <a:ext cx="2952750" cy="635000"/>
          </a:xfrm>
          <a:custGeom>
            <a:avLst/>
            <a:gdLst/>
            <a:ahLst/>
            <a:cxnLst/>
            <a:rect l="l" t="t" r="r" b="b"/>
            <a:pathLst>
              <a:path w="2952750" h="635000">
                <a:moveTo>
                  <a:pt x="31750" y="0"/>
                </a:moveTo>
                <a:lnTo>
                  <a:pt x="2921000" y="0"/>
                </a:lnTo>
                <a:cubicBezTo>
                  <a:pt x="2938523" y="0"/>
                  <a:pt x="2952750" y="14227"/>
                  <a:pt x="2952750" y="31750"/>
                </a:cubicBezTo>
                <a:lnTo>
                  <a:pt x="2952750" y="603250"/>
                </a:lnTo>
                <a:cubicBezTo>
                  <a:pt x="2952750" y="620773"/>
                  <a:pt x="2938523" y="635000"/>
                  <a:pt x="2921000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3524250" y="4318000"/>
            <a:ext cx="31750" cy="635000"/>
          </a:xfrm>
          <a:custGeom>
            <a:avLst/>
            <a:gdLst/>
            <a:ahLst/>
            <a:cxnLst/>
            <a:rect l="l" t="t" r="r" b="b"/>
            <a:pathLst>
              <a:path w="31750" h="635000">
                <a:moveTo>
                  <a:pt x="31750" y="0"/>
                </a:moveTo>
                <a:lnTo>
                  <a:pt x="31750" y="0"/>
                </a:lnTo>
                <a:lnTo>
                  <a:pt x="31750" y="635000"/>
                </a:ln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635375" y="4413250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Management System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635375" y="460375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Complex, constantly changing procedures created employee confusion; lack of awareness of safety metrics at all levels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524250" y="5016500"/>
            <a:ext cx="2952750" cy="635000"/>
          </a:xfrm>
          <a:custGeom>
            <a:avLst/>
            <a:gdLst/>
            <a:ahLst/>
            <a:cxnLst/>
            <a:rect l="l" t="t" r="r" b="b"/>
            <a:pathLst>
              <a:path w="2952750" h="635000">
                <a:moveTo>
                  <a:pt x="31750" y="0"/>
                </a:moveTo>
                <a:lnTo>
                  <a:pt x="2921000" y="0"/>
                </a:lnTo>
                <a:cubicBezTo>
                  <a:pt x="2938523" y="0"/>
                  <a:pt x="2952750" y="14227"/>
                  <a:pt x="2952750" y="31750"/>
                </a:cubicBezTo>
                <a:lnTo>
                  <a:pt x="2952750" y="603250"/>
                </a:lnTo>
                <a:cubicBezTo>
                  <a:pt x="2952750" y="620773"/>
                  <a:pt x="2938523" y="635000"/>
                  <a:pt x="2921000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3524250" y="5016500"/>
            <a:ext cx="31750" cy="635000"/>
          </a:xfrm>
          <a:custGeom>
            <a:avLst/>
            <a:gdLst/>
            <a:ahLst/>
            <a:cxnLst/>
            <a:rect l="l" t="t" r="r" b="b"/>
            <a:pathLst>
              <a:path w="31750" h="635000">
                <a:moveTo>
                  <a:pt x="31750" y="0"/>
                </a:moveTo>
                <a:lnTo>
                  <a:pt x="31750" y="0"/>
                </a:lnTo>
                <a:lnTo>
                  <a:pt x="31750" y="635000"/>
                </a:ln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3635375" y="5111750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Whistleblower Retaliation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635375" y="530225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Employees reported safety concerns but faced retaliation; warnings not escalated to board level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731000" y="984250"/>
            <a:ext cx="5143500" cy="3778250"/>
          </a:xfrm>
          <a:custGeom>
            <a:avLst/>
            <a:gdLst/>
            <a:ahLst/>
            <a:cxnLst/>
            <a:rect l="l" t="t" r="r" b="b"/>
            <a:pathLst>
              <a:path w="5143500" h="3778250">
                <a:moveTo>
                  <a:pt x="63512" y="0"/>
                </a:moveTo>
                <a:lnTo>
                  <a:pt x="5079988" y="0"/>
                </a:lnTo>
                <a:cubicBezTo>
                  <a:pt x="5115065" y="0"/>
                  <a:pt x="5143500" y="28435"/>
                  <a:pt x="5143500" y="63512"/>
                </a:cubicBezTo>
                <a:lnTo>
                  <a:pt x="5143500" y="3714738"/>
                </a:lnTo>
                <a:cubicBezTo>
                  <a:pt x="5143500" y="3749815"/>
                  <a:pt x="5115065" y="3778250"/>
                  <a:pt x="5079988" y="3778250"/>
                </a:cubicBezTo>
                <a:lnTo>
                  <a:pt x="63512" y="3778250"/>
                </a:lnTo>
                <a:cubicBezTo>
                  <a:pt x="28435" y="3778250"/>
                  <a:pt x="0" y="3749815"/>
                  <a:pt x="0" y="3714738"/>
                </a:cubicBezTo>
                <a:lnTo>
                  <a:pt x="0" y="63512"/>
                </a:lnTo>
                <a:cubicBezTo>
                  <a:pt x="0" y="28459"/>
                  <a:pt x="28459" y="0"/>
                  <a:pt x="6351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858000" y="1111250"/>
            <a:ext cx="496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Remediation Actions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873875" y="1428750"/>
            <a:ext cx="4873625" cy="666750"/>
          </a:xfrm>
          <a:custGeom>
            <a:avLst/>
            <a:gdLst/>
            <a:ahLst/>
            <a:cxnLst/>
            <a:rect l="l" t="t" r="r" b="b"/>
            <a:pathLst>
              <a:path w="4873625" h="666750">
                <a:moveTo>
                  <a:pt x="31750" y="0"/>
                </a:moveTo>
                <a:lnTo>
                  <a:pt x="4841874" y="0"/>
                </a:lnTo>
                <a:cubicBezTo>
                  <a:pt x="4859410" y="0"/>
                  <a:pt x="4873625" y="14215"/>
                  <a:pt x="4873625" y="31751"/>
                </a:cubicBezTo>
                <a:lnTo>
                  <a:pt x="4873625" y="634999"/>
                </a:lnTo>
                <a:cubicBezTo>
                  <a:pt x="4873625" y="652535"/>
                  <a:pt x="4859410" y="666750"/>
                  <a:pt x="48418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6873875" y="142875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6985000" y="153987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55563"/>
                </a:moveTo>
                <a:cubicBezTo>
                  <a:pt x="93613" y="55563"/>
                  <a:pt x="105172" y="44003"/>
                  <a:pt x="105172" y="29766"/>
                </a:cubicBezTo>
                <a:cubicBezTo>
                  <a:pt x="105172" y="15528"/>
                  <a:pt x="93613" y="3969"/>
                  <a:pt x="79375" y="3969"/>
                </a:cubicBezTo>
                <a:cubicBezTo>
                  <a:pt x="65137" y="3969"/>
                  <a:pt x="53578" y="15528"/>
                  <a:pt x="53578" y="29766"/>
                </a:cubicBezTo>
                <a:cubicBezTo>
                  <a:pt x="53578" y="44003"/>
                  <a:pt x="65137" y="55563"/>
                  <a:pt x="79375" y="55563"/>
                </a:cubicBezTo>
                <a:close/>
                <a:moveTo>
                  <a:pt x="23812" y="57547"/>
                </a:moveTo>
                <a:cubicBezTo>
                  <a:pt x="33669" y="57547"/>
                  <a:pt x="41672" y="49544"/>
                  <a:pt x="41672" y="39688"/>
                </a:cubicBezTo>
                <a:cubicBezTo>
                  <a:pt x="41672" y="29831"/>
                  <a:pt x="33669" y="21828"/>
                  <a:pt x="23812" y="21828"/>
                </a:cubicBezTo>
                <a:cubicBezTo>
                  <a:pt x="13956" y="21828"/>
                  <a:pt x="5953" y="29831"/>
                  <a:pt x="5953" y="39688"/>
                </a:cubicBezTo>
                <a:cubicBezTo>
                  <a:pt x="5953" y="49544"/>
                  <a:pt x="13956" y="57547"/>
                  <a:pt x="23812" y="57547"/>
                </a:cubicBezTo>
                <a:close/>
                <a:moveTo>
                  <a:pt x="0" y="103188"/>
                </a:moveTo>
                <a:lnTo>
                  <a:pt x="0" y="111125"/>
                </a:lnTo>
                <a:cubicBezTo>
                  <a:pt x="0" y="115515"/>
                  <a:pt x="3547" y="119063"/>
                  <a:pt x="7938" y="119063"/>
                </a:cubicBezTo>
                <a:lnTo>
                  <a:pt x="29443" y="119063"/>
                </a:lnTo>
                <a:cubicBezTo>
                  <a:pt x="28377" y="116632"/>
                  <a:pt x="27781" y="113953"/>
                  <a:pt x="27781" y="111125"/>
                </a:cubicBezTo>
                <a:lnTo>
                  <a:pt x="27781" y="107156"/>
                </a:lnTo>
                <a:cubicBezTo>
                  <a:pt x="27781" y="93960"/>
                  <a:pt x="32742" y="81905"/>
                  <a:pt x="40903" y="72777"/>
                </a:cubicBezTo>
                <a:cubicBezTo>
                  <a:pt x="38001" y="71909"/>
                  <a:pt x="34925" y="71438"/>
                  <a:pt x="31750" y="71438"/>
                </a:cubicBezTo>
                <a:cubicBezTo>
                  <a:pt x="14213" y="71438"/>
                  <a:pt x="0" y="85651"/>
                  <a:pt x="0" y="103188"/>
                </a:cubicBezTo>
                <a:close/>
                <a:moveTo>
                  <a:pt x="152797" y="39688"/>
                </a:moveTo>
                <a:cubicBezTo>
                  <a:pt x="152797" y="29831"/>
                  <a:pt x="144794" y="21828"/>
                  <a:pt x="134938" y="21828"/>
                </a:cubicBezTo>
                <a:cubicBezTo>
                  <a:pt x="125081" y="21828"/>
                  <a:pt x="117078" y="29831"/>
                  <a:pt x="117078" y="39688"/>
                </a:cubicBezTo>
                <a:cubicBezTo>
                  <a:pt x="117078" y="49544"/>
                  <a:pt x="125081" y="57547"/>
                  <a:pt x="134938" y="57547"/>
                </a:cubicBezTo>
                <a:cubicBezTo>
                  <a:pt x="144794" y="57547"/>
                  <a:pt x="152797" y="49544"/>
                  <a:pt x="152797" y="39688"/>
                </a:cubicBezTo>
                <a:close/>
                <a:moveTo>
                  <a:pt x="39688" y="107156"/>
                </a:moveTo>
                <a:lnTo>
                  <a:pt x="39688" y="111125"/>
                </a:lnTo>
                <a:cubicBezTo>
                  <a:pt x="39688" y="115515"/>
                  <a:pt x="43235" y="119063"/>
                  <a:pt x="47625" y="119063"/>
                </a:cubicBezTo>
                <a:lnTo>
                  <a:pt x="86519" y="119063"/>
                </a:lnTo>
                <a:cubicBezTo>
                  <a:pt x="84758" y="113705"/>
                  <a:pt x="84956" y="108049"/>
                  <a:pt x="89173" y="103188"/>
                </a:cubicBezTo>
                <a:cubicBezTo>
                  <a:pt x="85700" y="99169"/>
                  <a:pt x="84088" y="93340"/>
                  <a:pt x="86345" y="87486"/>
                </a:cubicBezTo>
                <a:cubicBezTo>
                  <a:pt x="87982" y="83245"/>
                  <a:pt x="90289" y="79276"/>
                  <a:pt x="93142" y="75754"/>
                </a:cubicBezTo>
                <a:cubicBezTo>
                  <a:pt x="94481" y="74116"/>
                  <a:pt x="96019" y="72851"/>
                  <a:pt x="97681" y="71934"/>
                </a:cubicBezTo>
                <a:cubicBezTo>
                  <a:pt x="92199" y="69081"/>
                  <a:pt x="85973" y="67469"/>
                  <a:pt x="79375" y="67469"/>
                </a:cubicBezTo>
                <a:cubicBezTo>
                  <a:pt x="57448" y="67469"/>
                  <a:pt x="39688" y="85229"/>
                  <a:pt x="39688" y="107156"/>
                </a:cubicBezTo>
                <a:close/>
                <a:moveTo>
                  <a:pt x="154930" y="96217"/>
                </a:moveTo>
                <a:cubicBezTo>
                  <a:pt x="156493" y="95324"/>
                  <a:pt x="157287" y="93464"/>
                  <a:pt x="156617" y="91753"/>
                </a:cubicBezTo>
                <a:cubicBezTo>
                  <a:pt x="155426" y="88677"/>
                  <a:pt x="153764" y="85775"/>
                  <a:pt x="151681" y="83220"/>
                </a:cubicBezTo>
                <a:cubicBezTo>
                  <a:pt x="150540" y="81806"/>
                  <a:pt x="148530" y="81558"/>
                  <a:pt x="146968" y="82476"/>
                </a:cubicBezTo>
                <a:cubicBezTo>
                  <a:pt x="141560" y="85601"/>
                  <a:pt x="134913" y="81781"/>
                  <a:pt x="134913" y="75505"/>
                </a:cubicBezTo>
                <a:cubicBezTo>
                  <a:pt x="134913" y="73695"/>
                  <a:pt x="133697" y="72082"/>
                  <a:pt x="131911" y="71810"/>
                </a:cubicBezTo>
                <a:cubicBezTo>
                  <a:pt x="128712" y="71313"/>
                  <a:pt x="125264" y="71313"/>
                  <a:pt x="122064" y="71810"/>
                </a:cubicBezTo>
                <a:cubicBezTo>
                  <a:pt x="120278" y="72082"/>
                  <a:pt x="119062" y="73695"/>
                  <a:pt x="119062" y="75505"/>
                </a:cubicBezTo>
                <a:cubicBezTo>
                  <a:pt x="119062" y="81756"/>
                  <a:pt x="112415" y="85601"/>
                  <a:pt x="107007" y="82476"/>
                </a:cubicBezTo>
                <a:cubicBezTo>
                  <a:pt x="105445" y="81583"/>
                  <a:pt x="103436" y="81831"/>
                  <a:pt x="102295" y="83220"/>
                </a:cubicBezTo>
                <a:cubicBezTo>
                  <a:pt x="100211" y="85775"/>
                  <a:pt x="98549" y="88677"/>
                  <a:pt x="97358" y="91753"/>
                </a:cubicBezTo>
                <a:cubicBezTo>
                  <a:pt x="96713" y="93439"/>
                  <a:pt x="97482" y="95300"/>
                  <a:pt x="99045" y="96193"/>
                </a:cubicBezTo>
                <a:cubicBezTo>
                  <a:pt x="104477" y="99318"/>
                  <a:pt x="104477" y="106983"/>
                  <a:pt x="99045" y="110133"/>
                </a:cubicBezTo>
                <a:cubicBezTo>
                  <a:pt x="97482" y="111026"/>
                  <a:pt x="96689" y="112886"/>
                  <a:pt x="97358" y="114573"/>
                </a:cubicBezTo>
                <a:cubicBezTo>
                  <a:pt x="98549" y="117649"/>
                  <a:pt x="100211" y="120551"/>
                  <a:pt x="102295" y="123106"/>
                </a:cubicBezTo>
                <a:cubicBezTo>
                  <a:pt x="103436" y="124520"/>
                  <a:pt x="105445" y="124768"/>
                  <a:pt x="107007" y="123850"/>
                </a:cubicBezTo>
                <a:cubicBezTo>
                  <a:pt x="112415" y="120724"/>
                  <a:pt x="119062" y="124569"/>
                  <a:pt x="119062" y="130820"/>
                </a:cubicBezTo>
                <a:cubicBezTo>
                  <a:pt x="119062" y="132631"/>
                  <a:pt x="120278" y="134243"/>
                  <a:pt x="122064" y="134516"/>
                </a:cubicBezTo>
                <a:cubicBezTo>
                  <a:pt x="125264" y="135012"/>
                  <a:pt x="128712" y="135012"/>
                  <a:pt x="131911" y="134516"/>
                </a:cubicBezTo>
                <a:cubicBezTo>
                  <a:pt x="133697" y="134243"/>
                  <a:pt x="134913" y="132631"/>
                  <a:pt x="134913" y="130820"/>
                </a:cubicBezTo>
                <a:cubicBezTo>
                  <a:pt x="134913" y="124569"/>
                  <a:pt x="141560" y="120724"/>
                  <a:pt x="146968" y="123850"/>
                </a:cubicBezTo>
                <a:cubicBezTo>
                  <a:pt x="148530" y="124743"/>
                  <a:pt x="150540" y="124495"/>
                  <a:pt x="151681" y="123106"/>
                </a:cubicBezTo>
                <a:cubicBezTo>
                  <a:pt x="153764" y="120551"/>
                  <a:pt x="155426" y="117649"/>
                  <a:pt x="156617" y="114573"/>
                </a:cubicBezTo>
                <a:cubicBezTo>
                  <a:pt x="157262" y="112886"/>
                  <a:pt x="156493" y="111026"/>
                  <a:pt x="154930" y="110133"/>
                </a:cubicBezTo>
                <a:cubicBezTo>
                  <a:pt x="149498" y="107007"/>
                  <a:pt x="149498" y="99343"/>
                  <a:pt x="154930" y="96193"/>
                </a:cubicBezTo>
                <a:close/>
                <a:moveTo>
                  <a:pt x="117078" y="103188"/>
                </a:moveTo>
                <a:cubicBezTo>
                  <a:pt x="117078" y="97711"/>
                  <a:pt x="121524" y="93266"/>
                  <a:pt x="127000" y="93266"/>
                </a:cubicBezTo>
                <a:cubicBezTo>
                  <a:pt x="132476" y="93266"/>
                  <a:pt x="136922" y="97711"/>
                  <a:pt x="136922" y="103188"/>
                </a:cubicBezTo>
                <a:cubicBezTo>
                  <a:pt x="136922" y="108664"/>
                  <a:pt x="132476" y="113109"/>
                  <a:pt x="127000" y="113109"/>
                </a:cubicBezTo>
                <a:cubicBezTo>
                  <a:pt x="121524" y="113109"/>
                  <a:pt x="117078" y="108664"/>
                  <a:pt x="117078" y="103188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7207250" y="1524000"/>
            <a:ext cx="109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Stand-Downs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85000" y="1746250"/>
            <a:ext cx="4714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10,000+ employees participated in factory-wide quality stand-downs to refocus on safety and discuss improvements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873875" y="2159000"/>
            <a:ext cx="4873625" cy="666750"/>
          </a:xfrm>
          <a:custGeom>
            <a:avLst/>
            <a:gdLst/>
            <a:ahLst/>
            <a:cxnLst/>
            <a:rect l="l" t="t" r="r" b="b"/>
            <a:pathLst>
              <a:path w="4873625" h="666750">
                <a:moveTo>
                  <a:pt x="31750" y="0"/>
                </a:moveTo>
                <a:lnTo>
                  <a:pt x="4841874" y="0"/>
                </a:lnTo>
                <a:cubicBezTo>
                  <a:pt x="4859410" y="0"/>
                  <a:pt x="4873625" y="14215"/>
                  <a:pt x="4873625" y="31751"/>
                </a:cubicBezTo>
                <a:lnTo>
                  <a:pt x="4873625" y="634999"/>
                </a:lnTo>
                <a:cubicBezTo>
                  <a:pt x="4873625" y="652535"/>
                  <a:pt x="4859410" y="666750"/>
                  <a:pt x="48418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6873875" y="215900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7016750" y="227012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68560" y="64666"/>
                </a:moveTo>
                <a:cubicBezTo>
                  <a:pt x="70296" y="61888"/>
                  <a:pt x="69453" y="58217"/>
                  <a:pt x="66675" y="56455"/>
                </a:cubicBezTo>
                <a:cubicBezTo>
                  <a:pt x="63897" y="54694"/>
                  <a:pt x="60226" y="55563"/>
                  <a:pt x="58465" y="58341"/>
                </a:cubicBezTo>
                <a:lnTo>
                  <a:pt x="43235" y="82724"/>
                </a:lnTo>
                <a:lnTo>
                  <a:pt x="36537" y="73794"/>
                </a:lnTo>
                <a:cubicBezTo>
                  <a:pt x="34553" y="71165"/>
                  <a:pt x="30832" y="70619"/>
                  <a:pt x="28203" y="72603"/>
                </a:cubicBezTo>
                <a:cubicBezTo>
                  <a:pt x="25574" y="74588"/>
                  <a:pt x="25028" y="78308"/>
                  <a:pt x="27012" y="80938"/>
                </a:cubicBezTo>
                <a:lnTo>
                  <a:pt x="38919" y="96813"/>
                </a:lnTo>
                <a:cubicBezTo>
                  <a:pt x="40084" y="98375"/>
                  <a:pt x="41970" y="99268"/>
                  <a:pt x="43929" y="99194"/>
                </a:cubicBezTo>
                <a:cubicBezTo>
                  <a:pt x="45889" y="99120"/>
                  <a:pt x="47675" y="98078"/>
                  <a:pt x="48716" y="96391"/>
                </a:cubicBezTo>
                <a:lnTo>
                  <a:pt x="68560" y="64641"/>
                </a:ln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7207250" y="2254250"/>
            <a:ext cx="110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Inspections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85000" y="2476500"/>
            <a:ext cx="4714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Added layers of inspections, weekly compliance checks for every 737 work cell, dedicated shift time for FOD sweeps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873875" y="2889250"/>
            <a:ext cx="4873625" cy="539750"/>
          </a:xfrm>
          <a:custGeom>
            <a:avLst/>
            <a:gdLst/>
            <a:ahLst/>
            <a:cxnLst/>
            <a:rect l="l" t="t" r="r" b="b"/>
            <a:pathLst>
              <a:path w="4873625" h="539750">
                <a:moveTo>
                  <a:pt x="31748" y="0"/>
                </a:moveTo>
                <a:lnTo>
                  <a:pt x="4841877" y="0"/>
                </a:lnTo>
                <a:cubicBezTo>
                  <a:pt x="4859411" y="0"/>
                  <a:pt x="4873625" y="14214"/>
                  <a:pt x="4873625" y="31748"/>
                </a:cubicBezTo>
                <a:lnTo>
                  <a:pt x="4873625" y="508002"/>
                </a:lnTo>
                <a:cubicBezTo>
                  <a:pt x="4873625" y="525536"/>
                  <a:pt x="4859411" y="539750"/>
                  <a:pt x="4841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6873875" y="2889250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6992938" y="300037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55563" y="61516"/>
                </a:moveTo>
                <a:cubicBezTo>
                  <a:pt x="71991" y="61516"/>
                  <a:pt x="85328" y="48178"/>
                  <a:pt x="85328" y="31750"/>
                </a:cubicBezTo>
                <a:cubicBezTo>
                  <a:pt x="85328" y="15322"/>
                  <a:pt x="71991" y="1984"/>
                  <a:pt x="55563" y="1984"/>
                </a:cubicBezTo>
                <a:cubicBezTo>
                  <a:pt x="39134" y="1984"/>
                  <a:pt x="25797" y="15322"/>
                  <a:pt x="25797" y="31750"/>
                </a:cubicBezTo>
                <a:cubicBezTo>
                  <a:pt x="25797" y="48178"/>
                  <a:pt x="39134" y="61516"/>
                  <a:pt x="55562" y="61516"/>
                </a:cubicBezTo>
                <a:close/>
                <a:moveTo>
                  <a:pt x="48196" y="75406"/>
                </a:moveTo>
                <a:cubicBezTo>
                  <a:pt x="23763" y="75406"/>
                  <a:pt x="3969" y="95200"/>
                  <a:pt x="3969" y="119633"/>
                </a:cubicBezTo>
                <a:cubicBezTo>
                  <a:pt x="3969" y="123701"/>
                  <a:pt x="7268" y="127000"/>
                  <a:pt x="11336" y="127000"/>
                </a:cubicBezTo>
                <a:lnTo>
                  <a:pt x="73720" y="127000"/>
                </a:lnTo>
                <a:cubicBezTo>
                  <a:pt x="64740" y="116433"/>
                  <a:pt x="59531" y="102815"/>
                  <a:pt x="59531" y="88404"/>
                </a:cubicBezTo>
                <a:lnTo>
                  <a:pt x="59531" y="80690"/>
                </a:lnTo>
                <a:cubicBezTo>
                  <a:pt x="59531" y="78879"/>
                  <a:pt x="59779" y="77093"/>
                  <a:pt x="60251" y="75406"/>
                </a:cubicBezTo>
                <a:lnTo>
                  <a:pt x="48196" y="75406"/>
                </a:lnTo>
                <a:close/>
                <a:moveTo>
                  <a:pt x="110455" y="121171"/>
                </a:moveTo>
                <a:lnTo>
                  <a:pt x="107156" y="122734"/>
                </a:lnTo>
                <a:lnTo>
                  <a:pt x="107156" y="76076"/>
                </a:lnTo>
                <a:lnTo>
                  <a:pt x="130969" y="84013"/>
                </a:lnTo>
                <a:lnTo>
                  <a:pt x="130969" y="88875"/>
                </a:lnTo>
                <a:cubicBezTo>
                  <a:pt x="130969" y="102716"/>
                  <a:pt x="122982" y="115292"/>
                  <a:pt x="110455" y="121196"/>
                </a:cubicBezTo>
                <a:close/>
                <a:moveTo>
                  <a:pt x="104651" y="64368"/>
                </a:moveTo>
                <a:lnTo>
                  <a:pt x="76870" y="73620"/>
                </a:lnTo>
                <a:cubicBezTo>
                  <a:pt x="73620" y="74712"/>
                  <a:pt x="71438" y="77738"/>
                  <a:pt x="71438" y="81161"/>
                </a:cubicBezTo>
                <a:lnTo>
                  <a:pt x="71438" y="88875"/>
                </a:lnTo>
                <a:cubicBezTo>
                  <a:pt x="71438" y="107330"/>
                  <a:pt x="82104" y="124123"/>
                  <a:pt x="98772" y="131961"/>
                </a:cubicBezTo>
                <a:lnTo>
                  <a:pt x="103361" y="134119"/>
                </a:lnTo>
                <a:cubicBezTo>
                  <a:pt x="104552" y="134665"/>
                  <a:pt x="105842" y="134962"/>
                  <a:pt x="107131" y="134962"/>
                </a:cubicBezTo>
                <a:cubicBezTo>
                  <a:pt x="108421" y="134962"/>
                  <a:pt x="109736" y="134665"/>
                  <a:pt x="110902" y="134119"/>
                </a:cubicBezTo>
                <a:lnTo>
                  <a:pt x="115491" y="131961"/>
                </a:lnTo>
                <a:cubicBezTo>
                  <a:pt x="132209" y="124098"/>
                  <a:pt x="142875" y="107305"/>
                  <a:pt x="142875" y="88850"/>
                </a:cubicBezTo>
                <a:lnTo>
                  <a:pt x="142875" y="81136"/>
                </a:lnTo>
                <a:cubicBezTo>
                  <a:pt x="142875" y="77713"/>
                  <a:pt x="140692" y="74687"/>
                  <a:pt x="137443" y="73596"/>
                </a:cubicBezTo>
                <a:lnTo>
                  <a:pt x="109662" y="64343"/>
                </a:lnTo>
                <a:cubicBezTo>
                  <a:pt x="108024" y="63798"/>
                  <a:pt x="106263" y="63798"/>
                  <a:pt x="104651" y="64343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7207250" y="2984500"/>
            <a:ext cx="127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Assessment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985000" y="3206750"/>
            <a:ext cx="4714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Appointed Admiral Kirkland Donald to complete independent assessment of Quality Management System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873875" y="3492500"/>
            <a:ext cx="4873625" cy="539750"/>
          </a:xfrm>
          <a:custGeom>
            <a:avLst/>
            <a:gdLst/>
            <a:ahLst/>
            <a:cxnLst/>
            <a:rect l="l" t="t" r="r" b="b"/>
            <a:pathLst>
              <a:path w="4873625" h="539750">
                <a:moveTo>
                  <a:pt x="31748" y="0"/>
                </a:moveTo>
                <a:lnTo>
                  <a:pt x="4841877" y="0"/>
                </a:lnTo>
                <a:cubicBezTo>
                  <a:pt x="4859411" y="0"/>
                  <a:pt x="4873625" y="14214"/>
                  <a:pt x="4873625" y="31748"/>
                </a:cubicBezTo>
                <a:lnTo>
                  <a:pt x="4873625" y="508002"/>
                </a:lnTo>
                <a:cubicBezTo>
                  <a:pt x="4873625" y="525536"/>
                  <a:pt x="4859411" y="539750"/>
                  <a:pt x="4841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6873875" y="3492500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7000875" y="36036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7207250" y="3587750"/>
            <a:ext cx="132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Eliminating Traveled Work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985000" y="3810000"/>
            <a:ext cx="4714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Stopped practice of unfinished jobs moving through production line; holding suppliers to same standard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873875" y="4095750"/>
            <a:ext cx="4873625" cy="539750"/>
          </a:xfrm>
          <a:custGeom>
            <a:avLst/>
            <a:gdLst/>
            <a:ahLst/>
            <a:cxnLst/>
            <a:rect l="l" t="t" r="r" b="b"/>
            <a:pathLst>
              <a:path w="4873625" h="539750">
                <a:moveTo>
                  <a:pt x="31748" y="0"/>
                </a:moveTo>
                <a:lnTo>
                  <a:pt x="4841877" y="0"/>
                </a:lnTo>
                <a:cubicBezTo>
                  <a:pt x="4859411" y="0"/>
                  <a:pt x="4873625" y="14214"/>
                  <a:pt x="4873625" y="31748"/>
                </a:cubicBezTo>
                <a:lnTo>
                  <a:pt x="4873625" y="508002"/>
                </a:lnTo>
                <a:cubicBezTo>
                  <a:pt x="4873625" y="525536"/>
                  <a:pt x="4859411" y="539750"/>
                  <a:pt x="4841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6873875" y="4095750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6992938" y="420687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42069" y="38050"/>
                </a:moveTo>
                <a:lnTo>
                  <a:pt x="37430" y="33412"/>
                </a:lnTo>
                <a:cubicBezTo>
                  <a:pt x="34330" y="30311"/>
                  <a:pt x="34330" y="25276"/>
                  <a:pt x="37430" y="22175"/>
                </a:cubicBezTo>
                <a:lnTo>
                  <a:pt x="65881" y="-6300"/>
                </a:lnTo>
                <a:cubicBezTo>
                  <a:pt x="68982" y="-9401"/>
                  <a:pt x="74017" y="-9401"/>
                  <a:pt x="77118" y="-6300"/>
                </a:cubicBezTo>
                <a:lnTo>
                  <a:pt x="81756" y="-1637"/>
                </a:lnTo>
                <a:cubicBezTo>
                  <a:pt x="84857" y="1463"/>
                  <a:pt x="84857" y="6499"/>
                  <a:pt x="81756" y="9599"/>
                </a:cubicBezTo>
                <a:lnTo>
                  <a:pt x="53305" y="38050"/>
                </a:lnTo>
                <a:cubicBezTo>
                  <a:pt x="50205" y="41151"/>
                  <a:pt x="45169" y="41151"/>
                  <a:pt x="42069" y="38050"/>
                </a:cubicBezTo>
                <a:close/>
                <a:moveTo>
                  <a:pt x="68461" y="52512"/>
                </a:moveTo>
                <a:lnTo>
                  <a:pt x="60672" y="44723"/>
                </a:lnTo>
                <a:lnTo>
                  <a:pt x="88454" y="16942"/>
                </a:lnTo>
                <a:lnTo>
                  <a:pt x="118070" y="46558"/>
                </a:lnTo>
                <a:lnTo>
                  <a:pt x="90289" y="74340"/>
                </a:lnTo>
                <a:lnTo>
                  <a:pt x="82500" y="66551"/>
                </a:lnTo>
                <a:lnTo>
                  <a:pt x="24954" y="124098"/>
                </a:lnTo>
                <a:cubicBezTo>
                  <a:pt x="21084" y="127967"/>
                  <a:pt x="14808" y="127967"/>
                  <a:pt x="10914" y="124098"/>
                </a:cubicBezTo>
                <a:cubicBezTo>
                  <a:pt x="7020" y="120228"/>
                  <a:pt x="7045" y="113953"/>
                  <a:pt x="10914" y="110058"/>
                </a:cubicBezTo>
                <a:lnTo>
                  <a:pt x="68461" y="52512"/>
                </a:lnTo>
                <a:close/>
                <a:moveTo>
                  <a:pt x="96962" y="92918"/>
                </a:moveTo>
                <a:cubicBezTo>
                  <a:pt x="93861" y="89818"/>
                  <a:pt x="93861" y="84782"/>
                  <a:pt x="96962" y="81682"/>
                </a:cubicBezTo>
                <a:lnTo>
                  <a:pt x="125413" y="53231"/>
                </a:lnTo>
                <a:cubicBezTo>
                  <a:pt x="128513" y="50130"/>
                  <a:pt x="133548" y="50130"/>
                  <a:pt x="136649" y="53231"/>
                </a:cubicBezTo>
                <a:lnTo>
                  <a:pt x="141288" y="57869"/>
                </a:lnTo>
                <a:cubicBezTo>
                  <a:pt x="144388" y="60970"/>
                  <a:pt x="144388" y="66005"/>
                  <a:pt x="141288" y="69106"/>
                </a:cubicBezTo>
                <a:lnTo>
                  <a:pt x="112837" y="97582"/>
                </a:lnTo>
                <a:cubicBezTo>
                  <a:pt x="109736" y="100682"/>
                  <a:pt x="104701" y="100682"/>
                  <a:pt x="101600" y="97582"/>
                </a:cubicBezTo>
                <a:lnTo>
                  <a:pt x="96962" y="92943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7207250" y="4191000"/>
            <a:ext cx="1174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Regulatory Compliance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985000" y="4413250"/>
            <a:ext cx="4714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closely with FAA on production increases; won't allow rate hikes until quality control satisfied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731000" y="4857750"/>
            <a:ext cx="5143500" cy="1841500"/>
          </a:xfrm>
          <a:custGeom>
            <a:avLst/>
            <a:gdLst/>
            <a:ahLst/>
            <a:cxnLst/>
            <a:rect l="l" t="t" r="r" b="b"/>
            <a:pathLst>
              <a:path w="5143500" h="1841500">
                <a:moveTo>
                  <a:pt x="63495" y="0"/>
                </a:moveTo>
                <a:lnTo>
                  <a:pt x="5080005" y="0"/>
                </a:lnTo>
                <a:cubicBezTo>
                  <a:pt x="5115072" y="0"/>
                  <a:pt x="5143500" y="28428"/>
                  <a:pt x="5143500" y="63495"/>
                </a:cubicBezTo>
                <a:lnTo>
                  <a:pt x="5143500" y="1778005"/>
                </a:lnTo>
                <a:cubicBezTo>
                  <a:pt x="5143500" y="1813072"/>
                  <a:pt x="5115072" y="1841500"/>
                  <a:pt x="5080005" y="1841500"/>
                </a:cubicBezTo>
                <a:lnTo>
                  <a:pt x="63495" y="1841500"/>
                </a:lnTo>
                <a:cubicBezTo>
                  <a:pt x="28428" y="1841500"/>
                  <a:pt x="0" y="1813072"/>
                  <a:pt x="0" y="1778005"/>
                </a:cubicBezTo>
                <a:lnTo>
                  <a:pt x="0" y="63495"/>
                </a:lnTo>
                <a:cubicBezTo>
                  <a:pt x="0" y="28451"/>
                  <a:pt x="28451" y="0"/>
                  <a:pt x="6349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6858000" y="4984750"/>
            <a:ext cx="496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858000" y="5302250"/>
            <a:ext cx="2413000" cy="603250"/>
          </a:xfrm>
          <a:custGeom>
            <a:avLst/>
            <a:gdLst/>
            <a:ahLst/>
            <a:cxnLst/>
            <a:rect l="l" t="t" r="r" b="b"/>
            <a:pathLst>
              <a:path w="2413000" h="603250">
                <a:moveTo>
                  <a:pt x="31749" y="0"/>
                </a:moveTo>
                <a:lnTo>
                  <a:pt x="2381251" y="0"/>
                </a:lnTo>
                <a:cubicBezTo>
                  <a:pt x="2398785" y="0"/>
                  <a:pt x="2413000" y="14215"/>
                  <a:pt x="2413000" y="31749"/>
                </a:cubicBezTo>
                <a:lnTo>
                  <a:pt x="2413000" y="571501"/>
                </a:lnTo>
                <a:cubicBezTo>
                  <a:pt x="2413000" y="589035"/>
                  <a:pt x="2398785" y="603250"/>
                  <a:pt x="23812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/>
          <p:nvPr/>
        </p:nvSpPr>
        <p:spPr>
          <a:xfrm>
            <a:off x="6905625" y="5397500"/>
            <a:ext cx="2317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33/89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929438" y="5683250"/>
            <a:ext cx="2270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FAA Audit Failures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334500" y="5302250"/>
            <a:ext cx="2413000" cy="603250"/>
          </a:xfrm>
          <a:custGeom>
            <a:avLst/>
            <a:gdLst/>
            <a:ahLst/>
            <a:cxnLst/>
            <a:rect l="l" t="t" r="r" b="b"/>
            <a:pathLst>
              <a:path w="2413000" h="603250">
                <a:moveTo>
                  <a:pt x="31749" y="0"/>
                </a:moveTo>
                <a:lnTo>
                  <a:pt x="2381251" y="0"/>
                </a:lnTo>
                <a:cubicBezTo>
                  <a:pt x="2398785" y="0"/>
                  <a:pt x="2413000" y="14215"/>
                  <a:pt x="2413000" y="31749"/>
                </a:cubicBezTo>
                <a:lnTo>
                  <a:pt x="2413000" y="571501"/>
                </a:lnTo>
                <a:cubicBezTo>
                  <a:pt x="2413000" y="589035"/>
                  <a:pt x="2398785" y="603250"/>
                  <a:pt x="23812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9382125" y="5397500"/>
            <a:ext cx="2317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$487M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405938" y="5683250"/>
            <a:ext cx="2270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Settlement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858000" y="5969000"/>
            <a:ext cx="2413000" cy="603250"/>
          </a:xfrm>
          <a:custGeom>
            <a:avLst/>
            <a:gdLst/>
            <a:ahLst/>
            <a:cxnLst/>
            <a:rect l="l" t="t" r="r" b="b"/>
            <a:pathLst>
              <a:path w="2413000" h="603250">
                <a:moveTo>
                  <a:pt x="31749" y="0"/>
                </a:moveTo>
                <a:lnTo>
                  <a:pt x="2381251" y="0"/>
                </a:lnTo>
                <a:cubicBezTo>
                  <a:pt x="2398785" y="0"/>
                  <a:pt x="2413000" y="14215"/>
                  <a:pt x="2413000" y="31749"/>
                </a:cubicBezTo>
                <a:lnTo>
                  <a:pt x="2413000" y="571501"/>
                </a:lnTo>
                <a:cubicBezTo>
                  <a:pt x="2413000" y="589035"/>
                  <a:pt x="2398785" y="603250"/>
                  <a:pt x="23812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6905625" y="6064250"/>
            <a:ext cx="2317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Years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929438" y="6350000"/>
            <a:ext cx="2270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Monitor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334500" y="5969000"/>
            <a:ext cx="2413000" cy="603250"/>
          </a:xfrm>
          <a:custGeom>
            <a:avLst/>
            <a:gdLst/>
            <a:ahLst/>
            <a:cxnLst/>
            <a:rect l="l" t="t" r="r" b="b"/>
            <a:pathLst>
              <a:path w="2413000" h="603250">
                <a:moveTo>
                  <a:pt x="31749" y="0"/>
                </a:moveTo>
                <a:lnTo>
                  <a:pt x="2381251" y="0"/>
                </a:lnTo>
                <a:cubicBezTo>
                  <a:pt x="2398785" y="0"/>
                  <a:pt x="2413000" y="14215"/>
                  <a:pt x="2413000" y="31749"/>
                </a:cubicBezTo>
                <a:lnTo>
                  <a:pt x="2413000" y="571501"/>
                </a:lnTo>
                <a:cubicBezTo>
                  <a:pt x="2413000" y="589035"/>
                  <a:pt x="2398785" y="603250"/>
                  <a:pt x="23812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9382125" y="6064250"/>
            <a:ext cx="2317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9405938" y="6350000"/>
            <a:ext cx="2270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MAX/Month (FAA Cap)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llaboutlean.com/3d4f8f7ba11f4d2a2ca161dd773d8eda144082a0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1491" r="14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8382000">
                <a:moveTo>
                  <a:pt x="0" y="0"/>
                </a:moveTo>
                <a:lnTo>
                  <a:pt x="12192000" y="0"/>
                </a:lnTo>
                <a:lnTo>
                  <a:pt x="12192000" y="8382000"/>
                </a:lnTo>
                <a:lnTo>
                  <a:pt x="0" y="8382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3182CE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13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Management Changes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Leadership Transformation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7500" y="984250"/>
            <a:ext cx="5715000" cy="3841750"/>
          </a:xfrm>
          <a:custGeom>
            <a:avLst/>
            <a:gdLst/>
            <a:ahLst/>
            <a:cxnLst/>
            <a:rect l="l" t="t" r="r" b="b"/>
            <a:pathLst>
              <a:path w="5715000" h="3841750">
                <a:moveTo>
                  <a:pt x="63504" y="0"/>
                </a:moveTo>
                <a:lnTo>
                  <a:pt x="5651496" y="0"/>
                </a:lnTo>
                <a:cubicBezTo>
                  <a:pt x="5686568" y="0"/>
                  <a:pt x="5715000" y="28432"/>
                  <a:pt x="5715000" y="63504"/>
                </a:cubicBezTo>
                <a:lnTo>
                  <a:pt x="5715000" y="3778246"/>
                </a:lnTo>
                <a:cubicBezTo>
                  <a:pt x="5715000" y="3813318"/>
                  <a:pt x="5686568" y="3841750"/>
                  <a:pt x="5651496" y="3841750"/>
                </a:cubicBezTo>
                <a:lnTo>
                  <a:pt x="63504" y="3841750"/>
                </a:lnTo>
                <a:cubicBezTo>
                  <a:pt x="28432" y="3841750"/>
                  <a:pt x="0" y="3813318"/>
                  <a:pt x="0" y="3778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444500" y="111125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/>
              </a:gs>
              <a:gs pos="100000">
                <a:srgbClr val="B7943C"/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636984" y="12858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88052" y="138410"/>
                  <a:pt x="58043" y="108401"/>
                  <a:pt x="58043" y="71438"/>
                </a:cubicBezTo>
                <a:cubicBezTo>
                  <a:pt x="58043" y="34474"/>
                  <a:pt x="88052" y="4465"/>
                  <a:pt x="125016" y="4465"/>
                </a:cubicBezTo>
                <a:cubicBezTo>
                  <a:pt x="161979" y="4465"/>
                  <a:pt x="191988" y="34474"/>
                  <a:pt x="191988" y="71437"/>
                </a:cubicBezTo>
                <a:cubicBezTo>
                  <a:pt x="191988" y="108401"/>
                  <a:pt x="161979" y="138410"/>
                  <a:pt x="125016" y="138410"/>
                </a:cubicBezTo>
                <a:close/>
                <a:moveTo>
                  <a:pt x="107993" y="169664"/>
                </a:moveTo>
                <a:lnTo>
                  <a:pt x="142038" y="169664"/>
                </a:lnTo>
                <a:cubicBezTo>
                  <a:pt x="147451" y="169664"/>
                  <a:pt x="151805" y="174017"/>
                  <a:pt x="151805" y="179431"/>
                </a:cubicBezTo>
                <a:cubicBezTo>
                  <a:pt x="151805" y="181775"/>
                  <a:pt x="150968" y="184007"/>
                  <a:pt x="149461" y="185793"/>
                </a:cubicBezTo>
                <a:lnTo>
                  <a:pt x="134169" y="203653"/>
                </a:lnTo>
                <a:lnTo>
                  <a:pt x="151470" y="267891"/>
                </a:lnTo>
                <a:lnTo>
                  <a:pt x="151805" y="267891"/>
                </a:lnTo>
                <a:lnTo>
                  <a:pt x="171115" y="190593"/>
                </a:lnTo>
                <a:cubicBezTo>
                  <a:pt x="172343" y="185738"/>
                  <a:pt x="177310" y="182780"/>
                  <a:pt x="181998" y="184565"/>
                </a:cubicBezTo>
                <a:cubicBezTo>
                  <a:pt x="216545" y="197737"/>
                  <a:pt x="241102" y="231223"/>
                  <a:pt x="241102" y="270402"/>
                </a:cubicBezTo>
                <a:cubicBezTo>
                  <a:pt x="241102" y="278829"/>
                  <a:pt x="234237" y="285694"/>
                  <a:pt x="225809" y="285694"/>
                </a:cubicBezTo>
                <a:lnTo>
                  <a:pt x="24222" y="285750"/>
                </a:lnTo>
                <a:cubicBezTo>
                  <a:pt x="15794" y="285750"/>
                  <a:pt x="8930" y="278885"/>
                  <a:pt x="8930" y="270458"/>
                </a:cubicBezTo>
                <a:cubicBezTo>
                  <a:pt x="8930" y="231279"/>
                  <a:pt x="33486" y="197793"/>
                  <a:pt x="68033" y="184621"/>
                </a:cubicBezTo>
                <a:cubicBezTo>
                  <a:pt x="72721" y="182835"/>
                  <a:pt x="77688" y="185793"/>
                  <a:pt x="78916" y="190649"/>
                </a:cubicBezTo>
                <a:lnTo>
                  <a:pt x="98227" y="267946"/>
                </a:lnTo>
                <a:lnTo>
                  <a:pt x="98561" y="267946"/>
                </a:lnTo>
                <a:lnTo>
                  <a:pt x="115863" y="203708"/>
                </a:lnTo>
                <a:lnTo>
                  <a:pt x="100571" y="185849"/>
                </a:lnTo>
                <a:cubicBezTo>
                  <a:pt x="99064" y="184063"/>
                  <a:pt x="98227" y="181831"/>
                  <a:pt x="98227" y="179487"/>
                </a:cubicBezTo>
                <a:cubicBezTo>
                  <a:pt x="98227" y="174073"/>
                  <a:pt x="102580" y="169720"/>
                  <a:pt x="107993" y="169720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206500" y="1127125"/>
            <a:ext cx="1349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Kelly Ortberg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06500" y="1381125"/>
            <a:ext cx="131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Chief Executive Officer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06500" y="1571625"/>
            <a:ext cx="130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Appointed August 2024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4500" y="1873250"/>
            <a:ext cx="552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Ortberg brings 35+ years of aerospace experience</a:t>
            </a: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most recently as CEO of Rockwell Collins (now Collins Aerospace). Known for operational excellence and turnaround expertise, he came out of retirement to lead Boeing's recovery.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4500" y="2619375"/>
            <a:ext cx="5461000" cy="1428750"/>
          </a:xfrm>
          <a:custGeom>
            <a:avLst/>
            <a:gdLst/>
            <a:ahLst/>
            <a:cxnLst/>
            <a:rect l="l" t="t" r="r" b="b"/>
            <a:pathLst>
              <a:path w="5461000" h="1428750">
                <a:moveTo>
                  <a:pt x="63494" y="0"/>
                </a:moveTo>
                <a:lnTo>
                  <a:pt x="5397506" y="0"/>
                </a:lnTo>
                <a:cubicBezTo>
                  <a:pt x="5432573" y="0"/>
                  <a:pt x="5461000" y="28427"/>
                  <a:pt x="5461000" y="63494"/>
                </a:cubicBezTo>
                <a:lnTo>
                  <a:pt x="5461000" y="1365256"/>
                </a:lnTo>
                <a:cubicBezTo>
                  <a:pt x="5461000" y="1400323"/>
                  <a:pt x="5432573" y="1428750"/>
                  <a:pt x="5397506" y="1428750"/>
                </a:cubicBezTo>
                <a:lnTo>
                  <a:pt x="63494" y="1428750"/>
                </a:lnTo>
                <a:cubicBezTo>
                  <a:pt x="28427" y="1428750"/>
                  <a:pt x="0" y="1400323"/>
                  <a:pt x="0" y="13652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71500" y="2746375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Leadership Priorities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1500" y="3000375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Restore customer and regulator trust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1500" y="3190875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Stabilize production while improving quality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1500" y="3381375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Rebuild safety culture across organization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1500" y="3571875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 operational efficiency and profitability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1500" y="3762375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 Boeing for long-term growth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48469" y="4179094"/>
            <a:ext cx="1770063" cy="515938"/>
          </a:xfrm>
          <a:custGeom>
            <a:avLst/>
            <a:gdLst/>
            <a:ahLst/>
            <a:cxnLst/>
            <a:rect l="l" t="t" r="r" b="b"/>
            <a:pathLst>
              <a:path w="1770063" h="515938">
                <a:moveTo>
                  <a:pt x="31751" y="0"/>
                </a:moveTo>
                <a:lnTo>
                  <a:pt x="1738312" y="0"/>
                </a:lnTo>
                <a:cubicBezTo>
                  <a:pt x="1755847" y="0"/>
                  <a:pt x="1770063" y="14215"/>
                  <a:pt x="1770063" y="31751"/>
                </a:cubicBezTo>
                <a:lnTo>
                  <a:pt x="1770063" y="484187"/>
                </a:lnTo>
                <a:cubicBezTo>
                  <a:pt x="1770062" y="501722"/>
                  <a:pt x="1755847" y="515938"/>
                  <a:pt x="1738312" y="515938"/>
                </a:cubicBezTo>
                <a:lnTo>
                  <a:pt x="31751" y="515938"/>
                </a:lnTo>
                <a:cubicBezTo>
                  <a:pt x="14215" y="515938"/>
                  <a:pt x="0" y="501722"/>
                  <a:pt x="0" y="48418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92125" y="4246563"/>
            <a:ext cx="1682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Salary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80219" y="4405313"/>
            <a:ext cx="170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$1.5M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289969" y="4179094"/>
            <a:ext cx="1770063" cy="515938"/>
          </a:xfrm>
          <a:custGeom>
            <a:avLst/>
            <a:gdLst/>
            <a:ahLst/>
            <a:cxnLst/>
            <a:rect l="l" t="t" r="r" b="b"/>
            <a:pathLst>
              <a:path w="1770063" h="515938">
                <a:moveTo>
                  <a:pt x="31751" y="0"/>
                </a:moveTo>
                <a:lnTo>
                  <a:pt x="1738312" y="0"/>
                </a:lnTo>
                <a:cubicBezTo>
                  <a:pt x="1755847" y="0"/>
                  <a:pt x="1770063" y="14215"/>
                  <a:pt x="1770063" y="31751"/>
                </a:cubicBezTo>
                <a:lnTo>
                  <a:pt x="1770063" y="484187"/>
                </a:lnTo>
                <a:cubicBezTo>
                  <a:pt x="1770062" y="501722"/>
                  <a:pt x="1755847" y="515938"/>
                  <a:pt x="1738312" y="515938"/>
                </a:cubicBezTo>
                <a:lnTo>
                  <a:pt x="31751" y="515938"/>
                </a:lnTo>
                <a:cubicBezTo>
                  <a:pt x="14215" y="515938"/>
                  <a:pt x="0" y="501722"/>
                  <a:pt x="0" y="48418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7943C">
              <a:alpha val="20000"/>
            </a:srgbClr>
          </a:solidFill>
          <a:ln w="12700">
            <a:solidFill>
              <a:srgbClr val="B794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2333625" y="4246563"/>
            <a:ext cx="1682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Incentives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321719" y="4405313"/>
            <a:ext cx="170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B79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$20.5M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131469" y="4179094"/>
            <a:ext cx="1770063" cy="515938"/>
          </a:xfrm>
          <a:custGeom>
            <a:avLst/>
            <a:gdLst/>
            <a:ahLst/>
            <a:cxnLst/>
            <a:rect l="l" t="t" r="r" b="b"/>
            <a:pathLst>
              <a:path w="1770063" h="515938">
                <a:moveTo>
                  <a:pt x="31751" y="0"/>
                </a:moveTo>
                <a:lnTo>
                  <a:pt x="1738312" y="0"/>
                </a:lnTo>
                <a:cubicBezTo>
                  <a:pt x="1755847" y="0"/>
                  <a:pt x="1770063" y="14215"/>
                  <a:pt x="1770063" y="31751"/>
                </a:cubicBezTo>
                <a:lnTo>
                  <a:pt x="1770063" y="484187"/>
                </a:lnTo>
                <a:cubicBezTo>
                  <a:pt x="1770062" y="501722"/>
                  <a:pt x="1755847" y="515938"/>
                  <a:pt x="1738312" y="515938"/>
                </a:cubicBezTo>
                <a:lnTo>
                  <a:pt x="31751" y="515938"/>
                </a:lnTo>
                <a:cubicBezTo>
                  <a:pt x="14215" y="515938"/>
                  <a:pt x="0" y="501722"/>
                  <a:pt x="0" y="48418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4175125" y="4246563"/>
            <a:ext cx="1682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(Retirement)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163219" y="4405313"/>
            <a:ext cx="170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64 (65)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17500" y="4921250"/>
            <a:ext cx="5715000" cy="1905000"/>
          </a:xfrm>
          <a:custGeom>
            <a:avLst/>
            <a:gdLst/>
            <a:ahLst/>
            <a:cxnLst/>
            <a:rect l="l" t="t" r="r" b="b"/>
            <a:pathLst>
              <a:path w="5715000" h="1905000">
                <a:moveTo>
                  <a:pt x="63494" y="0"/>
                </a:moveTo>
                <a:lnTo>
                  <a:pt x="5651506" y="0"/>
                </a:lnTo>
                <a:cubicBezTo>
                  <a:pt x="5686573" y="0"/>
                  <a:pt x="5715000" y="28427"/>
                  <a:pt x="5715000" y="63494"/>
                </a:cubicBezTo>
                <a:lnTo>
                  <a:pt x="5715000" y="1841506"/>
                </a:lnTo>
                <a:cubicBezTo>
                  <a:pt x="5715000" y="1876573"/>
                  <a:pt x="5686573" y="1905000"/>
                  <a:pt x="5651506" y="1905000"/>
                </a:cubicBezTo>
                <a:lnTo>
                  <a:pt x="63494" y="1905000"/>
                </a:lnTo>
                <a:cubicBezTo>
                  <a:pt x="28427" y="1905000"/>
                  <a:pt x="0" y="1876573"/>
                  <a:pt x="0" y="18415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444500" y="5048250"/>
            <a:ext cx="553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Ortberg's Turnaround Strategy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60375" y="5365750"/>
            <a:ext cx="2682875" cy="635000"/>
          </a:xfrm>
          <a:custGeom>
            <a:avLst/>
            <a:gdLst/>
            <a:ahLst/>
            <a:cxnLst/>
            <a:rect l="l" t="t" r="r" b="b"/>
            <a:pathLst>
              <a:path w="2682875" h="635000">
                <a:moveTo>
                  <a:pt x="31750" y="0"/>
                </a:moveTo>
                <a:lnTo>
                  <a:pt x="2651125" y="0"/>
                </a:lnTo>
                <a:cubicBezTo>
                  <a:pt x="2668648" y="0"/>
                  <a:pt x="2682875" y="14227"/>
                  <a:pt x="2682875" y="31750"/>
                </a:cubicBezTo>
                <a:lnTo>
                  <a:pt x="2682875" y="603250"/>
                </a:lnTo>
                <a:cubicBezTo>
                  <a:pt x="2682875" y="620773"/>
                  <a:pt x="2668648" y="635000"/>
                  <a:pt x="26511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460375" y="5365750"/>
            <a:ext cx="31750" cy="635000"/>
          </a:xfrm>
          <a:custGeom>
            <a:avLst/>
            <a:gdLst/>
            <a:ahLst/>
            <a:cxnLst/>
            <a:rect l="l" t="t" r="r" b="b"/>
            <a:pathLst>
              <a:path w="31750" h="635000">
                <a:moveTo>
                  <a:pt x="31750" y="0"/>
                </a:moveTo>
                <a:lnTo>
                  <a:pt x="31750" y="0"/>
                </a:lnTo>
                <a:lnTo>
                  <a:pt x="31750" y="635000"/>
                </a:ln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571500" y="5461000"/>
            <a:ext cx="253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Operating Reviews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71500" y="5651500"/>
            <a:ext cx="252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 tracking of commercial and defense businesses with direct oversight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222625" y="5365750"/>
            <a:ext cx="2682875" cy="635000"/>
          </a:xfrm>
          <a:custGeom>
            <a:avLst/>
            <a:gdLst/>
            <a:ahLst/>
            <a:cxnLst/>
            <a:rect l="l" t="t" r="r" b="b"/>
            <a:pathLst>
              <a:path w="2682875" h="635000">
                <a:moveTo>
                  <a:pt x="31750" y="0"/>
                </a:moveTo>
                <a:lnTo>
                  <a:pt x="2651125" y="0"/>
                </a:lnTo>
                <a:cubicBezTo>
                  <a:pt x="2668648" y="0"/>
                  <a:pt x="2682875" y="14227"/>
                  <a:pt x="2682875" y="31750"/>
                </a:cubicBezTo>
                <a:lnTo>
                  <a:pt x="2682875" y="603250"/>
                </a:lnTo>
                <a:cubicBezTo>
                  <a:pt x="2682875" y="620773"/>
                  <a:pt x="2668648" y="635000"/>
                  <a:pt x="26511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>
            <a:off x="3222625" y="5365750"/>
            <a:ext cx="31750" cy="635000"/>
          </a:xfrm>
          <a:custGeom>
            <a:avLst/>
            <a:gdLst/>
            <a:ahLst/>
            <a:cxnLst/>
            <a:rect l="l" t="t" r="r" b="b"/>
            <a:pathLst>
              <a:path w="31750" h="635000">
                <a:moveTo>
                  <a:pt x="31750" y="0"/>
                </a:moveTo>
                <a:lnTo>
                  <a:pt x="31750" y="0"/>
                </a:lnTo>
                <a:lnTo>
                  <a:pt x="31750" y="635000"/>
                </a:ln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3333750" y="5461000"/>
            <a:ext cx="253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Supplier Accountability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3333750" y="5651500"/>
            <a:ext cx="252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Holding suppliers to same quality standards; stopped shipments from major supplier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60375" y="6064250"/>
            <a:ext cx="2682875" cy="635000"/>
          </a:xfrm>
          <a:custGeom>
            <a:avLst/>
            <a:gdLst/>
            <a:ahLst/>
            <a:cxnLst/>
            <a:rect l="l" t="t" r="r" b="b"/>
            <a:pathLst>
              <a:path w="2682875" h="635000">
                <a:moveTo>
                  <a:pt x="31750" y="0"/>
                </a:moveTo>
                <a:lnTo>
                  <a:pt x="2651125" y="0"/>
                </a:lnTo>
                <a:cubicBezTo>
                  <a:pt x="2668648" y="0"/>
                  <a:pt x="2682875" y="14227"/>
                  <a:pt x="2682875" y="31750"/>
                </a:cubicBezTo>
                <a:lnTo>
                  <a:pt x="2682875" y="603250"/>
                </a:lnTo>
                <a:cubicBezTo>
                  <a:pt x="2682875" y="620773"/>
                  <a:pt x="2668648" y="635000"/>
                  <a:pt x="26511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460375" y="6064250"/>
            <a:ext cx="31750" cy="635000"/>
          </a:xfrm>
          <a:custGeom>
            <a:avLst/>
            <a:gdLst/>
            <a:ahLst/>
            <a:cxnLst/>
            <a:rect l="l" t="t" r="r" b="b"/>
            <a:pathLst>
              <a:path w="31750" h="635000">
                <a:moveTo>
                  <a:pt x="31750" y="0"/>
                </a:moveTo>
                <a:lnTo>
                  <a:pt x="31750" y="0"/>
                </a:lnTo>
                <a:lnTo>
                  <a:pt x="31750" y="635000"/>
                </a:ln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571500" y="6159500"/>
            <a:ext cx="253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Stability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71500" y="6350000"/>
            <a:ext cx="252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"Go slow to get it right" philosophy; prioritizing quality over speed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3222625" y="6064250"/>
            <a:ext cx="2682875" cy="635000"/>
          </a:xfrm>
          <a:custGeom>
            <a:avLst/>
            <a:gdLst/>
            <a:ahLst/>
            <a:cxnLst/>
            <a:rect l="l" t="t" r="r" b="b"/>
            <a:pathLst>
              <a:path w="2682875" h="635000">
                <a:moveTo>
                  <a:pt x="31750" y="0"/>
                </a:moveTo>
                <a:lnTo>
                  <a:pt x="2651125" y="0"/>
                </a:lnTo>
                <a:cubicBezTo>
                  <a:pt x="2668648" y="0"/>
                  <a:pt x="2682875" y="14227"/>
                  <a:pt x="2682875" y="31750"/>
                </a:cubicBezTo>
                <a:lnTo>
                  <a:pt x="2682875" y="603250"/>
                </a:lnTo>
                <a:cubicBezTo>
                  <a:pt x="2682875" y="620773"/>
                  <a:pt x="2668648" y="635000"/>
                  <a:pt x="26511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3222625" y="6064250"/>
            <a:ext cx="31750" cy="635000"/>
          </a:xfrm>
          <a:custGeom>
            <a:avLst/>
            <a:gdLst/>
            <a:ahLst/>
            <a:cxnLst/>
            <a:rect l="l" t="t" r="r" b="b"/>
            <a:pathLst>
              <a:path w="31750" h="635000">
                <a:moveTo>
                  <a:pt x="31750" y="0"/>
                </a:moveTo>
                <a:lnTo>
                  <a:pt x="31750" y="0"/>
                </a:lnTo>
                <a:lnTo>
                  <a:pt x="31750" y="635000"/>
                </a:ln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3333750" y="6159500"/>
            <a:ext cx="253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Cash Flow Focus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3333750" y="6350000"/>
            <a:ext cx="252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Methodical plan to reach $10B free cash flow; $1-3B target for 2026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159500" y="984250"/>
            <a:ext cx="5715000" cy="2936875"/>
          </a:xfrm>
          <a:custGeom>
            <a:avLst/>
            <a:gdLst/>
            <a:ahLst/>
            <a:cxnLst/>
            <a:rect l="l" t="t" r="r" b="b"/>
            <a:pathLst>
              <a:path w="5715000" h="3524250">
                <a:moveTo>
                  <a:pt x="63507" y="0"/>
                </a:moveTo>
                <a:lnTo>
                  <a:pt x="5651493" y="0"/>
                </a:lnTo>
                <a:cubicBezTo>
                  <a:pt x="5686567" y="0"/>
                  <a:pt x="5715000" y="28433"/>
                  <a:pt x="5715000" y="63507"/>
                </a:cubicBezTo>
                <a:lnTo>
                  <a:pt x="5715000" y="3460743"/>
                </a:lnTo>
                <a:cubicBezTo>
                  <a:pt x="5715000" y="3495817"/>
                  <a:pt x="5686567" y="3524250"/>
                  <a:pt x="5651493" y="3524250"/>
                </a:cubicBezTo>
                <a:lnTo>
                  <a:pt x="63507" y="3524250"/>
                </a:lnTo>
                <a:cubicBezTo>
                  <a:pt x="28433" y="3524250"/>
                  <a:pt x="0" y="3495817"/>
                  <a:pt x="0" y="3460743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6286500" y="1111250"/>
            <a:ext cx="553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 Leadership Changes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02375" y="1428750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539750">
                <a:moveTo>
                  <a:pt x="31748" y="0"/>
                </a:moveTo>
                <a:lnTo>
                  <a:pt x="5413377" y="0"/>
                </a:lnTo>
                <a:cubicBezTo>
                  <a:pt x="5430911" y="0"/>
                  <a:pt x="5445125" y="14214"/>
                  <a:pt x="5445125" y="31748"/>
                </a:cubicBezTo>
                <a:lnTo>
                  <a:pt x="5445125" y="508002"/>
                </a:lnTo>
                <a:cubicBezTo>
                  <a:pt x="5445125" y="525536"/>
                  <a:pt x="5430911" y="539750"/>
                  <a:pt x="54133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6302374" y="1428750"/>
            <a:ext cx="45719" cy="412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/>
          <p:nvPr/>
        </p:nvSpPr>
        <p:spPr>
          <a:xfrm>
            <a:off x="6415981" y="1436688"/>
            <a:ext cx="73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Dave Calhoun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11138793" y="1524000"/>
            <a:ext cx="515938" cy="190500"/>
          </a:xfrm>
          <a:custGeom>
            <a:avLst/>
            <a:gdLst/>
            <a:ahLst/>
            <a:cxnLst/>
            <a:rect l="l" t="t" r="r" b="b"/>
            <a:pathLst>
              <a:path w="515938" h="190500">
                <a:moveTo>
                  <a:pt x="31751" y="0"/>
                </a:moveTo>
                <a:lnTo>
                  <a:pt x="484187" y="0"/>
                </a:lnTo>
                <a:cubicBezTo>
                  <a:pt x="501722" y="0"/>
                  <a:pt x="515938" y="14215"/>
                  <a:pt x="515938" y="31751"/>
                </a:cubicBezTo>
                <a:lnTo>
                  <a:pt x="515938" y="158749"/>
                </a:lnTo>
                <a:cubicBezTo>
                  <a:pt x="515938" y="176285"/>
                  <a:pt x="501722" y="190500"/>
                  <a:pt x="48418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7943C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11138793" y="1524000"/>
            <a:ext cx="56356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Departed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415981" y="1658938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Former CEO stepped down at end of 2024 after leading company through crisis period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02375" y="1897063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539750">
                <a:moveTo>
                  <a:pt x="31748" y="0"/>
                </a:moveTo>
                <a:lnTo>
                  <a:pt x="5413377" y="0"/>
                </a:lnTo>
                <a:cubicBezTo>
                  <a:pt x="5430911" y="0"/>
                  <a:pt x="5445125" y="14214"/>
                  <a:pt x="5445125" y="31748"/>
                </a:cubicBezTo>
                <a:lnTo>
                  <a:pt x="5445125" y="508002"/>
                </a:lnTo>
                <a:cubicBezTo>
                  <a:pt x="5445125" y="525536"/>
                  <a:pt x="5430911" y="539750"/>
                  <a:pt x="54133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6302374" y="1897063"/>
            <a:ext cx="45719" cy="412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/>
          <p:nvPr/>
        </p:nvSpPr>
        <p:spPr>
          <a:xfrm>
            <a:off x="6415981" y="1905001"/>
            <a:ext cx="66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Larry Kellner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11138793" y="1992313"/>
            <a:ext cx="515938" cy="190500"/>
          </a:xfrm>
          <a:custGeom>
            <a:avLst/>
            <a:gdLst/>
            <a:ahLst/>
            <a:cxnLst/>
            <a:rect l="l" t="t" r="r" b="b"/>
            <a:pathLst>
              <a:path w="515938" h="190500">
                <a:moveTo>
                  <a:pt x="31751" y="0"/>
                </a:moveTo>
                <a:lnTo>
                  <a:pt x="484187" y="0"/>
                </a:lnTo>
                <a:cubicBezTo>
                  <a:pt x="501722" y="0"/>
                  <a:pt x="515938" y="14215"/>
                  <a:pt x="515938" y="31751"/>
                </a:cubicBezTo>
                <a:lnTo>
                  <a:pt x="515938" y="158749"/>
                </a:lnTo>
                <a:cubicBezTo>
                  <a:pt x="515938" y="176285"/>
                  <a:pt x="501722" y="190500"/>
                  <a:pt x="48418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6"/>
          <p:cNvSpPr/>
          <p:nvPr/>
        </p:nvSpPr>
        <p:spPr>
          <a:xfrm>
            <a:off x="11138793" y="1992313"/>
            <a:ext cx="56356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Departed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6415981" y="2127251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Board Chair stepped down; Steve Mollenkopf (ex-Qualcomm CEO) appointed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302375" y="2389188"/>
            <a:ext cx="5445125" cy="404813"/>
          </a:xfrm>
          <a:custGeom>
            <a:avLst/>
            <a:gdLst/>
            <a:ahLst/>
            <a:cxnLst/>
            <a:rect l="l" t="t" r="r" b="b"/>
            <a:pathLst>
              <a:path w="5445125" h="539750">
                <a:moveTo>
                  <a:pt x="31748" y="0"/>
                </a:moveTo>
                <a:lnTo>
                  <a:pt x="5413377" y="0"/>
                </a:lnTo>
                <a:cubicBezTo>
                  <a:pt x="5430911" y="0"/>
                  <a:pt x="5445125" y="14214"/>
                  <a:pt x="5445125" y="31748"/>
                </a:cubicBezTo>
                <a:lnTo>
                  <a:pt x="5445125" y="508002"/>
                </a:lnTo>
                <a:cubicBezTo>
                  <a:pt x="5445125" y="525536"/>
                  <a:pt x="5430911" y="539750"/>
                  <a:pt x="54133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Shape 59"/>
          <p:cNvSpPr/>
          <p:nvPr/>
        </p:nvSpPr>
        <p:spPr>
          <a:xfrm>
            <a:off x="6302374" y="2389188"/>
            <a:ext cx="45719" cy="412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0"/>
          <p:cNvSpPr/>
          <p:nvPr/>
        </p:nvSpPr>
        <p:spPr>
          <a:xfrm>
            <a:off x="6415981" y="2397126"/>
            <a:ext cx="51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 Deal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11229950" y="2484438"/>
            <a:ext cx="420688" cy="190500"/>
          </a:xfrm>
          <a:custGeom>
            <a:avLst/>
            <a:gdLst/>
            <a:ahLst/>
            <a:cxnLst/>
            <a:rect l="l" t="t" r="r" b="b"/>
            <a:pathLst>
              <a:path w="420688" h="190500">
                <a:moveTo>
                  <a:pt x="31751" y="0"/>
                </a:moveTo>
                <a:lnTo>
                  <a:pt x="388937" y="0"/>
                </a:lnTo>
                <a:cubicBezTo>
                  <a:pt x="406472" y="0"/>
                  <a:pt x="420688" y="14215"/>
                  <a:pt x="420688" y="31751"/>
                </a:cubicBezTo>
                <a:lnTo>
                  <a:pt x="420688" y="158749"/>
                </a:lnTo>
                <a:cubicBezTo>
                  <a:pt x="420688" y="176285"/>
                  <a:pt x="406472" y="190500"/>
                  <a:pt x="38893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7943C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2"/>
          <p:cNvSpPr/>
          <p:nvPr/>
        </p:nvSpPr>
        <p:spPr>
          <a:xfrm>
            <a:off x="11229950" y="2484438"/>
            <a:ext cx="46831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Retired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415981" y="2619376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Commercial Airplanes CEO retired; Stephanie Pope appointed to lead BCA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6302376" y="2857501"/>
            <a:ext cx="5445125" cy="404813"/>
          </a:xfrm>
          <a:custGeom>
            <a:avLst/>
            <a:gdLst/>
            <a:ahLst/>
            <a:cxnLst/>
            <a:rect l="l" t="t" r="r" b="b"/>
            <a:pathLst>
              <a:path w="5445125" h="539750">
                <a:moveTo>
                  <a:pt x="31748" y="0"/>
                </a:moveTo>
                <a:lnTo>
                  <a:pt x="5413377" y="0"/>
                </a:lnTo>
                <a:cubicBezTo>
                  <a:pt x="5430911" y="0"/>
                  <a:pt x="5445125" y="14214"/>
                  <a:pt x="5445125" y="31748"/>
                </a:cubicBezTo>
                <a:lnTo>
                  <a:pt x="5445125" y="508002"/>
                </a:lnTo>
                <a:cubicBezTo>
                  <a:pt x="5445125" y="525536"/>
                  <a:pt x="5430911" y="539750"/>
                  <a:pt x="54133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Shape 65"/>
          <p:cNvSpPr/>
          <p:nvPr/>
        </p:nvSpPr>
        <p:spPr>
          <a:xfrm>
            <a:off x="6302375" y="2857501"/>
            <a:ext cx="45719" cy="412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6"/>
          <p:cNvSpPr/>
          <p:nvPr/>
        </p:nvSpPr>
        <p:spPr>
          <a:xfrm>
            <a:off x="6415982" y="2865439"/>
            <a:ext cx="619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Ted Colbert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11138794" y="2952751"/>
            <a:ext cx="515938" cy="190500"/>
          </a:xfrm>
          <a:custGeom>
            <a:avLst/>
            <a:gdLst/>
            <a:ahLst/>
            <a:cxnLst/>
            <a:rect l="l" t="t" r="r" b="b"/>
            <a:pathLst>
              <a:path w="515938" h="190500">
                <a:moveTo>
                  <a:pt x="31751" y="0"/>
                </a:moveTo>
                <a:lnTo>
                  <a:pt x="484187" y="0"/>
                </a:lnTo>
                <a:cubicBezTo>
                  <a:pt x="501722" y="0"/>
                  <a:pt x="515938" y="14215"/>
                  <a:pt x="515938" y="31751"/>
                </a:cubicBezTo>
                <a:lnTo>
                  <a:pt x="515938" y="158749"/>
                </a:lnTo>
                <a:cubicBezTo>
                  <a:pt x="515938" y="176285"/>
                  <a:pt x="501722" y="190500"/>
                  <a:pt x="48418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Text 68"/>
          <p:cNvSpPr/>
          <p:nvPr/>
        </p:nvSpPr>
        <p:spPr>
          <a:xfrm>
            <a:off x="11138794" y="2952751"/>
            <a:ext cx="56356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Departed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6415982" y="3087689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 CEO left company; Steve Parker appointed interim BDS leader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6302377" y="3317876"/>
            <a:ext cx="5445125" cy="404813"/>
          </a:xfrm>
          <a:custGeom>
            <a:avLst/>
            <a:gdLst/>
            <a:ahLst/>
            <a:cxnLst/>
            <a:rect l="l" t="t" r="r" b="b"/>
            <a:pathLst>
              <a:path w="5445125" h="539750">
                <a:moveTo>
                  <a:pt x="31748" y="0"/>
                </a:moveTo>
                <a:lnTo>
                  <a:pt x="5413377" y="0"/>
                </a:lnTo>
                <a:cubicBezTo>
                  <a:pt x="5430911" y="0"/>
                  <a:pt x="5445125" y="14214"/>
                  <a:pt x="5445125" y="31748"/>
                </a:cubicBezTo>
                <a:lnTo>
                  <a:pt x="5445125" y="508002"/>
                </a:lnTo>
                <a:cubicBezTo>
                  <a:pt x="5445125" y="525536"/>
                  <a:pt x="5430911" y="539750"/>
                  <a:pt x="54133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Shape 71"/>
          <p:cNvSpPr/>
          <p:nvPr/>
        </p:nvSpPr>
        <p:spPr>
          <a:xfrm>
            <a:off x="6302376" y="3317876"/>
            <a:ext cx="45719" cy="412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Text 72"/>
          <p:cNvSpPr/>
          <p:nvPr/>
        </p:nvSpPr>
        <p:spPr>
          <a:xfrm>
            <a:off x="6415983" y="3325814"/>
            <a:ext cx="587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Brian West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11164592" y="3413126"/>
            <a:ext cx="484187" cy="190500"/>
          </a:xfrm>
          <a:custGeom>
            <a:avLst/>
            <a:gdLst/>
            <a:ahLst/>
            <a:cxnLst/>
            <a:rect l="l" t="t" r="r" b="b"/>
            <a:pathLst>
              <a:path w="484187" h="190500">
                <a:moveTo>
                  <a:pt x="31751" y="0"/>
                </a:moveTo>
                <a:lnTo>
                  <a:pt x="452437" y="0"/>
                </a:lnTo>
                <a:cubicBezTo>
                  <a:pt x="469972" y="0"/>
                  <a:pt x="484187" y="14215"/>
                  <a:pt x="484187" y="31751"/>
                </a:cubicBezTo>
                <a:lnTo>
                  <a:pt x="484187" y="158749"/>
                </a:lnTo>
                <a:cubicBezTo>
                  <a:pt x="484187" y="176285"/>
                  <a:pt x="469972" y="190500"/>
                  <a:pt x="45243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7943C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Text 74"/>
          <p:cNvSpPr/>
          <p:nvPr/>
        </p:nvSpPr>
        <p:spPr>
          <a:xfrm>
            <a:off x="11164592" y="3413126"/>
            <a:ext cx="53181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Retained</a:t>
            </a:r>
            <a:endParaRPr lang="en-US" sz="1600" dirty="0"/>
          </a:p>
        </p:txBody>
      </p:sp>
      <p:sp>
        <p:nvSpPr>
          <p:cNvPr id="78" name="Text 75"/>
          <p:cNvSpPr/>
          <p:nvPr/>
        </p:nvSpPr>
        <p:spPr>
          <a:xfrm>
            <a:off x="6415983" y="3548064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CFO continues in role, providing financial continuity during transition</a:t>
            </a: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6159500" y="4254500"/>
            <a:ext cx="5715000" cy="2381250"/>
          </a:xfrm>
          <a:custGeom>
            <a:avLst/>
            <a:gdLst/>
            <a:ahLst/>
            <a:cxnLst/>
            <a:rect l="l" t="t" r="r" b="b"/>
            <a:pathLst>
              <a:path w="5715000" h="2381250">
                <a:moveTo>
                  <a:pt x="63508" y="0"/>
                </a:moveTo>
                <a:lnTo>
                  <a:pt x="5651492" y="0"/>
                </a:lnTo>
                <a:cubicBezTo>
                  <a:pt x="5686567" y="0"/>
                  <a:pt x="5715000" y="28433"/>
                  <a:pt x="5715000" y="63508"/>
                </a:cubicBezTo>
                <a:lnTo>
                  <a:pt x="5715000" y="2317742"/>
                </a:lnTo>
                <a:cubicBezTo>
                  <a:pt x="5715000" y="2352817"/>
                  <a:pt x="5686567" y="2381250"/>
                  <a:pt x="5651492" y="2381250"/>
                </a:cubicBezTo>
                <a:lnTo>
                  <a:pt x="63508" y="2381250"/>
                </a:lnTo>
                <a:cubicBezTo>
                  <a:pt x="28433" y="2381250"/>
                  <a:pt x="0" y="2352817"/>
                  <a:pt x="0" y="2317742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/>
          <p:nvPr/>
        </p:nvSpPr>
        <p:spPr>
          <a:xfrm>
            <a:off x="6286500" y="4381500"/>
            <a:ext cx="553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Board &amp; Governance Changes</a:t>
            </a:r>
            <a:endParaRPr lang="en-US" sz="1600" dirty="0"/>
          </a:p>
        </p:txBody>
      </p:sp>
      <p:sp>
        <p:nvSpPr>
          <p:cNvPr id="81" name="Shape 78"/>
          <p:cNvSpPr/>
          <p:nvPr/>
        </p:nvSpPr>
        <p:spPr>
          <a:xfrm>
            <a:off x="6286500" y="4699000"/>
            <a:ext cx="5461000" cy="603250"/>
          </a:xfrm>
          <a:custGeom>
            <a:avLst/>
            <a:gdLst/>
            <a:ahLst/>
            <a:cxnLst/>
            <a:rect l="l" t="t" r="r" b="b"/>
            <a:pathLst>
              <a:path w="5461000" h="603250">
                <a:moveTo>
                  <a:pt x="31749" y="0"/>
                </a:moveTo>
                <a:lnTo>
                  <a:pt x="5429251" y="0"/>
                </a:lnTo>
                <a:cubicBezTo>
                  <a:pt x="5446785" y="0"/>
                  <a:pt x="5461000" y="14215"/>
                  <a:pt x="5461000" y="31749"/>
                </a:cubicBezTo>
                <a:lnTo>
                  <a:pt x="5461000" y="571501"/>
                </a:lnTo>
                <a:cubicBezTo>
                  <a:pt x="5461000" y="589035"/>
                  <a:pt x="5446785" y="603250"/>
                  <a:pt x="54292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Shape 79"/>
          <p:cNvSpPr/>
          <p:nvPr/>
        </p:nvSpPr>
        <p:spPr>
          <a:xfrm>
            <a:off x="6381750" y="481012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Text 80"/>
          <p:cNvSpPr/>
          <p:nvPr/>
        </p:nvSpPr>
        <p:spPr>
          <a:xfrm>
            <a:off x="6604000" y="4794250"/>
            <a:ext cx="145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Aerospace Safety Committee</a:t>
            </a:r>
            <a:endParaRPr lang="en-US" sz="1600" dirty="0"/>
          </a:p>
        </p:txBody>
      </p:sp>
      <p:sp>
        <p:nvSpPr>
          <p:cNvPr id="84" name="Text 81"/>
          <p:cNvSpPr/>
          <p:nvPr/>
        </p:nvSpPr>
        <p:spPr>
          <a:xfrm>
            <a:off x="6381750" y="501650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Established under Kellner's leadership to provide board-level oversight of safety culture</a:t>
            </a:r>
            <a:endParaRPr lang="en-US" sz="1600" dirty="0"/>
          </a:p>
        </p:txBody>
      </p:sp>
      <p:sp>
        <p:nvSpPr>
          <p:cNvPr id="85" name="Shape 82"/>
          <p:cNvSpPr/>
          <p:nvPr/>
        </p:nvSpPr>
        <p:spPr>
          <a:xfrm>
            <a:off x="6286500" y="5365750"/>
            <a:ext cx="5461000" cy="539750"/>
          </a:xfrm>
          <a:custGeom>
            <a:avLst/>
            <a:gdLst/>
            <a:ahLst/>
            <a:cxnLst/>
            <a:rect l="l" t="t" r="r" b="b"/>
            <a:pathLst>
              <a:path w="5461000" h="539750">
                <a:moveTo>
                  <a:pt x="31748" y="0"/>
                </a:moveTo>
                <a:lnTo>
                  <a:pt x="5429252" y="0"/>
                </a:lnTo>
                <a:cubicBezTo>
                  <a:pt x="5446786" y="0"/>
                  <a:pt x="5461000" y="14214"/>
                  <a:pt x="5461000" y="31748"/>
                </a:cubicBezTo>
                <a:lnTo>
                  <a:pt x="5461000" y="508002"/>
                </a:lnTo>
                <a:cubicBezTo>
                  <a:pt x="5461000" y="525536"/>
                  <a:pt x="5446786" y="539750"/>
                  <a:pt x="542925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6" name="Shape 83"/>
          <p:cNvSpPr/>
          <p:nvPr/>
        </p:nvSpPr>
        <p:spPr>
          <a:xfrm>
            <a:off x="6381750" y="547687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33734" y="31750"/>
                </a:moveTo>
                <a:cubicBezTo>
                  <a:pt x="33734" y="15322"/>
                  <a:pt x="47072" y="1984"/>
                  <a:pt x="63500" y="1984"/>
                </a:cubicBezTo>
                <a:cubicBezTo>
                  <a:pt x="79928" y="1984"/>
                  <a:pt x="93266" y="15322"/>
                  <a:pt x="93266" y="31750"/>
                </a:cubicBezTo>
                <a:cubicBezTo>
                  <a:pt x="93266" y="48178"/>
                  <a:pt x="79928" y="61516"/>
                  <a:pt x="63500" y="61516"/>
                </a:cubicBezTo>
                <a:cubicBezTo>
                  <a:pt x="47072" y="61516"/>
                  <a:pt x="33734" y="48178"/>
                  <a:pt x="33734" y="31750"/>
                </a:cubicBezTo>
                <a:close/>
                <a:moveTo>
                  <a:pt x="11906" y="119633"/>
                </a:moveTo>
                <a:cubicBezTo>
                  <a:pt x="11906" y="95200"/>
                  <a:pt x="31700" y="75406"/>
                  <a:pt x="56133" y="75406"/>
                </a:cubicBezTo>
                <a:lnTo>
                  <a:pt x="70867" y="75406"/>
                </a:lnTo>
                <a:cubicBezTo>
                  <a:pt x="95300" y="75406"/>
                  <a:pt x="115094" y="95200"/>
                  <a:pt x="115094" y="119633"/>
                </a:cubicBezTo>
                <a:cubicBezTo>
                  <a:pt x="115094" y="123701"/>
                  <a:pt x="111795" y="127000"/>
                  <a:pt x="107727" y="127000"/>
                </a:cubicBezTo>
                <a:lnTo>
                  <a:pt x="19273" y="127000"/>
                </a:lnTo>
                <a:cubicBezTo>
                  <a:pt x="15205" y="127000"/>
                  <a:pt x="11906" y="123701"/>
                  <a:pt x="11906" y="119633"/>
                </a:cubicBezTo>
                <a:close/>
                <a:moveTo>
                  <a:pt x="134938" y="23812"/>
                </a:moveTo>
                <a:cubicBezTo>
                  <a:pt x="138237" y="23812"/>
                  <a:pt x="140891" y="26467"/>
                  <a:pt x="140891" y="29766"/>
                </a:cubicBezTo>
                <a:lnTo>
                  <a:pt x="140891" y="41672"/>
                </a:lnTo>
                <a:lnTo>
                  <a:pt x="152797" y="41672"/>
                </a:lnTo>
                <a:cubicBezTo>
                  <a:pt x="156096" y="41672"/>
                  <a:pt x="158750" y="44326"/>
                  <a:pt x="158750" y="47625"/>
                </a:cubicBezTo>
                <a:cubicBezTo>
                  <a:pt x="158750" y="50924"/>
                  <a:pt x="156096" y="53578"/>
                  <a:pt x="152797" y="53578"/>
                </a:cubicBezTo>
                <a:lnTo>
                  <a:pt x="140891" y="53578"/>
                </a:lnTo>
                <a:lnTo>
                  <a:pt x="140891" y="65484"/>
                </a:lnTo>
                <a:cubicBezTo>
                  <a:pt x="140891" y="68783"/>
                  <a:pt x="138237" y="71438"/>
                  <a:pt x="134938" y="71438"/>
                </a:cubicBezTo>
                <a:cubicBezTo>
                  <a:pt x="131638" y="71438"/>
                  <a:pt x="128984" y="68783"/>
                  <a:pt x="128984" y="65484"/>
                </a:cubicBezTo>
                <a:lnTo>
                  <a:pt x="128984" y="53578"/>
                </a:lnTo>
                <a:lnTo>
                  <a:pt x="117078" y="53578"/>
                </a:lnTo>
                <a:cubicBezTo>
                  <a:pt x="113779" y="53578"/>
                  <a:pt x="111125" y="50924"/>
                  <a:pt x="111125" y="47625"/>
                </a:cubicBezTo>
                <a:cubicBezTo>
                  <a:pt x="111125" y="44326"/>
                  <a:pt x="113779" y="41672"/>
                  <a:pt x="117078" y="41672"/>
                </a:cubicBezTo>
                <a:lnTo>
                  <a:pt x="128984" y="41672"/>
                </a:lnTo>
                <a:lnTo>
                  <a:pt x="128984" y="29766"/>
                </a:lnTo>
                <a:cubicBezTo>
                  <a:pt x="128984" y="26467"/>
                  <a:pt x="131638" y="23812"/>
                  <a:pt x="134938" y="23812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7" name="Text 84"/>
          <p:cNvSpPr/>
          <p:nvPr/>
        </p:nvSpPr>
        <p:spPr>
          <a:xfrm>
            <a:off x="6604000" y="5461000"/>
            <a:ext cx="138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Independent Directors</a:t>
            </a:r>
            <a:endParaRPr lang="en-US" sz="1600" dirty="0"/>
          </a:p>
        </p:txBody>
      </p:sp>
      <p:sp>
        <p:nvSpPr>
          <p:cNvPr id="88" name="Text 85"/>
          <p:cNvSpPr/>
          <p:nvPr/>
        </p:nvSpPr>
        <p:spPr>
          <a:xfrm>
            <a:off x="6381750" y="56832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Seven new directors recruited with deep engineering, safety, manufacturing expertise</a:t>
            </a:r>
            <a:endParaRPr lang="en-US" sz="1600" dirty="0"/>
          </a:p>
        </p:txBody>
      </p:sp>
      <p:sp>
        <p:nvSpPr>
          <p:cNvPr id="89" name="Shape 86"/>
          <p:cNvSpPr/>
          <p:nvPr/>
        </p:nvSpPr>
        <p:spPr>
          <a:xfrm>
            <a:off x="6286500" y="5969000"/>
            <a:ext cx="5461000" cy="539750"/>
          </a:xfrm>
          <a:custGeom>
            <a:avLst/>
            <a:gdLst/>
            <a:ahLst/>
            <a:cxnLst/>
            <a:rect l="l" t="t" r="r" b="b"/>
            <a:pathLst>
              <a:path w="5461000" h="539750">
                <a:moveTo>
                  <a:pt x="31748" y="0"/>
                </a:moveTo>
                <a:lnTo>
                  <a:pt x="5429252" y="0"/>
                </a:lnTo>
                <a:cubicBezTo>
                  <a:pt x="5446786" y="0"/>
                  <a:pt x="5461000" y="14214"/>
                  <a:pt x="5461000" y="31748"/>
                </a:cubicBezTo>
                <a:lnTo>
                  <a:pt x="5461000" y="508002"/>
                </a:lnTo>
                <a:cubicBezTo>
                  <a:pt x="5461000" y="525536"/>
                  <a:pt x="5446786" y="539750"/>
                  <a:pt x="542925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" name="Shape 87"/>
          <p:cNvSpPr/>
          <p:nvPr/>
        </p:nvSpPr>
        <p:spPr>
          <a:xfrm>
            <a:off x="6381750" y="608012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95250" y="7938"/>
                </a:moveTo>
                <a:lnTo>
                  <a:pt x="127000" y="7938"/>
                </a:lnTo>
                <a:cubicBezTo>
                  <a:pt x="131390" y="7938"/>
                  <a:pt x="134938" y="11485"/>
                  <a:pt x="134938" y="15875"/>
                </a:cubicBezTo>
                <a:cubicBezTo>
                  <a:pt x="134938" y="20265"/>
                  <a:pt x="131390" y="23812"/>
                  <a:pt x="127000" y="23812"/>
                </a:cubicBezTo>
                <a:lnTo>
                  <a:pt x="98822" y="23812"/>
                </a:lnTo>
                <a:cubicBezTo>
                  <a:pt x="97532" y="30212"/>
                  <a:pt x="93142" y="35496"/>
                  <a:pt x="87313" y="38026"/>
                </a:cubicBezTo>
                <a:lnTo>
                  <a:pt x="87313" y="111125"/>
                </a:lnTo>
                <a:lnTo>
                  <a:pt x="127000" y="111125"/>
                </a:lnTo>
                <a:cubicBezTo>
                  <a:pt x="131390" y="111125"/>
                  <a:pt x="134938" y="114672"/>
                  <a:pt x="134938" y="119063"/>
                </a:cubicBezTo>
                <a:cubicBezTo>
                  <a:pt x="134938" y="123453"/>
                  <a:pt x="131390" y="127000"/>
                  <a:pt x="127000" y="127000"/>
                </a:cubicBezTo>
                <a:lnTo>
                  <a:pt x="31750" y="127000"/>
                </a:lnTo>
                <a:cubicBezTo>
                  <a:pt x="27360" y="127000"/>
                  <a:pt x="23812" y="123453"/>
                  <a:pt x="23812" y="119063"/>
                </a:cubicBezTo>
                <a:cubicBezTo>
                  <a:pt x="23812" y="114672"/>
                  <a:pt x="27360" y="111125"/>
                  <a:pt x="31750" y="111125"/>
                </a:cubicBezTo>
                <a:lnTo>
                  <a:pt x="71438" y="111125"/>
                </a:lnTo>
                <a:lnTo>
                  <a:pt x="71438" y="38026"/>
                </a:lnTo>
                <a:cubicBezTo>
                  <a:pt x="65608" y="35471"/>
                  <a:pt x="61218" y="30187"/>
                  <a:pt x="59928" y="23813"/>
                </a:cubicBezTo>
                <a:lnTo>
                  <a:pt x="31750" y="23812"/>
                </a:lnTo>
                <a:cubicBezTo>
                  <a:pt x="27360" y="23812"/>
                  <a:pt x="23812" y="20265"/>
                  <a:pt x="23812" y="15875"/>
                </a:cubicBezTo>
                <a:cubicBezTo>
                  <a:pt x="23812" y="11485"/>
                  <a:pt x="27360" y="7938"/>
                  <a:pt x="31750" y="7938"/>
                </a:cubicBezTo>
                <a:lnTo>
                  <a:pt x="63500" y="7938"/>
                </a:lnTo>
                <a:cubicBezTo>
                  <a:pt x="67121" y="3125"/>
                  <a:pt x="72876" y="0"/>
                  <a:pt x="79375" y="0"/>
                </a:cubicBezTo>
                <a:cubicBezTo>
                  <a:pt x="85874" y="0"/>
                  <a:pt x="91629" y="3125"/>
                  <a:pt x="95250" y="7938"/>
                </a:cubicBezTo>
                <a:close/>
                <a:moveTo>
                  <a:pt x="109041" y="79375"/>
                </a:moveTo>
                <a:lnTo>
                  <a:pt x="144959" y="79375"/>
                </a:lnTo>
                <a:lnTo>
                  <a:pt x="127000" y="48568"/>
                </a:lnTo>
                <a:lnTo>
                  <a:pt x="109041" y="79375"/>
                </a:lnTo>
                <a:close/>
                <a:moveTo>
                  <a:pt x="127000" y="103188"/>
                </a:moveTo>
                <a:cubicBezTo>
                  <a:pt x="111398" y="103188"/>
                  <a:pt x="98425" y="94754"/>
                  <a:pt x="95746" y="83617"/>
                </a:cubicBezTo>
                <a:cubicBezTo>
                  <a:pt x="95101" y="80888"/>
                  <a:pt x="95994" y="78085"/>
                  <a:pt x="97408" y="75654"/>
                </a:cubicBezTo>
                <a:lnTo>
                  <a:pt x="121022" y="35173"/>
                </a:lnTo>
                <a:cubicBezTo>
                  <a:pt x="122262" y="33040"/>
                  <a:pt x="124544" y="31750"/>
                  <a:pt x="127000" y="31750"/>
                </a:cubicBezTo>
                <a:cubicBezTo>
                  <a:pt x="129456" y="31750"/>
                  <a:pt x="131738" y="33065"/>
                  <a:pt x="132978" y="35173"/>
                </a:cubicBezTo>
                <a:lnTo>
                  <a:pt x="156592" y="75654"/>
                </a:lnTo>
                <a:cubicBezTo>
                  <a:pt x="158006" y="78085"/>
                  <a:pt x="158899" y="80888"/>
                  <a:pt x="158254" y="83617"/>
                </a:cubicBezTo>
                <a:cubicBezTo>
                  <a:pt x="155575" y="94729"/>
                  <a:pt x="142602" y="103188"/>
                  <a:pt x="127000" y="103188"/>
                </a:cubicBezTo>
                <a:close/>
                <a:moveTo>
                  <a:pt x="31452" y="48568"/>
                </a:moveTo>
                <a:lnTo>
                  <a:pt x="13494" y="79375"/>
                </a:lnTo>
                <a:lnTo>
                  <a:pt x="49436" y="79375"/>
                </a:lnTo>
                <a:lnTo>
                  <a:pt x="31452" y="48568"/>
                </a:lnTo>
                <a:close/>
                <a:moveTo>
                  <a:pt x="223" y="83617"/>
                </a:moveTo>
                <a:cubicBezTo>
                  <a:pt x="-422" y="80888"/>
                  <a:pt x="471" y="78085"/>
                  <a:pt x="1885" y="75654"/>
                </a:cubicBezTo>
                <a:lnTo>
                  <a:pt x="25499" y="35173"/>
                </a:lnTo>
                <a:cubicBezTo>
                  <a:pt x="26739" y="33040"/>
                  <a:pt x="29021" y="31750"/>
                  <a:pt x="31477" y="31750"/>
                </a:cubicBezTo>
                <a:cubicBezTo>
                  <a:pt x="33933" y="31750"/>
                  <a:pt x="36215" y="33065"/>
                  <a:pt x="37455" y="35173"/>
                </a:cubicBezTo>
                <a:lnTo>
                  <a:pt x="61069" y="75654"/>
                </a:lnTo>
                <a:cubicBezTo>
                  <a:pt x="62483" y="78085"/>
                  <a:pt x="63376" y="80888"/>
                  <a:pt x="62731" y="83617"/>
                </a:cubicBezTo>
                <a:cubicBezTo>
                  <a:pt x="60052" y="94729"/>
                  <a:pt x="47079" y="103188"/>
                  <a:pt x="31477" y="103188"/>
                </a:cubicBezTo>
                <a:cubicBezTo>
                  <a:pt x="15875" y="103188"/>
                  <a:pt x="2902" y="94754"/>
                  <a:pt x="223" y="83617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1" name="Text 88"/>
          <p:cNvSpPr/>
          <p:nvPr/>
        </p:nvSpPr>
        <p:spPr>
          <a:xfrm>
            <a:off x="6604000" y="6064250"/>
            <a:ext cx="107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Monitor</a:t>
            </a:r>
            <a:endParaRPr lang="en-US" sz="1600" dirty="0"/>
          </a:p>
        </p:txBody>
      </p:sp>
      <p:sp>
        <p:nvSpPr>
          <p:cNvPr id="92" name="Text 89"/>
          <p:cNvSpPr/>
          <p:nvPr/>
        </p:nvSpPr>
        <p:spPr>
          <a:xfrm>
            <a:off x="6381750" y="628650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3-year independent monitor to oversee safety and quality improvements per DOJ agreement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eattletimes.com/ceb8b47f9d56aa10597920b328a173e96d030031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11006" r="11006"/>
          <a:stretch/>
        </p:blipFill>
        <p:spPr>
          <a:xfrm>
            <a:off x="0" y="0"/>
            <a:ext cx="12192000" cy="685799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8207375">
                <a:moveTo>
                  <a:pt x="0" y="0"/>
                </a:moveTo>
                <a:lnTo>
                  <a:pt x="12192000" y="0"/>
                </a:lnTo>
                <a:lnTo>
                  <a:pt x="12192000" y="8207375"/>
                </a:lnTo>
                <a:lnTo>
                  <a:pt x="0" y="820737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B7943C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13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Recovery &amp; Strategic Path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7500" y="984250"/>
            <a:ext cx="6286500" cy="3921125"/>
          </a:xfrm>
          <a:custGeom>
            <a:avLst/>
            <a:gdLst/>
            <a:ahLst/>
            <a:cxnLst/>
            <a:rect l="l" t="t" r="r" b="b"/>
            <a:pathLst>
              <a:path w="6286500" h="3921125">
                <a:moveTo>
                  <a:pt x="63483" y="0"/>
                </a:moveTo>
                <a:lnTo>
                  <a:pt x="6223017" y="0"/>
                </a:lnTo>
                <a:cubicBezTo>
                  <a:pt x="6258078" y="0"/>
                  <a:pt x="6286500" y="28422"/>
                  <a:pt x="6286500" y="63483"/>
                </a:cubicBezTo>
                <a:lnTo>
                  <a:pt x="6286500" y="3857642"/>
                </a:lnTo>
                <a:cubicBezTo>
                  <a:pt x="6286500" y="3892703"/>
                  <a:pt x="6258078" y="3921125"/>
                  <a:pt x="6223017" y="3921125"/>
                </a:cubicBezTo>
                <a:lnTo>
                  <a:pt x="63483" y="3921125"/>
                </a:lnTo>
                <a:cubicBezTo>
                  <a:pt x="28422" y="3921125"/>
                  <a:pt x="0" y="3892703"/>
                  <a:pt x="0" y="3857642"/>
                </a:cubicBezTo>
                <a:lnTo>
                  <a:pt x="0" y="63483"/>
                </a:lnTo>
                <a:cubicBezTo>
                  <a:pt x="0" y="28446"/>
                  <a:pt x="28446" y="0"/>
                  <a:pt x="63483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464344" y="115093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8930" y="8930"/>
                </a:moveTo>
                <a:cubicBezTo>
                  <a:pt x="3990" y="8930"/>
                  <a:pt x="0" y="12920"/>
                  <a:pt x="0" y="17859"/>
                </a:cubicBezTo>
                <a:lnTo>
                  <a:pt x="0" y="120551"/>
                </a:lnTo>
                <a:cubicBezTo>
                  <a:pt x="0" y="127946"/>
                  <a:pt x="6000" y="133945"/>
                  <a:pt x="13395" y="133945"/>
                </a:cubicBezTo>
                <a:lnTo>
                  <a:pt x="129480" y="133945"/>
                </a:lnTo>
                <a:cubicBezTo>
                  <a:pt x="136875" y="133945"/>
                  <a:pt x="142875" y="127946"/>
                  <a:pt x="142875" y="120551"/>
                </a:cubicBezTo>
                <a:lnTo>
                  <a:pt x="142875" y="42472"/>
                </a:lnTo>
                <a:cubicBezTo>
                  <a:pt x="142875" y="37393"/>
                  <a:pt x="137461" y="34184"/>
                  <a:pt x="132997" y="36584"/>
                </a:cubicBezTo>
                <a:lnTo>
                  <a:pt x="89297" y="60108"/>
                </a:lnTo>
                <a:lnTo>
                  <a:pt x="89297" y="42472"/>
                </a:lnTo>
                <a:cubicBezTo>
                  <a:pt x="89297" y="37393"/>
                  <a:pt x="83883" y="34184"/>
                  <a:pt x="79418" y="36584"/>
                </a:cubicBezTo>
                <a:lnTo>
                  <a:pt x="35719" y="60108"/>
                </a:lnTo>
                <a:lnTo>
                  <a:pt x="35719" y="17859"/>
                </a:lnTo>
                <a:cubicBezTo>
                  <a:pt x="35719" y="12920"/>
                  <a:pt x="31728" y="8930"/>
                  <a:pt x="26789" y="8930"/>
                </a:cubicBezTo>
                <a:lnTo>
                  <a:pt x="8930" y="8930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27063" y="1111250"/>
            <a:ext cx="592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Ramp-Up Strategy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44500" y="1428750"/>
            <a:ext cx="6088063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Boeing is executing a </a:t>
            </a:r>
            <a:r>
              <a:rPr lang="en-US" sz="875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methodical production recovery plan</a:t>
            </a:r>
            <a:r>
              <a:rPr lang="en-US" sz="87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focused on stability and quality. The company aims to increase output while maintaining rigorous safety standards and meeting customer commitments.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0375" y="1916906"/>
            <a:ext cx="6016625" cy="889000"/>
          </a:xfrm>
          <a:custGeom>
            <a:avLst/>
            <a:gdLst/>
            <a:ahLst/>
            <a:cxnLst/>
            <a:rect l="l" t="t" r="r" b="b"/>
            <a:pathLst>
              <a:path w="6016625" h="889000">
                <a:moveTo>
                  <a:pt x="31746" y="0"/>
                </a:moveTo>
                <a:lnTo>
                  <a:pt x="5984879" y="0"/>
                </a:lnTo>
                <a:cubicBezTo>
                  <a:pt x="6002412" y="0"/>
                  <a:pt x="6016625" y="14213"/>
                  <a:pt x="6016625" y="31746"/>
                </a:cubicBezTo>
                <a:lnTo>
                  <a:pt x="6016625" y="857254"/>
                </a:lnTo>
                <a:cubicBezTo>
                  <a:pt x="6016625" y="874787"/>
                  <a:pt x="6002412" y="889000"/>
                  <a:pt x="5984879" y="889000"/>
                </a:cubicBezTo>
                <a:lnTo>
                  <a:pt x="31746" y="889000"/>
                </a:lnTo>
                <a:cubicBezTo>
                  <a:pt x="14213" y="889000"/>
                  <a:pt x="0" y="874787"/>
                  <a:pt x="0" y="857254"/>
                </a:cubicBezTo>
                <a:lnTo>
                  <a:pt x="0" y="31746"/>
                </a:lnTo>
                <a:cubicBezTo>
                  <a:pt x="0" y="14225"/>
                  <a:pt x="14225" y="0"/>
                  <a:pt x="31746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60375" y="1916906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71500" y="2012156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737 MAX Program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25951" y="2028031"/>
            <a:ext cx="809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 → 52/month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1500" y="2266156"/>
            <a:ext cx="5810250" cy="63500"/>
          </a:xfrm>
          <a:custGeom>
            <a:avLst/>
            <a:gdLst/>
            <a:ahLst/>
            <a:cxnLst/>
            <a:rect l="l" t="t" r="r" b="b"/>
            <a:pathLst>
              <a:path w="5810250" h="63500">
                <a:moveTo>
                  <a:pt x="31750" y="0"/>
                </a:moveTo>
                <a:lnTo>
                  <a:pt x="5778500" y="0"/>
                </a:lnTo>
                <a:cubicBezTo>
                  <a:pt x="5796023" y="0"/>
                  <a:pt x="5810250" y="14227"/>
                  <a:pt x="5810250" y="31750"/>
                </a:cubicBezTo>
                <a:lnTo>
                  <a:pt x="5810250" y="31750"/>
                </a:lnTo>
                <a:cubicBezTo>
                  <a:pt x="5810250" y="49273"/>
                  <a:pt x="5796023" y="63500"/>
                  <a:pt x="577850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571500" y="2266156"/>
            <a:ext cx="4357688" cy="63500"/>
          </a:xfrm>
          <a:custGeom>
            <a:avLst/>
            <a:gdLst/>
            <a:ahLst/>
            <a:cxnLst/>
            <a:rect l="l" t="t" r="r" b="b"/>
            <a:pathLst>
              <a:path w="4357688" h="63500">
                <a:moveTo>
                  <a:pt x="31750" y="0"/>
                </a:moveTo>
                <a:lnTo>
                  <a:pt x="4325938" y="0"/>
                </a:lnTo>
                <a:cubicBezTo>
                  <a:pt x="4343461" y="0"/>
                  <a:pt x="4357688" y="14227"/>
                  <a:pt x="4357688" y="31750"/>
                </a:cubicBezTo>
                <a:lnTo>
                  <a:pt x="4357688" y="31750"/>
                </a:lnTo>
                <a:cubicBezTo>
                  <a:pt x="4357688" y="49273"/>
                  <a:pt x="4343461" y="63500"/>
                  <a:pt x="4325938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/>
              </a:gs>
              <a:gs pos="100000">
                <a:srgbClr val="B7943C"/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71500" y="2393156"/>
            <a:ext cx="1238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Current: 42/month (FAA cap)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03118" y="2393156"/>
            <a:ext cx="1127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47-52 by late 2026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1500" y="2583656"/>
            <a:ext cx="5857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7 &amp; 10 certification expected by end of 2026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60375" y="2901156"/>
            <a:ext cx="6016625" cy="889000"/>
          </a:xfrm>
          <a:custGeom>
            <a:avLst/>
            <a:gdLst/>
            <a:ahLst/>
            <a:cxnLst/>
            <a:rect l="l" t="t" r="r" b="b"/>
            <a:pathLst>
              <a:path w="6016625" h="889000">
                <a:moveTo>
                  <a:pt x="31746" y="0"/>
                </a:moveTo>
                <a:lnTo>
                  <a:pt x="5984879" y="0"/>
                </a:lnTo>
                <a:cubicBezTo>
                  <a:pt x="6002412" y="0"/>
                  <a:pt x="6016625" y="14213"/>
                  <a:pt x="6016625" y="31746"/>
                </a:cubicBezTo>
                <a:lnTo>
                  <a:pt x="6016625" y="857254"/>
                </a:lnTo>
                <a:cubicBezTo>
                  <a:pt x="6016625" y="874787"/>
                  <a:pt x="6002412" y="889000"/>
                  <a:pt x="5984879" y="889000"/>
                </a:cubicBezTo>
                <a:lnTo>
                  <a:pt x="31746" y="889000"/>
                </a:lnTo>
                <a:cubicBezTo>
                  <a:pt x="14213" y="889000"/>
                  <a:pt x="0" y="874787"/>
                  <a:pt x="0" y="857254"/>
                </a:cubicBezTo>
                <a:lnTo>
                  <a:pt x="0" y="31746"/>
                </a:lnTo>
                <a:cubicBezTo>
                  <a:pt x="0" y="14225"/>
                  <a:pt x="14225" y="0"/>
                  <a:pt x="31746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460375" y="2901156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571500" y="2996406"/>
            <a:ext cx="89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787 Dreamliner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685979" y="3012281"/>
            <a:ext cx="754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→ 10/month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71500" y="3250406"/>
            <a:ext cx="5810250" cy="63500"/>
          </a:xfrm>
          <a:custGeom>
            <a:avLst/>
            <a:gdLst/>
            <a:ahLst/>
            <a:cxnLst/>
            <a:rect l="l" t="t" r="r" b="b"/>
            <a:pathLst>
              <a:path w="5810250" h="63500">
                <a:moveTo>
                  <a:pt x="31750" y="0"/>
                </a:moveTo>
                <a:lnTo>
                  <a:pt x="5778500" y="0"/>
                </a:lnTo>
                <a:cubicBezTo>
                  <a:pt x="5796023" y="0"/>
                  <a:pt x="5810250" y="14227"/>
                  <a:pt x="5810250" y="31750"/>
                </a:cubicBezTo>
                <a:lnTo>
                  <a:pt x="5810250" y="31750"/>
                </a:lnTo>
                <a:cubicBezTo>
                  <a:pt x="5810250" y="49273"/>
                  <a:pt x="5796023" y="63500"/>
                  <a:pt x="577850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571500" y="3250406"/>
            <a:ext cx="4651375" cy="63500"/>
          </a:xfrm>
          <a:custGeom>
            <a:avLst/>
            <a:gdLst/>
            <a:ahLst/>
            <a:cxnLst/>
            <a:rect l="l" t="t" r="r" b="b"/>
            <a:pathLst>
              <a:path w="4651375" h="63500">
                <a:moveTo>
                  <a:pt x="31750" y="0"/>
                </a:moveTo>
                <a:lnTo>
                  <a:pt x="4619625" y="0"/>
                </a:lnTo>
                <a:cubicBezTo>
                  <a:pt x="4637148" y="0"/>
                  <a:pt x="4651375" y="14227"/>
                  <a:pt x="4651375" y="31750"/>
                </a:cubicBezTo>
                <a:lnTo>
                  <a:pt x="4651375" y="31750"/>
                </a:lnTo>
                <a:cubicBezTo>
                  <a:pt x="4651375" y="49273"/>
                  <a:pt x="4637148" y="63500"/>
                  <a:pt x="46196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B7943C"/>
              </a:gs>
              <a:gs pos="100000">
                <a:srgbClr val="3182CE"/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71500" y="3377406"/>
            <a:ext cx="769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Current: 8/month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450210" y="3377406"/>
            <a:ext cx="97631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10 by late 2025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71500" y="3567906"/>
            <a:ext cx="5857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Charleston expansion: $1B investment in two campuses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60375" y="3885406"/>
            <a:ext cx="6016625" cy="889000"/>
          </a:xfrm>
          <a:custGeom>
            <a:avLst/>
            <a:gdLst/>
            <a:ahLst/>
            <a:cxnLst/>
            <a:rect l="l" t="t" r="r" b="b"/>
            <a:pathLst>
              <a:path w="6016625" h="889000">
                <a:moveTo>
                  <a:pt x="31746" y="0"/>
                </a:moveTo>
                <a:lnTo>
                  <a:pt x="5984879" y="0"/>
                </a:lnTo>
                <a:cubicBezTo>
                  <a:pt x="6002412" y="0"/>
                  <a:pt x="6016625" y="14213"/>
                  <a:pt x="6016625" y="31746"/>
                </a:cubicBezTo>
                <a:lnTo>
                  <a:pt x="6016625" y="857254"/>
                </a:lnTo>
                <a:cubicBezTo>
                  <a:pt x="6016625" y="874787"/>
                  <a:pt x="6002412" y="889000"/>
                  <a:pt x="5984879" y="889000"/>
                </a:cubicBezTo>
                <a:lnTo>
                  <a:pt x="31746" y="889000"/>
                </a:lnTo>
                <a:cubicBezTo>
                  <a:pt x="14213" y="889000"/>
                  <a:pt x="0" y="874787"/>
                  <a:pt x="0" y="857254"/>
                </a:cubicBezTo>
                <a:lnTo>
                  <a:pt x="0" y="31746"/>
                </a:lnTo>
                <a:cubicBezTo>
                  <a:pt x="0" y="14225"/>
                  <a:pt x="14225" y="0"/>
                  <a:pt x="31746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460375" y="3885406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571500" y="3980656"/>
            <a:ext cx="81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777X Program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718473" y="3996531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2027 Delivery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71500" y="4234656"/>
            <a:ext cx="5810250" cy="63500"/>
          </a:xfrm>
          <a:custGeom>
            <a:avLst/>
            <a:gdLst/>
            <a:ahLst/>
            <a:cxnLst/>
            <a:rect l="l" t="t" r="r" b="b"/>
            <a:pathLst>
              <a:path w="5810250" h="63500">
                <a:moveTo>
                  <a:pt x="31750" y="0"/>
                </a:moveTo>
                <a:lnTo>
                  <a:pt x="5778500" y="0"/>
                </a:lnTo>
                <a:cubicBezTo>
                  <a:pt x="5796023" y="0"/>
                  <a:pt x="5810250" y="14227"/>
                  <a:pt x="5810250" y="31750"/>
                </a:cubicBezTo>
                <a:lnTo>
                  <a:pt x="5810250" y="31750"/>
                </a:lnTo>
                <a:cubicBezTo>
                  <a:pt x="5810250" y="49273"/>
                  <a:pt x="5796023" y="63500"/>
                  <a:pt x="577850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571500" y="4234656"/>
            <a:ext cx="3484563" cy="63500"/>
          </a:xfrm>
          <a:custGeom>
            <a:avLst/>
            <a:gdLst/>
            <a:ahLst/>
            <a:cxnLst/>
            <a:rect l="l" t="t" r="r" b="b"/>
            <a:pathLst>
              <a:path w="3484563" h="63500">
                <a:moveTo>
                  <a:pt x="31750" y="0"/>
                </a:moveTo>
                <a:lnTo>
                  <a:pt x="3452813" y="0"/>
                </a:lnTo>
                <a:cubicBezTo>
                  <a:pt x="3470336" y="0"/>
                  <a:pt x="3484563" y="14227"/>
                  <a:pt x="3484563" y="31750"/>
                </a:cubicBezTo>
                <a:lnTo>
                  <a:pt x="3484563" y="31750"/>
                </a:lnTo>
                <a:cubicBezTo>
                  <a:pt x="3484563" y="49273"/>
                  <a:pt x="3470336" y="63500"/>
                  <a:pt x="3452813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/>
              </a:gs>
              <a:gs pos="100000">
                <a:srgbClr val="B7943C"/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571500" y="4361656"/>
            <a:ext cx="1262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Status: Flight testing with FAA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606107" y="4361656"/>
            <a:ext cx="825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delivery: 2027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71500" y="4552156"/>
            <a:ext cx="5857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681 aircraft in backlog; predelivery payments lower than expected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17500" y="4996656"/>
            <a:ext cx="6286500" cy="1714500"/>
          </a:xfrm>
          <a:custGeom>
            <a:avLst/>
            <a:gdLst/>
            <a:ahLst/>
            <a:cxnLst/>
            <a:rect l="l" t="t" r="r" b="b"/>
            <a:pathLst>
              <a:path w="6286500" h="1841500">
                <a:moveTo>
                  <a:pt x="63495" y="0"/>
                </a:moveTo>
                <a:lnTo>
                  <a:pt x="6223005" y="0"/>
                </a:lnTo>
                <a:cubicBezTo>
                  <a:pt x="6258072" y="0"/>
                  <a:pt x="6286500" y="28428"/>
                  <a:pt x="6286500" y="63495"/>
                </a:cubicBezTo>
                <a:lnTo>
                  <a:pt x="6286500" y="1778005"/>
                </a:lnTo>
                <a:cubicBezTo>
                  <a:pt x="6286500" y="1813072"/>
                  <a:pt x="6258072" y="1841500"/>
                  <a:pt x="6223005" y="1841500"/>
                </a:cubicBezTo>
                <a:lnTo>
                  <a:pt x="63495" y="1841500"/>
                </a:lnTo>
                <a:cubicBezTo>
                  <a:pt x="28428" y="1841500"/>
                  <a:pt x="0" y="1813072"/>
                  <a:pt x="0" y="1778005"/>
                </a:cubicBezTo>
                <a:lnTo>
                  <a:pt x="0" y="63495"/>
                </a:lnTo>
                <a:cubicBezTo>
                  <a:pt x="0" y="28451"/>
                  <a:pt x="28451" y="0"/>
                  <a:pt x="63495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444500" y="5123656"/>
            <a:ext cx="6103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Backlog by Program</a:t>
            </a:r>
            <a:endParaRPr lang="en-US" sz="1600" dirty="0"/>
          </a:p>
        </p:txBody>
      </p:sp>
      <p:pic>
        <p:nvPicPr>
          <p:cNvPr id="39" name="Image 1" descr="https://kimi-img.moonshot.cn/pub/slides/26-01-29-10:08:59-d5tc2eod7ithodk9eb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4500" y="5441156"/>
            <a:ext cx="4913313" cy="1270000"/>
          </a:xfrm>
          <a:prstGeom prst="roundRect">
            <a:avLst>
              <a:gd name="adj" fmla="val 0"/>
            </a:avLst>
          </a:prstGeom>
        </p:spPr>
      </p:pic>
      <p:sp>
        <p:nvSpPr>
          <p:cNvPr id="40" name="Shape 36"/>
          <p:cNvSpPr/>
          <p:nvPr/>
        </p:nvSpPr>
        <p:spPr>
          <a:xfrm>
            <a:off x="6731000" y="984250"/>
            <a:ext cx="5143500" cy="4095750"/>
          </a:xfrm>
          <a:custGeom>
            <a:avLst/>
            <a:gdLst/>
            <a:ahLst/>
            <a:cxnLst/>
            <a:rect l="l" t="t" r="r" b="b"/>
            <a:pathLst>
              <a:path w="5143500" h="4095750">
                <a:moveTo>
                  <a:pt x="63484" y="0"/>
                </a:moveTo>
                <a:lnTo>
                  <a:pt x="5080016" y="0"/>
                </a:lnTo>
                <a:cubicBezTo>
                  <a:pt x="5115077" y="0"/>
                  <a:pt x="5143500" y="28423"/>
                  <a:pt x="5143500" y="63484"/>
                </a:cubicBezTo>
                <a:lnTo>
                  <a:pt x="5143500" y="4032266"/>
                </a:lnTo>
                <a:cubicBezTo>
                  <a:pt x="5143500" y="4067327"/>
                  <a:pt x="5115077" y="4095750"/>
                  <a:pt x="5080016" y="4095750"/>
                </a:cubicBezTo>
                <a:lnTo>
                  <a:pt x="63484" y="4095750"/>
                </a:lnTo>
                <a:cubicBezTo>
                  <a:pt x="28423" y="4095750"/>
                  <a:pt x="0" y="4067327"/>
                  <a:pt x="0" y="4032266"/>
                </a:cubicBezTo>
                <a:lnTo>
                  <a:pt x="0" y="63484"/>
                </a:lnTo>
                <a:cubicBezTo>
                  <a:pt x="0" y="28446"/>
                  <a:pt x="28446" y="0"/>
                  <a:pt x="63484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7"/>
          <p:cNvSpPr/>
          <p:nvPr/>
        </p:nvSpPr>
        <p:spPr>
          <a:xfrm>
            <a:off x="6858000" y="1111250"/>
            <a:ext cx="496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Outlook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6873875" y="1428750"/>
            <a:ext cx="4873625" cy="1016000"/>
          </a:xfrm>
          <a:custGeom>
            <a:avLst/>
            <a:gdLst/>
            <a:ahLst/>
            <a:cxnLst/>
            <a:rect l="l" t="t" r="r" b="b"/>
            <a:pathLst>
              <a:path w="4873625" h="1016000">
                <a:moveTo>
                  <a:pt x="31750" y="0"/>
                </a:moveTo>
                <a:lnTo>
                  <a:pt x="4841875" y="0"/>
                </a:lnTo>
                <a:cubicBezTo>
                  <a:pt x="4859398" y="0"/>
                  <a:pt x="4873625" y="14227"/>
                  <a:pt x="4873625" y="31750"/>
                </a:cubicBezTo>
                <a:lnTo>
                  <a:pt x="4873625" y="984250"/>
                </a:lnTo>
                <a:cubicBezTo>
                  <a:pt x="4873625" y="1001773"/>
                  <a:pt x="4859398" y="1016000"/>
                  <a:pt x="4841875" y="1016000"/>
                </a:cubicBez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39"/>
          <p:cNvSpPr/>
          <p:nvPr/>
        </p:nvSpPr>
        <p:spPr>
          <a:xfrm>
            <a:off x="6873875" y="1428750"/>
            <a:ext cx="31750" cy="1016000"/>
          </a:xfrm>
          <a:custGeom>
            <a:avLst/>
            <a:gdLst/>
            <a:ahLst/>
            <a:cxnLst/>
            <a:rect l="l" t="t" r="r" b="b"/>
            <a:pathLst>
              <a:path w="31750" h="1016000">
                <a:moveTo>
                  <a:pt x="31750" y="0"/>
                </a:moveTo>
                <a:lnTo>
                  <a:pt x="31750" y="0"/>
                </a:lnTo>
                <a:lnTo>
                  <a:pt x="31750" y="1016000"/>
                </a:ln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0"/>
          <p:cNvSpPr/>
          <p:nvPr/>
        </p:nvSpPr>
        <p:spPr>
          <a:xfrm>
            <a:off x="7016750" y="1555750"/>
            <a:ext cx="466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 Free Cash Flow Target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7016750" y="1809750"/>
            <a:ext cx="896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$1-3B</a:t>
            </a:r>
            <a:endParaRPr lang="en-US" sz="1600" dirty="0"/>
          </a:p>
        </p:txBody>
      </p:sp>
      <p:sp>
        <p:nvSpPr>
          <p:cNvPr id="46" name="Text 42"/>
          <p:cNvSpPr/>
          <p:nvPr/>
        </p:nvSpPr>
        <p:spPr>
          <a:xfrm>
            <a:off x="7832080" y="1936750"/>
            <a:ext cx="63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FCF</a:t>
            </a:r>
            <a:endParaRPr lang="en-US" sz="1600" dirty="0"/>
          </a:p>
        </p:txBody>
      </p:sp>
      <p:sp>
        <p:nvSpPr>
          <p:cNvPr id="47" name="Text 43"/>
          <p:cNvSpPr/>
          <p:nvPr/>
        </p:nvSpPr>
        <p:spPr>
          <a:xfrm>
            <a:off x="7016750" y="2190750"/>
            <a:ext cx="4651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 to $10B FCF over next several years as production stabilizes</a:t>
            </a:r>
            <a:endParaRPr lang="en-US" sz="1600" dirty="0"/>
          </a:p>
        </p:txBody>
      </p:sp>
      <p:sp>
        <p:nvSpPr>
          <p:cNvPr id="48" name="Shape 44"/>
          <p:cNvSpPr/>
          <p:nvPr/>
        </p:nvSpPr>
        <p:spPr>
          <a:xfrm>
            <a:off x="6873875" y="2540000"/>
            <a:ext cx="4873625" cy="1111250"/>
          </a:xfrm>
          <a:custGeom>
            <a:avLst/>
            <a:gdLst/>
            <a:ahLst/>
            <a:cxnLst/>
            <a:rect l="l" t="t" r="r" b="b"/>
            <a:pathLst>
              <a:path w="4873625" h="1111250">
                <a:moveTo>
                  <a:pt x="31748" y="0"/>
                </a:moveTo>
                <a:lnTo>
                  <a:pt x="4841877" y="0"/>
                </a:lnTo>
                <a:cubicBezTo>
                  <a:pt x="4859411" y="0"/>
                  <a:pt x="4873625" y="14214"/>
                  <a:pt x="4873625" y="31748"/>
                </a:cubicBezTo>
                <a:lnTo>
                  <a:pt x="4873625" y="1079502"/>
                </a:lnTo>
                <a:cubicBezTo>
                  <a:pt x="4873625" y="1097036"/>
                  <a:pt x="4859411" y="1111250"/>
                  <a:pt x="4841877" y="1111250"/>
                </a:cubicBezTo>
                <a:lnTo>
                  <a:pt x="31748" y="1111250"/>
                </a:lnTo>
                <a:cubicBezTo>
                  <a:pt x="14214" y="1111250"/>
                  <a:pt x="0" y="1097036"/>
                  <a:pt x="0" y="1079502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45"/>
          <p:cNvSpPr/>
          <p:nvPr/>
        </p:nvSpPr>
        <p:spPr>
          <a:xfrm>
            <a:off x="6873875" y="2540000"/>
            <a:ext cx="31750" cy="1111250"/>
          </a:xfrm>
          <a:custGeom>
            <a:avLst/>
            <a:gdLst/>
            <a:ahLst/>
            <a:cxnLst/>
            <a:rect l="l" t="t" r="r" b="b"/>
            <a:pathLst>
              <a:path w="31750" h="1111250">
                <a:moveTo>
                  <a:pt x="31750" y="0"/>
                </a:moveTo>
                <a:lnTo>
                  <a:pt x="31750" y="0"/>
                </a:lnTo>
                <a:lnTo>
                  <a:pt x="31750" y="1111250"/>
                </a:lnTo>
                <a:lnTo>
                  <a:pt x="31750" y="1111250"/>
                </a:lnTo>
                <a:cubicBezTo>
                  <a:pt x="14227" y="1111250"/>
                  <a:pt x="0" y="1097023"/>
                  <a:pt x="0" y="1079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6"/>
          <p:cNvSpPr/>
          <p:nvPr/>
        </p:nvSpPr>
        <p:spPr>
          <a:xfrm>
            <a:off x="7016750" y="2667000"/>
            <a:ext cx="466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Cash Flow Headwinds</a:t>
            </a:r>
            <a:endParaRPr lang="en-US" sz="1600" dirty="0"/>
          </a:p>
        </p:txBody>
      </p:sp>
      <p:sp>
        <p:nvSpPr>
          <p:cNvPr id="51" name="Text 47"/>
          <p:cNvSpPr/>
          <p:nvPr/>
        </p:nvSpPr>
        <p:spPr>
          <a:xfrm>
            <a:off x="7016750" y="2921000"/>
            <a:ext cx="4651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777X predelivery payments lower than planned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7016750" y="3079750"/>
            <a:ext cx="4651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considerations for prior delays</a:t>
            </a:r>
            <a:endParaRPr lang="en-US" sz="1600" dirty="0"/>
          </a:p>
        </p:txBody>
      </p:sp>
      <p:sp>
        <p:nvSpPr>
          <p:cNvPr id="53" name="Text 49"/>
          <p:cNvSpPr/>
          <p:nvPr/>
        </p:nvSpPr>
        <p:spPr>
          <a:xfrm>
            <a:off x="7016750" y="3238500"/>
            <a:ext cx="4651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 advances on 737/787 programs</a:t>
            </a:r>
            <a:endParaRPr lang="en-US" sz="1600" dirty="0"/>
          </a:p>
        </p:txBody>
      </p:sp>
      <p:sp>
        <p:nvSpPr>
          <p:cNvPr id="54" name="Text 50"/>
          <p:cNvSpPr/>
          <p:nvPr/>
        </p:nvSpPr>
        <p:spPr>
          <a:xfrm>
            <a:off x="7016750" y="3397250"/>
            <a:ext cx="4651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system expenses higher than expected</a:t>
            </a:r>
            <a:endParaRPr lang="en-US" sz="1600" dirty="0"/>
          </a:p>
        </p:txBody>
      </p:sp>
      <p:sp>
        <p:nvSpPr>
          <p:cNvPr id="55" name="Shape 51"/>
          <p:cNvSpPr/>
          <p:nvPr/>
        </p:nvSpPr>
        <p:spPr>
          <a:xfrm>
            <a:off x="6873875" y="3746500"/>
            <a:ext cx="4873625" cy="1206500"/>
          </a:xfrm>
          <a:custGeom>
            <a:avLst/>
            <a:gdLst/>
            <a:ahLst/>
            <a:cxnLst/>
            <a:rect l="l" t="t" r="r" b="b"/>
            <a:pathLst>
              <a:path w="4873625" h="1206500">
                <a:moveTo>
                  <a:pt x="31750" y="0"/>
                </a:moveTo>
                <a:lnTo>
                  <a:pt x="4841870" y="0"/>
                </a:lnTo>
                <a:cubicBezTo>
                  <a:pt x="4859408" y="0"/>
                  <a:pt x="4873625" y="14217"/>
                  <a:pt x="4873625" y="31755"/>
                </a:cubicBezTo>
                <a:lnTo>
                  <a:pt x="4873625" y="1174745"/>
                </a:lnTo>
                <a:cubicBezTo>
                  <a:pt x="4873625" y="1192283"/>
                  <a:pt x="4859408" y="1206500"/>
                  <a:pt x="4841870" y="1206500"/>
                </a:cubicBezTo>
                <a:lnTo>
                  <a:pt x="31750" y="1206500"/>
                </a:lnTo>
                <a:cubicBezTo>
                  <a:pt x="14215" y="1206500"/>
                  <a:pt x="0" y="1192285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2"/>
          <p:cNvSpPr/>
          <p:nvPr/>
        </p:nvSpPr>
        <p:spPr>
          <a:xfrm>
            <a:off x="6873875" y="3746500"/>
            <a:ext cx="31750" cy="1206500"/>
          </a:xfrm>
          <a:custGeom>
            <a:avLst/>
            <a:gdLst/>
            <a:ahLst/>
            <a:cxnLst/>
            <a:rect l="l" t="t" r="r" b="b"/>
            <a:pathLst>
              <a:path w="31750" h="1206500">
                <a:moveTo>
                  <a:pt x="31750" y="0"/>
                </a:moveTo>
                <a:lnTo>
                  <a:pt x="31750" y="0"/>
                </a:lnTo>
                <a:lnTo>
                  <a:pt x="31750" y="1206500"/>
                </a:lnTo>
                <a:lnTo>
                  <a:pt x="31750" y="1206500"/>
                </a:lnTo>
                <a:cubicBezTo>
                  <a:pt x="14227" y="1206500"/>
                  <a:pt x="0" y="1192273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3"/>
          <p:cNvSpPr/>
          <p:nvPr/>
        </p:nvSpPr>
        <p:spPr>
          <a:xfrm>
            <a:off x="7016750" y="3873500"/>
            <a:ext cx="466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Turnaround Timeline</a:t>
            </a:r>
            <a:endParaRPr lang="en-US" sz="1600" dirty="0"/>
          </a:p>
        </p:txBody>
      </p:sp>
      <p:sp>
        <p:nvSpPr>
          <p:cNvPr id="58" name="Text 54"/>
          <p:cNvSpPr/>
          <p:nvPr/>
        </p:nvSpPr>
        <p:spPr>
          <a:xfrm>
            <a:off x="7016750" y="4127500"/>
            <a:ext cx="68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</a:t>
            </a:r>
            <a:endParaRPr lang="en-US" sz="1600" dirty="0"/>
          </a:p>
        </p:txBody>
      </p:sp>
      <p:sp>
        <p:nvSpPr>
          <p:cNvPr id="59" name="Shape 55"/>
          <p:cNvSpPr/>
          <p:nvPr/>
        </p:nvSpPr>
        <p:spPr>
          <a:xfrm>
            <a:off x="7715250" y="4159250"/>
            <a:ext cx="3349625" cy="63500"/>
          </a:xfrm>
          <a:custGeom>
            <a:avLst/>
            <a:gdLst/>
            <a:ahLst/>
            <a:cxnLst/>
            <a:rect l="l" t="t" r="r" b="b"/>
            <a:pathLst>
              <a:path w="3349625" h="63500">
                <a:moveTo>
                  <a:pt x="31750" y="0"/>
                </a:moveTo>
                <a:lnTo>
                  <a:pt x="3317875" y="0"/>
                </a:lnTo>
                <a:cubicBezTo>
                  <a:pt x="3335398" y="0"/>
                  <a:pt x="3349625" y="14227"/>
                  <a:pt x="3349625" y="31750"/>
                </a:cubicBezTo>
                <a:lnTo>
                  <a:pt x="3349625" y="31750"/>
                </a:lnTo>
                <a:cubicBezTo>
                  <a:pt x="3349625" y="49273"/>
                  <a:pt x="3335398" y="63500"/>
                  <a:pt x="33178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6"/>
          <p:cNvSpPr/>
          <p:nvPr/>
        </p:nvSpPr>
        <p:spPr>
          <a:xfrm>
            <a:off x="11126391" y="4127500"/>
            <a:ext cx="539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Stabilization</a:t>
            </a:r>
            <a:endParaRPr lang="en-US" sz="1600" dirty="0"/>
          </a:p>
        </p:txBody>
      </p:sp>
      <p:sp>
        <p:nvSpPr>
          <p:cNvPr id="61" name="Text 57"/>
          <p:cNvSpPr/>
          <p:nvPr/>
        </p:nvSpPr>
        <p:spPr>
          <a:xfrm>
            <a:off x="7016750" y="4318000"/>
            <a:ext cx="68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62" name="Shape 58"/>
          <p:cNvSpPr/>
          <p:nvPr/>
        </p:nvSpPr>
        <p:spPr>
          <a:xfrm>
            <a:off x="7715250" y="4349750"/>
            <a:ext cx="3349625" cy="63500"/>
          </a:xfrm>
          <a:custGeom>
            <a:avLst/>
            <a:gdLst/>
            <a:ahLst/>
            <a:cxnLst/>
            <a:rect l="l" t="t" r="r" b="b"/>
            <a:pathLst>
              <a:path w="3349625" h="63500">
                <a:moveTo>
                  <a:pt x="31750" y="0"/>
                </a:moveTo>
                <a:lnTo>
                  <a:pt x="3317875" y="0"/>
                </a:lnTo>
                <a:cubicBezTo>
                  <a:pt x="3335398" y="0"/>
                  <a:pt x="3349625" y="14227"/>
                  <a:pt x="3349625" y="31750"/>
                </a:cubicBezTo>
                <a:lnTo>
                  <a:pt x="3349625" y="31750"/>
                </a:lnTo>
                <a:cubicBezTo>
                  <a:pt x="3349625" y="49273"/>
                  <a:pt x="3335398" y="63500"/>
                  <a:pt x="33178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59"/>
          <p:cNvSpPr/>
          <p:nvPr/>
        </p:nvSpPr>
        <p:spPr>
          <a:xfrm>
            <a:off x="11126887" y="4318000"/>
            <a:ext cx="539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FCF</a:t>
            </a:r>
            <a:endParaRPr lang="en-US" sz="1600" dirty="0"/>
          </a:p>
        </p:txBody>
      </p:sp>
      <p:sp>
        <p:nvSpPr>
          <p:cNvPr id="64" name="Text 60"/>
          <p:cNvSpPr/>
          <p:nvPr/>
        </p:nvSpPr>
        <p:spPr>
          <a:xfrm>
            <a:off x="7016750" y="4508500"/>
            <a:ext cx="68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2027</a:t>
            </a:r>
            <a:endParaRPr lang="en-US" sz="1600" dirty="0"/>
          </a:p>
        </p:txBody>
      </p:sp>
      <p:sp>
        <p:nvSpPr>
          <p:cNvPr id="65" name="Shape 61"/>
          <p:cNvSpPr/>
          <p:nvPr/>
        </p:nvSpPr>
        <p:spPr>
          <a:xfrm>
            <a:off x="7715250" y="4540250"/>
            <a:ext cx="3286125" cy="63500"/>
          </a:xfrm>
          <a:custGeom>
            <a:avLst/>
            <a:gdLst/>
            <a:ahLst/>
            <a:cxnLst/>
            <a:rect l="l" t="t" r="r" b="b"/>
            <a:pathLst>
              <a:path w="3286125" h="63500">
                <a:moveTo>
                  <a:pt x="31750" y="0"/>
                </a:moveTo>
                <a:lnTo>
                  <a:pt x="3254375" y="0"/>
                </a:lnTo>
                <a:cubicBezTo>
                  <a:pt x="3271898" y="0"/>
                  <a:pt x="3286125" y="14227"/>
                  <a:pt x="3286125" y="31750"/>
                </a:cubicBezTo>
                <a:lnTo>
                  <a:pt x="3286125" y="31750"/>
                </a:lnTo>
                <a:cubicBezTo>
                  <a:pt x="3286125" y="49273"/>
                  <a:pt x="3271898" y="63500"/>
                  <a:pt x="32543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2"/>
          <p:cNvSpPr/>
          <p:nvPr/>
        </p:nvSpPr>
        <p:spPr>
          <a:xfrm>
            <a:off x="11062146" y="4508500"/>
            <a:ext cx="603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777X Delivery</a:t>
            </a:r>
            <a:endParaRPr lang="en-US" sz="1600" dirty="0"/>
          </a:p>
        </p:txBody>
      </p:sp>
      <p:sp>
        <p:nvSpPr>
          <p:cNvPr id="67" name="Text 63"/>
          <p:cNvSpPr/>
          <p:nvPr/>
        </p:nvSpPr>
        <p:spPr>
          <a:xfrm>
            <a:off x="7016750" y="4699000"/>
            <a:ext cx="68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2029</a:t>
            </a:r>
            <a:endParaRPr lang="en-US" sz="1600" dirty="0"/>
          </a:p>
        </p:txBody>
      </p:sp>
      <p:sp>
        <p:nvSpPr>
          <p:cNvPr id="68" name="Shape 64"/>
          <p:cNvSpPr/>
          <p:nvPr/>
        </p:nvSpPr>
        <p:spPr>
          <a:xfrm>
            <a:off x="7715250" y="4730750"/>
            <a:ext cx="3190875" cy="63500"/>
          </a:xfrm>
          <a:custGeom>
            <a:avLst/>
            <a:gdLst/>
            <a:ahLst/>
            <a:cxnLst/>
            <a:rect l="l" t="t" r="r" b="b"/>
            <a:pathLst>
              <a:path w="3190875" h="63500">
                <a:moveTo>
                  <a:pt x="31750" y="0"/>
                </a:moveTo>
                <a:lnTo>
                  <a:pt x="3159125" y="0"/>
                </a:lnTo>
                <a:cubicBezTo>
                  <a:pt x="3176648" y="0"/>
                  <a:pt x="3190875" y="14227"/>
                  <a:pt x="3190875" y="31750"/>
                </a:cubicBezTo>
                <a:lnTo>
                  <a:pt x="3190875" y="31750"/>
                </a:lnTo>
                <a:cubicBezTo>
                  <a:pt x="3190875" y="49273"/>
                  <a:pt x="3176648" y="63500"/>
                  <a:pt x="31591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5"/>
          <p:cNvSpPr/>
          <p:nvPr/>
        </p:nvSpPr>
        <p:spPr>
          <a:xfrm>
            <a:off x="10965904" y="4699000"/>
            <a:ext cx="698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$10B FCF Target</a:t>
            </a:r>
            <a:endParaRPr lang="en-US" sz="1600" dirty="0"/>
          </a:p>
        </p:txBody>
      </p:sp>
      <p:sp>
        <p:nvSpPr>
          <p:cNvPr id="70" name="Shape 66"/>
          <p:cNvSpPr/>
          <p:nvPr/>
        </p:nvSpPr>
        <p:spPr>
          <a:xfrm>
            <a:off x="6731000" y="5175250"/>
            <a:ext cx="5143500" cy="1619250"/>
          </a:xfrm>
          <a:custGeom>
            <a:avLst/>
            <a:gdLst/>
            <a:ahLst/>
            <a:cxnLst/>
            <a:rect l="l" t="t" r="r" b="b"/>
            <a:pathLst>
              <a:path w="5143500" h="1619250">
                <a:moveTo>
                  <a:pt x="63507" y="0"/>
                </a:moveTo>
                <a:lnTo>
                  <a:pt x="5079993" y="0"/>
                </a:lnTo>
                <a:cubicBezTo>
                  <a:pt x="5115067" y="0"/>
                  <a:pt x="5143500" y="28433"/>
                  <a:pt x="5143500" y="63507"/>
                </a:cubicBezTo>
                <a:lnTo>
                  <a:pt x="5143500" y="1555743"/>
                </a:lnTo>
                <a:cubicBezTo>
                  <a:pt x="5143500" y="1590817"/>
                  <a:pt x="5115067" y="1619250"/>
                  <a:pt x="5079993" y="1619250"/>
                </a:cubicBezTo>
                <a:lnTo>
                  <a:pt x="63507" y="1619250"/>
                </a:lnTo>
                <a:cubicBezTo>
                  <a:pt x="28433" y="1619250"/>
                  <a:pt x="0" y="1590817"/>
                  <a:pt x="0" y="1555743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Text 67"/>
          <p:cNvSpPr/>
          <p:nvPr/>
        </p:nvSpPr>
        <p:spPr>
          <a:xfrm>
            <a:off x="6858000" y="5302250"/>
            <a:ext cx="496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Drivers</a:t>
            </a:r>
            <a:endParaRPr lang="en-US" sz="1600" dirty="0"/>
          </a:p>
        </p:txBody>
      </p:sp>
      <p:sp>
        <p:nvSpPr>
          <p:cNvPr id="72" name="Shape 68"/>
          <p:cNvSpPr/>
          <p:nvPr/>
        </p:nvSpPr>
        <p:spPr>
          <a:xfrm>
            <a:off x="6866930" y="5643563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80739" y="31232"/>
                </a:moveTo>
                <a:lnTo>
                  <a:pt x="37483" y="8725"/>
                </a:lnTo>
                <a:cubicBezTo>
                  <a:pt x="35747" y="7835"/>
                  <a:pt x="33728" y="7683"/>
                  <a:pt x="31905" y="8356"/>
                </a:cubicBezTo>
                <a:lnTo>
                  <a:pt x="22985" y="11612"/>
                </a:lnTo>
                <a:cubicBezTo>
                  <a:pt x="20749" y="12415"/>
                  <a:pt x="19989" y="15171"/>
                  <a:pt x="21444" y="17038"/>
                </a:cubicBezTo>
                <a:lnTo>
                  <a:pt x="43473" y="44797"/>
                </a:lnTo>
                <a:lnTo>
                  <a:pt x="21726" y="52698"/>
                </a:lnTo>
                <a:lnTo>
                  <a:pt x="8682" y="44754"/>
                </a:lnTo>
                <a:cubicBezTo>
                  <a:pt x="7336" y="43929"/>
                  <a:pt x="5686" y="43777"/>
                  <a:pt x="4189" y="44298"/>
                </a:cubicBezTo>
                <a:lnTo>
                  <a:pt x="651" y="45600"/>
                </a:lnTo>
                <a:cubicBezTo>
                  <a:pt x="-1389" y="46338"/>
                  <a:pt x="-2257" y="48747"/>
                  <a:pt x="-1150" y="50614"/>
                </a:cubicBezTo>
                <a:lnTo>
                  <a:pt x="10483" y="70538"/>
                </a:lnTo>
                <a:cubicBezTo>
                  <a:pt x="13869" y="76333"/>
                  <a:pt x="20923" y="78873"/>
                  <a:pt x="27217" y="76572"/>
                </a:cubicBezTo>
                <a:lnTo>
                  <a:pt x="30017" y="75552"/>
                </a:lnTo>
                <a:lnTo>
                  <a:pt x="30017" y="75552"/>
                </a:lnTo>
                <a:lnTo>
                  <a:pt x="116486" y="44081"/>
                </a:lnTo>
                <a:cubicBezTo>
                  <a:pt x="122802" y="41780"/>
                  <a:pt x="126036" y="34813"/>
                  <a:pt x="123757" y="28497"/>
                </a:cubicBezTo>
                <a:cubicBezTo>
                  <a:pt x="121478" y="22182"/>
                  <a:pt x="114489" y="18948"/>
                  <a:pt x="108173" y="21227"/>
                </a:cubicBezTo>
                <a:lnTo>
                  <a:pt x="80739" y="31232"/>
                </a:lnTo>
                <a:close/>
                <a:moveTo>
                  <a:pt x="6989" y="97234"/>
                </a:moveTo>
                <a:cubicBezTo>
                  <a:pt x="3147" y="97234"/>
                  <a:pt x="43" y="100338"/>
                  <a:pt x="43" y="104180"/>
                </a:cubicBezTo>
                <a:cubicBezTo>
                  <a:pt x="43" y="108021"/>
                  <a:pt x="3147" y="111125"/>
                  <a:pt x="6989" y="111125"/>
                </a:cubicBezTo>
                <a:lnTo>
                  <a:pt x="118114" y="111125"/>
                </a:lnTo>
                <a:cubicBezTo>
                  <a:pt x="121955" y="111125"/>
                  <a:pt x="125059" y="108021"/>
                  <a:pt x="125059" y="104180"/>
                </a:cubicBezTo>
                <a:cubicBezTo>
                  <a:pt x="125059" y="100338"/>
                  <a:pt x="121955" y="97234"/>
                  <a:pt x="118114" y="97234"/>
                </a:cubicBezTo>
                <a:lnTo>
                  <a:pt x="6989" y="97234"/>
                </a:ln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Text 69"/>
          <p:cNvSpPr/>
          <p:nvPr/>
        </p:nvSpPr>
        <p:spPr>
          <a:xfrm>
            <a:off x="7060406" y="5619750"/>
            <a:ext cx="171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 travel recovery post-pandemic</a:t>
            </a:r>
            <a:endParaRPr lang="en-US" sz="1600" dirty="0"/>
          </a:p>
        </p:txBody>
      </p:sp>
      <p:sp>
        <p:nvSpPr>
          <p:cNvPr id="74" name="Shape 70"/>
          <p:cNvSpPr/>
          <p:nvPr/>
        </p:nvSpPr>
        <p:spPr>
          <a:xfrm>
            <a:off x="6873875" y="586581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852" y="61813"/>
                </a:moveTo>
                <a:cubicBezTo>
                  <a:pt x="11764" y="62269"/>
                  <a:pt x="12805" y="62508"/>
                  <a:pt x="13891" y="62508"/>
                </a:cubicBezTo>
                <a:lnTo>
                  <a:pt x="24895" y="62508"/>
                </a:lnTo>
                <a:cubicBezTo>
                  <a:pt x="26739" y="62508"/>
                  <a:pt x="28497" y="63246"/>
                  <a:pt x="29800" y="64548"/>
                </a:cubicBezTo>
                <a:lnTo>
                  <a:pt x="32686" y="67435"/>
                </a:lnTo>
                <a:cubicBezTo>
                  <a:pt x="33989" y="68737"/>
                  <a:pt x="35747" y="69475"/>
                  <a:pt x="37592" y="69475"/>
                </a:cubicBezTo>
                <a:lnTo>
                  <a:pt x="41650" y="69475"/>
                </a:lnTo>
                <a:cubicBezTo>
                  <a:pt x="45492" y="69475"/>
                  <a:pt x="48595" y="66371"/>
                  <a:pt x="48595" y="62530"/>
                </a:cubicBezTo>
                <a:lnTo>
                  <a:pt x="48595" y="53848"/>
                </a:lnTo>
                <a:cubicBezTo>
                  <a:pt x="48595" y="50961"/>
                  <a:pt x="50918" y="48639"/>
                  <a:pt x="53804" y="48639"/>
                </a:cubicBezTo>
                <a:cubicBezTo>
                  <a:pt x="56691" y="48639"/>
                  <a:pt x="59013" y="46317"/>
                  <a:pt x="59013" y="43430"/>
                </a:cubicBezTo>
                <a:lnTo>
                  <a:pt x="59013" y="34162"/>
                </a:lnTo>
                <a:cubicBezTo>
                  <a:pt x="59013" y="32317"/>
                  <a:pt x="59751" y="30559"/>
                  <a:pt x="61054" y="29257"/>
                </a:cubicBezTo>
                <a:lnTo>
                  <a:pt x="63940" y="26370"/>
                </a:lnTo>
                <a:cubicBezTo>
                  <a:pt x="65243" y="25068"/>
                  <a:pt x="65980" y="23310"/>
                  <a:pt x="65980" y="21465"/>
                </a:cubicBezTo>
                <a:lnTo>
                  <a:pt x="65980" y="12371"/>
                </a:lnTo>
                <a:cubicBezTo>
                  <a:pt x="65980" y="12111"/>
                  <a:pt x="65959" y="11872"/>
                  <a:pt x="65937" y="11612"/>
                </a:cubicBezTo>
                <a:cubicBezTo>
                  <a:pt x="62595" y="10830"/>
                  <a:pt x="59122" y="10418"/>
                  <a:pt x="55563" y="10418"/>
                </a:cubicBezTo>
                <a:cubicBezTo>
                  <a:pt x="30624" y="10418"/>
                  <a:pt x="10418" y="30624"/>
                  <a:pt x="10418" y="55563"/>
                </a:cubicBezTo>
                <a:cubicBezTo>
                  <a:pt x="10418" y="57690"/>
                  <a:pt x="10570" y="59773"/>
                  <a:pt x="10852" y="61813"/>
                </a:cubicBezTo>
                <a:close/>
                <a:moveTo>
                  <a:pt x="98385" y="69909"/>
                </a:moveTo>
                <a:cubicBezTo>
                  <a:pt x="97690" y="69605"/>
                  <a:pt x="96931" y="69453"/>
                  <a:pt x="96106" y="69453"/>
                </a:cubicBezTo>
                <a:lnTo>
                  <a:pt x="93762" y="69453"/>
                </a:lnTo>
                <a:cubicBezTo>
                  <a:pt x="91852" y="69453"/>
                  <a:pt x="90289" y="67890"/>
                  <a:pt x="90289" y="65980"/>
                </a:cubicBezTo>
                <a:cubicBezTo>
                  <a:pt x="90289" y="64071"/>
                  <a:pt x="88726" y="62508"/>
                  <a:pt x="86816" y="62508"/>
                </a:cubicBezTo>
                <a:lnTo>
                  <a:pt x="79285" y="62508"/>
                </a:lnTo>
                <a:cubicBezTo>
                  <a:pt x="77440" y="62508"/>
                  <a:pt x="75682" y="63246"/>
                  <a:pt x="74380" y="64548"/>
                </a:cubicBezTo>
                <a:lnTo>
                  <a:pt x="64548" y="74380"/>
                </a:lnTo>
                <a:cubicBezTo>
                  <a:pt x="63246" y="75682"/>
                  <a:pt x="62508" y="77440"/>
                  <a:pt x="62508" y="79285"/>
                </a:cubicBezTo>
                <a:lnTo>
                  <a:pt x="62508" y="83344"/>
                </a:lnTo>
                <a:cubicBezTo>
                  <a:pt x="62508" y="87185"/>
                  <a:pt x="65611" y="90289"/>
                  <a:pt x="69453" y="90289"/>
                </a:cubicBezTo>
                <a:lnTo>
                  <a:pt x="73512" y="90289"/>
                </a:lnTo>
                <a:cubicBezTo>
                  <a:pt x="75357" y="90289"/>
                  <a:pt x="77115" y="91027"/>
                  <a:pt x="78417" y="92329"/>
                </a:cubicBezTo>
                <a:cubicBezTo>
                  <a:pt x="78894" y="92807"/>
                  <a:pt x="79437" y="93219"/>
                  <a:pt x="80001" y="93523"/>
                </a:cubicBezTo>
                <a:cubicBezTo>
                  <a:pt x="88531" y="88010"/>
                  <a:pt x="95086" y="79719"/>
                  <a:pt x="98363" y="69909"/>
                </a:cubicBezTo>
                <a:close/>
                <a:moveTo>
                  <a:pt x="0" y="55563"/>
                </a:moveTo>
                <a:cubicBezTo>
                  <a:pt x="0" y="24897"/>
                  <a:pt x="24897" y="0"/>
                  <a:pt x="55562" y="0"/>
                </a:cubicBezTo>
                <a:cubicBezTo>
                  <a:pt x="86228" y="0"/>
                  <a:pt x="111125" y="24897"/>
                  <a:pt x="111125" y="55562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lose/>
                <a:moveTo>
                  <a:pt x="27781" y="79871"/>
                </a:moveTo>
                <a:cubicBezTo>
                  <a:pt x="27781" y="81781"/>
                  <a:pt x="29344" y="83344"/>
                  <a:pt x="31254" y="83344"/>
                </a:cubicBezTo>
                <a:lnTo>
                  <a:pt x="38199" y="83344"/>
                </a:lnTo>
                <a:cubicBezTo>
                  <a:pt x="40109" y="83344"/>
                  <a:pt x="41672" y="81781"/>
                  <a:pt x="41672" y="79871"/>
                </a:cubicBezTo>
                <a:cubicBezTo>
                  <a:pt x="41672" y="77961"/>
                  <a:pt x="40109" y="76398"/>
                  <a:pt x="38199" y="76398"/>
                </a:cubicBezTo>
                <a:lnTo>
                  <a:pt x="31254" y="76398"/>
                </a:lnTo>
                <a:cubicBezTo>
                  <a:pt x="29344" y="76398"/>
                  <a:pt x="27781" y="77961"/>
                  <a:pt x="27781" y="79871"/>
                </a:cubicBezTo>
                <a:close/>
                <a:moveTo>
                  <a:pt x="59035" y="55563"/>
                </a:moveTo>
                <a:cubicBezTo>
                  <a:pt x="57125" y="55563"/>
                  <a:pt x="55563" y="57125"/>
                  <a:pt x="55563" y="59035"/>
                </a:cubicBezTo>
                <a:lnTo>
                  <a:pt x="55563" y="65980"/>
                </a:lnTo>
                <a:cubicBezTo>
                  <a:pt x="55563" y="67890"/>
                  <a:pt x="57125" y="69453"/>
                  <a:pt x="59035" y="69453"/>
                </a:cubicBezTo>
                <a:cubicBezTo>
                  <a:pt x="60945" y="69453"/>
                  <a:pt x="62508" y="67890"/>
                  <a:pt x="62508" y="65980"/>
                </a:cubicBezTo>
                <a:lnTo>
                  <a:pt x="62508" y="59035"/>
                </a:lnTo>
                <a:cubicBezTo>
                  <a:pt x="62508" y="57125"/>
                  <a:pt x="60945" y="55563"/>
                  <a:pt x="59035" y="55563"/>
                </a:cubicBezTo>
                <a:close/>
                <a:moveTo>
                  <a:pt x="69453" y="31254"/>
                </a:moveTo>
                <a:lnTo>
                  <a:pt x="69453" y="38199"/>
                </a:lnTo>
                <a:cubicBezTo>
                  <a:pt x="69453" y="40109"/>
                  <a:pt x="71016" y="41672"/>
                  <a:pt x="72926" y="41672"/>
                </a:cubicBezTo>
                <a:cubicBezTo>
                  <a:pt x="74836" y="41672"/>
                  <a:pt x="76398" y="40109"/>
                  <a:pt x="76398" y="38199"/>
                </a:cubicBezTo>
                <a:lnTo>
                  <a:pt x="76398" y="31254"/>
                </a:lnTo>
                <a:cubicBezTo>
                  <a:pt x="76398" y="29344"/>
                  <a:pt x="74836" y="27781"/>
                  <a:pt x="72926" y="27781"/>
                </a:cubicBezTo>
                <a:cubicBezTo>
                  <a:pt x="71016" y="27781"/>
                  <a:pt x="69453" y="29344"/>
                  <a:pt x="69453" y="31254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Text 71"/>
          <p:cNvSpPr/>
          <p:nvPr/>
        </p:nvSpPr>
        <p:spPr>
          <a:xfrm>
            <a:off x="7060406" y="5842000"/>
            <a:ext cx="1984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Asia-Pacific fleet growth (142% by 2043)</a:t>
            </a:r>
            <a:endParaRPr lang="en-US" sz="1600" dirty="0"/>
          </a:p>
        </p:txBody>
      </p:sp>
      <p:sp>
        <p:nvSpPr>
          <p:cNvPr id="76" name="Shape 72"/>
          <p:cNvSpPr/>
          <p:nvPr/>
        </p:nvSpPr>
        <p:spPr>
          <a:xfrm>
            <a:off x="6873875" y="60880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2291" y="1454"/>
                </a:moveTo>
                <a:cubicBezTo>
                  <a:pt x="103680" y="130"/>
                  <a:pt x="105699" y="-347"/>
                  <a:pt x="107566" y="260"/>
                </a:cubicBezTo>
                <a:cubicBezTo>
                  <a:pt x="109693" y="977"/>
                  <a:pt x="111125" y="2973"/>
                  <a:pt x="111125" y="5209"/>
                </a:cubicBezTo>
                <a:lnTo>
                  <a:pt x="111125" y="45774"/>
                </a:lnTo>
                <a:cubicBezTo>
                  <a:pt x="111125" y="74250"/>
                  <a:pt x="87663" y="97234"/>
                  <a:pt x="59296" y="97234"/>
                </a:cubicBezTo>
                <a:cubicBezTo>
                  <a:pt x="42583" y="97234"/>
                  <a:pt x="28172" y="86491"/>
                  <a:pt x="22941" y="71472"/>
                </a:cubicBezTo>
                <a:cubicBezTo>
                  <a:pt x="15258" y="78156"/>
                  <a:pt x="10418" y="87988"/>
                  <a:pt x="10418" y="98971"/>
                </a:cubicBezTo>
                <a:cubicBezTo>
                  <a:pt x="10418" y="101857"/>
                  <a:pt x="8096" y="104180"/>
                  <a:pt x="5209" y="104180"/>
                </a:cubicBezTo>
                <a:cubicBezTo>
                  <a:pt x="2322" y="104180"/>
                  <a:pt x="0" y="101857"/>
                  <a:pt x="0" y="98971"/>
                </a:cubicBezTo>
                <a:cubicBezTo>
                  <a:pt x="0" y="82714"/>
                  <a:pt x="8291" y="68390"/>
                  <a:pt x="20858" y="59968"/>
                </a:cubicBezTo>
                <a:cubicBezTo>
                  <a:pt x="28519" y="54846"/>
                  <a:pt x="37657" y="52090"/>
                  <a:pt x="46881" y="52090"/>
                </a:cubicBezTo>
                <a:lnTo>
                  <a:pt x="64244" y="52090"/>
                </a:lnTo>
                <a:cubicBezTo>
                  <a:pt x="67131" y="52090"/>
                  <a:pt x="69453" y="49768"/>
                  <a:pt x="69453" y="46881"/>
                </a:cubicBezTo>
                <a:cubicBezTo>
                  <a:pt x="69453" y="43994"/>
                  <a:pt x="67131" y="41672"/>
                  <a:pt x="64244" y="41672"/>
                </a:cubicBezTo>
                <a:lnTo>
                  <a:pt x="46881" y="41672"/>
                </a:lnTo>
                <a:cubicBezTo>
                  <a:pt x="38264" y="41672"/>
                  <a:pt x="30104" y="43582"/>
                  <a:pt x="22789" y="46989"/>
                </a:cubicBezTo>
                <a:cubicBezTo>
                  <a:pt x="27846" y="31797"/>
                  <a:pt x="42149" y="20836"/>
                  <a:pt x="59035" y="20836"/>
                </a:cubicBezTo>
                <a:cubicBezTo>
                  <a:pt x="73447" y="20836"/>
                  <a:pt x="84169" y="16039"/>
                  <a:pt x="91309" y="11286"/>
                </a:cubicBezTo>
                <a:cubicBezTo>
                  <a:pt x="95476" y="8508"/>
                  <a:pt x="99014" y="5187"/>
                  <a:pt x="102313" y="1454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Text 73"/>
          <p:cNvSpPr/>
          <p:nvPr/>
        </p:nvSpPr>
        <p:spPr>
          <a:xfrm>
            <a:off x="7060406" y="6064250"/>
            <a:ext cx="1857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 modernization for fuel efficiency</a:t>
            </a:r>
            <a:endParaRPr lang="en-US" sz="1600" dirty="0"/>
          </a:p>
        </p:txBody>
      </p:sp>
      <p:sp>
        <p:nvSpPr>
          <p:cNvPr id="78" name="Shape 74"/>
          <p:cNvSpPr/>
          <p:nvPr/>
        </p:nvSpPr>
        <p:spPr>
          <a:xfrm>
            <a:off x="6880820" y="631031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80175" y="27781"/>
                </a:moveTo>
                <a:lnTo>
                  <a:pt x="72730" y="17363"/>
                </a:lnTo>
                <a:lnTo>
                  <a:pt x="24526" y="17363"/>
                </a:lnTo>
                <a:lnTo>
                  <a:pt x="17081" y="27781"/>
                </a:lnTo>
                <a:lnTo>
                  <a:pt x="80175" y="27781"/>
                </a:lnTo>
                <a:close/>
                <a:moveTo>
                  <a:pt x="0" y="32231"/>
                </a:moveTo>
                <a:cubicBezTo>
                  <a:pt x="0" y="29344"/>
                  <a:pt x="912" y="26522"/>
                  <a:pt x="2583" y="24157"/>
                </a:cubicBezTo>
                <a:lnTo>
                  <a:pt x="13218" y="9289"/>
                </a:lnTo>
                <a:cubicBezTo>
                  <a:pt x="15822" y="5643"/>
                  <a:pt x="20033" y="3473"/>
                  <a:pt x="24504" y="3473"/>
                </a:cubicBezTo>
                <a:lnTo>
                  <a:pt x="72709" y="3473"/>
                </a:lnTo>
                <a:cubicBezTo>
                  <a:pt x="77201" y="3473"/>
                  <a:pt x="81412" y="5643"/>
                  <a:pt x="84017" y="9289"/>
                </a:cubicBezTo>
                <a:lnTo>
                  <a:pt x="94630" y="24157"/>
                </a:lnTo>
                <a:cubicBezTo>
                  <a:pt x="96323" y="26522"/>
                  <a:pt x="97213" y="29344"/>
                  <a:pt x="97213" y="32231"/>
                </a:cubicBezTo>
                <a:lnTo>
                  <a:pt x="97234" y="90289"/>
                </a:lnTo>
                <a:cubicBezTo>
                  <a:pt x="97234" y="97951"/>
                  <a:pt x="91005" y="104180"/>
                  <a:pt x="83344" y="104180"/>
                </a:cubicBezTo>
                <a:lnTo>
                  <a:pt x="13891" y="104180"/>
                </a:lnTo>
                <a:cubicBezTo>
                  <a:pt x="6229" y="104180"/>
                  <a:pt x="0" y="97951"/>
                  <a:pt x="0" y="90289"/>
                </a:cubicBezTo>
                <a:lnTo>
                  <a:pt x="0" y="32231"/>
                </a:ln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9" name="Text 75"/>
          <p:cNvSpPr/>
          <p:nvPr/>
        </p:nvSpPr>
        <p:spPr>
          <a:xfrm>
            <a:off x="7060406" y="6286500"/>
            <a:ext cx="137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 cargo market expansion</a:t>
            </a:r>
            <a:endParaRPr lang="en-US" sz="1600" dirty="0"/>
          </a:p>
        </p:txBody>
      </p:sp>
      <p:sp>
        <p:nvSpPr>
          <p:cNvPr id="80" name="Shape 76"/>
          <p:cNvSpPr/>
          <p:nvPr/>
        </p:nvSpPr>
        <p:spPr>
          <a:xfrm>
            <a:off x="6873875" y="65325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6561" y="0"/>
                  <a:pt x="57559" y="217"/>
                  <a:pt x="58471" y="629"/>
                </a:cubicBezTo>
                <a:lnTo>
                  <a:pt x="99361" y="17971"/>
                </a:lnTo>
                <a:cubicBezTo>
                  <a:pt x="104136" y="19989"/>
                  <a:pt x="107696" y="24699"/>
                  <a:pt x="107674" y="30386"/>
                </a:cubicBezTo>
                <a:cubicBezTo>
                  <a:pt x="107566" y="51916"/>
                  <a:pt x="98710" y="91309"/>
                  <a:pt x="61314" y="109215"/>
                </a:cubicBezTo>
                <a:cubicBezTo>
                  <a:pt x="57690" y="110951"/>
                  <a:pt x="53479" y="110951"/>
                  <a:pt x="49854" y="109215"/>
                </a:cubicBezTo>
                <a:cubicBezTo>
                  <a:pt x="12436" y="91309"/>
                  <a:pt x="3603" y="51916"/>
                  <a:pt x="3494" y="30386"/>
                </a:cubicBezTo>
                <a:cubicBezTo>
                  <a:pt x="3473" y="24699"/>
                  <a:pt x="7032" y="19989"/>
                  <a:pt x="11807" y="17971"/>
                </a:cubicBezTo>
                <a:lnTo>
                  <a:pt x="52676" y="629"/>
                </a:lnTo>
                <a:cubicBezTo>
                  <a:pt x="53587" y="217"/>
                  <a:pt x="54564" y="0"/>
                  <a:pt x="55563" y="0"/>
                </a:cubicBezTo>
                <a:close/>
                <a:moveTo>
                  <a:pt x="55563" y="14498"/>
                </a:moveTo>
                <a:lnTo>
                  <a:pt x="55563" y="96562"/>
                </a:lnTo>
                <a:cubicBezTo>
                  <a:pt x="85514" y="82063"/>
                  <a:pt x="93566" y="49941"/>
                  <a:pt x="93762" y="30711"/>
                </a:cubicBezTo>
                <a:lnTo>
                  <a:pt x="55563" y="14520"/>
                </a:lnTo>
                <a:lnTo>
                  <a:pt x="55563" y="14520"/>
                </a:ln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Text 77"/>
          <p:cNvSpPr/>
          <p:nvPr/>
        </p:nvSpPr>
        <p:spPr>
          <a:xfrm>
            <a:off x="7060406" y="6508750"/>
            <a:ext cx="1793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 spending increases globally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irplanegeeks.com/d12a85390f4a1d6fc5b346b056ba23b93ed10143.jpg"/>
          <p:cNvPicPr>
            <a:picLocks noChangeAspect="1"/>
          </p:cNvPicPr>
          <p:nvPr/>
        </p:nvPicPr>
        <p:blipFill>
          <a:blip r:embed="rId3">
            <a:alphaModFix amt="25000"/>
          </a:blip>
          <a:srcRect l="10254" r="10254"/>
          <a:stretch/>
        </p:blipFill>
        <p:spPr>
          <a:xfrm>
            <a:off x="0" y="0"/>
            <a:ext cx="12192000" cy="710624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106244"/>
          </a:xfrm>
          <a:custGeom>
            <a:avLst/>
            <a:gdLst/>
            <a:ahLst/>
            <a:cxnLst/>
            <a:rect l="l" t="t" r="r" b="b"/>
            <a:pathLst>
              <a:path w="12192000" h="7106244">
                <a:moveTo>
                  <a:pt x="0" y="0"/>
                </a:moveTo>
                <a:lnTo>
                  <a:pt x="12192000" y="0"/>
                </a:lnTo>
                <a:lnTo>
                  <a:pt x="12192000" y="7106244"/>
                </a:lnTo>
                <a:lnTo>
                  <a:pt x="0" y="710624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3182CE">
                  <a:alpha val="4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345382" y="345382"/>
            <a:ext cx="11561677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kern="0" spc="143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5382" y="587150"/>
            <a:ext cx="11708465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6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Road Ahead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5382" y="1070686"/>
            <a:ext cx="11587581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 &amp; Opportunities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5382" y="1519683"/>
            <a:ext cx="11501235" cy="1105224"/>
          </a:xfrm>
          <a:custGeom>
            <a:avLst/>
            <a:gdLst/>
            <a:ahLst/>
            <a:cxnLst/>
            <a:rect l="l" t="t" r="r" b="b"/>
            <a:pathLst>
              <a:path w="11501235" h="1105224">
                <a:moveTo>
                  <a:pt x="69076" y="0"/>
                </a:moveTo>
                <a:lnTo>
                  <a:pt x="11432159" y="0"/>
                </a:lnTo>
                <a:cubicBezTo>
                  <a:pt x="11470309" y="0"/>
                  <a:pt x="11501235" y="30927"/>
                  <a:pt x="11501235" y="69076"/>
                </a:cubicBezTo>
                <a:lnTo>
                  <a:pt x="11501235" y="1036147"/>
                </a:lnTo>
                <a:cubicBezTo>
                  <a:pt x="11501235" y="1074297"/>
                  <a:pt x="11470309" y="1105224"/>
                  <a:pt x="11432159" y="1105224"/>
                </a:cubicBezTo>
                <a:lnTo>
                  <a:pt x="69076" y="1105224"/>
                </a:lnTo>
                <a:cubicBezTo>
                  <a:pt x="30927" y="1105224"/>
                  <a:pt x="0" y="1074297"/>
                  <a:pt x="0" y="1036147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18074" y="1692374"/>
            <a:ext cx="11233564" cy="75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24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Boeing stands at a </a:t>
            </a:r>
            <a:r>
              <a:rPr lang="en-US" sz="1224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juncture</a:t>
            </a:r>
            <a:r>
              <a:rPr lang="en-US" sz="1224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significant challenges ahead: restoring customer and regulator trust, ramping up production while maintaining quality, managing 777X certification delays, and competing with Airbus's momentum. However, with </a:t>
            </a:r>
            <a:r>
              <a:rPr lang="en-US" sz="1224" dirty="0">
                <a:solidFill>
                  <a:srgbClr val="3182CE"/>
                </a:solidFill>
                <a:highlight>
                  <a:srgbClr val="3182CE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order backlog of 6,130 aircraft </a:t>
            </a:r>
            <a:r>
              <a:rPr lang="en-US" sz="1224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new leadership focused on safety culture, and recovering production rates, Boeing has a clear path to reclaiming its position as an aerospace leader.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2652" y="2795439"/>
            <a:ext cx="5647003" cy="2806232"/>
          </a:xfrm>
          <a:custGeom>
            <a:avLst/>
            <a:gdLst/>
            <a:ahLst/>
            <a:cxnLst/>
            <a:rect l="l" t="t" r="r" b="b"/>
            <a:pathLst>
              <a:path w="5647003" h="2806232">
                <a:moveTo>
                  <a:pt x="34538" y="0"/>
                </a:moveTo>
                <a:lnTo>
                  <a:pt x="5577913" y="0"/>
                </a:lnTo>
                <a:cubicBezTo>
                  <a:pt x="5616070" y="0"/>
                  <a:pt x="5647003" y="30932"/>
                  <a:pt x="5647003" y="69089"/>
                </a:cubicBezTo>
                <a:lnTo>
                  <a:pt x="5647003" y="2737143"/>
                </a:lnTo>
                <a:cubicBezTo>
                  <a:pt x="5647003" y="2775300"/>
                  <a:pt x="5616070" y="2806232"/>
                  <a:pt x="5577913" y="2806232"/>
                </a:cubicBezTo>
                <a:lnTo>
                  <a:pt x="34538" y="2806232"/>
                </a:lnTo>
                <a:cubicBezTo>
                  <a:pt x="15463" y="2806232"/>
                  <a:pt x="0" y="2790769"/>
                  <a:pt x="0" y="2771694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362652" y="2795439"/>
            <a:ext cx="34538" cy="2806232"/>
          </a:xfrm>
          <a:custGeom>
            <a:avLst/>
            <a:gdLst/>
            <a:ahLst/>
            <a:cxnLst/>
            <a:rect l="l" t="t" r="r" b="b"/>
            <a:pathLst>
              <a:path w="34538" h="2806232">
                <a:moveTo>
                  <a:pt x="34538" y="0"/>
                </a:moveTo>
                <a:lnTo>
                  <a:pt x="34538" y="0"/>
                </a:lnTo>
                <a:lnTo>
                  <a:pt x="34538" y="2806232"/>
                </a:lnTo>
                <a:lnTo>
                  <a:pt x="34538" y="2806232"/>
                </a:lnTo>
                <a:cubicBezTo>
                  <a:pt x="15463" y="2806232"/>
                  <a:pt x="0" y="2790769"/>
                  <a:pt x="0" y="2771694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87150" y="2976765"/>
            <a:ext cx="259037" cy="259037"/>
          </a:xfrm>
          <a:custGeom>
            <a:avLst/>
            <a:gdLst/>
            <a:ahLst/>
            <a:cxnLst/>
            <a:rect l="l" t="t" r="r" b="b"/>
            <a:pathLst>
              <a:path w="259037" h="259037">
                <a:moveTo>
                  <a:pt x="129518" y="259037"/>
                </a:moveTo>
                <a:cubicBezTo>
                  <a:pt x="201002" y="259037"/>
                  <a:pt x="259037" y="201002"/>
                  <a:pt x="259037" y="129518"/>
                </a:cubicBezTo>
                <a:cubicBezTo>
                  <a:pt x="259037" y="58035"/>
                  <a:pt x="201002" y="0"/>
                  <a:pt x="129518" y="0"/>
                </a:cubicBezTo>
                <a:cubicBezTo>
                  <a:pt x="58035" y="0"/>
                  <a:pt x="0" y="58035"/>
                  <a:pt x="0" y="129518"/>
                </a:cubicBezTo>
                <a:cubicBezTo>
                  <a:pt x="0" y="201002"/>
                  <a:pt x="58035" y="259037"/>
                  <a:pt x="129518" y="259037"/>
                </a:cubicBezTo>
                <a:close/>
                <a:moveTo>
                  <a:pt x="129518" y="68807"/>
                </a:moveTo>
                <a:cubicBezTo>
                  <a:pt x="136247" y="68807"/>
                  <a:pt x="141661" y="74220"/>
                  <a:pt x="141661" y="80949"/>
                </a:cubicBezTo>
                <a:lnTo>
                  <a:pt x="141661" y="137613"/>
                </a:lnTo>
                <a:cubicBezTo>
                  <a:pt x="141661" y="144342"/>
                  <a:pt x="136247" y="149756"/>
                  <a:pt x="129518" y="149756"/>
                </a:cubicBezTo>
                <a:cubicBezTo>
                  <a:pt x="122790" y="149756"/>
                  <a:pt x="117376" y="144342"/>
                  <a:pt x="117376" y="137613"/>
                </a:cubicBezTo>
                <a:lnTo>
                  <a:pt x="117376" y="80949"/>
                </a:lnTo>
                <a:cubicBezTo>
                  <a:pt x="117376" y="74220"/>
                  <a:pt x="122790" y="68807"/>
                  <a:pt x="129518" y="68807"/>
                </a:cubicBezTo>
                <a:close/>
                <a:moveTo>
                  <a:pt x="116010" y="178088"/>
                </a:moveTo>
                <a:cubicBezTo>
                  <a:pt x="115703" y="173074"/>
                  <a:pt x="118203" y="168303"/>
                  <a:pt x="122502" y="165703"/>
                </a:cubicBezTo>
                <a:cubicBezTo>
                  <a:pt x="126800" y="163103"/>
                  <a:pt x="132186" y="163103"/>
                  <a:pt x="136485" y="165703"/>
                </a:cubicBezTo>
                <a:cubicBezTo>
                  <a:pt x="140783" y="168303"/>
                  <a:pt x="143283" y="173074"/>
                  <a:pt x="142976" y="178088"/>
                </a:cubicBezTo>
                <a:cubicBezTo>
                  <a:pt x="143283" y="183102"/>
                  <a:pt x="140783" y="187872"/>
                  <a:pt x="136485" y="190472"/>
                </a:cubicBezTo>
                <a:cubicBezTo>
                  <a:pt x="132186" y="193072"/>
                  <a:pt x="126800" y="193072"/>
                  <a:pt x="122502" y="190472"/>
                </a:cubicBezTo>
                <a:cubicBezTo>
                  <a:pt x="118203" y="187872"/>
                  <a:pt x="115703" y="183102"/>
                  <a:pt x="116010" y="178088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980023" y="2968130"/>
            <a:ext cx="1511048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Challenges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52612" y="3382589"/>
            <a:ext cx="20722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1612" y="3382589"/>
            <a:ext cx="5146198" cy="34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 Restoration:</a:t>
            </a:r>
            <a:r>
              <a:rPr lang="en-US" sz="952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Rebuilding confidence with customers, regulators, and flying public after safety failures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52612" y="3831586"/>
            <a:ext cx="20722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1612" y="3831586"/>
            <a:ext cx="4723105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Quality Balance:</a:t>
            </a:r>
            <a:r>
              <a:rPr lang="en-US" sz="952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Increasing output while maintaining rigorous safety standards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2612" y="4176969"/>
            <a:ext cx="20722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1612" y="4176969"/>
            <a:ext cx="4818085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777X Delays:</a:t>
            </a:r>
            <a:r>
              <a:rPr lang="en-US" sz="952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Certification pushed to 2027, impacting customer commitments and cash flow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52612" y="4522351"/>
            <a:ext cx="20722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1612" y="4522351"/>
            <a:ext cx="505121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Share Erosion:</a:t>
            </a:r>
            <a:r>
              <a:rPr lang="en-US" sz="952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Airbus leads with 56-60% delivery share; Boeing must regain momentum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52612" y="4867734"/>
            <a:ext cx="20722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1612" y="4867734"/>
            <a:ext cx="4783547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Cash Flow Pressure:</a:t>
            </a:r>
            <a:r>
              <a:rPr lang="en-US" sz="952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 cash use until 2029; managing customer considerations for delays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97591" y="2795439"/>
            <a:ext cx="5647003" cy="2806232"/>
          </a:xfrm>
          <a:custGeom>
            <a:avLst/>
            <a:gdLst/>
            <a:ahLst/>
            <a:cxnLst/>
            <a:rect l="l" t="t" r="r" b="b"/>
            <a:pathLst>
              <a:path w="5647003" h="2806232">
                <a:moveTo>
                  <a:pt x="34538" y="0"/>
                </a:moveTo>
                <a:lnTo>
                  <a:pt x="5577913" y="0"/>
                </a:lnTo>
                <a:cubicBezTo>
                  <a:pt x="5616070" y="0"/>
                  <a:pt x="5647003" y="30932"/>
                  <a:pt x="5647003" y="69089"/>
                </a:cubicBezTo>
                <a:lnTo>
                  <a:pt x="5647003" y="2737143"/>
                </a:lnTo>
                <a:cubicBezTo>
                  <a:pt x="5647003" y="2775300"/>
                  <a:pt x="5616070" y="2806232"/>
                  <a:pt x="5577913" y="2806232"/>
                </a:cubicBezTo>
                <a:lnTo>
                  <a:pt x="34538" y="2806232"/>
                </a:lnTo>
                <a:cubicBezTo>
                  <a:pt x="15463" y="2806232"/>
                  <a:pt x="0" y="2790769"/>
                  <a:pt x="0" y="2771694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2D3748">
              <a:alpha val="9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6197591" y="2795439"/>
            <a:ext cx="34538" cy="2806232"/>
          </a:xfrm>
          <a:custGeom>
            <a:avLst/>
            <a:gdLst/>
            <a:ahLst/>
            <a:cxnLst/>
            <a:rect l="l" t="t" r="r" b="b"/>
            <a:pathLst>
              <a:path w="34538" h="2806232">
                <a:moveTo>
                  <a:pt x="34538" y="0"/>
                </a:moveTo>
                <a:lnTo>
                  <a:pt x="34538" y="0"/>
                </a:lnTo>
                <a:lnTo>
                  <a:pt x="34538" y="2806232"/>
                </a:lnTo>
                <a:lnTo>
                  <a:pt x="34538" y="2806232"/>
                </a:lnTo>
                <a:cubicBezTo>
                  <a:pt x="15463" y="2806232"/>
                  <a:pt x="0" y="2790769"/>
                  <a:pt x="0" y="2771694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6422090" y="2976765"/>
            <a:ext cx="259037" cy="259037"/>
          </a:xfrm>
          <a:custGeom>
            <a:avLst/>
            <a:gdLst/>
            <a:ahLst/>
            <a:cxnLst/>
            <a:rect l="l" t="t" r="r" b="b"/>
            <a:pathLst>
              <a:path w="259037" h="259037">
                <a:moveTo>
                  <a:pt x="64759" y="161898"/>
                </a:moveTo>
                <a:lnTo>
                  <a:pt x="12395" y="161898"/>
                </a:lnTo>
                <a:cubicBezTo>
                  <a:pt x="-202" y="161898"/>
                  <a:pt x="-7943" y="148187"/>
                  <a:pt x="-1467" y="137360"/>
                </a:cubicBezTo>
                <a:lnTo>
                  <a:pt x="25297" y="92737"/>
                </a:lnTo>
                <a:cubicBezTo>
                  <a:pt x="29698" y="85401"/>
                  <a:pt x="37591" y="80949"/>
                  <a:pt x="46141" y="80949"/>
                </a:cubicBezTo>
                <a:lnTo>
                  <a:pt x="94204" y="80949"/>
                </a:lnTo>
                <a:cubicBezTo>
                  <a:pt x="132706" y="15734"/>
                  <a:pt x="190129" y="12446"/>
                  <a:pt x="228529" y="18062"/>
                </a:cubicBezTo>
                <a:cubicBezTo>
                  <a:pt x="235005" y="19023"/>
                  <a:pt x="240064" y="24082"/>
                  <a:pt x="240975" y="30508"/>
                </a:cubicBezTo>
                <a:cubicBezTo>
                  <a:pt x="246591" y="68908"/>
                  <a:pt x="243302" y="126331"/>
                  <a:pt x="178088" y="164832"/>
                </a:cubicBezTo>
                <a:lnTo>
                  <a:pt x="178088" y="212896"/>
                </a:lnTo>
                <a:cubicBezTo>
                  <a:pt x="178088" y="221446"/>
                  <a:pt x="173636" y="229339"/>
                  <a:pt x="166300" y="233740"/>
                </a:cubicBezTo>
                <a:lnTo>
                  <a:pt x="121676" y="260504"/>
                </a:lnTo>
                <a:cubicBezTo>
                  <a:pt x="110900" y="266980"/>
                  <a:pt x="97139" y="259189"/>
                  <a:pt x="97139" y="246642"/>
                </a:cubicBezTo>
                <a:lnTo>
                  <a:pt x="97139" y="194278"/>
                </a:lnTo>
                <a:cubicBezTo>
                  <a:pt x="97139" y="176418"/>
                  <a:pt x="82619" y="161898"/>
                  <a:pt x="64759" y="161898"/>
                </a:cubicBezTo>
                <a:lnTo>
                  <a:pt x="64709" y="161898"/>
                </a:lnTo>
                <a:close/>
                <a:moveTo>
                  <a:pt x="202373" y="80949"/>
                </a:moveTo>
                <a:cubicBezTo>
                  <a:pt x="202373" y="67546"/>
                  <a:pt x="191491" y="56664"/>
                  <a:pt x="178088" y="56664"/>
                </a:cubicBezTo>
                <a:cubicBezTo>
                  <a:pt x="164685" y="56664"/>
                  <a:pt x="153803" y="67546"/>
                  <a:pt x="153803" y="80949"/>
                </a:cubicBezTo>
                <a:cubicBezTo>
                  <a:pt x="153803" y="94352"/>
                  <a:pt x="164685" y="105234"/>
                  <a:pt x="178088" y="105234"/>
                </a:cubicBezTo>
                <a:cubicBezTo>
                  <a:pt x="191491" y="105234"/>
                  <a:pt x="202373" y="94352"/>
                  <a:pt x="202373" y="80949"/>
                </a:cubicBezTo>
                <a:close/>
              </a:path>
            </a:pathLst>
          </a:cu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6814962" y="2968130"/>
            <a:ext cx="223635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Opportunities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87551" y="3382589"/>
            <a:ext cx="20722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586551" y="3382589"/>
            <a:ext cx="5059853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Backlog Strength:</a:t>
            </a:r>
            <a:r>
              <a:rPr lang="en-US" sz="952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6,130 aircraft provide years of revenue visibility and production stability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87551" y="3727972"/>
            <a:ext cx="20722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586551" y="3727972"/>
            <a:ext cx="4576317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Leadership Renewal:</a:t>
            </a:r>
            <a:r>
              <a:rPr lang="en-US" sz="952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Kelly Ortberg's operational expertise and turnaround track record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87551" y="4073354"/>
            <a:ext cx="20722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586551" y="4073354"/>
            <a:ext cx="4843989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Recovery:</a:t>
            </a:r>
            <a:r>
              <a:rPr lang="en-US" sz="952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600 deliveries in 2025 show momentum; targeting 47-52 737s/month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387551" y="4418737"/>
            <a:ext cx="20722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586551" y="4418737"/>
            <a:ext cx="4921700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Widebody Leadership:</a:t>
            </a:r>
            <a:r>
              <a:rPr lang="en-US" sz="952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787 and 777X position Boeing strongly in profitable twin-aisle segment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387551" y="4764119"/>
            <a:ext cx="20722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318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586551" y="4764119"/>
            <a:ext cx="4222300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 Growth:</a:t>
            </a:r>
            <a:r>
              <a:rPr lang="en-US" sz="952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$7.42B Q4 revenue (+37% YoY) amid global security challenges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49700" y="5778005"/>
            <a:ext cx="11492601" cy="975705"/>
          </a:xfrm>
          <a:custGeom>
            <a:avLst/>
            <a:gdLst/>
            <a:ahLst/>
            <a:cxnLst/>
            <a:rect l="l" t="t" r="r" b="b"/>
            <a:pathLst>
              <a:path w="11492601" h="975705">
                <a:moveTo>
                  <a:pt x="69080" y="0"/>
                </a:moveTo>
                <a:lnTo>
                  <a:pt x="11423521" y="0"/>
                </a:lnTo>
                <a:cubicBezTo>
                  <a:pt x="11461672" y="0"/>
                  <a:pt x="11492601" y="30928"/>
                  <a:pt x="11492601" y="69080"/>
                </a:cubicBezTo>
                <a:lnTo>
                  <a:pt x="11492601" y="906625"/>
                </a:lnTo>
                <a:cubicBezTo>
                  <a:pt x="11492601" y="944777"/>
                  <a:pt x="11461672" y="975705"/>
                  <a:pt x="11423521" y="975705"/>
                </a:cubicBezTo>
                <a:lnTo>
                  <a:pt x="69080" y="975705"/>
                </a:lnTo>
                <a:cubicBezTo>
                  <a:pt x="30928" y="975705"/>
                  <a:pt x="0" y="944777"/>
                  <a:pt x="0" y="906625"/>
                </a:cubicBezTo>
                <a:lnTo>
                  <a:pt x="0" y="69080"/>
                </a:lnTo>
                <a:cubicBezTo>
                  <a:pt x="0" y="30954"/>
                  <a:pt x="30954" y="0"/>
                  <a:pt x="69080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20000"/>
                </a:srgbClr>
              </a:gs>
              <a:gs pos="100000">
                <a:srgbClr val="B7943C">
                  <a:alpha val="20000"/>
                </a:srgbClr>
              </a:gs>
            </a:gsLst>
            <a:lin ang="0" scaled="1"/>
          </a:gradFill>
          <a:ln w="12700">
            <a:solidFill>
              <a:srgbClr val="B794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561246" y="6110436"/>
            <a:ext cx="233133" cy="310844"/>
          </a:xfrm>
          <a:custGeom>
            <a:avLst/>
            <a:gdLst/>
            <a:ahLst/>
            <a:cxnLst/>
            <a:rect l="l" t="t" r="r" b="b"/>
            <a:pathLst>
              <a:path w="233133" h="310844">
                <a:moveTo>
                  <a:pt x="177825" y="233133"/>
                </a:moveTo>
                <a:cubicBezTo>
                  <a:pt x="182257" y="219594"/>
                  <a:pt x="191121" y="207331"/>
                  <a:pt x="201138" y="196767"/>
                </a:cubicBezTo>
                <a:cubicBezTo>
                  <a:pt x="220991" y="175882"/>
                  <a:pt x="233133" y="147651"/>
                  <a:pt x="233133" y="116567"/>
                </a:cubicBezTo>
                <a:cubicBezTo>
                  <a:pt x="233133" y="52212"/>
                  <a:pt x="180921" y="0"/>
                  <a:pt x="116567" y="0"/>
                </a:cubicBezTo>
                <a:cubicBezTo>
                  <a:pt x="52212" y="0"/>
                  <a:pt x="0" y="52212"/>
                  <a:pt x="0" y="116567"/>
                </a:cubicBezTo>
                <a:cubicBezTo>
                  <a:pt x="0" y="147651"/>
                  <a:pt x="12142" y="175882"/>
                  <a:pt x="31995" y="196767"/>
                </a:cubicBezTo>
                <a:cubicBezTo>
                  <a:pt x="42013" y="207331"/>
                  <a:pt x="50937" y="219594"/>
                  <a:pt x="55308" y="233133"/>
                </a:cubicBezTo>
                <a:lnTo>
                  <a:pt x="177764" y="233133"/>
                </a:lnTo>
                <a:close/>
                <a:moveTo>
                  <a:pt x="174850" y="262275"/>
                </a:moveTo>
                <a:lnTo>
                  <a:pt x="58283" y="262275"/>
                </a:lnTo>
                <a:lnTo>
                  <a:pt x="58283" y="271989"/>
                </a:lnTo>
                <a:cubicBezTo>
                  <a:pt x="58283" y="298823"/>
                  <a:pt x="80018" y="320558"/>
                  <a:pt x="106853" y="320558"/>
                </a:cubicBezTo>
                <a:lnTo>
                  <a:pt x="126280" y="320558"/>
                </a:lnTo>
                <a:cubicBezTo>
                  <a:pt x="153115" y="320558"/>
                  <a:pt x="174850" y="298823"/>
                  <a:pt x="174850" y="271989"/>
                </a:cubicBezTo>
                <a:lnTo>
                  <a:pt x="174850" y="262275"/>
                </a:lnTo>
                <a:close/>
                <a:moveTo>
                  <a:pt x="111710" y="67997"/>
                </a:moveTo>
                <a:cubicBezTo>
                  <a:pt x="87546" y="67997"/>
                  <a:pt x="67997" y="87546"/>
                  <a:pt x="67997" y="111710"/>
                </a:cubicBezTo>
                <a:cubicBezTo>
                  <a:pt x="67997" y="119784"/>
                  <a:pt x="61501" y="126280"/>
                  <a:pt x="53426" y="126280"/>
                </a:cubicBezTo>
                <a:cubicBezTo>
                  <a:pt x="45352" y="126280"/>
                  <a:pt x="38856" y="119784"/>
                  <a:pt x="38856" y="111710"/>
                </a:cubicBezTo>
                <a:cubicBezTo>
                  <a:pt x="38856" y="71458"/>
                  <a:pt x="71458" y="38856"/>
                  <a:pt x="111710" y="38856"/>
                </a:cubicBezTo>
                <a:cubicBezTo>
                  <a:pt x="119784" y="38856"/>
                  <a:pt x="126280" y="45352"/>
                  <a:pt x="126280" y="53426"/>
                </a:cubicBezTo>
                <a:cubicBezTo>
                  <a:pt x="126280" y="61501"/>
                  <a:pt x="119784" y="67997"/>
                  <a:pt x="111710" y="67997"/>
                </a:cubicBezTo>
                <a:close/>
              </a:path>
            </a:pathLst>
          </a:custGeom>
          <a:solidFill>
            <a:srgbClr val="B794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1002284" y="5920476"/>
            <a:ext cx="10775932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Success Factor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02284" y="6196782"/>
            <a:ext cx="10758663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will depend on </a:t>
            </a:r>
            <a:r>
              <a:rPr lang="en-US" sz="1088" b="1" dirty="0">
                <a:solidFill>
                  <a:srgbClr val="B79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executing the turnaround plan while prioritizing safety over speed</a:t>
            </a:r>
            <a:r>
              <a:rPr lang="en-US" sz="108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Boeing must prove it can build quality aircraft at scale while rebuilding trust with all stakeholders.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2438</Words>
  <Application>Microsoft Office PowerPoint</Application>
  <PresentationFormat>Widescreen</PresentationFormat>
  <Paragraphs>473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Liter</vt:lpstr>
      <vt:lpstr>Quattrocento Sans</vt:lpstr>
      <vt:lpstr>Hedvig Letters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Boeing: Navigating Turbulence Toward Recovery</dc:title>
  <dc:subject>Boeing: Navigating Turbulence Toward Recovery</dc:subject>
  <dc:creator>Kimi</dc:creator>
  <cp:lastModifiedBy>Andrew McCreath</cp:lastModifiedBy>
  <cp:revision>2</cp:revision>
  <dcterms:created xsi:type="dcterms:W3CDTF">2026-01-29T02:09:14Z</dcterms:created>
  <dcterms:modified xsi:type="dcterms:W3CDTF">2026-01-29T02:13:49Z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{"Label":"Boeing: Navigating Turbulence Toward Recovery","ContentProducer":"001191110108MACG2KBH8F10000","ProduceID":"19c077be-5502-8219-8000-0000965db224","ReservedCode1":"","ContentPropagator":"001191110108MACG2KBH8F20000","PropagateID":"19c077be-5502-8219-8000-0000965db224","ReservedCode2":""}</vt:lpwstr>
  </property>
</Properties>
</file>