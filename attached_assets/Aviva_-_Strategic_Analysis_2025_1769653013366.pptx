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28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980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0c0f44db707e63935bd58919f75f3aea8029aa5b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71500" y="438150"/>
            <a:ext cx="365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SALES &amp; GTM PLAYBOOK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704850"/>
            <a:ext cx="3648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 Planning Strategy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324100"/>
            <a:ext cx="609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467100"/>
            <a:ext cx="586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 Planning Strategy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3863" y="4400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81050" y="438150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FY2025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821210" y="44005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164110" y="4381500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UK's Largest Insurer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150370" y="44005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550420" y="438150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20M+ Customers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81000" y="601980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Opportunity Assessment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624840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• AI • Workflow Automation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510689" y="598170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20214" y="62484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Internal Use Only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44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OPPORTUNITY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65436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Summary: Why Aviva, Why Now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66800"/>
            <a:ext cx="1131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is mid-flight through platform modernisation + AI enablement—creating a strategic window for workflow automation and hybrid cloud solutions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5629275" cy="1809750"/>
          </a:xfrm>
          <a:custGeom>
            <a:avLst/>
            <a:gdLst/>
            <a:ahLst/>
            <a:cxnLst/>
            <a:rect l="l" t="t" r="r" b="b"/>
            <a:pathLst>
              <a:path w="5629275" h="180975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695446"/>
                </a:lnTo>
                <a:cubicBezTo>
                  <a:pt x="5629275" y="1758574"/>
                  <a:pt x="5578099" y="1809750"/>
                  <a:pt x="5514971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81025" y="16906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02469" y="182403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190625" y="1690688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Migration in Progress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2033588"/>
            <a:ext cx="47053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policy platform "Bamboo" successfully migrated to Microsoft Azure—one of the largest insurance system migrations, delivering </a:t>
            </a: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 faster quote response times</a:t>
            </a: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 system performance improvement</a:t>
            </a: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5763" y="3424238"/>
            <a:ext cx="5629275" cy="1809750"/>
          </a:xfrm>
          <a:custGeom>
            <a:avLst/>
            <a:gdLst/>
            <a:ahLst/>
            <a:cxnLst/>
            <a:rect l="l" t="t" r="r" b="b"/>
            <a:pathLst>
              <a:path w="5629275" h="180975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695446"/>
                </a:lnTo>
                <a:cubicBezTo>
                  <a:pt x="5629275" y="1758574"/>
                  <a:pt x="5578099" y="1809750"/>
                  <a:pt x="5514971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581025" y="366236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90563" y="379571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190625" y="3662362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Productivity &amp; GenAI at Scale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90625" y="4005262"/>
            <a:ext cx="47053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Copilot deployed at scale across engineering teams with Copilot Studio exploration underway. Developer acceleration tooling signals strong appetite for AI-powered productivity solutions and workflow automation.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6963" y="1452563"/>
            <a:ext cx="5629275" cy="1809750"/>
          </a:xfrm>
          <a:custGeom>
            <a:avLst/>
            <a:gdLst/>
            <a:ahLst/>
            <a:cxnLst/>
            <a:rect l="l" t="t" r="r" b="b"/>
            <a:pathLst>
              <a:path w="5629275" h="180975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695446"/>
                </a:lnTo>
                <a:cubicBezTo>
                  <a:pt x="5629275" y="1758574"/>
                  <a:pt x="5578099" y="1809750"/>
                  <a:pt x="5514971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372225" y="16906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505575" y="18240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981825" y="1690688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Scaled Data Science &amp; MLOps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81825" y="2033588"/>
            <a:ext cx="47053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partnership with Dataiku + TCS leveraging AWS EKS integration and MLOps frameworks for operationalised AI delivery with governance and CI/CD. Expanded from 10 to 250+ data scientists.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6963" y="3424238"/>
            <a:ext cx="5629275" cy="1809750"/>
          </a:xfrm>
          <a:custGeom>
            <a:avLst/>
            <a:gdLst/>
            <a:ahLst/>
            <a:cxnLst/>
            <a:rect l="l" t="t" r="r" b="b"/>
            <a:pathLst>
              <a:path w="5629275" h="1809750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695446"/>
                </a:lnTo>
                <a:cubicBezTo>
                  <a:pt x="5629275" y="1758574"/>
                  <a:pt x="5578099" y="1809750"/>
                  <a:pt x="5514971" y="1809750"/>
                </a:cubicBezTo>
                <a:lnTo>
                  <a:pt x="114304" y="1809750"/>
                </a:lnTo>
                <a:cubicBezTo>
                  <a:pt x="51176" y="1809750"/>
                  <a:pt x="0" y="1758574"/>
                  <a:pt x="0" y="1695446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372225" y="378618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493669" y="3919537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81825" y="3786188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Formal Procurement &amp; Partner Ecosystem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1825" y="4129088"/>
            <a:ext cx="47053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 supplier ecosystem with SAP Ariba procurement onboarding processes. TCS/Diligenta positioned as strategic operational partner for UK life &amp; pensions policy administration.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5395913"/>
            <a:ext cx="11420475" cy="1076325"/>
          </a:xfrm>
          <a:custGeom>
            <a:avLst/>
            <a:gdLst/>
            <a:ahLst/>
            <a:cxnLst/>
            <a:rect l="l" t="t" r="r" b="b"/>
            <a:pathLst>
              <a:path w="11420475" h="1076325">
                <a:moveTo>
                  <a:pt x="114295" y="0"/>
                </a:moveTo>
                <a:lnTo>
                  <a:pt x="11306180" y="0"/>
                </a:lnTo>
                <a:cubicBezTo>
                  <a:pt x="11369303" y="0"/>
                  <a:pt x="11420475" y="51172"/>
                  <a:pt x="11420475" y="114295"/>
                </a:cubicBezTo>
                <a:lnTo>
                  <a:pt x="11420475" y="962030"/>
                </a:lnTo>
                <a:cubicBezTo>
                  <a:pt x="11420475" y="1025153"/>
                  <a:pt x="11369303" y="1076325"/>
                  <a:pt x="1130618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42925" y="57054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76275" y="5838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152525" y="5553075"/>
            <a:ext cx="10591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Strategic Window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2525" y="5857875"/>
            <a:ext cx="10572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is driving efficiency and integration at pace, including major acquisition integration (Direct Line) in the background. This </a:t>
            </a: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increases appetite for workflow automation, resilient connectivity, and hybrid cloud controls</a:t>
            </a: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126" y="475964"/>
            <a:ext cx="73225" cy="366126"/>
          </a:xfrm>
          <a:custGeom>
            <a:avLst/>
            <a:gdLst/>
            <a:ahLst/>
            <a:cxnLst/>
            <a:rect l="l" t="t" r="r" b="b"/>
            <a:pathLst>
              <a:path w="73225" h="366126">
                <a:moveTo>
                  <a:pt x="0" y="0"/>
                </a:moveTo>
                <a:lnTo>
                  <a:pt x="73225" y="0"/>
                </a:lnTo>
                <a:lnTo>
                  <a:pt x="73225" y="366126"/>
                </a:lnTo>
                <a:lnTo>
                  <a:pt x="0" y="366126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9189" y="366126"/>
            <a:ext cx="692893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kern="0" spc="58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FIRMORAPHICS &amp; SCALE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9189" y="585802"/>
            <a:ext cx="7020468" cy="366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Company Snapshot: Firmographics That Matter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9189" y="1025153"/>
            <a:ext cx="1134991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plc – UK's leading diversified insurer with strong financial momentum and clear technology investment trajectory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0703" y="1395856"/>
            <a:ext cx="5080000" cy="3130378"/>
          </a:xfrm>
          <a:custGeom>
            <a:avLst/>
            <a:gdLst/>
            <a:ahLst/>
            <a:cxnLst/>
            <a:rect l="l" t="t" r="r" b="b"/>
            <a:pathLst>
              <a:path w="5080000" h="3130378">
                <a:moveTo>
                  <a:pt x="109845" y="0"/>
                </a:moveTo>
                <a:lnTo>
                  <a:pt x="4970155" y="0"/>
                </a:lnTo>
                <a:cubicBezTo>
                  <a:pt x="5030821" y="0"/>
                  <a:pt x="5080000" y="49179"/>
                  <a:pt x="5080000" y="109845"/>
                </a:cubicBezTo>
                <a:lnTo>
                  <a:pt x="5080000" y="3020533"/>
                </a:lnTo>
                <a:cubicBezTo>
                  <a:pt x="5080000" y="3081199"/>
                  <a:pt x="5030821" y="3130378"/>
                  <a:pt x="4970155" y="3130378"/>
                </a:cubicBezTo>
                <a:lnTo>
                  <a:pt x="109845" y="3130378"/>
                </a:lnTo>
                <a:cubicBezTo>
                  <a:pt x="49179" y="3130378"/>
                  <a:pt x="0" y="3081199"/>
                  <a:pt x="0" y="3020533"/>
                </a:cubicBezTo>
                <a:lnTo>
                  <a:pt x="0" y="109845"/>
                </a:lnTo>
                <a:cubicBezTo>
                  <a:pt x="0" y="49220"/>
                  <a:pt x="49220" y="0"/>
                  <a:pt x="10984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01820" y="1629261"/>
            <a:ext cx="123568" cy="164757"/>
          </a:xfrm>
          <a:custGeom>
            <a:avLst/>
            <a:gdLst/>
            <a:ahLst/>
            <a:cxnLst/>
            <a:rect l="l" t="t" r="r" b="b"/>
            <a:pathLst>
              <a:path w="123568" h="164757">
                <a:moveTo>
                  <a:pt x="20595" y="0"/>
                </a:moveTo>
                <a:cubicBezTo>
                  <a:pt x="9235" y="0"/>
                  <a:pt x="0" y="9235"/>
                  <a:pt x="0" y="20595"/>
                </a:cubicBezTo>
                <a:lnTo>
                  <a:pt x="0" y="144162"/>
                </a:lnTo>
                <a:cubicBezTo>
                  <a:pt x="0" y="155521"/>
                  <a:pt x="9235" y="164757"/>
                  <a:pt x="20595" y="164757"/>
                </a:cubicBezTo>
                <a:lnTo>
                  <a:pt x="102973" y="164757"/>
                </a:lnTo>
                <a:cubicBezTo>
                  <a:pt x="114332" y="164757"/>
                  <a:pt x="123568" y="155521"/>
                  <a:pt x="123568" y="144162"/>
                </a:cubicBezTo>
                <a:lnTo>
                  <a:pt x="123568" y="20595"/>
                </a:lnTo>
                <a:cubicBezTo>
                  <a:pt x="123568" y="9235"/>
                  <a:pt x="114332" y="0"/>
                  <a:pt x="102973" y="0"/>
                </a:cubicBezTo>
                <a:lnTo>
                  <a:pt x="20595" y="0"/>
                </a:lnTo>
                <a:close/>
                <a:moveTo>
                  <a:pt x="56635" y="113270"/>
                </a:moveTo>
                <a:lnTo>
                  <a:pt x="66932" y="113270"/>
                </a:lnTo>
                <a:cubicBezTo>
                  <a:pt x="72628" y="113270"/>
                  <a:pt x="77230" y="117872"/>
                  <a:pt x="77230" y="123568"/>
                </a:cubicBezTo>
                <a:lnTo>
                  <a:pt x="77230" y="149311"/>
                </a:lnTo>
                <a:lnTo>
                  <a:pt x="46338" y="149311"/>
                </a:lnTo>
                <a:lnTo>
                  <a:pt x="46338" y="123568"/>
                </a:lnTo>
                <a:cubicBezTo>
                  <a:pt x="46338" y="117872"/>
                  <a:pt x="50939" y="113270"/>
                  <a:pt x="56635" y="113270"/>
                </a:cubicBezTo>
                <a:close/>
                <a:moveTo>
                  <a:pt x="30892" y="36041"/>
                </a:moveTo>
                <a:cubicBezTo>
                  <a:pt x="30892" y="33209"/>
                  <a:pt x="33209" y="30892"/>
                  <a:pt x="36041" y="30892"/>
                </a:cubicBezTo>
                <a:lnTo>
                  <a:pt x="46338" y="30892"/>
                </a:lnTo>
                <a:cubicBezTo>
                  <a:pt x="49170" y="30892"/>
                  <a:pt x="51486" y="33209"/>
                  <a:pt x="51486" y="36041"/>
                </a:cubicBezTo>
                <a:lnTo>
                  <a:pt x="51486" y="46338"/>
                </a:lnTo>
                <a:cubicBezTo>
                  <a:pt x="51486" y="49170"/>
                  <a:pt x="49170" y="51486"/>
                  <a:pt x="46338" y="51486"/>
                </a:cubicBezTo>
                <a:lnTo>
                  <a:pt x="36041" y="51486"/>
                </a:lnTo>
                <a:cubicBezTo>
                  <a:pt x="33209" y="51486"/>
                  <a:pt x="30892" y="49170"/>
                  <a:pt x="30892" y="46338"/>
                </a:cubicBezTo>
                <a:lnTo>
                  <a:pt x="30892" y="36041"/>
                </a:lnTo>
                <a:close/>
                <a:moveTo>
                  <a:pt x="77230" y="30892"/>
                </a:moveTo>
                <a:lnTo>
                  <a:pt x="87527" y="30892"/>
                </a:lnTo>
                <a:cubicBezTo>
                  <a:pt x="90359" y="30892"/>
                  <a:pt x="92676" y="33209"/>
                  <a:pt x="92676" y="36041"/>
                </a:cubicBezTo>
                <a:lnTo>
                  <a:pt x="92676" y="46338"/>
                </a:lnTo>
                <a:cubicBezTo>
                  <a:pt x="92676" y="49170"/>
                  <a:pt x="90359" y="51486"/>
                  <a:pt x="87527" y="51486"/>
                </a:cubicBezTo>
                <a:lnTo>
                  <a:pt x="77230" y="51486"/>
                </a:lnTo>
                <a:cubicBezTo>
                  <a:pt x="74398" y="51486"/>
                  <a:pt x="72081" y="49170"/>
                  <a:pt x="72081" y="46338"/>
                </a:cubicBezTo>
                <a:lnTo>
                  <a:pt x="72081" y="36041"/>
                </a:lnTo>
                <a:cubicBezTo>
                  <a:pt x="72081" y="33209"/>
                  <a:pt x="74398" y="30892"/>
                  <a:pt x="77230" y="30892"/>
                </a:cubicBezTo>
                <a:close/>
                <a:moveTo>
                  <a:pt x="30892" y="77230"/>
                </a:moveTo>
                <a:cubicBezTo>
                  <a:pt x="30892" y="74398"/>
                  <a:pt x="33209" y="72081"/>
                  <a:pt x="36041" y="72081"/>
                </a:cubicBezTo>
                <a:lnTo>
                  <a:pt x="46338" y="72081"/>
                </a:lnTo>
                <a:cubicBezTo>
                  <a:pt x="49170" y="72081"/>
                  <a:pt x="51486" y="74398"/>
                  <a:pt x="51486" y="77230"/>
                </a:cubicBezTo>
                <a:lnTo>
                  <a:pt x="51486" y="87527"/>
                </a:lnTo>
                <a:cubicBezTo>
                  <a:pt x="51486" y="90359"/>
                  <a:pt x="49170" y="92676"/>
                  <a:pt x="46338" y="92676"/>
                </a:cubicBezTo>
                <a:lnTo>
                  <a:pt x="36041" y="92676"/>
                </a:lnTo>
                <a:cubicBezTo>
                  <a:pt x="33209" y="92676"/>
                  <a:pt x="30892" y="90359"/>
                  <a:pt x="30892" y="87527"/>
                </a:cubicBezTo>
                <a:lnTo>
                  <a:pt x="30892" y="77230"/>
                </a:lnTo>
                <a:close/>
                <a:moveTo>
                  <a:pt x="77230" y="72081"/>
                </a:moveTo>
                <a:lnTo>
                  <a:pt x="87527" y="72081"/>
                </a:lnTo>
                <a:cubicBezTo>
                  <a:pt x="90359" y="72081"/>
                  <a:pt x="92676" y="74398"/>
                  <a:pt x="92676" y="77230"/>
                </a:cubicBezTo>
                <a:lnTo>
                  <a:pt x="92676" y="87527"/>
                </a:lnTo>
                <a:cubicBezTo>
                  <a:pt x="92676" y="90359"/>
                  <a:pt x="90359" y="92676"/>
                  <a:pt x="87527" y="92676"/>
                </a:cubicBezTo>
                <a:lnTo>
                  <a:pt x="77230" y="92676"/>
                </a:lnTo>
                <a:cubicBezTo>
                  <a:pt x="74398" y="92676"/>
                  <a:pt x="72081" y="90359"/>
                  <a:pt x="72081" y="87527"/>
                </a:cubicBezTo>
                <a:lnTo>
                  <a:pt x="72081" y="77230"/>
                </a:lnTo>
                <a:cubicBezTo>
                  <a:pt x="72081" y="74398"/>
                  <a:pt x="74398" y="72081"/>
                  <a:pt x="77230" y="7208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8865" y="1583495"/>
            <a:ext cx="4576577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Firmographic Profile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342" y="2283712"/>
            <a:ext cx="4704721" cy="9153"/>
          </a:xfrm>
          <a:custGeom>
            <a:avLst/>
            <a:gdLst/>
            <a:ahLst/>
            <a:cxnLst/>
            <a:rect l="l" t="t" r="r" b="b"/>
            <a:pathLst>
              <a:path w="4704721" h="9153">
                <a:moveTo>
                  <a:pt x="0" y="0"/>
                </a:moveTo>
                <a:lnTo>
                  <a:pt x="4704721" y="0"/>
                </a:lnTo>
                <a:lnTo>
                  <a:pt x="4704721" y="9153"/>
                </a:lnTo>
                <a:lnTo>
                  <a:pt x="0" y="9153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58342" y="2004541"/>
            <a:ext cx="695640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81123" y="2004541"/>
            <a:ext cx="65902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plc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8342" y="2695604"/>
            <a:ext cx="4704721" cy="9153"/>
          </a:xfrm>
          <a:custGeom>
            <a:avLst/>
            <a:gdLst/>
            <a:ahLst/>
            <a:cxnLst/>
            <a:rect l="l" t="t" r="r" b="b"/>
            <a:pathLst>
              <a:path w="4704721" h="9153">
                <a:moveTo>
                  <a:pt x="0" y="0"/>
                </a:moveTo>
                <a:lnTo>
                  <a:pt x="4704721" y="0"/>
                </a:lnTo>
                <a:lnTo>
                  <a:pt x="4704721" y="9153"/>
                </a:lnTo>
                <a:lnTo>
                  <a:pt x="0" y="9153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58342" y="2416432"/>
            <a:ext cx="96108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Headquarters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8368" y="2416432"/>
            <a:ext cx="81463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London, UK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342" y="3107495"/>
            <a:ext cx="4704721" cy="9153"/>
          </a:xfrm>
          <a:custGeom>
            <a:avLst/>
            <a:gdLst/>
            <a:ahLst/>
            <a:cxnLst/>
            <a:rect l="l" t="t" r="r" b="b"/>
            <a:pathLst>
              <a:path w="4704721" h="9153">
                <a:moveTo>
                  <a:pt x="0" y="0"/>
                </a:moveTo>
                <a:lnTo>
                  <a:pt x="4704721" y="0"/>
                </a:lnTo>
                <a:lnTo>
                  <a:pt x="4704721" y="9153"/>
                </a:lnTo>
                <a:lnTo>
                  <a:pt x="0" y="9153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58342" y="2828324"/>
            <a:ext cx="113499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Markets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2514" y="2828324"/>
            <a:ext cx="132720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UK, Ireland, Canada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342" y="3519387"/>
            <a:ext cx="4704721" cy="9153"/>
          </a:xfrm>
          <a:custGeom>
            <a:avLst/>
            <a:gdLst/>
            <a:ahLst/>
            <a:cxnLst/>
            <a:rect l="l" t="t" r="r" b="b"/>
            <a:pathLst>
              <a:path w="4704721" h="9153">
                <a:moveTo>
                  <a:pt x="0" y="0"/>
                </a:moveTo>
                <a:lnTo>
                  <a:pt x="4704721" y="0"/>
                </a:lnTo>
                <a:lnTo>
                  <a:pt x="4704721" y="9153"/>
                </a:lnTo>
                <a:lnTo>
                  <a:pt x="0" y="9153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58342" y="3240216"/>
            <a:ext cx="87870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99152" y="3240216"/>
            <a:ext cx="113499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India, China (JV)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8342" y="3931279"/>
            <a:ext cx="4704721" cy="9153"/>
          </a:xfrm>
          <a:custGeom>
            <a:avLst/>
            <a:gdLst/>
            <a:ahLst/>
            <a:cxnLst/>
            <a:rect l="l" t="t" r="r" b="b"/>
            <a:pathLst>
              <a:path w="4704721" h="9153">
                <a:moveTo>
                  <a:pt x="0" y="0"/>
                </a:moveTo>
                <a:lnTo>
                  <a:pt x="4704721" y="0"/>
                </a:lnTo>
                <a:lnTo>
                  <a:pt x="4704721" y="9153"/>
                </a:lnTo>
                <a:lnTo>
                  <a:pt x="0" y="9153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58342" y="3652108"/>
            <a:ext cx="100684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 Employees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25315" y="3652108"/>
            <a:ext cx="61326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~16,000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8342" y="4064000"/>
            <a:ext cx="105261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Base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72767" y="4064000"/>
            <a:ext cx="46681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20M+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0703" y="4681838"/>
            <a:ext cx="5080000" cy="2169297"/>
          </a:xfrm>
          <a:custGeom>
            <a:avLst/>
            <a:gdLst/>
            <a:ahLst/>
            <a:cxnLst/>
            <a:rect l="l" t="t" r="r" b="b"/>
            <a:pathLst>
              <a:path w="5080000" h="2169297">
                <a:moveTo>
                  <a:pt x="109832" y="0"/>
                </a:moveTo>
                <a:lnTo>
                  <a:pt x="4970168" y="0"/>
                </a:lnTo>
                <a:cubicBezTo>
                  <a:pt x="5030827" y="0"/>
                  <a:pt x="5080000" y="49173"/>
                  <a:pt x="5080000" y="109832"/>
                </a:cubicBezTo>
                <a:lnTo>
                  <a:pt x="5080000" y="2059466"/>
                </a:lnTo>
                <a:cubicBezTo>
                  <a:pt x="5080000" y="2120124"/>
                  <a:pt x="5030827" y="2169297"/>
                  <a:pt x="4970168" y="2169297"/>
                </a:cubicBezTo>
                <a:lnTo>
                  <a:pt x="109832" y="2169297"/>
                </a:lnTo>
                <a:cubicBezTo>
                  <a:pt x="49173" y="2169297"/>
                  <a:pt x="0" y="2120124"/>
                  <a:pt x="0" y="2059466"/>
                </a:cubicBezTo>
                <a:lnTo>
                  <a:pt x="0" y="109832"/>
                </a:lnTo>
                <a:cubicBezTo>
                  <a:pt x="0" y="49214"/>
                  <a:pt x="49214" y="0"/>
                  <a:pt x="10983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81225" y="4915243"/>
            <a:ext cx="164757" cy="164757"/>
          </a:xfrm>
          <a:custGeom>
            <a:avLst/>
            <a:gdLst/>
            <a:ahLst/>
            <a:cxnLst/>
            <a:rect l="l" t="t" r="r" b="b"/>
            <a:pathLst>
              <a:path w="164757" h="164757">
                <a:moveTo>
                  <a:pt x="20595" y="20595"/>
                </a:moveTo>
                <a:cubicBezTo>
                  <a:pt x="20595" y="14899"/>
                  <a:pt x="15993" y="10297"/>
                  <a:pt x="10297" y="10297"/>
                </a:cubicBezTo>
                <a:cubicBezTo>
                  <a:pt x="4602" y="10297"/>
                  <a:pt x="0" y="14899"/>
                  <a:pt x="0" y="20595"/>
                </a:cubicBezTo>
                <a:lnTo>
                  <a:pt x="0" y="128716"/>
                </a:lnTo>
                <a:cubicBezTo>
                  <a:pt x="0" y="142939"/>
                  <a:pt x="11520" y="154459"/>
                  <a:pt x="25743" y="154459"/>
                </a:cubicBezTo>
                <a:lnTo>
                  <a:pt x="154459" y="154459"/>
                </a:lnTo>
                <a:cubicBezTo>
                  <a:pt x="160155" y="154459"/>
                  <a:pt x="164757" y="149858"/>
                  <a:pt x="164757" y="144162"/>
                </a:cubicBezTo>
                <a:cubicBezTo>
                  <a:pt x="164757" y="138466"/>
                  <a:pt x="160155" y="133865"/>
                  <a:pt x="154459" y="133865"/>
                </a:cubicBezTo>
                <a:lnTo>
                  <a:pt x="25743" y="133865"/>
                </a:lnTo>
                <a:cubicBezTo>
                  <a:pt x="22911" y="133865"/>
                  <a:pt x="20595" y="131548"/>
                  <a:pt x="20595" y="128716"/>
                </a:cubicBezTo>
                <a:lnTo>
                  <a:pt x="20595" y="20595"/>
                </a:lnTo>
                <a:close/>
                <a:moveTo>
                  <a:pt x="151435" y="48462"/>
                </a:moveTo>
                <a:cubicBezTo>
                  <a:pt x="155457" y="44439"/>
                  <a:pt x="155457" y="37907"/>
                  <a:pt x="151435" y="33885"/>
                </a:cubicBezTo>
                <a:cubicBezTo>
                  <a:pt x="147412" y="29862"/>
                  <a:pt x="140880" y="29862"/>
                  <a:pt x="136858" y="33885"/>
                </a:cubicBezTo>
                <a:lnTo>
                  <a:pt x="102973" y="67801"/>
                </a:lnTo>
                <a:lnTo>
                  <a:pt x="84502" y="49363"/>
                </a:lnTo>
                <a:cubicBezTo>
                  <a:pt x="80480" y="45340"/>
                  <a:pt x="73947" y="45340"/>
                  <a:pt x="69925" y="49363"/>
                </a:cubicBezTo>
                <a:lnTo>
                  <a:pt x="39033" y="80255"/>
                </a:lnTo>
                <a:cubicBezTo>
                  <a:pt x="35011" y="84277"/>
                  <a:pt x="35011" y="90809"/>
                  <a:pt x="39033" y="94832"/>
                </a:cubicBezTo>
                <a:cubicBezTo>
                  <a:pt x="43056" y="98854"/>
                  <a:pt x="49588" y="98854"/>
                  <a:pt x="53610" y="94832"/>
                </a:cubicBezTo>
                <a:lnTo>
                  <a:pt x="77230" y="71212"/>
                </a:lnTo>
                <a:lnTo>
                  <a:pt x="95701" y="89683"/>
                </a:lnTo>
                <a:cubicBezTo>
                  <a:pt x="99723" y="93705"/>
                  <a:pt x="106255" y="93705"/>
                  <a:pt x="110278" y="89683"/>
                </a:cubicBezTo>
                <a:lnTo>
                  <a:pt x="151467" y="48494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68865" y="4869477"/>
            <a:ext cx="4576577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FY2024 Performance Highlights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3423" y="5235604"/>
            <a:ext cx="2407279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£1,767m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26306" y="5528505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6306" y="5711568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+20% YoY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910703" y="5235604"/>
            <a:ext cx="2407279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£1,503m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933586" y="5528505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Underlying OFG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933586" y="5711568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+18% YoY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3423" y="6004468"/>
            <a:ext cx="2407279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203%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6306" y="6297369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Solvency II Cover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26306" y="6480432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capital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910703" y="6004468"/>
            <a:ext cx="2407279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£12.2bn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933586" y="6297369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 Premiums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933586" y="6480432"/>
            <a:ext cx="2361514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9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+14% YoY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06306" y="1395856"/>
            <a:ext cx="6214991" cy="3276829"/>
          </a:xfrm>
          <a:custGeom>
            <a:avLst/>
            <a:gdLst/>
            <a:ahLst/>
            <a:cxnLst/>
            <a:rect l="l" t="t" r="r" b="b"/>
            <a:pathLst>
              <a:path w="6214991" h="3276829">
                <a:moveTo>
                  <a:pt x="109839" y="0"/>
                </a:moveTo>
                <a:lnTo>
                  <a:pt x="6105152" y="0"/>
                </a:lnTo>
                <a:cubicBezTo>
                  <a:pt x="6165814" y="0"/>
                  <a:pt x="6214991" y="49177"/>
                  <a:pt x="6214991" y="109839"/>
                </a:cubicBezTo>
                <a:lnTo>
                  <a:pt x="6214991" y="3166990"/>
                </a:lnTo>
                <a:cubicBezTo>
                  <a:pt x="6214991" y="3227652"/>
                  <a:pt x="6165814" y="3276829"/>
                  <a:pt x="6105152" y="3276829"/>
                </a:cubicBezTo>
                <a:lnTo>
                  <a:pt x="109839" y="3276829"/>
                </a:lnTo>
                <a:cubicBezTo>
                  <a:pt x="49177" y="3276829"/>
                  <a:pt x="0" y="3227652"/>
                  <a:pt x="0" y="3166990"/>
                </a:cubicBezTo>
                <a:lnTo>
                  <a:pt x="0" y="109839"/>
                </a:lnTo>
                <a:cubicBezTo>
                  <a:pt x="0" y="49217"/>
                  <a:pt x="49217" y="0"/>
                  <a:pt x="10983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5769919" y="1592649"/>
            <a:ext cx="185351" cy="164757"/>
          </a:xfrm>
          <a:custGeom>
            <a:avLst/>
            <a:gdLst/>
            <a:ahLst/>
            <a:cxnLst/>
            <a:rect l="l" t="t" r="r" b="b"/>
            <a:pathLst>
              <a:path w="185351" h="164757">
                <a:moveTo>
                  <a:pt x="164885" y="77230"/>
                </a:moveTo>
                <a:lnTo>
                  <a:pt x="108250" y="77230"/>
                </a:lnTo>
                <a:cubicBezTo>
                  <a:pt x="102555" y="77230"/>
                  <a:pt x="97953" y="72628"/>
                  <a:pt x="97953" y="66932"/>
                </a:cubicBezTo>
                <a:lnTo>
                  <a:pt x="97953" y="10297"/>
                </a:lnTo>
                <a:cubicBezTo>
                  <a:pt x="97953" y="4602"/>
                  <a:pt x="102587" y="-64"/>
                  <a:pt x="108218" y="676"/>
                </a:cubicBezTo>
                <a:cubicBezTo>
                  <a:pt x="142650" y="5245"/>
                  <a:pt x="169938" y="32533"/>
                  <a:pt x="174507" y="66965"/>
                </a:cubicBezTo>
                <a:cubicBezTo>
                  <a:pt x="175247" y="72596"/>
                  <a:pt x="170581" y="77230"/>
                  <a:pt x="164885" y="77230"/>
                </a:cubicBezTo>
                <a:close/>
                <a:moveTo>
                  <a:pt x="71631" y="11971"/>
                </a:moveTo>
                <a:cubicBezTo>
                  <a:pt x="77455" y="10748"/>
                  <a:pt x="82507" y="15510"/>
                  <a:pt x="82507" y="21463"/>
                </a:cubicBezTo>
                <a:lnTo>
                  <a:pt x="82507" y="84953"/>
                </a:lnTo>
                <a:cubicBezTo>
                  <a:pt x="82507" y="86755"/>
                  <a:pt x="83151" y="88492"/>
                  <a:pt x="84277" y="89876"/>
                </a:cubicBezTo>
                <a:lnTo>
                  <a:pt x="126785" y="141170"/>
                </a:lnTo>
                <a:cubicBezTo>
                  <a:pt x="130550" y="145707"/>
                  <a:pt x="129746" y="152561"/>
                  <a:pt x="124565" y="155360"/>
                </a:cubicBezTo>
                <a:cubicBezTo>
                  <a:pt x="113592" y="161346"/>
                  <a:pt x="101010" y="164757"/>
                  <a:pt x="87656" y="164757"/>
                </a:cubicBezTo>
                <a:cubicBezTo>
                  <a:pt x="45018" y="164757"/>
                  <a:pt x="10426" y="130164"/>
                  <a:pt x="10426" y="87527"/>
                </a:cubicBezTo>
                <a:cubicBezTo>
                  <a:pt x="10426" y="50360"/>
                  <a:pt x="36652" y="19340"/>
                  <a:pt x="71631" y="11971"/>
                </a:cubicBezTo>
                <a:close/>
                <a:moveTo>
                  <a:pt x="153752" y="92676"/>
                </a:moveTo>
                <a:lnTo>
                  <a:pt x="174346" y="92676"/>
                </a:lnTo>
                <a:cubicBezTo>
                  <a:pt x="180299" y="92676"/>
                  <a:pt x="185062" y="97728"/>
                  <a:pt x="183839" y="103552"/>
                </a:cubicBezTo>
                <a:cubicBezTo>
                  <a:pt x="180557" y="119127"/>
                  <a:pt x="172576" y="132964"/>
                  <a:pt x="161442" y="143519"/>
                </a:cubicBezTo>
                <a:cubicBezTo>
                  <a:pt x="157484" y="147284"/>
                  <a:pt x="151274" y="146479"/>
                  <a:pt x="147798" y="142264"/>
                </a:cubicBezTo>
                <a:lnTo>
                  <a:pt x="120639" y="109538"/>
                </a:lnTo>
                <a:cubicBezTo>
                  <a:pt x="115072" y="102812"/>
                  <a:pt x="119867" y="92676"/>
                  <a:pt x="128555" y="92676"/>
                </a:cubicBezTo>
                <a:lnTo>
                  <a:pt x="153719" y="9267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967856" y="1546883"/>
            <a:ext cx="578479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Profit by Business Unit (FY2024)</a:t>
            </a:r>
            <a:endParaRPr lang="en-US" sz="1600" dirty="0"/>
          </a:p>
        </p:txBody>
      </p:sp>
      <p:pic>
        <p:nvPicPr>
          <p:cNvPr id="44" name="Image 0" descr="https://kimi-img.moonshot.cn/pub/slides/26-01-29-10:14:27-d5tc50sqdqeqh6gbkje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57333" y="1876396"/>
            <a:ext cx="5647495" cy="1922162"/>
          </a:xfrm>
          <a:prstGeom prst="roundRect">
            <a:avLst>
              <a:gd name="adj" fmla="val 0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5606306" y="4829718"/>
            <a:ext cx="6214991" cy="1931315"/>
          </a:xfrm>
          <a:custGeom>
            <a:avLst/>
            <a:gdLst/>
            <a:ahLst/>
            <a:cxnLst/>
            <a:rect l="l" t="t" r="r" b="b"/>
            <a:pathLst>
              <a:path w="6214991" h="1931315">
                <a:moveTo>
                  <a:pt x="109834" y="0"/>
                </a:moveTo>
                <a:lnTo>
                  <a:pt x="6105157" y="0"/>
                </a:lnTo>
                <a:cubicBezTo>
                  <a:pt x="6165817" y="0"/>
                  <a:pt x="6214991" y="49174"/>
                  <a:pt x="6214991" y="109834"/>
                </a:cubicBezTo>
                <a:lnTo>
                  <a:pt x="6214991" y="1821481"/>
                </a:lnTo>
                <a:cubicBezTo>
                  <a:pt x="6214991" y="1882141"/>
                  <a:pt x="6165817" y="1931315"/>
                  <a:pt x="6105157" y="1931315"/>
                </a:cubicBezTo>
                <a:lnTo>
                  <a:pt x="109834" y="1931315"/>
                </a:lnTo>
                <a:cubicBezTo>
                  <a:pt x="49174" y="1931315"/>
                  <a:pt x="0" y="1882141"/>
                  <a:pt x="0" y="1821481"/>
                </a:cubicBezTo>
                <a:lnTo>
                  <a:pt x="0" y="109834"/>
                </a:lnTo>
                <a:cubicBezTo>
                  <a:pt x="0" y="49215"/>
                  <a:pt x="49215" y="0"/>
                  <a:pt x="109834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5780216" y="5026511"/>
            <a:ext cx="164757" cy="164757"/>
          </a:xfrm>
          <a:custGeom>
            <a:avLst/>
            <a:gdLst/>
            <a:ahLst/>
            <a:cxnLst/>
            <a:rect l="l" t="t" r="r" b="b"/>
            <a:pathLst>
              <a:path w="164757" h="164757">
                <a:moveTo>
                  <a:pt x="144162" y="82378"/>
                </a:moveTo>
                <a:cubicBezTo>
                  <a:pt x="144162" y="48279"/>
                  <a:pt x="116478" y="20595"/>
                  <a:pt x="82378" y="20595"/>
                </a:cubicBezTo>
                <a:cubicBezTo>
                  <a:pt x="48279" y="20595"/>
                  <a:pt x="20595" y="48279"/>
                  <a:pt x="20595" y="82378"/>
                </a:cubicBezTo>
                <a:cubicBezTo>
                  <a:pt x="20595" y="116478"/>
                  <a:pt x="48279" y="144162"/>
                  <a:pt x="82378" y="144162"/>
                </a:cubicBezTo>
                <a:cubicBezTo>
                  <a:pt x="116478" y="144162"/>
                  <a:pt x="144162" y="116478"/>
                  <a:pt x="144162" y="82378"/>
                </a:cubicBezTo>
                <a:close/>
                <a:moveTo>
                  <a:pt x="0" y="82378"/>
                </a:moveTo>
                <a:cubicBezTo>
                  <a:pt x="0" y="36913"/>
                  <a:pt x="36913" y="0"/>
                  <a:pt x="82378" y="0"/>
                </a:cubicBezTo>
                <a:cubicBezTo>
                  <a:pt x="127844" y="0"/>
                  <a:pt x="164757" y="36913"/>
                  <a:pt x="164757" y="82378"/>
                </a:cubicBezTo>
                <a:cubicBezTo>
                  <a:pt x="164757" y="127844"/>
                  <a:pt x="127844" y="164757"/>
                  <a:pt x="82378" y="164757"/>
                </a:cubicBezTo>
                <a:cubicBezTo>
                  <a:pt x="36913" y="164757"/>
                  <a:pt x="0" y="127844"/>
                  <a:pt x="0" y="82378"/>
                </a:cubicBezTo>
                <a:close/>
                <a:moveTo>
                  <a:pt x="82378" y="108122"/>
                </a:moveTo>
                <a:cubicBezTo>
                  <a:pt x="96586" y="108122"/>
                  <a:pt x="108122" y="96586"/>
                  <a:pt x="108122" y="82378"/>
                </a:cubicBezTo>
                <a:cubicBezTo>
                  <a:pt x="108122" y="68170"/>
                  <a:pt x="96586" y="56635"/>
                  <a:pt x="82378" y="56635"/>
                </a:cubicBezTo>
                <a:cubicBezTo>
                  <a:pt x="68170" y="56635"/>
                  <a:pt x="56635" y="68170"/>
                  <a:pt x="56635" y="82378"/>
                </a:cubicBezTo>
                <a:cubicBezTo>
                  <a:pt x="56635" y="96586"/>
                  <a:pt x="68170" y="108122"/>
                  <a:pt x="82378" y="108122"/>
                </a:cubicBezTo>
                <a:close/>
                <a:moveTo>
                  <a:pt x="82378" y="36041"/>
                </a:moveTo>
                <a:cubicBezTo>
                  <a:pt x="107953" y="36041"/>
                  <a:pt x="128716" y="56804"/>
                  <a:pt x="128716" y="82378"/>
                </a:cubicBezTo>
                <a:cubicBezTo>
                  <a:pt x="128716" y="107953"/>
                  <a:pt x="107953" y="128716"/>
                  <a:pt x="82378" y="128716"/>
                </a:cubicBezTo>
                <a:cubicBezTo>
                  <a:pt x="56804" y="128716"/>
                  <a:pt x="36041" y="107953"/>
                  <a:pt x="36041" y="82378"/>
                </a:cubicBezTo>
                <a:cubicBezTo>
                  <a:pt x="36041" y="56804"/>
                  <a:pt x="56804" y="36041"/>
                  <a:pt x="82378" y="36041"/>
                </a:cubicBezTo>
                <a:close/>
                <a:moveTo>
                  <a:pt x="72081" y="82378"/>
                </a:moveTo>
                <a:cubicBezTo>
                  <a:pt x="72081" y="76695"/>
                  <a:pt x="76695" y="72081"/>
                  <a:pt x="82378" y="72081"/>
                </a:cubicBezTo>
                <a:cubicBezTo>
                  <a:pt x="88062" y="72081"/>
                  <a:pt x="92676" y="76695"/>
                  <a:pt x="92676" y="82378"/>
                </a:cubicBezTo>
                <a:cubicBezTo>
                  <a:pt x="92676" y="88062"/>
                  <a:pt x="88062" y="92676"/>
                  <a:pt x="82378" y="92676"/>
                </a:cubicBezTo>
                <a:cubicBezTo>
                  <a:pt x="76695" y="92676"/>
                  <a:pt x="72081" y="88062"/>
                  <a:pt x="72081" y="8237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/>
          <p:nvPr/>
        </p:nvSpPr>
        <p:spPr>
          <a:xfrm>
            <a:off x="5967856" y="4980745"/>
            <a:ext cx="578479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Buying Triggers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761910" y="5351448"/>
            <a:ext cx="1885550" cy="1253982"/>
          </a:xfrm>
          <a:custGeom>
            <a:avLst/>
            <a:gdLst/>
            <a:ahLst/>
            <a:cxnLst/>
            <a:rect l="l" t="t" r="r" b="b"/>
            <a:pathLst>
              <a:path w="1885550" h="1253982">
                <a:moveTo>
                  <a:pt x="73220" y="0"/>
                </a:moveTo>
                <a:lnTo>
                  <a:pt x="1812330" y="0"/>
                </a:lnTo>
                <a:cubicBezTo>
                  <a:pt x="1852768" y="0"/>
                  <a:pt x="1885550" y="32782"/>
                  <a:pt x="1885550" y="73220"/>
                </a:cubicBezTo>
                <a:lnTo>
                  <a:pt x="1885550" y="1180762"/>
                </a:lnTo>
                <a:cubicBezTo>
                  <a:pt x="1885550" y="1221200"/>
                  <a:pt x="1852768" y="1253982"/>
                  <a:pt x="1812330" y="1253982"/>
                </a:cubicBezTo>
                <a:lnTo>
                  <a:pt x="73220" y="1253982"/>
                </a:lnTo>
                <a:cubicBezTo>
                  <a:pt x="32782" y="1253982"/>
                  <a:pt x="0" y="1221200"/>
                  <a:pt x="0" y="1180762"/>
                </a:cubicBezTo>
                <a:lnTo>
                  <a:pt x="0" y="73220"/>
                </a:lnTo>
                <a:cubicBezTo>
                  <a:pt x="0" y="32809"/>
                  <a:pt x="32809" y="0"/>
                  <a:pt x="7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6"/>
          <p:cNvSpPr/>
          <p:nvPr/>
        </p:nvSpPr>
        <p:spPr>
          <a:xfrm>
            <a:off x="5888910" y="5493322"/>
            <a:ext cx="185351" cy="164757"/>
          </a:xfrm>
          <a:custGeom>
            <a:avLst/>
            <a:gdLst/>
            <a:ahLst/>
            <a:cxnLst/>
            <a:rect l="l" t="t" r="r" b="b"/>
            <a:pathLst>
              <a:path w="185351" h="164757">
                <a:moveTo>
                  <a:pt x="46338" y="154459"/>
                </a:moveTo>
                <a:cubicBezTo>
                  <a:pt x="20755" y="154459"/>
                  <a:pt x="0" y="133704"/>
                  <a:pt x="0" y="108122"/>
                </a:cubicBezTo>
                <a:cubicBezTo>
                  <a:pt x="0" y="87720"/>
                  <a:pt x="13193" y="70408"/>
                  <a:pt x="31503" y="64197"/>
                </a:cubicBezTo>
                <a:cubicBezTo>
                  <a:pt x="31085" y="61719"/>
                  <a:pt x="30892" y="59209"/>
                  <a:pt x="30892" y="56635"/>
                </a:cubicBezTo>
                <a:cubicBezTo>
                  <a:pt x="30892" y="31053"/>
                  <a:pt x="51647" y="10297"/>
                  <a:pt x="77230" y="10297"/>
                </a:cubicBezTo>
                <a:cubicBezTo>
                  <a:pt x="95057" y="10297"/>
                  <a:pt x="110535" y="20369"/>
                  <a:pt x="118290" y="35107"/>
                </a:cubicBezTo>
                <a:cubicBezTo>
                  <a:pt x="122860" y="32436"/>
                  <a:pt x="128201" y="30892"/>
                  <a:pt x="133865" y="30892"/>
                </a:cubicBezTo>
                <a:cubicBezTo>
                  <a:pt x="150920" y="30892"/>
                  <a:pt x="164757" y="44729"/>
                  <a:pt x="164757" y="61784"/>
                </a:cubicBezTo>
                <a:cubicBezTo>
                  <a:pt x="164757" y="66836"/>
                  <a:pt x="163534" y="71631"/>
                  <a:pt x="161378" y="75846"/>
                </a:cubicBezTo>
                <a:cubicBezTo>
                  <a:pt x="175537" y="82378"/>
                  <a:pt x="185351" y="96666"/>
                  <a:pt x="185351" y="113270"/>
                </a:cubicBezTo>
                <a:cubicBezTo>
                  <a:pt x="185351" y="136021"/>
                  <a:pt x="166913" y="154459"/>
                  <a:pt x="144162" y="154459"/>
                </a:cubicBezTo>
                <a:lnTo>
                  <a:pt x="46338" y="154459"/>
                </a:lnTo>
                <a:close/>
                <a:moveTo>
                  <a:pt x="98146" y="61462"/>
                </a:moveTo>
                <a:cubicBezTo>
                  <a:pt x="95121" y="58437"/>
                  <a:pt x="90230" y="58437"/>
                  <a:pt x="87237" y="61462"/>
                </a:cubicBezTo>
                <a:lnTo>
                  <a:pt x="64068" y="84631"/>
                </a:lnTo>
                <a:cubicBezTo>
                  <a:pt x="61044" y="87656"/>
                  <a:pt x="61044" y="92547"/>
                  <a:pt x="64068" y="95540"/>
                </a:cubicBezTo>
                <a:cubicBezTo>
                  <a:pt x="67093" y="98532"/>
                  <a:pt x="71985" y="98564"/>
                  <a:pt x="74977" y="95540"/>
                </a:cubicBezTo>
                <a:lnTo>
                  <a:pt x="84953" y="85564"/>
                </a:lnTo>
                <a:lnTo>
                  <a:pt x="84953" y="118419"/>
                </a:lnTo>
                <a:cubicBezTo>
                  <a:pt x="84953" y="122699"/>
                  <a:pt x="88396" y="126142"/>
                  <a:pt x="92676" y="126142"/>
                </a:cubicBezTo>
                <a:cubicBezTo>
                  <a:pt x="96955" y="126142"/>
                  <a:pt x="100399" y="122699"/>
                  <a:pt x="100399" y="118419"/>
                </a:cubicBezTo>
                <a:lnTo>
                  <a:pt x="100399" y="85564"/>
                </a:lnTo>
                <a:lnTo>
                  <a:pt x="110374" y="95540"/>
                </a:lnTo>
                <a:cubicBezTo>
                  <a:pt x="113399" y="98564"/>
                  <a:pt x="118290" y="98564"/>
                  <a:pt x="121283" y="95540"/>
                </a:cubicBezTo>
                <a:cubicBezTo>
                  <a:pt x="124276" y="92515"/>
                  <a:pt x="124308" y="87624"/>
                  <a:pt x="121283" y="84631"/>
                </a:cubicBezTo>
                <a:lnTo>
                  <a:pt x="98114" y="6146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/>
          <p:nvPr/>
        </p:nvSpPr>
        <p:spPr>
          <a:xfrm>
            <a:off x="6155495" y="5465863"/>
            <a:ext cx="1107532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Migration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5876324" y="5722151"/>
            <a:ext cx="1720793" cy="549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 hosting retirement needs networking, security, workload adjacency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768024" y="5351448"/>
            <a:ext cx="1885550" cy="1253982"/>
          </a:xfrm>
          <a:custGeom>
            <a:avLst/>
            <a:gdLst/>
            <a:ahLst/>
            <a:cxnLst/>
            <a:rect l="l" t="t" r="r" b="b"/>
            <a:pathLst>
              <a:path w="1885550" h="1253982">
                <a:moveTo>
                  <a:pt x="73220" y="0"/>
                </a:moveTo>
                <a:lnTo>
                  <a:pt x="1812330" y="0"/>
                </a:lnTo>
                <a:cubicBezTo>
                  <a:pt x="1852768" y="0"/>
                  <a:pt x="1885550" y="32782"/>
                  <a:pt x="1885550" y="73220"/>
                </a:cubicBezTo>
                <a:lnTo>
                  <a:pt x="1885550" y="1180762"/>
                </a:lnTo>
                <a:cubicBezTo>
                  <a:pt x="1885550" y="1221200"/>
                  <a:pt x="1852768" y="1253982"/>
                  <a:pt x="1812330" y="1253982"/>
                </a:cubicBezTo>
                <a:lnTo>
                  <a:pt x="73220" y="1253982"/>
                </a:lnTo>
                <a:cubicBezTo>
                  <a:pt x="32782" y="1253982"/>
                  <a:pt x="0" y="1221200"/>
                  <a:pt x="0" y="1180762"/>
                </a:cubicBezTo>
                <a:lnTo>
                  <a:pt x="0" y="73220"/>
                </a:lnTo>
                <a:cubicBezTo>
                  <a:pt x="0" y="32809"/>
                  <a:pt x="32809" y="0"/>
                  <a:pt x="7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0"/>
          <p:cNvSpPr/>
          <p:nvPr/>
        </p:nvSpPr>
        <p:spPr>
          <a:xfrm>
            <a:off x="7884726" y="5493322"/>
            <a:ext cx="205946" cy="164757"/>
          </a:xfrm>
          <a:custGeom>
            <a:avLst/>
            <a:gdLst/>
            <a:ahLst/>
            <a:cxnLst/>
            <a:rect l="l" t="t" r="r" b="b"/>
            <a:pathLst>
              <a:path w="205946" h="164757">
                <a:moveTo>
                  <a:pt x="113270" y="0"/>
                </a:moveTo>
                <a:cubicBezTo>
                  <a:pt x="113270" y="-5696"/>
                  <a:pt x="108669" y="-10297"/>
                  <a:pt x="102973" y="-10297"/>
                </a:cubicBezTo>
                <a:cubicBezTo>
                  <a:pt x="97277" y="-10297"/>
                  <a:pt x="92676" y="-5696"/>
                  <a:pt x="92676" y="0"/>
                </a:cubicBezTo>
                <a:lnTo>
                  <a:pt x="92676" y="20595"/>
                </a:lnTo>
                <a:lnTo>
                  <a:pt x="61784" y="20595"/>
                </a:lnTo>
                <a:cubicBezTo>
                  <a:pt x="44729" y="20595"/>
                  <a:pt x="30892" y="34432"/>
                  <a:pt x="30892" y="51486"/>
                </a:cubicBezTo>
                <a:lnTo>
                  <a:pt x="30892" y="123568"/>
                </a:lnTo>
                <a:cubicBezTo>
                  <a:pt x="30892" y="140622"/>
                  <a:pt x="44729" y="154459"/>
                  <a:pt x="61784" y="154459"/>
                </a:cubicBezTo>
                <a:lnTo>
                  <a:pt x="144162" y="154459"/>
                </a:lnTo>
                <a:cubicBezTo>
                  <a:pt x="161217" y="154459"/>
                  <a:pt x="175054" y="140622"/>
                  <a:pt x="175054" y="123568"/>
                </a:cubicBezTo>
                <a:lnTo>
                  <a:pt x="175054" y="51486"/>
                </a:lnTo>
                <a:cubicBezTo>
                  <a:pt x="175054" y="34432"/>
                  <a:pt x="161217" y="20595"/>
                  <a:pt x="144162" y="20595"/>
                </a:cubicBezTo>
                <a:lnTo>
                  <a:pt x="113270" y="20595"/>
                </a:lnTo>
                <a:lnTo>
                  <a:pt x="113270" y="0"/>
                </a:lnTo>
                <a:close/>
                <a:moveTo>
                  <a:pt x="51486" y="118419"/>
                </a:moveTo>
                <a:cubicBezTo>
                  <a:pt x="51486" y="114139"/>
                  <a:pt x="54930" y="110696"/>
                  <a:pt x="59209" y="110696"/>
                </a:cubicBezTo>
                <a:lnTo>
                  <a:pt x="69507" y="110696"/>
                </a:lnTo>
                <a:cubicBezTo>
                  <a:pt x="73787" y="110696"/>
                  <a:pt x="77230" y="114139"/>
                  <a:pt x="77230" y="118419"/>
                </a:cubicBezTo>
                <a:cubicBezTo>
                  <a:pt x="77230" y="122699"/>
                  <a:pt x="73787" y="126142"/>
                  <a:pt x="69507" y="126142"/>
                </a:cubicBezTo>
                <a:lnTo>
                  <a:pt x="59209" y="126142"/>
                </a:lnTo>
                <a:cubicBezTo>
                  <a:pt x="54930" y="126142"/>
                  <a:pt x="51486" y="122699"/>
                  <a:pt x="51486" y="118419"/>
                </a:cubicBezTo>
                <a:close/>
                <a:moveTo>
                  <a:pt x="90101" y="118419"/>
                </a:moveTo>
                <a:cubicBezTo>
                  <a:pt x="90101" y="114139"/>
                  <a:pt x="93545" y="110696"/>
                  <a:pt x="97824" y="110696"/>
                </a:cubicBezTo>
                <a:lnTo>
                  <a:pt x="108122" y="110696"/>
                </a:lnTo>
                <a:cubicBezTo>
                  <a:pt x="112401" y="110696"/>
                  <a:pt x="115845" y="114139"/>
                  <a:pt x="115845" y="118419"/>
                </a:cubicBezTo>
                <a:cubicBezTo>
                  <a:pt x="115845" y="122699"/>
                  <a:pt x="112401" y="126142"/>
                  <a:pt x="108122" y="126142"/>
                </a:cubicBezTo>
                <a:lnTo>
                  <a:pt x="97824" y="126142"/>
                </a:lnTo>
                <a:cubicBezTo>
                  <a:pt x="93545" y="126142"/>
                  <a:pt x="90101" y="122699"/>
                  <a:pt x="90101" y="118419"/>
                </a:cubicBezTo>
                <a:close/>
                <a:moveTo>
                  <a:pt x="128716" y="118419"/>
                </a:moveTo>
                <a:cubicBezTo>
                  <a:pt x="128716" y="114139"/>
                  <a:pt x="132159" y="110696"/>
                  <a:pt x="136439" y="110696"/>
                </a:cubicBezTo>
                <a:lnTo>
                  <a:pt x="146736" y="110696"/>
                </a:lnTo>
                <a:cubicBezTo>
                  <a:pt x="151016" y="110696"/>
                  <a:pt x="154459" y="114139"/>
                  <a:pt x="154459" y="118419"/>
                </a:cubicBezTo>
                <a:cubicBezTo>
                  <a:pt x="154459" y="122699"/>
                  <a:pt x="151016" y="126142"/>
                  <a:pt x="146736" y="126142"/>
                </a:cubicBezTo>
                <a:lnTo>
                  <a:pt x="136439" y="126142"/>
                </a:lnTo>
                <a:cubicBezTo>
                  <a:pt x="132159" y="126142"/>
                  <a:pt x="128716" y="122699"/>
                  <a:pt x="128716" y="118419"/>
                </a:cubicBezTo>
                <a:close/>
                <a:moveTo>
                  <a:pt x="72081" y="56635"/>
                </a:moveTo>
                <a:cubicBezTo>
                  <a:pt x="80606" y="56635"/>
                  <a:pt x="87527" y="63556"/>
                  <a:pt x="87527" y="72081"/>
                </a:cubicBezTo>
                <a:cubicBezTo>
                  <a:pt x="87527" y="80606"/>
                  <a:pt x="80606" y="87527"/>
                  <a:pt x="72081" y="87527"/>
                </a:cubicBezTo>
                <a:cubicBezTo>
                  <a:pt x="63556" y="87527"/>
                  <a:pt x="56635" y="80606"/>
                  <a:pt x="56635" y="72081"/>
                </a:cubicBezTo>
                <a:cubicBezTo>
                  <a:pt x="56635" y="63556"/>
                  <a:pt x="63556" y="56635"/>
                  <a:pt x="72081" y="56635"/>
                </a:cubicBezTo>
                <a:close/>
                <a:moveTo>
                  <a:pt x="118419" y="72081"/>
                </a:moveTo>
                <a:cubicBezTo>
                  <a:pt x="118419" y="63556"/>
                  <a:pt x="125340" y="56635"/>
                  <a:pt x="133865" y="56635"/>
                </a:cubicBezTo>
                <a:cubicBezTo>
                  <a:pt x="142390" y="56635"/>
                  <a:pt x="149311" y="63556"/>
                  <a:pt x="149311" y="72081"/>
                </a:cubicBezTo>
                <a:cubicBezTo>
                  <a:pt x="149311" y="80606"/>
                  <a:pt x="142390" y="87527"/>
                  <a:pt x="133865" y="87527"/>
                </a:cubicBezTo>
                <a:cubicBezTo>
                  <a:pt x="125340" y="87527"/>
                  <a:pt x="118419" y="80606"/>
                  <a:pt x="118419" y="72081"/>
                </a:cubicBezTo>
                <a:close/>
                <a:moveTo>
                  <a:pt x="20595" y="72081"/>
                </a:moveTo>
                <a:cubicBezTo>
                  <a:pt x="20595" y="66385"/>
                  <a:pt x="15993" y="61784"/>
                  <a:pt x="10297" y="61784"/>
                </a:cubicBezTo>
                <a:cubicBezTo>
                  <a:pt x="4602" y="61784"/>
                  <a:pt x="0" y="66385"/>
                  <a:pt x="0" y="72081"/>
                </a:cubicBezTo>
                <a:lnTo>
                  <a:pt x="0" y="102973"/>
                </a:lnTo>
                <a:cubicBezTo>
                  <a:pt x="0" y="108669"/>
                  <a:pt x="4602" y="113270"/>
                  <a:pt x="10297" y="113270"/>
                </a:cubicBezTo>
                <a:cubicBezTo>
                  <a:pt x="15993" y="113270"/>
                  <a:pt x="20595" y="108669"/>
                  <a:pt x="20595" y="102973"/>
                </a:cubicBezTo>
                <a:lnTo>
                  <a:pt x="20595" y="72081"/>
                </a:lnTo>
                <a:close/>
                <a:moveTo>
                  <a:pt x="195649" y="61784"/>
                </a:moveTo>
                <a:cubicBezTo>
                  <a:pt x="189953" y="61784"/>
                  <a:pt x="185351" y="66385"/>
                  <a:pt x="185351" y="72081"/>
                </a:cubicBezTo>
                <a:lnTo>
                  <a:pt x="185351" y="102973"/>
                </a:lnTo>
                <a:cubicBezTo>
                  <a:pt x="185351" y="108669"/>
                  <a:pt x="189953" y="113270"/>
                  <a:pt x="195649" y="113270"/>
                </a:cubicBezTo>
                <a:cubicBezTo>
                  <a:pt x="201344" y="113270"/>
                  <a:pt x="205946" y="108669"/>
                  <a:pt x="205946" y="102973"/>
                </a:cubicBezTo>
                <a:lnTo>
                  <a:pt x="205946" y="72081"/>
                </a:lnTo>
                <a:cubicBezTo>
                  <a:pt x="205946" y="66385"/>
                  <a:pt x="201344" y="61784"/>
                  <a:pt x="195649" y="6178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/>
          <p:nvPr/>
        </p:nvSpPr>
        <p:spPr>
          <a:xfrm>
            <a:off x="8161609" y="5465863"/>
            <a:ext cx="1263135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Industrialisation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7882438" y="5722151"/>
            <a:ext cx="1720793" cy="549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pipelines, governance, model ops, workflow orchestration requirements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9774280" y="5351448"/>
            <a:ext cx="1885550" cy="1253982"/>
          </a:xfrm>
          <a:custGeom>
            <a:avLst/>
            <a:gdLst/>
            <a:ahLst/>
            <a:cxnLst/>
            <a:rect l="l" t="t" r="r" b="b"/>
            <a:pathLst>
              <a:path w="1885550" h="1253982">
                <a:moveTo>
                  <a:pt x="73220" y="0"/>
                </a:moveTo>
                <a:lnTo>
                  <a:pt x="1812330" y="0"/>
                </a:lnTo>
                <a:cubicBezTo>
                  <a:pt x="1852768" y="0"/>
                  <a:pt x="1885550" y="32782"/>
                  <a:pt x="1885550" y="73220"/>
                </a:cubicBezTo>
                <a:lnTo>
                  <a:pt x="1885550" y="1180762"/>
                </a:lnTo>
                <a:cubicBezTo>
                  <a:pt x="1885550" y="1221200"/>
                  <a:pt x="1852768" y="1253982"/>
                  <a:pt x="1812330" y="1253982"/>
                </a:cubicBezTo>
                <a:lnTo>
                  <a:pt x="73220" y="1253982"/>
                </a:lnTo>
                <a:cubicBezTo>
                  <a:pt x="32782" y="1253982"/>
                  <a:pt x="0" y="1221200"/>
                  <a:pt x="0" y="1180762"/>
                </a:cubicBezTo>
                <a:lnTo>
                  <a:pt x="0" y="73220"/>
                </a:lnTo>
                <a:cubicBezTo>
                  <a:pt x="0" y="32809"/>
                  <a:pt x="32809" y="0"/>
                  <a:pt x="7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9886407" y="5603160"/>
            <a:ext cx="205946" cy="164757"/>
          </a:xfrm>
          <a:custGeom>
            <a:avLst/>
            <a:gdLst/>
            <a:ahLst/>
            <a:cxnLst/>
            <a:rect l="l" t="t" r="r" b="b"/>
            <a:pathLst>
              <a:path w="205946" h="164757">
                <a:moveTo>
                  <a:pt x="133833" y="67737"/>
                </a:moveTo>
                <a:cubicBezTo>
                  <a:pt x="137759" y="66675"/>
                  <a:pt x="141877" y="68541"/>
                  <a:pt x="143647" y="72178"/>
                </a:cubicBezTo>
                <a:lnTo>
                  <a:pt x="149633" y="84277"/>
                </a:lnTo>
                <a:cubicBezTo>
                  <a:pt x="152947" y="84727"/>
                  <a:pt x="156197" y="85628"/>
                  <a:pt x="159254" y="86883"/>
                </a:cubicBezTo>
                <a:lnTo>
                  <a:pt x="170517" y="79386"/>
                </a:lnTo>
                <a:cubicBezTo>
                  <a:pt x="173896" y="77133"/>
                  <a:pt x="178368" y="77584"/>
                  <a:pt x="181232" y="80448"/>
                </a:cubicBezTo>
                <a:lnTo>
                  <a:pt x="187411" y="86626"/>
                </a:lnTo>
                <a:cubicBezTo>
                  <a:pt x="190275" y="89490"/>
                  <a:pt x="190725" y="93995"/>
                  <a:pt x="188473" y="97342"/>
                </a:cubicBezTo>
                <a:lnTo>
                  <a:pt x="180975" y="108572"/>
                </a:lnTo>
                <a:cubicBezTo>
                  <a:pt x="181586" y="110085"/>
                  <a:pt x="182133" y="111661"/>
                  <a:pt x="182584" y="113302"/>
                </a:cubicBezTo>
                <a:cubicBezTo>
                  <a:pt x="183034" y="114944"/>
                  <a:pt x="183324" y="116553"/>
                  <a:pt x="183549" y="118194"/>
                </a:cubicBezTo>
                <a:lnTo>
                  <a:pt x="195681" y="124179"/>
                </a:lnTo>
                <a:cubicBezTo>
                  <a:pt x="199317" y="125981"/>
                  <a:pt x="201183" y="130100"/>
                  <a:pt x="200122" y="133994"/>
                </a:cubicBezTo>
                <a:lnTo>
                  <a:pt x="197869" y="142424"/>
                </a:lnTo>
                <a:cubicBezTo>
                  <a:pt x="196807" y="146318"/>
                  <a:pt x="193171" y="148957"/>
                  <a:pt x="189116" y="148699"/>
                </a:cubicBezTo>
                <a:lnTo>
                  <a:pt x="175601" y="147831"/>
                </a:lnTo>
                <a:cubicBezTo>
                  <a:pt x="173574" y="150437"/>
                  <a:pt x="171225" y="152851"/>
                  <a:pt x="168554" y="154910"/>
                </a:cubicBezTo>
                <a:lnTo>
                  <a:pt x="169423" y="168393"/>
                </a:lnTo>
                <a:cubicBezTo>
                  <a:pt x="169680" y="172448"/>
                  <a:pt x="167041" y="176116"/>
                  <a:pt x="163148" y="177146"/>
                </a:cubicBezTo>
                <a:lnTo>
                  <a:pt x="154717" y="179398"/>
                </a:lnTo>
                <a:cubicBezTo>
                  <a:pt x="150791" y="180460"/>
                  <a:pt x="146704" y="178594"/>
                  <a:pt x="144902" y="174958"/>
                </a:cubicBezTo>
                <a:lnTo>
                  <a:pt x="138917" y="162858"/>
                </a:lnTo>
                <a:cubicBezTo>
                  <a:pt x="135603" y="162408"/>
                  <a:pt x="132352" y="161507"/>
                  <a:pt x="129295" y="160252"/>
                </a:cubicBezTo>
                <a:lnTo>
                  <a:pt x="118033" y="167749"/>
                </a:lnTo>
                <a:cubicBezTo>
                  <a:pt x="114654" y="170002"/>
                  <a:pt x="110181" y="169551"/>
                  <a:pt x="107317" y="166688"/>
                </a:cubicBezTo>
                <a:lnTo>
                  <a:pt x="101139" y="160509"/>
                </a:lnTo>
                <a:cubicBezTo>
                  <a:pt x="98275" y="157645"/>
                  <a:pt x="97824" y="153172"/>
                  <a:pt x="100077" y="149793"/>
                </a:cubicBezTo>
                <a:lnTo>
                  <a:pt x="107575" y="138531"/>
                </a:lnTo>
                <a:cubicBezTo>
                  <a:pt x="106963" y="137018"/>
                  <a:pt x="106416" y="135442"/>
                  <a:pt x="105966" y="133801"/>
                </a:cubicBezTo>
                <a:cubicBezTo>
                  <a:pt x="105515" y="132159"/>
                  <a:pt x="105226" y="130518"/>
                  <a:pt x="105000" y="128909"/>
                </a:cubicBezTo>
                <a:lnTo>
                  <a:pt x="92869" y="122924"/>
                </a:lnTo>
                <a:cubicBezTo>
                  <a:pt x="89233" y="121122"/>
                  <a:pt x="87398" y="117003"/>
                  <a:pt x="88428" y="113109"/>
                </a:cubicBezTo>
                <a:lnTo>
                  <a:pt x="90681" y="104678"/>
                </a:lnTo>
                <a:cubicBezTo>
                  <a:pt x="91742" y="100785"/>
                  <a:pt x="95379" y="98146"/>
                  <a:pt x="99433" y="98404"/>
                </a:cubicBezTo>
                <a:lnTo>
                  <a:pt x="112916" y="99272"/>
                </a:lnTo>
                <a:cubicBezTo>
                  <a:pt x="114944" y="96666"/>
                  <a:pt x="117293" y="94252"/>
                  <a:pt x="119964" y="92193"/>
                </a:cubicBezTo>
                <a:lnTo>
                  <a:pt x="119095" y="78742"/>
                </a:lnTo>
                <a:cubicBezTo>
                  <a:pt x="118837" y="74688"/>
                  <a:pt x="121476" y="71019"/>
                  <a:pt x="125370" y="69989"/>
                </a:cubicBezTo>
                <a:lnTo>
                  <a:pt x="133801" y="67737"/>
                </a:lnTo>
                <a:close/>
                <a:moveTo>
                  <a:pt x="144291" y="109409"/>
                </a:moveTo>
                <a:cubicBezTo>
                  <a:pt x="136476" y="109418"/>
                  <a:pt x="130139" y="115769"/>
                  <a:pt x="130148" y="123584"/>
                </a:cubicBezTo>
                <a:cubicBezTo>
                  <a:pt x="130157" y="131398"/>
                  <a:pt x="136509" y="137735"/>
                  <a:pt x="144323" y="137726"/>
                </a:cubicBezTo>
                <a:cubicBezTo>
                  <a:pt x="152138" y="137717"/>
                  <a:pt x="158475" y="131366"/>
                  <a:pt x="158466" y="123551"/>
                </a:cubicBezTo>
                <a:cubicBezTo>
                  <a:pt x="158457" y="115737"/>
                  <a:pt x="152105" y="109400"/>
                  <a:pt x="144291" y="109409"/>
                </a:cubicBezTo>
                <a:close/>
                <a:moveTo>
                  <a:pt x="72371" y="-14641"/>
                </a:moveTo>
                <a:lnTo>
                  <a:pt x="80802" y="-12389"/>
                </a:lnTo>
                <a:cubicBezTo>
                  <a:pt x="84695" y="-11327"/>
                  <a:pt x="87334" y="-7659"/>
                  <a:pt x="87077" y="-3636"/>
                </a:cubicBezTo>
                <a:lnTo>
                  <a:pt x="86208" y="9815"/>
                </a:lnTo>
                <a:cubicBezTo>
                  <a:pt x="88879" y="11874"/>
                  <a:pt x="91228" y="14255"/>
                  <a:pt x="93255" y="16894"/>
                </a:cubicBezTo>
                <a:lnTo>
                  <a:pt x="106770" y="16025"/>
                </a:lnTo>
                <a:cubicBezTo>
                  <a:pt x="110792" y="15768"/>
                  <a:pt x="114461" y="18406"/>
                  <a:pt x="115523" y="22300"/>
                </a:cubicBezTo>
                <a:lnTo>
                  <a:pt x="117775" y="30731"/>
                </a:lnTo>
                <a:cubicBezTo>
                  <a:pt x="118805" y="34625"/>
                  <a:pt x="116971" y="38744"/>
                  <a:pt x="113335" y="40546"/>
                </a:cubicBezTo>
                <a:lnTo>
                  <a:pt x="101203" y="46531"/>
                </a:lnTo>
                <a:cubicBezTo>
                  <a:pt x="100978" y="48172"/>
                  <a:pt x="100656" y="49813"/>
                  <a:pt x="100238" y="51422"/>
                </a:cubicBezTo>
                <a:cubicBezTo>
                  <a:pt x="99819" y="53031"/>
                  <a:pt x="99240" y="54640"/>
                  <a:pt x="98629" y="56152"/>
                </a:cubicBezTo>
                <a:lnTo>
                  <a:pt x="106127" y="67415"/>
                </a:lnTo>
                <a:cubicBezTo>
                  <a:pt x="108379" y="70794"/>
                  <a:pt x="107929" y="75267"/>
                  <a:pt x="105065" y="78131"/>
                </a:cubicBezTo>
                <a:lnTo>
                  <a:pt x="98886" y="84309"/>
                </a:lnTo>
                <a:cubicBezTo>
                  <a:pt x="96022" y="87173"/>
                  <a:pt x="91549" y="87624"/>
                  <a:pt x="88171" y="85371"/>
                </a:cubicBezTo>
                <a:lnTo>
                  <a:pt x="76908" y="77873"/>
                </a:lnTo>
                <a:cubicBezTo>
                  <a:pt x="73851" y="79128"/>
                  <a:pt x="70601" y="80029"/>
                  <a:pt x="67286" y="80480"/>
                </a:cubicBezTo>
                <a:lnTo>
                  <a:pt x="61301" y="92579"/>
                </a:lnTo>
                <a:cubicBezTo>
                  <a:pt x="59499" y="96215"/>
                  <a:pt x="55380" y="98050"/>
                  <a:pt x="51486" y="97020"/>
                </a:cubicBezTo>
                <a:lnTo>
                  <a:pt x="43056" y="94767"/>
                </a:lnTo>
                <a:cubicBezTo>
                  <a:pt x="39130" y="93705"/>
                  <a:pt x="36523" y="90037"/>
                  <a:pt x="36781" y="86015"/>
                </a:cubicBezTo>
                <a:lnTo>
                  <a:pt x="37649" y="72532"/>
                </a:lnTo>
                <a:cubicBezTo>
                  <a:pt x="34979" y="70472"/>
                  <a:pt x="32630" y="68091"/>
                  <a:pt x="30602" y="65452"/>
                </a:cubicBezTo>
                <a:lnTo>
                  <a:pt x="17087" y="66321"/>
                </a:lnTo>
                <a:cubicBezTo>
                  <a:pt x="13065" y="66578"/>
                  <a:pt x="9396" y="63940"/>
                  <a:pt x="8334" y="60046"/>
                </a:cubicBezTo>
                <a:lnTo>
                  <a:pt x="6082" y="51615"/>
                </a:lnTo>
                <a:cubicBezTo>
                  <a:pt x="5052" y="47722"/>
                  <a:pt x="6886" y="43603"/>
                  <a:pt x="10523" y="41801"/>
                </a:cubicBezTo>
                <a:lnTo>
                  <a:pt x="22654" y="35815"/>
                </a:lnTo>
                <a:cubicBezTo>
                  <a:pt x="22879" y="34174"/>
                  <a:pt x="23201" y="32565"/>
                  <a:pt x="23619" y="30924"/>
                </a:cubicBezTo>
                <a:cubicBezTo>
                  <a:pt x="24070" y="29283"/>
                  <a:pt x="24585" y="27706"/>
                  <a:pt x="25228" y="26194"/>
                </a:cubicBezTo>
                <a:lnTo>
                  <a:pt x="17731" y="14963"/>
                </a:lnTo>
                <a:cubicBezTo>
                  <a:pt x="15478" y="11584"/>
                  <a:pt x="15929" y="7112"/>
                  <a:pt x="18793" y="4248"/>
                </a:cubicBezTo>
                <a:lnTo>
                  <a:pt x="24971" y="-1931"/>
                </a:lnTo>
                <a:cubicBezTo>
                  <a:pt x="27835" y="-4795"/>
                  <a:pt x="32308" y="-5245"/>
                  <a:pt x="35687" y="-2993"/>
                </a:cubicBezTo>
                <a:lnTo>
                  <a:pt x="46949" y="4505"/>
                </a:lnTo>
                <a:cubicBezTo>
                  <a:pt x="50006" y="3250"/>
                  <a:pt x="53256" y="2349"/>
                  <a:pt x="56571" y="1899"/>
                </a:cubicBezTo>
                <a:lnTo>
                  <a:pt x="62556" y="-10201"/>
                </a:lnTo>
                <a:cubicBezTo>
                  <a:pt x="64358" y="-13837"/>
                  <a:pt x="68445" y="-15671"/>
                  <a:pt x="72371" y="-14641"/>
                </a:cubicBezTo>
                <a:close/>
                <a:moveTo>
                  <a:pt x="61913" y="27030"/>
                </a:moveTo>
                <a:cubicBezTo>
                  <a:pt x="54098" y="27030"/>
                  <a:pt x="47754" y="33375"/>
                  <a:pt x="47754" y="41189"/>
                </a:cubicBezTo>
                <a:cubicBezTo>
                  <a:pt x="47754" y="49004"/>
                  <a:pt x="54098" y="55348"/>
                  <a:pt x="61913" y="55348"/>
                </a:cubicBezTo>
                <a:cubicBezTo>
                  <a:pt x="69727" y="55348"/>
                  <a:pt x="76071" y="49004"/>
                  <a:pt x="76071" y="41189"/>
                </a:cubicBezTo>
                <a:cubicBezTo>
                  <a:pt x="76071" y="33375"/>
                  <a:pt x="69727" y="27030"/>
                  <a:pt x="61913" y="2703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10161430" y="5465863"/>
            <a:ext cx="1455351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9888695" y="5941827"/>
            <a:ext cx="1720793" cy="549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centre/claims productivity—high ROI automation zones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924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COVERAGE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7019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 Footprint: Coverage &amp; Territory Alignment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66800"/>
            <a:ext cx="1131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 confirmed UK locations with strategic two-hub model for enterprise and operational coverage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6791325" cy="5286375"/>
          </a:xfrm>
          <a:custGeom>
            <a:avLst/>
            <a:gdLst/>
            <a:ahLst/>
            <a:cxnLst/>
            <a:rect l="l" t="t" r="r" b="b"/>
            <a:pathLst>
              <a:path w="6791325" h="5286375">
                <a:moveTo>
                  <a:pt x="114291" y="0"/>
                </a:moveTo>
                <a:lnTo>
                  <a:pt x="6677034" y="0"/>
                </a:lnTo>
                <a:cubicBezTo>
                  <a:pt x="6740155" y="0"/>
                  <a:pt x="6791325" y="51170"/>
                  <a:pt x="6791325" y="114291"/>
                </a:cubicBezTo>
                <a:lnTo>
                  <a:pt x="6791325" y="5172084"/>
                </a:lnTo>
                <a:cubicBezTo>
                  <a:pt x="6791325" y="5235205"/>
                  <a:pt x="6740155" y="5286375"/>
                  <a:pt x="6677034" y="5286375"/>
                </a:cubicBezTo>
                <a:lnTo>
                  <a:pt x="114291" y="5286375"/>
                </a:lnTo>
                <a:cubicBezTo>
                  <a:pt x="51170" y="5286375"/>
                  <a:pt x="0" y="5235205"/>
                  <a:pt x="0" y="517208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88169" y="16573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2000" y="1609725"/>
            <a:ext cx="634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 Office Network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688" y="1995487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28650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33425" y="22193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45839" y="91678"/>
                </a:moveTo>
                <a:lnTo>
                  <a:pt x="54173" y="91678"/>
                </a:lnTo>
                <a:cubicBezTo>
                  <a:pt x="58783" y="91678"/>
                  <a:pt x="62508" y="95403"/>
                  <a:pt x="62508" y="100013"/>
                </a:cubicBezTo>
                <a:lnTo>
                  <a:pt x="62508" y="120848"/>
                </a:lnTo>
                <a:lnTo>
                  <a:pt x="37505" y="120848"/>
                </a:lnTo>
                <a:lnTo>
                  <a:pt x="37505" y="100013"/>
                </a:lnTo>
                <a:cubicBezTo>
                  <a:pt x="37505" y="95403"/>
                  <a:pt x="41229" y="91678"/>
                  <a:pt x="45839" y="91678"/>
                </a:cubicBezTo>
                <a:close/>
                <a:moveTo>
                  <a:pt x="25003" y="29170"/>
                </a:moveTo>
                <a:cubicBezTo>
                  <a:pt x="25003" y="26878"/>
                  <a:pt x="26878" y="25003"/>
                  <a:pt x="29170" y="25003"/>
                </a:cubicBezTo>
                <a:lnTo>
                  <a:pt x="37505" y="25003"/>
                </a:lnTo>
                <a:cubicBezTo>
                  <a:pt x="39797" y="25003"/>
                  <a:pt x="41672" y="26878"/>
                  <a:pt x="41672" y="29170"/>
                </a:cubicBezTo>
                <a:lnTo>
                  <a:pt x="41672" y="37505"/>
                </a:lnTo>
                <a:cubicBezTo>
                  <a:pt x="41672" y="39797"/>
                  <a:pt x="39797" y="41672"/>
                  <a:pt x="37505" y="41672"/>
                </a:cubicBezTo>
                <a:lnTo>
                  <a:pt x="29170" y="41672"/>
                </a:lnTo>
                <a:cubicBezTo>
                  <a:pt x="26878" y="41672"/>
                  <a:pt x="25003" y="39797"/>
                  <a:pt x="25003" y="37505"/>
                </a:cubicBezTo>
                <a:lnTo>
                  <a:pt x="25003" y="29170"/>
                </a:lnTo>
                <a:close/>
                <a:moveTo>
                  <a:pt x="62508" y="25003"/>
                </a:moveTo>
                <a:lnTo>
                  <a:pt x="70842" y="25003"/>
                </a:lnTo>
                <a:cubicBezTo>
                  <a:pt x="73134" y="25003"/>
                  <a:pt x="75009" y="26878"/>
                  <a:pt x="75009" y="29170"/>
                </a:cubicBezTo>
                <a:lnTo>
                  <a:pt x="75009" y="37505"/>
                </a:lnTo>
                <a:cubicBezTo>
                  <a:pt x="75009" y="39797"/>
                  <a:pt x="73134" y="41672"/>
                  <a:pt x="70842" y="41672"/>
                </a:cubicBezTo>
                <a:lnTo>
                  <a:pt x="62508" y="41672"/>
                </a:lnTo>
                <a:cubicBezTo>
                  <a:pt x="60216" y="41672"/>
                  <a:pt x="58341" y="39797"/>
                  <a:pt x="58341" y="37505"/>
                </a:cubicBezTo>
                <a:lnTo>
                  <a:pt x="58341" y="29170"/>
                </a:lnTo>
                <a:cubicBezTo>
                  <a:pt x="58341" y="26878"/>
                  <a:pt x="60216" y="25003"/>
                  <a:pt x="62508" y="25003"/>
                </a:cubicBezTo>
                <a:close/>
                <a:moveTo>
                  <a:pt x="25003" y="62508"/>
                </a:moveTo>
                <a:cubicBezTo>
                  <a:pt x="25003" y="60216"/>
                  <a:pt x="26878" y="58341"/>
                  <a:pt x="29170" y="58341"/>
                </a:cubicBezTo>
                <a:lnTo>
                  <a:pt x="37505" y="58341"/>
                </a:lnTo>
                <a:cubicBezTo>
                  <a:pt x="39797" y="58341"/>
                  <a:pt x="41672" y="60216"/>
                  <a:pt x="41672" y="62508"/>
                </a:cubicBezTo>
                <a:lnTo>
                  <a:pt x="41672" y="70842"/>
                </a:lnTo>
                <a:cubicBezTo>
                  <a:pt x="41672" y="73134"/>
                  <a:pt x="39797" y="75009"/>
                  <a:pt x="37505" y="75009"/>
                </a:cubicBezTo>
                <a:lnTo>
                  <a:pt x="29170" y="75009"/>
                </a:lnTo>
                <a:cubicBezTo>
                  <a:pt x="26878" y="75009"/>
                  <a:pt x="25003" y="73134"/>
                  <a:pt x="25003" y="70842"/>
                </a:cubicBezTo>
                <a:lnTo>
                  <a:pt x="25003" y="62508"/>
                </a:lnTo>
                <a:close/>
                <a:moveTo>
                  <a:pt x="62508" y="58341"/>
                </a:moveTo>
                <a:lnTo>
                  <a:pt x="70842" y="58341"/>
                </a:lnTo>
                <a:cubicBezTo>
                  <a:pt x="73134" y="58341"/>
                  <a:pt x="75009" y="60216"/>
                  <a:pt x="75009" y="62508"/>
                </a:cubicBezTo>
                <a:lnTo>
                  <a:pt x="75009" y="70842"/>
                </a:lnTo>
                <a:cubicBezTo>
                  <a:pt x="75009" y="73134"/>
                  <a:pt x="73134" y="75009"/>
                  <a:pt x="70842" y="75009"/>
                </a:cubicBezTo>
                <a:lnTo>
                  <a:pt x="62508" y="75009"/>
                </a:lnTo>
                <a:cubicBezTo>
                  <a:pt x="60216" y="75009"/>
                  <a:pt x="58341" y="73134"/>
                  <a:pt x="58341" y="70842"/>
                </a:cubicBezTo>
                <a:lnTo>
                  <a:pt x="58341" y="62508"/>
                </a:lnTo>
                <a:cubicBezTo>
                  <a:pt x="58341" y="60216"/>
                  <a:pt x="60216" y="58341"/>
                  <a:pt x="62508" y="5834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47750" y="207645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London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7750" y="230505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HQ + Innovation Hub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60453" y="1995487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941415" y="2133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021187" y="22193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360515" y="20764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Birmingham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60515" y="230505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Operations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7688" y="266223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28650" y="2800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08422" y="2886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47750" y="2743200"/>
            <a:ext cx="1152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Bristol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7750" y="2971800"/>
            <a:ext cx="114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 Centre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60453" y="266223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941415" y="2800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021187" y="2886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360515" y="27432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Eastleigh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60515" y="2971800"/>
            <a:ext cx="1181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Operations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7688" y="332898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28650" y="346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708422" y="35528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047750" y="340995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Edinburgh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47750" y="363855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Office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60453" y="332898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3941415" y="3467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029521" y="3552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3724" y="8334"/>
                  <a:pt x="0" y="12059"/>
                  <a:pt x="0" y="16669"/>
                </a:cubicBezTo>
                <a:lnTo>
                  <a:pt x="0" y="112514"/>
                </a:lnTo>
                <a:cubicBezTo>
                  <a:pt x="0" y="119416"/>
                  <a:pt x="5600" y="125016"/>
                  <a:pt x="12502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39640"/>
                </a:lnTo>
                <a:cubicBezTo>
                  <a:pt x="133350" y="34900"/>
                  <a:pt x="128297" y="31905"/>
                  <a:pt x="124130" y="34145"/>
                </a:cubicBezTo>
                <a:lnTo>
                  <a:pt x="83344" y="56101"/>
                </a:lnTo>
                <a:lnTo>
                  <a:pt x="83344" y="39640"/>
                </a:lnTo>
                <a:cubicBezTo>
                  <a:pt x="83344" y="34900"/>
                  <a:pt x="78291" y="31905"/>
                  <a:pt x="74124" y="34145"/>
                </a:cubicBezTo>
                <a:lnTo>
                  <a:pt x="33337" y="56101"/>
                </a:lnTo>
                <a:lnTo>
                  <a:pt x="33337" y="16669"/>
                </a:lnTo>
                <a:cubicBezTo>
                  <a:pt x="33337" y="12059"/>
                  <a:pt x="29613" y="8334"/>
                  <a:pt x="25003" y="8334"/>
                </a:cubicBezTo>
                <a:lnTo>
                  <a:pt x="8334" y="83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360515" y="340995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Glasgow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360515" y="363855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Maxim/Eurocentral Ops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7688" y="399573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28650" y="4133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708422" y="42195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047750" y="40767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Leatherhead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47750" y="4305300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Surrey Operations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860453" y="399573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3941415" y="4133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4021187" y="42195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4360515" y="407670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Leeds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360515" y="4305300"/>
            <a:ext cx="84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Hub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47688" y="466248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62865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708422" y="48863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1047750" y="47434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Manchester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47750" y="497205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Operations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60453" y="466248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3941415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029521" y="48863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91626" y="6511"/>
                </a:moveTo>
                <a:cubicBezTo>
                  <a:pt x="93658" y="1615"/>
                  <a:pt x="99023" y="-1016"/>
                  <a:pt x="104154" y="391"/>
                </a:cubicBezTo>
                <a:lnTo>
                  <a:pt x="105586" y="781"/>
                </a:lnTo>
                <a:cubicBezTo>
                  <a:pt x="122411" y="5365"/>
                  <a:pt x="136788" y="21669"/>
                  <a:pt x="132595" y="41516"/>
                </a:cubicBezTo>
                <a:cubicBezTo>
                  <a:pt x="122932" y="87094"/>
                  <a:pt x="87068" y="122958"/>
                  <a:pt x="41490" y="132621"/>
                </a:cubicBezTo>
                <a:cubicBezTo>
                  <a:pt x="21617" y="136840"/>
                  <a:pt x="5339" y="122437"/>
                  <a:pt x="755" y="105612"/>
                </a:cubicBezTo>
                <a:lnTo>
                  <a:pt x="365" y="104180"/>
                </a:lnTo>
                <a:cubicBezTo>
                  <a:pt x="-1042" y="99049"/>
                  <a:pt x="1589" y="93684"/>
                  <a:pt x="6485" y="91652"/>
                </a:cubicBezTo>
                <a:lnTo>
                  <a:pt x="31827" y="81104"/>
                </a:lnTo>
                <a:cubicBezTo>
                  <a:pt x="36124" y="79307"/>
                  <a:pt x="41099" y="80557"/>
                  <a:pt x="44068" y="84177"/>
                </a:cubicBezTo>
                <a:lnTo>
                  <a:pt x="54121" y="96470"/>
                </a:lnTo>
                <a:cubicBezTo>
                  <a:pt x="72431" y="87381"/>
                  <a:pt x="87146" y="72170"/>
                  <a:pt x="95611" y="53522"/>
                </a:cubicBezTo>
                <a:lnTo>
                  <a:pt x="84125" y="44120"/>
                </a:lnTo>
                <a:cubicBezTo>
                  <a:pt x="80505" y="41177"/>
                  <a:pt x="79281" y="36202"/>
                  <a:pt x="81052" y="31879"/>
                </a:cubicBezTo>
                <a:lnTo>
                  <a:pt x="91626" y="651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4360515" y="474345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Norwich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360515" y="497205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Centre Hub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47688" y="532923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Shape 58"/>
          <p:cNvSpPr/>
          <p:nvPr/>
        </p:nvSpPr>
        <p:spPr>
          <a:xfrm>
            <a:off x="628650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708422" y="5553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1047750" y="5410200"/>
            <a:ext cx="123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Perth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47750" y="5638800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Scottish Operations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860453" y="532923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3941415" y="5467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4021187" y="555307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4360515" y="5410200"/>
            <a:ext cx="981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Sheffield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4360515" y="5638800"/>
            <a:ext cx="971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Regional Office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47688" y="599598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628650" y="613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Shape 69"/>
          <p:cNvSpPr/>
          <p:nvPr/>
        </p:nvSpPr>
        <p:spPr>
          <a:xfrm>
            <a:off x="708422" y="62198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1047750" y="607695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Worthing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47750" y="63055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South Coast Ops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860453" y="5995988"/>
            <a:ext cx="3152775" cy="581025"/>
          </a:xfrm>
          <a:custGeom>
            <a:avLst/>
            <a:gdLst/>
            <a:ahLst/>
            <a:cxnLst/>
            <a:rect l="l" t="t" r="r" b="b"/>
            <a:pathLst>
              <a:path w="3152775" h="581025">
                <a:moveTo>
                  <a:pt x="76201" y="0"/>
                </a:moveTo>
                <a:lnTo>
                  <a:pt x="3076574" y="0"/>
                </a:lnTo>
                <a:cubicBezTo>
                  <a:pt x="3118630" y="0"/>
                  <a:pt x="3152775" y="34145"/>
                  <a:pt x="3152775" y="76201"/>
                </a:cubicBezTo>
                <a:lnTo>
                  <a:pt x="3152775" y="504824"/>
                </a:lnTo>
                <a:cubicBezTo>
                  <a:pt x="3152775" y="546880"/>
                  <a:pt x="3118630" y="581025"/>
                  <a:pt x="3076574" y="581025"/>
                </a:cubicBezTo>
                <a:lnTo>
                  <a:pt x="76201" y="581025"/>
                </a:lnTo>
                <a:cubicBezTo>
                  <a:pt x="34145" y="581025"/>
                  <a:pt x="0" y="546880"/>
                  <a:pt x="0" y="5048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Shape 73"/>
          <p:cNvSpPr/>
          <p:nvPr/>
        </p:nvSpPr>
        <p:spPr>
          <a:xfrm>
            <a:off x="3941415" y="613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4021187" y="62198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3344" y="0"/>
                </a:moveTo>
                <a:cubicBezTo>
                  <a:pt x="74150" y="0"/>
                  <a:pt x="66675" y="7475"/>
                  <a:pt x="66675" y="16669"/>
                </a:cubicBezTo>
                <a:lnTo>
                  <a:pt x="66675" y="25003"/>
                </a:lnTo>
                <a:lnTo>
                  <a:pt x="54173" y="25003"/>
                </a:lnTo>
                <a:lnTo>
                  <a:pt x="54173" y="6251"/>
                </a:lnTo>
                <a:cubicBezTo>
                  <a:pt x="54173" y="2787"/>
                  <a:pt x="51387" y="0"/>
                  <a:pt x="47923" y="0"/>
                </a:cubicBezTo>
                <a:cubicBezTo>
                  <a:pt x="44459" y="0"/>
                  <a:pt x="41672" y="2787"/>
                  <a:pt x="41672" y="6251"/>
                </a:cubicBezTo>
                <a:lnTo>
                  <a:pt x="41672" y="25003"/>
                </a:lnTo>
                <a:lnTo>
                  <a:pt x="25003" y="25003"/>
                </a:lnTo>
                <a:lnTo>
                  <a:pt x="25003" y="6251"/>
                </a:lnTo>
                <a:cubicBezTo>
                  <a:pt x="25003" y="2787"/>
                  <a:pt x="22216" y="0"/>
                  <a:pt x="18752" y="0"/>
                </a:cubicBezTo>
                <a:cubicBezTo>
                  <a:pt x="15288" y="0"/>
                  <a:pt x="12502" y="2787"/>
                  <a:pt x="12502" y="6251"/>
                </a:cubicBezTo>
                <a:lnTo>
                  <a:pt x="12502" y="25524"/>
                </a:lnTo>
                <a:cubicBezTo>
                  <a:pt x="5313" y="27373"/>
                  <a:pt x="0" y="33910"/>
                  <a:pt x="0" y="41672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133350" y="133350"/>
                </a:lnTo>
                <a:cubicBezTo>
                  <a:pt x="142544" y="133350"/>
                  <a:pt x="150019" y="125875"/>
                  <a:pt x="150019" y="116681"/>
                </a:cubicBezTo>
                <a:lnTo>
                  <a:pt x="150019" y="66675"/>
                </a:lnTo>
                <a:cubicBezTo>
                  <a:pt x="150019" y="57481"/>
                  <a:pt x="142544" y="50006"/>
                  <a:pt x="133350" y="50006"/>
                </a:cubicBezTo>
                <a:lnTo>
                  <a:pt x="116681" y="50006"/>
                </a:lnTo>
                <a:lnTo>
                  <a:pt x="116681" y="16669"/>
                </a:lnTo>
                <a:cubicBezTo>
                  <a:pt x="116681" y="7475"/>
                  <a:pt x="109206" y="0"/>
                  <a:pt x="100013" y="0"/>
                </a:cubicBezTo>
                <a:lnTo>
                  <a:pt x="83344" y="0"/>
                </a:lnTo>
                <a:close/>
                <a:moveTo>
                  <a:pt x="100013" y="29170"/>
                </a:moveTo>
                <a:lnTo>
                  <a:pt x="100013" y="37505"/>
                </a:lnTo>
                <a:cubicBezTo>
                  <a:pt x="100013" y="39797"/>
                  <a:pt x="98137" y="41672"/>
                  <a:pt x="95845" y="41672"/>
                </a:cubicBezTo>
                <a:lnTo>
                  <a:pt x="87511" y="41672"/>
                </a:lnTo>
                <a:cubicBezTo>
                  <a:pt x="85219" y="41672"/>
                  <a:pt x="83344" y="39797"/>
                  <a:pt x="83344" y="37505"/>
                </a:cubicBezTo>
                <a:lnTo>
                  <a:pt x="83344" y="29170"/>
                </a:lnTo>
                <a:cubicBezTo>
                  <a:pt x="83344" y="26878"/>
                  <a:pt x="85219" y="25003"/>
                  <a:pt x="87511" y="25003"/>
                </a:cubicBezTo>
                <a:lnTo>
                  <a:pt x="95845" y="25003"/>
                </a:lnTo>
                <a:cubicBezTo>
                  <a:pt x="98137" y="25003"/>
                  <a:pt x="100013" y="26878"/>
                  <a:pt x="100013" y="29170"/>
                </a:cubicBezTo>
                <a:close/>
                <a:moveTo>
                  <a:pt x="95845" y="50006"/>
                </a:moveTo>
                <a:cubicBezTo>
                  <a:pt x="98137" y="50006"/>
                  <a:pt x="100013" y="51881"/>
                  <a:pt x="100013" y="54173"/>
                </a:cubicBezTo>
                <a:lnTo>
                  <a:pt x="100013" y="62508"/>
                </a:lnTo>
                <a:cubicBezTo>
                  <a:pt x="100013" y="64800"/>
                  <a:pt x="98137" y="66675"/>
                  <a:pt x="95845" y="66675"/>
                </a:cubicBezTo>
                <a:lnTo>
                  <a:pt x="87511" y="66675"/>
                </a:lnTo>
                <a:cubicBezTo>
                  <a:pt x="85219" y="66675"/>
                  <a:pt x="83344" y="64800"/>
                  <a:pt x="83344" y="62508"/>
                </a:cubicBezTo>
                <a:lnTo>
                  <a:pt x="83344" y="54173"/>
                </a:lnTo>
                <a:cubicBezTo>
                  <a:pt x="83344" y="51881"/>
                  <a:pt x="85219" y="50006"/>
                  <a:pt x="87511" y="50006"/>
                </a:cubicBezTo>
                <a:lnTo>
                  <a:pt x="95845" y="50006"/>
                </a:lnTo>
                <a:close/>
                <a:moveTo>
                  <a:pt x="100013" y="79177"/>
                </a:moveTo>
                <a:lnTo>
                  <a:pt x="100013" y="87511"/>
                </a:lnTo>
                <a:cubicBezTo>
                  <a:pt x="100013" y="89803"/>
                  <a:pt x="98137" y="91678"/>
                  <a:pt x="95845" y="91678"/>
                </a:cubicBezTo>
                <a:lnTo>
                  <a:pt x="87511" y="91678"/>
                </a:lnTo>
                <a:cubicBezTo>
                  <a:pt x="85219" y="91678"/>
                  <a:pt x="83344" y="89803"/>
                  <a:pt x="83344" y="87511"/>
                </a:cubicBezTo>
                <a:lnTo>
                  <a:pt x="83344" y="79177"/>
                </a:lnTo>
                <a:cubicBezTo>
                  <a:pt x="83344" y="76885"/>
                  <a:pt x="85219" y="75009"/>
                  <a:pt x="87511" y="75009"/>
                </a:cubicBezTo>
                <a:lnTo>
                  <a:pt x="95845" y="75009"/>
                </a:lnTo>
                <a:cubicBezTo>
                  <a:pt x="98137" y="75009"/>
                  <a:pt x="100013" y="76885"/>
                  <a:pt x="100013" y="79177"/>
                </a:cubicBezTo>
                <a:close/>
                <a:moveTo>
                  <a:pt x="129183" y="75009"/>
                </a:moveTo>
                <a:cubicBezTo>
                  <a:pt x="131475" y="75009"/>
                  <a:pt x="133350" y="76885"/>
                  <a:pt x="133350" y="79177"/>
                </a:cubicBezTo>
                <a:lnTo>
                  <a:pt x="133350" y="87511"/>
                </a:lnTo>
                <a:cubicBezTo>
                  <a:pt x="133350" y="89803"/>
                  <a:pt x="131475" y="91678"/>
                  <a:pt x="129183" y="91678"/>
                </a:cubicBezTo>
                <a:lnTo>
                  <a:pt x="120848" y="91678"/>
                </a:lnTo>
                <a:cubicBezTo>
                  <a:pt x="118556" y="91678"/>
                  <a:pt x="116681" y="89803"/>
                  <a:pt x="116681" y="87511"/>
                </a:cubicBezTo>
                <a:lnTo>
                  <a:pt x="116681" y="79177"/>
                </a:lnTo>
                <a:cubicBezTo>
                  <a:pt x="116681" y="76885"/>
                  <a:pt x="118556" y="75009"/>
                  <a:pt x="120848" y="75009"/>
                </a:cubicBezTo>
                <a:lnTo>
                  <a:pt x="129183" y="75009"/>
                </a:lnTo>
                <a:close/>
                <a:moveTo>
                  <a:pt x="66675" y="79177"/>
                </a:moveTo>
                <a:lnTo>
                  <a:pt x="66675" y="87511"/>
                </a:lnTo>
                <a:cubicBezTo>
                  <a:pt x="66675" y="89803"/>
                  <a:pt x="64800" y="91678"/>
                  <a:pt x="62508" y="91678"/>
                </a:cubicBezTo>
                <a:lnTo>
                  <a:pt x="54173" y="91678"/>
                </a:lnTo>
                <a:cubicBezTo>
                  <a:pt x="51881" y="91678"/>
                  <a:pt x="50006" y="89803"/>
                  <a:pt x="50006" y="87511"/>
                </a:cubicBezTo>
                <a:lnTo>
                  <a:pt x="50006" y="79177"/>
                </a:lnTo>
                <a:cubicBezTo>
                  <a:pt x="50006" y="76885"/>
                  <a:pt x="51881" y="75009"/>
                  <a:pt x="54173" y="75009"/>
                </a:cubicBezTo>
                <a:lnTo>
                  <a:pt x="62508" y="75009"/>
                </a:lnTo>
                <a:cubicBezTo>
                  <a:pt x="64800" y="75009"/>
                  <a:pt x="66675" y="76885"/>
                  <a:pt x="66675" y="79177"/>
                </a:cubicBezTo>
                <a:close/>
                <a:moveTo>
                  <a:pt x="62508" y="50006"/>
                </a:moveTo>
                <a:cubicBezTo>
                  <a:pt x="64800" y="50006"/>
                  <a:pt x="66675" y="51881"/>
                  <a:pt x="66675" y="54173"/>
                </a:cubicBezTo>
                <a:lnTo>
                  <a:pt x="66675" y="62508"/>
                </a:lnTo>
                <a:cubicBezTo>
                  <a:pt x="66675" y="64800"/>
                  <a:pt x="64800" y="66675"/>
                  <a:pt x="62508" y="66675"/>
                </a:cubicBezTo>
                <a:lnTo>
                  <a:pt x="54173" y="66675"/>
                </a:lnTo>
                <a:cubicBezTo>
                  <a:pt x="51881" y="66675"/>
                  <a:pt x="50006" y="64800"/>
                  <a:pt x="50006" y="62508"/>
                </a:cubicBezTo>
                <a:lnTo>
                  <a:pt x="50006" y="54173"/>
                </a:lnTo>
                <a:cubicBezTo>
                  <a:pt x="50006" y="51881"/>
                  <a:pt x="51881" y="50006"/>
                  <a:pt x="54173" y="50006"/>
                </a:cubicBezTo>
                <a:lnTo>
                  <a:pt x="62508" y="50006"/>
                </a:lnTo>
                <a:close/>
                <a:moveTo>
                  <a:pt x="33337" y="79177"/>
                </a:moveTo>
                <a:lnTo>
                  <a:pt x="33337" y="87511"/>
                </a:lnTo>
                <a:cubicBezTo>
                  <a:pt x="33337" y="89803"/>
                  <a:pt x="31462" y="91678"/>
                  <a:pt x="29170" y="91678"/>
                </a:cubicBezTo>
                <a:lnTo>
                  <a:pt x="20836" y="91678"/>
                </a:lnTo>
                <a:cubicBezTo>
                  <a:pt x="18544" y="91678"/>
                  <a:pt x="16669" y="89803"/>
                  <a:pt x="16669" y="87511"/>
                </a:cubicBezTo>
                <a:lnTo>
                  <a:pt x="16669" y="79177"/>
                </a:lnTo>
                <a:cubicBezTo>
                  <a:pt x="16669" y="76885"/>
                  <a:pt x="18544" y="75009"/>
                  <a:pt x="20836" y="75009"/>
                </a:cubicBezTo>
                <a:lnTo>
                  <a:pt x="29170" y="75009"/>
                </a:lnTo>
                <a:cubicBezTo>
                  <a:pt x="31462" y="75009"/>
                  <a:pt x="33337" y="76885"/>
                  <a:pt x="33337" y="79177"/>
                </a:cubicBezTo>
                <a:close/>
                <a:moveTo>
                  <a:pt x="29170" y="50006"/>
                </a:moveTo>
                <a:cubicBezTo>
                  <a:pt x="31462" y="50006"/>
                  <a:pt x="33337" y="51881"/>
                  <a:pt x="33337" y="54173"/>
                </a:cubicBezTo>
                <a:lnTo>
                  <a:pt x="33337" y="62508"/>
                </a:lnTo>
                <a:cubicBezTo>
                  <a:pt x="33337" y="64800"/>
                  <a:pt x="31462" y="66675"/>
                  <a:pt x="29170" y="66675"/>
                </a:cubicBezTo>
                <a:lnTo>
                  <a:pt x="20836" y="66675"/>
                </a:lnTo>
                <a:cubicBezTo>
                  <a:pt x="18544" y="66675"/>
                  <a:pt x="16669" y="64800"/>
                  <a:pt x="16669" y="62508"/>
                </a:cubicBezTo>
                <a:lnTo>
                  <a:pt x="16669" y="54173"/>
                </a:lnTo>
                <a:cubicBezTo>
                  <a:pt x="16669" y="51881"/>
                  <a:pt x="18544" y="50006"/>
                  <a:pt x="20836" y="50006"/>
                </a:cubicBezTo>
                <a:lnTo>
                  <a:pt x="29170" y="500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4360515" y="6076950"/>
            <a:ext cx="87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York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4360515" y="6305550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Northern Hub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335143" y="1452563"/>
            <a:ext cx="4467225" cy="3571875"/>
          </a:xfrm>
          <a:custGeom>
            <a:avLst/>
            <a:gdLst/>
            <a:ahLst/>
            <a:cxnLst/>
            <a:rect l="l" t="t" r="r" b="b"/>
            <a:pathLst>
              <a:path w="4467225" h="3571875">
                <a:moveTo>
                  <a:pt x="114300" y="0"/>
                </a:moveTo>
                <a:lnTo>
                  <a:pt x="4352925" y="0"/>
                </a:lnTo>
                <a:cubicBezTo>
                  <a:pt x="4416009" y="0"/>
                  <a:pt x="4467225" y="51216"/>
                  <a:pt x="4467225" y="114300"/>
                </a:cubicBezTo>
                <a:lnTo>
                  <a:pt x="4467225" y="3457575"/>
                </a:lnTo>
                <a:cubicBezTo>
                  <a:pt x="4467225" y="3520659"/>
                  <a:pt x="4416009" y="3571875"/>
                  <a:pt x="4352925" y="3571875"/>
                </a:cubicBezTo>
                <a:lnTo>
                  <a:pt x="114300" y="3571875"/>
                </a:lnTo>
                <a:cubicBezTo>
                  <a:pt x="51216" y="3571875"/>
                  <a:pt x="0" y="3520659"/>
                  <a:pt x="0" y="3457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Shape 78"/>
          <p:cNvSpPr/>
          <p:nvPr/>
        </p:nvSpPr>
        <p:spPr>
          <a:xfrm>
            <a:off x="7516118" y="1657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64294" y="21431"/>
                </a:moveTo>
                <a:cubicBezTo>
                  <a:pt x="64294" y="15504"/>
                  <a:pt x="69082" y="10716"/>
                  <a:pt x="75009" y="10716"/>
                </a:cubicBezTo>
                <a:lnTo>
                  <a:pt x="96441" y="10716"/>
                </a:lnTo>
                <a:cubicBezTo>
                  <a:pt x="102368" y="10716"/>
                  <a:pt x="107156" y="15504"/>
                  <a:pt x="107156" y="21431"/>
                </a:cubicBezTo>
                <a:lnTo>
                  <a:pt x="107156" y="42863"/>
                </a:lnTo>
                <a:cubicBezTo>
                  <a:pt x="107156" y="48790"/>
                  <a:pt x="102368" y="53578"/>
                  <a:pt x="96441" y="53578"/>
                </a:cubicBezTo>
                <a:lnTo>
                  <a:pt x="93762" y="53578"/>
                </a:lnTo>
                <a:lnTo>
                  <a:pt x="93762" y="75009"/>
                </a:lnTo>
                <a:lnTo>
                  <a:pt x="133945" y="75009"/>
                </a:lnTo>
                <a:cubicBezTo>
                  <a:pt x="147273" y="75009"/>
                  <a:pt x="158055" y="85792"/>
                  <a:pt x="158055" y="99120"/>
                </a:cubicBezTo>
                <a:lnTo>
                  <a:pt x="158055" y="117872"/>
                </a:lnTo>
                <a:lnTo>
                  <a:pt x="160734" y="117872"/>
                </a:lnTo>
                <a:cubicBezTo>
                  <a:pt x="166661" y="117872"/>
                  <a:pt x="171450" y="122660"/>
                  <a:pt x="171450" y="128588"/>
                </a:cubicBezTo>
                <a:lnTo>
                  <a:pt x="171450" y="150019"/>
                </a:lnTo>
                <a:cubicBezTo>
                  <a:pt x="171450" y="155946"/>
                  <a:pt x="166661" y="160734"/>
                  <a:pt x="160734" y="160734"/>
                </a:cubicBezTo>
                <a:lnTo>
                  <a:pt x="139303" y="160734"/>
                </a:lnTo>
                <a:cubicBezTo>
                  <a:pt x="133376" y="160734"/>
                  <a:pt x="128588" y="155946"/>
                  <a:pt x="128588" y="150019"/>
                </a:cubicBezTo>
                <a:lnTo>
                  <a:pt x="128588" y="128588"/>
                </a:lnTo>
                <a:cubicBezTo>
                  <a:pt x="128588" y="122660"/>
                  <a:pt x="133376" y="117872"/>
                  <a:pt x="139303" y="117872"/>
                </a:cubicBezTo>
                <a:lnTo>
                  <a:pt x="141982" y="117872"/>
                </a:lnTo>
                <a:lnTo>
                  <a:pt x="141982" y="99120"/>
                </a:lnTo>
                <a:cubicBezTo>
                  <a:pt x="141982" y="94666"/>
                  <a:pt x="138399" y="91083"/>
                  <a:pt x="133945" y="91083"/>
                </a:cubicBezTo>
                <a:lnTo>
                  <a:pt x="93762" y="91083"/>
                </a:lnTo>
                <a:lnTo>
                  <a:pt x="93762" y="117872"/>
                </a:lnTo>
                <a:lnTo>
                  <a:pt x="96441" y="117872"/>
                </a:lnTo>
                <a:cubicBezTo>
                  <a:pt x="102368" y="117872"/>
                  <a:pt x="107156" y="122660"/>
                  <a:pt x="107156" y="128588"/>
                </a:cubicBezTo>
                <a:lnTo>
                  <a:pt x="107156" y="150019"/>
                </a:lnTo>
                <a:cubicBezTo>
                  <a:pt x="107156" y="155946"/>
                  <a:pt x="102368" y="160734"/>
                  <a:pt x="96441" y="160734"/>
                </a:cubicBezTo>
                <a:lnTo>
                  <a:pt x="75009" y="160734"/>
                </a:lnTo>
                <a:cubicBezTo>
                  <a:pt x="69082" y="160734"/>
                  <a:pt x="64294" y="155946"/>
                  <a:pt x="64294" y="150019"/>
                </a:cubicBezTo>
                <a:lnTo>
                  <a:pt x="64294" y="128588"/>
                </a:lnTo>
                <a:cubicBezTo>
                  <a:pt x="64294" y="122660"/>
                  <a:pt x="69082" y="117872"/>
                  <a:pt x="75009" y="117872"/>
                </a:cubicBezTo>
                <a:lnTo>
                  <a:pt x="77688" y="117872"/>
                </a:lnTo>
                <a:lnTo>
                  <a:pt x="77688" y="91083"/>
                </a:lnTo>
                <a:lnTo>
                  <a:pt x="37505" y="91083"/>
                </a:lnTo>
                <a:cubicBezTo>
                  <a:pt x="33051" y="91083"/>
                  <a:pt x="29468" y="94666"/>
                  <a:pt x="29468" y="99120"/>
                </a:cubicBezTo>
                <a:lnTo>
                  <a:pt x="29468" y="117872"/>
                </a:lnTo>
                <a:lnTo>
                  <a:pt x="32147" y="117872"/>
                </a:lnTo>
                <a:cubicBezTo>
                  <a:pt x="38074" y="117872"/>
                  <a:pt x="42863" y="122660"/>
                  <a:pt x="42863" y="128588"/>
                </a:cubicBezTo>
                <a:lnTo>
                  <a:pt x="42863" y="150019"/>
                </a:lnTo>
                <a:cubicBezTo>
                  <a:pt x="42863" y="155946"/>
                  <a:pt x="38074" y="160734"/>
                  <a:pt x="32147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28588"/>
                </a:lnTo>
                <a:cubicBezTo>
                  <a:pt x="0" y="122660"/>
                  <a:pt x="4789" y="117872"/>
                  <a:pt x="10716" y="117872"/>
                </a:cubicBezTo>
                <a:lnTo>
                  <a:pt x="13395" y="117872"/>
                </a:lnTo>
                <a:lnTo>
                  <a:pt x="13395" y="99120"/>
                </a:lnTo>
                <a:cubicBezTo>
                  <a:pt x="13395" y="85792"/>
                  <a:pt x="24177" y="75009"/>
                  <a:pt x="37505" y="75009"/>
                </a:cubicBezTo>
                <a:lnTo>
                  <a:pt x="77688" y="75009"/>
                </a:lnTo>
                <a:lnTo>
                  <a:pt x="77688" y="53578"/>
                </a:lnTo>
                <a:lnTo>
                  <a:pt x="75009" y="53578"/>
                </a:lnTo>
                <a:cubicBezTo>
                  <a:pt x="69082" y="53578"/>
                  <a:pt x="64294" y="48790"/>
                  <a:pt x="64294" y="42863"/>
                </a:cubicBezTo>
                <a:lnTo>
                  <a:pt x="64294" y="2143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7711380" y="1609725"/>
            <a:ext cx="401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Two-Hub GTM Model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511355" y="2247900"/>
            <a:ext cx="4133850" cy="1257300"/>
          </a:xfrm>
          <a:custGeom>
            <a:avLst/>
            <a:gdLst/>
            <a:ahLst/>
            <a:cxnLst/>
            <a:rect l="l" t="t" r="r" b="b"/>
            <a:pathLst>
              <a:path w="4133850" h="1257300">
                <a:moveTo>
                  <a:pt x="38100" y="0"/>
                </a:moveTo>
                <a:lnTo>
                  <a:pt x="4057645" y="0"/>
                </a:lnTo>
                <a:cubicBezTo>
                  <a:pt x="4099732" y="0"/>
                  <a:pt x="4133850" y="34118"/>
                  <a:pt x="4133850" y="76205"/>
                </a:cubicBezTo>
                <a:lnTo>
                  <a:pt x="4133850" y="1181095"/>
                </a:lnTo>
                <a:cubicBezTo>
                  <a:pt x="4133850" y="1223182"/>
                  <a:pt x="4099732" y="1257300"/>
                  <a:pt x="405764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7511355" y="22479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7657802" y="2390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4812" y="29200"/>
                </a:moveTo>
                <a:cubicBezTo>
                  <a:pt x="107893" y="26756"/>
                  <a:pt x="109835" y="22972"/>
                  <a:pt x="109835" y="18752"/>
                </a:cubicBezTo>
                <a:cubicBezTo>
                  <a:pt x="109835" y="11352"/>
                  <a:pt x="103841" y="5358"/>
                  <a:pt x="96441" y="5358"/>
                </a:cubicBezTo>
                <a:cubicBezTo>
                  <a:pt x="89040" y="5358"/>
                  <a:pt x="83046" y="11352"/>
                  <a:pt x="83046" y="18752"/>
                </a:cubicBezTo>
                <a:cubicBezTo>
                  <a:pt x="83046" y="22972"/>
                  <a:pt x="85022" y="26756"/>
                  <a:pt x="88069" y="29200"/>
                </a:cubicBezTo>
                <a:lnTo>
                  <a:pt x="65164" y="65231"/>
                </a:lnTo>
                <a:cubicBezTo>
                  <a:pt x="61816" y="70489"/>
                  <a:pt x="54683" y="71795"/>
                  <a:pt x="49694" y="68044"/>
                </a:cubicBezTo>
                <a:lnTo>
                  <a:pt x="29769" y="53143"/>
                </a:lnTo>
                <a:cubicBezTo>
                  <a:pt x="31276" y="51000"/>
                  <a:pt x="32147" y="48354"/>
                  <a:pt x="32147" y="45541"/>
                </a:cubicBezTo>
                <a:cubicBezTo>
                  <a:pt x="32147" y="38141"/>
                  <a:pt x="26153" y="32147"/>
                  <a:pt x="18752" y="32147"/>
                </a:cubicBezTo>
                <a:cubicBezTo>
                  <a:pt x="11352" y="32147"/>
                  <a:pt x="5358" y="38141"/>
                  <a:pt x="5358" y="45541"/>
                </a:cubicBezTo>
                <a:cubicBezTo>
                  <a:pt x="5358" y="52841"/>
                  <a:pt x="11218" y="58802"/>
                  <a:pt x="18484" y="58936"/>
                </a:cubicBezTo>
                <a:lnTo>
                  <a:pt x="29401" y="131769"/>
                </a:lnTo>
                <a:cubicBezTo>
                  <a:pt x="30975" y="142250"/>
                  <a:pt x="39983" y="150019"/>
                  <a:pt x="50598" y="150019"/>
                </a:cubicBezTo>
                <a:lnTo>
                  <a:pt x="142283" y="150019"/>
                </a:lnTo>
                <a:cubicBezTo>
                  <a:pt x="152899" y="150019"/>
                  <a:pt x="161906" y="142250"/>
                  <a:pt x="163480" y="131769"/>
                </a:cubicBezTo>
                <a:lnTo>
                  <a:pt x="174397" y="58936"/>
                </a:lnTo>
                <a:cubicBezTo>
                  <a:pt x="181663" y="58802"/>
                  <a:pt x="187523" y="52841"/>
                  <a:pt x="187523" y="45541"/>
                </a:cubicBezTo>
                <a:cubicBezTo>
                  <a:pt x="187523" y="38141"/>
                  <a:pt x="181529" y="32147"/>
                  <a:pt x="174129" y="32147"/>
                </a:cubicBezTo>
                <a:cubicBezTo>
                  <a:pt x="166728" y="32147"/>
                  <a:pt x="160734" y="38141"/>
                  <a:pt x="160734" y="45541"/>
                </a:cubicBezTo>
                <a:cubicBezTo>
                  <a:pt x="160734" y="48354"/>
                  <a:pt x="161605" y="51000"/>
                  <a:pt x="163112" y="53143"/>
                </a:cubicBezTo>
                <a:lnTo>
                  <a:pt x="143221" y="68078"/>
                </a:lnTo>
                <a:cubicBezTo>
                  <a:pt x="138232" y="71828"/>
                  <a:pt x="131099" y="70522"/>
                  <a:pt x="127750" y="65265"/>
                </a:cubicBezTo>
                <a:lnTo>
                  <a:pt x="104812" y="2920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7935218" y="236220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London Hub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7644705" y="2667000"/>
            <a:ext cx="395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HQ, Strategic Decisions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7644705" y="2933700"/>
            <a:ext cx="1047750" cy="190500"/>
          </a:xfrm>
          <a:custGeom>
            <a:avLst/>
            <a:gdLst/>
            <a:ahLst/>
            <a:cxnLst/>
            <a:rect l="l" t="t" r="r" b="b"/>
            <a:pathLst>
              <a:path w="1047750" h="190500">
                <a:moveTo>
                  <a:pt x="95250" y="0"/>
                </a:moveTo>
                <a:lnTo>
                  <a:pt x="952500" y="0"/>
                </a:lnTo>
                <a:cubicBezTo>
                  <a:pt x="1005070" y="0"/>
                  <a:pt x="1047750" y="42680"/>
                  <a:pt x="1047750" y="95250"/>
                </a:cubicBezTo>
                <a:lnTo>
                  <a:pt x="1047750" y="95250"/>
                </a:lnTo>
                <a:cubicBezTo>
                  <a:pt x="1047750" y="147820"/>
                  <a:pt x="1005070" y="190500"/>
                  <a:pt x="9525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Text 86"/>
          <p:cNvSpPr/>
          <p:nvPr/>
        </p:nvSpPr>
        <p:spPr>
          <a:xfrm>
            <a:off x="7644705" y="2933700"/>
            <a:ext cx="11049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Leadership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768060" y="2933700"/>
            <a:ext cx="914400" cy="190500"/>
          </a:xfrm>
          <a:custGeom>
            <a:avLst/>
            <a:gdLst/>
            <a:ahLst/>
            <a:cxnLst/>
            <a:rect l="l" t="t" r="r" b="b"/>
            <a:pathLst>
              <a:path w="914400" h="190500">
                <a:moveTo>
                  <a:pt x="95250" y="0"/>
                </a:moveTo>
                <a:lnTo>
                  <a:pt x="819150" y="0"/>
                </a:lnTo>
                <a:cubicBezTo>
                  <a:pt x="871720" y="0"/>
                  <a:pt x="914400" y="42680"/>
                  <a:pt x="914400" y="95250"/>
                </a:cubicBezTo>
                <a:lnTo>
                  <a:pt x="914400" y="95250"/>
                </a:lnTo>
                <a:cubicBezTo>
                  <a:pt x="914400" y="147820"/>
                  <a:pt x="871720" y="190500"/>
                  <a:pt x="8191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8768060" y="2933700"/>
            <a:ext cx="9715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Investors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762232" y="2933700"/>
            <a:ext cx="1181100" cy="190500"/>
          </a:xfrm>
          <a:custGeom>
            <a:avLst/>
            <a:gdLst/>
            <a:ahLst/>
            <a:cxnLst/>
            <a:rect l="l" t="t" r="r" b="b"/>
            <a:pathLst>
              <a:path w="1181100" h="190500">
                <a:moveTo>
                  <a:pt x="95250" y="0"/>
                </a:moveTo>
                <a:lnTo>
                  <a:pt x="1085850" y="0"/>
                </a:lnTo>
                <a:cubicBezTo>
                  <a:pt x="1138420" y="0"/>
                  <a:pt x="1181100" y="42680"/>
                  <a:pt x="1181100" y="95250"/>
                </a:cubicBezTo>
                <a:lnTo>
                  <a:pt x="1181100" y="95250"/>
                </a:lnTo>
                <a:cubicBezTo>
                  <a:pt x="1181100" y="147820"/>
                  <a:pt x="1138420" y="190500"/>
                  <a:pt x="10858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2" name="Text 90"/>
          <p:cNvSpPr/>
          <p:nvPr/>
        </p:nvSpPr>
        <p:spPr>
          <a:xfrm>
            <a:off x="9762232" y="2933700"/>
            <a:ext cx="1238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Platforms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7644705" y="3200400"/>
            <a:ext cx="809625" cy="190500"/>
          </a:xfrm>
          <a:custGeom>
            <a:avLst/>
            <a:gdLst/>
            <a:ahLst/>
            <a:cxnLst/>
            <a:rect l="l" t="t" r="r" b="b"/>
            <a:pathLst>
              <a:path w="809625" h="190500">
                <a:moveTo>
                  <a:pt x="95250" y="0"/>
                </a:moveTo>
                <a:lnTo>
                  <a:pt x="714375" y="0"/>
                </a:lnTo>
                <a:cubicBezTo>
                  <a:pt x="766945" y="0"/>
                  <a:pt x="809625" y="42680"/>
                  <a:pt x="809625" y="95250"/>
                </a:cubicBezTo>
                <a:lnTo>
                  <a:pt x="809625" y="95250"/>
                </a:lnTo>
                <a:cubicBezTo>
                  <a:pt x="809625" y="147820"/>
                  <a:pt x="766945" y="190500"/>
                  <a:pt x="7143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4" name="Text 92"/>
          <p:cNvSpPr/>
          <p:nvPr/>
        </p:nvSpPr>
        <p:spPr>
          <a:xfrm>
            <a:off x="7644705" y="3200400"/>
            <a:ext cx="8667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529042" y="3200400"/>
            <a:ext cx="781050" cy="190500"/>
          </a:xfrm>
          <a:custGeom>
            <a:avLst/>
            <a:gdLst/>
            <a:ahLst/>
            <a:cxnLst/>
            <a:rect l="l" t="t" r="r" b="b"/>
            <a:pathLst>
              <a:path w="781050" h="190500">
                <a:moveTo>
                  <a:pt x="95250" y="0"/>
                </a:moveTo>
                <a:lnTo>
                  <a:pt x="685800" y="0"/>
                </a:lnTo>
                <a:cubicBezTo>
                  <a:pt x="738370" y="0"/>
                  <a:pt x="781050" y="42680"/>
                  <a:pt x="781050" y="95250"/>
                </a:cubicBezTo>
                <a:lnTo>
                  <a:pt x="781050" y="95250"/>
                </a:lnTo>
                <a:cubicBezTo>
                  <a:pt x="781050" y="147820"/>
                  <a:pt x="738370" y="190500"/>
                  <a:pt x="6858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6" name="Text 94"/>
          <p:cNvSpPr/>
          <p:nvPr/>
        </p:nvSpPr>
        <p:spPr>
          <a:xfrm>
            <a:off x="8529042" y="3200400"/>
            <a:ext cx="8382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7511355" y="3619500"/>
            <a:ext cx="4133850" cy="990600"/>
          </a:xfrm>
          <a:custGeom>
            <a:avLst/>
            <a:gdLst/>
            <a:ahLst/>
            <a:cxnLst/>
            <a:rect l="l" t="t" r="r" b="b"/>
            <a:pathLst>
              <a:path w="4133850" h="990600">
                <a:moveTo>
                  <a:pt x="38100" y="0"/>
                </a:moveTo>
                <a:lnTo>
                  <a:pt x="4057653" y="0"/>
                </a:lnTo>
                <a:cubicBezTo>
                  <a:pt x="4099735" y="0"/>
                  <a:pt x="4133850" y="34115"/>
                  <a:pt x="4133850" y="76197"/>
                </a:cubicBezTo>
                <a:lnTo>
                  <a:pt x="4133850" y="914403"/>
                </a:lnTo>
                <a:cubicBezTo>
                  <a:pt x="4133850" y="956485"/>
                  <a:pt x="4099735" y="990600"/>
                  <a:pt x="405765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7511355" y="361950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7647087" y="376237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39270" y="70489"/>
                </a:moveTo>
                <a:cubicBezTo>
                  <a:pt x="143355" y="69384"/>
                  <a:pt x="147641" y="71326"/>
                  <a:pt x="149483" y="75110"/>
                </a:cubicBezTo>
                <a:lnTo>
                  <a:pt x="155711" y="87701"/>
                </a:lnTo>
                <a:cubicBezTo>
                  <a:pt x="159161" y="88170"/>
                  <a:pt x="162543" y="89107"/>
                  <a:pt x="165724" y="90413"/>
                </a:cubicBezTo>
                <a:lnTo>
                  <a:pt x="177444" y="82611"/>
                </a:lnTo>
                <a:cubicBezTo>
                  <a:pt x="180960" y="80267"/>
                  <a:pt x="185615" y="80736"/>
                  <a:pt x="188595" y="83716"/>
                </a:cubicBezTo>
                <a:lnTo>
                  <a:pt x="195024" y="90145"/>
                </a:lnTo>
                <a:cubicBezTo>
                  <a:pt x="198005" y="93125"/>
                  <a:pt x="198473" y="97814"/>
                  <a:pt x="196129" y="101296"/>
                </a:cubicBezTo>
                <a:lnTo>
                  <a:pt x="188327" y="112983"/>
                </a:lnTo>
                <a:cubicBezTo>
                  <a:pt x="188963" y="114557"/>
                  <a:pt x="189533" y="116198"/>
                  <a:pt x="190001" y="117905"/>
                </a:cubicBezTo>
                <a:cubicBezTo>
                  <a:pt x="190470" y="119613"/>
                  <a:pt x="190772" y="121287"/>
                  <a:pt x="191006" y="122995"/>
                </a:cubicBezTo>
                <a:lnTo>
                  <a:pt x="203630" y="129224"/>
                </a:lnTo>
                <a:cubicBezTo>
                  <a:pt x="207414" y="131099"/>
                  <a:pt x="209357" y="135385"/>
                  <a:pt x="208251" y="139437"/>
                </a:cubicBezTo>
                <a:lnTo>
                  <a:pt x="205907" y="148210"/>
                </a:lnTo>
                <a:cubicBezTo>
                  <a:pt x="204802" y="152262"/>
                  <a:pt x="201018" y="155008"/>
                  <a:pt x="196799" y="154740"/>
                </a:cubicBezTo>
                <a:lnTo>
                  <a:pt x="182735" y="153836"/>
                </a:lnTo>
                <a:cubicBezTo>
                  <a:pt x="180625" y="156549"/>
                  <a:pt x="178181" y="159060"/>
                  <a:pt x="175401" y="161203"/>
                </a:cubicBezTo>
                <a:lnTo>
                  <a:pt x="176306" y="175234"/>
                </a:lnTo>
                <a:cubicBezTo>
                  <a:pt x="176573" y="179453"/>
                  <a:pt x="173828" y="183271"/>
                  <a:pt x="169776" y="184342"/>
                </a:cubicBezTo>
                <a:lnTo>
                  <a:pt x="161002" y="186686"/>
                </a:lnTo>
                <a:cubicBezTo>
                  <a:pt x="156917" y="187791"/>
                  <a:pt x="152664" y="185849"/>
                  <a:pt x="150789" y="182065"/>
                </a:cubicBezTo>
                <a:lnTo>
                  <a:pt x="144560" y="169474"/>
                </a:lnTo>
                <a:cubicBezTo>
                  <a:pt x="141111" y="169005"/>
                  <a:pt x="137729" y="168068"/>
                  <a:pt x="134548" y="166762"/>
                </a:cubicBezTo>
                <a:lnTo>
                  <a:pt x="122828" y="174564"/>
                </a:lnTo>
                <a:cubicBezTo>
                  <a:pt x="119312" y="176908"/>
                  <a:pt x="114657" y="176439"/>
                  <a:pt x="111677" y="173459"/>
                </a:cubicBezTo>
                <a:lnTo>
                  <a:pt x="105248" y="167030"/>
                </a:lnTo>
                <a:cubicBezTo>
                  <a:pt x="102267" y="164050"/>
                  <a:pt x="101798" y="159395"/>
                  <a:pt x="104142" y="155879"/>
                </a:cubicBezTo>
                <a:lnTo>
                  <a:pt x="111945" y="144159"/>
                </a:lnTo>
                <a:cubicBezTo>
                  <a:pt x="111309" y="142585"/>
                  <a:pt x="110739" y="140944"/>
                  <a:pt x="110270" y="139236"/>
                </a:cubicBezTo>
                <a:cubicBezTo>
                  <a:pt x="109802" y="137528"/>
                  <a:pt x="109500" y="135821"/>
                  <a:pt x="109266" y="134146"/>
                </a:cubicBezTo>
                <a:lnTo>
                  <a:pt x="96642" y="127918"/>
                </a:lnTo>
                <a:cubicBezTo>
                  <a:pt x="92858" y="126043"/>
                  <a:pt x="90949" y="121756"/>
                  <a:pt x="92020" y="117704"/>
                </a:cubicBezTo>
                <a:lnTo>
                  <a:pt x="94364" y="108931"/>
                </a:lnTo>
                <a:cubicBezTo>
                  <a:pt x="95470" y="104879"/>
                  <a:pt x="99253" y="102133"/>
                  <a:pt x="103473" y="102401"/>
                </a:cubicBezTo>
                <a:lnTo>
                  <a:pt x="117504" y="103305"/>
                </a:lnTo>
                <a:cubicBezTo>
                  <a:pt x="119613" y="100593"/>
                  <a:pt x="122058" y="98081"/>
                  <a:pt x="124837" y="95938"/>
                </a:cubicBezTo>
                <a:lnTo>
                  <a:pt x="123933" y="81941"/>
                </a:lnTo>
                <a:cubicBezTo>
                  <a:pt x="123665" y="77722"/>
                  <a:pt x="126411" y="73904"/>
                  <a:pt x="130463" y="72833"/>
                </a:cubicBezTo>
                <a:lnTo>
                  <a:pt x="139236" y="70489"/>
                </a:lnTo>
                <a:close/>
                <a:moveTo>
                  <a:pt x="150153" y="113854"/>
                </a:moveTo>
                <a:cubicBezTo>
                  <a:pt x="142021" y="113863"/>
                  <a:pt x="135426" y="120472"/>
                  <a:pt x="135435" y="128604"/>
                </a:cubicBezTo>
                <a:cubicBezTo>
                  <a:pt x="135445" y="136736"/>
                  <a:pt x="142054" y="143331"/>
                  <a:pt x="150186" y="143321"/>
                </a:cubicBezTo>
                <a:cubicBezTo>
                  <a:pt x="158318" y="143312"/>
                  <a:pt x="164913" y="136703"/>
                  <a:pt x="164903" y="128571"/>
                </a:cubicBezTo>
                <a:cubicBezTo>
                  <a:pt x="164894" y="120439"/>
                  <a:pt x="158285" y="113844"/>
                  <a:pt x="150153" y="113854"/>
                </a:cubicBezTo>
                <a:close/>
                <a:moveTo>
                  <a:pt x="75311" y="-15236"/>
                </a:moveTo>
                <a:lnTo>
                  <a:pt x="84084" y="-12892"/>
                </a:lnTo>
                <a:cubicBezTo>
                  <a:pt x="88136" y="-11787"/>
                  <a:pt x="90882" y="-7970"/>
                  <a:pt x="90614" y="-3784"/>
                </a:cubicBezTo>
                <a:lnTo>
                  <a:pt x="89710" y="10213"/>
                </a:lnTo>
                <a:cubicBezTo>
                  <a:pt x="92489" y="12356"/>
                  <a:pt x="94934" y="14834"/>
                  <a:pt x="97043" y="17580"/>
                </a:cubicBezTo>
                <a:lnTo>
                  <a:pt x="111108" y="16676"/>
                </a:lnTo>
                <a:cubicBezTo>
                  <a:pt x="115293" y="16408"/>
                  <a:pt x="119111" y="19154"/>
                  <a:pt x="120216" y="23206"/>
                </a:cubicBezTo>
                <a:lnTo>
                  <a:pt x="122560" y="31979"/>
                </a:lnTo>
                <a:cubicBezTo>
                  <a:pt x="123632" y="36031"/>
                  <a:pt x="121723" y="40318"/>
                  <a:pt x="117939" y="42193"/>
                </a:cubicBezTo>
                <a:lnTo>
                  <a:pt x="105315" y="48421"/>
                </a:lnTo>
                <a:cubicBezTo>
                  <a:pt x="105080" y="50129"/>
                  <a:pt x="104745" y="51837"/>
                  <a:pt x="104310" y="53511"/>
                </a:cubicBezTo>
                <a:cubicBezTo>
                  <a:pt x="103875" y="55185"/>
                  <a:pt x="103272" y="56860"/>
                  <a:pt x="102636" y="58434"/>
                </a:cubicBezTo>
                <a:lnTo>
                  <a:pt x="110438" y="70154"/>
                </a:lnTo>
                <a:cubicBezTo>
                  <a:pt x="112782" y="73670"/>
                  <a:pt x="112313" y="78325"/>
                  <a:pt x="109333" y="81305"/>
                </a:cubicBezTo>
                <a:lnTo>
                  <a:pt x="102903" y="87734"/>
                </a:lnTo>
                <a:cubicBezTo>
                  <a:pt x="99923" y="90714"/>
                  <a:pt x="95269" y="91183"/>
                  <a:pt x="91753" y="88839"/>
                </a:cubicBezTo>
                <a:lnTo>
                  <a:pt x="80032" y="81037"/>
                </a:lnTo>
                <a:cubicBezTo>
                  <a:pt x="76851" y="82343"/>
                  <a:pt x="73469" y="83280"/>
                  <a:pt x="70020" y="83749"/>
                </a:cubicBezTo>
                <a:lnTo>
                  <a:pt x="63791" y="96340"/>
                </a:lnTo>
                <a:cubicBezTo>
                  <a:pt x="61916" y="100124"/>
                  <a:pt x="57630" y="102033"/>
                  <a:pt x="53578" y="100961"/>
                </a:cubicBezTo>
                <a:lnTo>
                  <a:pt x="44805" y="98617"/>
                </a:lnTo>
                <a:cubicBezTo>
                  <a:pt x="40719" y="97512"/>
                  <a:pt x="38007" y="93695"/>
                  <a:pt x="38275" y="89509"/>
                </a:cubicBezTo>
                <a:lnTo>
                  <a:pt x="39179" y="75478"/>
                </a:lnTo>
                <a:cubicBezTo>
                  <a:pt x="36400" y="73335"/>
                  <a:pt x="33955" y="70857"/>
                  <a:pt x="31845" y="68111"/>
                </a:cubicBezTo>
                <a:lnTo>
                  <a:pt x="17781" y="69015"/>
                </a:lnTo>
                <a:cubicBezTo>
                  <a:pt x="13595" y="69283"/>
                  <a:pt x="9778" y="66537"/>
                  <a:pt x="8673" y="62485"/>
                </a:cubicBezTo>
                <a:lnTo>
                  <a:pt x="6329" y="53712"/>
                </a:lnTo>
                <a:cubicBezTo>
                  <a:pt x="5257" y="49660"/>
                  <a:pt x="7166" y="45374"/>
                  <a:pt x="10950" y="43499"/>
                </a:cubicBezTo>
                <a:lnTo>
                  <a:pt x="23574" y="37270"/>
                </a:lnTo>
                <a:cubicBezTo>
                  <a:pt x="23809" y="35562"/>
                  <a:pt x="24144" y="33888"/>
                  <a:pt x="24579" y="32180"/>
                </a:cubicBezTo>
                <a:cubicBezTo>
                  <a:pt x="25048" y="30473"/>
                  <a:pt x="25584" y="28832"/>
                  <a:pt x="26253" y="27258"/>
                </a:cubicBezTo>
                <a:lnTo>
                  <a:pt x="18451" y="15571"/>
                </a:lnTo>
                <a:cubicBezTo>
                  <a:pt x="16107" y="12055"/>
                  <a:pt x="16576" y="7400"/>
                  <a:pt x="19556" y="4420"/>
                </a:cubicBezTo>
                <a:lnTo>
                  <a:pt x="25985" y="-2009"/>
                </a:lnTo>
                <a:cubicBezTo>
                  <a:pt x="28966" y="-4989"/>
                  <a:pt x="33620" y="-5458"/>
                  <a:pt x="37136" y="-3114"/>
                </a:cubicBezTo>
                <a:lnTo>
                  <a:pt x="48857" y="4688"/>
                </a:lnTo>
                <a:cubicBezTo>
                  <a:pt x="52038" y="3382"/>
                  <a:pt x="55420" y="2445"/>
                  <a:pt x="58869" y="1976"/>
                </a:cubicBezTo>
                <a:lnTo>
                  <a:pt x="65097" y="-10615"/>
                </a:lnTo>
                <a:cubicBezTo>
                  <a:pt x="66973" y="-14399"/>
                  <a:pt x="71225" y="-16308"/>
                  <a:pt x="75311" y="-15236"/>
                </a:cubicBezTo>
                <a:close/>
                <a:moveTo>
                  <a:pt x="64428" y="28129"/>
                </a:moveTo>
                <a:cubicBezTo>
                  <a:pt x="56296" y="28129"/>
                  <a:pt x="49694" y="34731"/>
                  <a:pt x="49694" y="42863"/>
                </a:cubicBezTo>
                <a:cubicBezTo>
                  <a:pt x="49694" y="50994"/>
                  <a:pt x="56296" y="57596"/>
                  <a:pt x="64428" y="57596"/>
                </a:cubicBezTo>
                <a:cubicBezTo>
                  <a:pt x="72560" y="57596"/>
                  <a:pt x="79162" y="50994"/>
                  <a:pt x="79162" y="42863"/>
                </a:cubicBezTo>
                <a:cubicBezTo>
                  <a:pt x="79162" y="34731"/>
                  <a:pt x="72560" y="28129"/>
                  <a:pt x="64428" y="2812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0" name="Text 98"/>
          <p:cNvSpPr/>
          <p:nvPr/>
        </p:nvSpPr>
        <p:spPr>
          <a:xfrm>
            <a:off x="7935218" y="373380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Ops Hubs</a:t>
            </a:r>
            <a:endParaRPr lang="en-US" sz="1600" dirty="0"/>
          </a:p>
        </p:txBody>
      </p:sp>
      <p:sp>
        <p:nvSpPr>
          <p:cNvPr id="101" name="Text 99"/>
          <p:cNvSpPr/>
          <p:nvPr/>
        </p:nvSpPr>
        <p:spPr>
          <a:xfrm>
            <a:off x="7644705" y="4038600"/>
            <a:ext cx="395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Execution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7644705" y="4305300"/>
            <a:ext cx="1085850" cy="190500"/>
          </a:xfrm>
          <a:custGeom>
            <a:avLst/>
            <a:gdLst/>
            <a:ahLst/>
            <a:cxnLst/>
            <a:rect l="l" t="t" r="r" b="b"/>
            <a:pathLst>
              <a:path w="1085850" h="190500">
                <a:moveTo>
                  <a:pt x="95250" y="0"/>
                </a:moveTo>
                <a:lnTo>
                  <a:pt x="990600" y="0"/>
                </a:lnTo>
                <a:cubicBezTo>
                  <a:pt x="1043170" y="0"/>
                  <a:pt x="1085850" y="42680"/>
                  <a:pt x="1085850" y="95250"/>
                </a:cubicBezTo>
                <a:lnTo>
                  <a:pt x="1085850" y="95250"/>
                </a:lnTo>
                <a:cubicBezTo>
                  <a:pt x="1085850" y="147820"/>
                  <a:pt x="1043170" y="190500"/>
                  <a:pt x="9906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3" name="Text 101"/>
          <p:cNvSpPr/>
          <p:nvPr/>
        </p:nvSpPr>
        <p:spPr>
          <a:xfrm>
            <a:off x="7644705" y="4305300"/>
            <a:ext cx="11430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Claims Processing</a:t>
            </a:r>
            <a:endParaRPr lang="en-US" sz="1600" dirty="0"/>
          </a:p>
        </p:txBody>
      </p:sp>
      <p:sp>
        <p:nvSpPr>
          <p:cNvPr id="104" name="Shape 102"/>
          <p:cNvSpPr/>
          <p:nvPr/>
        </p:nvSpPr>
        <p:spPr>
          <a:xfrm>
            <a:off x="8803481" y="4305300"/>
            <a:ext cx="971550" cy="190500"/>
          </a:xfrm>
          <a:custGeom>
            <a:avLst/>
            <a:gdLst/>
            <a:ahLst/>
            <a:cxnLst/>
            <a:rect l="l" t="t" r="r" b="b"/>
            <a:pathLst>
              <a:path w="971550" h="190500">
                <a:moveTo>
                  <a:pt x="95250" y="0"/>
                </a:moveTo>
                <a:lnTo>
                  <a:pt x="876300" y="0"/>
                </a:lnTo>
                <a:cubicBezTo>
                  <a:pt x="928870" y="0"/>
                  <a:pt x="971550" y="42680"/>
                  <a:pt x="971550" y="95250"/>
                </a:cubicBezTo>
                <a:lnTo>
                  <a:pt x="971550" y="95250"/>
                </a:lnTo>
                <a:cubicBezTo>
                  <a:pt x="971550" y="147820"/>
                  <a:pt x="928870" y="190500"/>
                  <a:pt x="8763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5" name="Text 103"/>
          <p:cNvSpPr/>
          <p:nvPr/>
        </p:nvSpPr>
        <p:spPr>
          <a:xfrm>
            <a:off x="8803481" y="4305300"/>
            <a:ext cx="10287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Centres</a:t>
            </a:r>
            <a:endParaRPr lang="en-US" sz="1600" dirty="0"/>
          </a:p>
        </p:txBody>
      </p:sp>
      <p:sp>
        <p:nvSpPr>
          <p:cNvPr id="106" name="Shape 104"/>
          <p:cNvSpPr/>
          <p:nvPr/>
        </p:nvSpPr>
        <p:spPr>
          <a:xfrm>
            <a:off x="9855398" y="4305300"/>
            <a:ext cx="809625" cy="190500"/>
          </a:xfrm>
          <a:custGeom>
            <a:avLst/>
            <a:gdLst/>
            <a:ahLst/>
            <a:cxnLst/>
            <a:rect l="l" t="t" r="r" b="b"/>
            <a:pathLst>
              <a:path w="809625" h="190500">
                <a:moveTo>
                  <a:pt x="95250" y="0"/>
                </a:moveTo>
                <a:lnTo>
                  <a:pt x="714375" y="0"/>
                </a:lnTo>
                <a:cubicBezTo>
                  <a:pt x="766945" y="0"/>
                  <a:pt x="809625" y="42680"/>
                  <a:pt x="809625" y="95250"/>
                </a:cubicBezTo>
                <a:lnTo>
                  <a:pt x="809625" y="95250"/>
                </a:lnTo>
                <a:cubicBezTo>
                  <a:pt x="809625" y="147820"/>
                  <a:pt x="766945" y="190500"/>
                  <a:pt x="71437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7" name="Text 105"/>
          <p:cNvSpPr/>
          <p:nvPr/>
        </p:nvSpPr>
        <p:spPr>
          <a:xfrm>
            <a:off x="9855398" y="4305300"/>
            <a:ext cx="8667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Admin</a:t>
            </a:r>
            <a:endParaRPr lang="en-US" sz="1600" dirty="0"/>
          </a:p>
        </p:txBody>
      </p:sp>
      <p:sp>
        <p:nvSpPr>
          <p:cNvPr id="108" name="Shape 106"/>
          <p:cNvSpPr/>
          <p:nvPr/>
        </p:nvSpPr>
        <p:spPr>
          <a:xfrm>
            <a:off x="10743456" y="4305300"/>
            <a:ext cx="752475" cy="190500"/>
          </a:xfrm>
          <a:custGeom>
            <a:avLst/>
            <a:gdLst/>
            <a:ahLst/>
            <a:cxnLst/>
            <a:rect l="l" t="t" r="r" b="b"/>
            <a:pathLst>
              <a:path w="752475" h="190500">
                <a:moveTo>
                  <a:pt x="95250" y="0"/>
                </a:moveTo>
                <a:lnTo>
                  <a:pt x="657225" y="0"/>
                </a:lnTo>
                <a:cubicBezTo>
                  <a:pt x="709795" y="0"/>
                  <a:pt x="752475" y="42680"/>
                  <a:pt x="752475" y="95250"/>
                </a:cubicBezTo>
                <a:lnTo>
                  <a:pt x="752475" y="95250"/>
                </a:lnTo>
                <a:cubicBezTo>
                  <a:pt x="752475" y="147820"/>
                  <a:pt x="709795" y="190500"/>
                  <a:pt x="657225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9" name="Text 107"/>
          <p:cNvSpPr/>
          <p:nvPr/>
        </p:nvSpPr>
        <p:spPr>
          <a:xfrm>
            <a:off x="10743456" y="4305300"/>
            <a:ext cx="8096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110" name="Shape 108"/>
          <p:cNvSpPr/>
          <p:nvPr/>
        </p:nvSpPr>
        <p:spPr>
          <a:xfrm>
            <a:off x="7335143" y="5186363"/>
            <a:ext cx="4467225" cy="1552575"/>
          </a:xfrm>
          <a:custGeom>
            <a:avLst/>
            <a:gdLst/>
            <a:ahLst/>
            <a:cxnLst/>
            <a:rect l="l" t="t" r="r" b="b"/>
            <a:pathLst>
              <a:path w="4467225" h="1552575">
                <a:moveTo>
                  <a:pt x="114301" y="0"/>
                </a:moveTo>
                <a:lnTo>
                  <a:pt x="4352924" y="0"/>
                </a:lnTo>
                <a:cubicBezTo>
                  <a:pt x="4416051" y="0"/>
                  <a:pt x="4467225" y="51174"/>
                  <a:pt x="4467225" y="114301"/>
                </a:cubicBezTo>
                <a:lnTo>
                  <a:pt x="4467225" y="1438274"/>
                </a:lnTo>
                <a:cubicBezTo>
                  <a:pt x="4467225" y="1501401"/>
                  <a:pt x="4416051" y="1552575"/>
                  <a:pt x="435292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Shape 109"/>
          <p:cNvSpPr/>
          <p:nvPr/>
        </p:nvSpPr>
        <p:spPr>
          <a:xfrm>
            <a:off x="7511355" y="5381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2" name="Text 110"/>
          <p:cNvSpPr/>
          <p:nvPr/>
        </p:nvSpPr>
        <p:spPr>
          <a:xfrm>
            <a:off x="7682805" y="5343525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International Presence</a:t>
            </a:r>
            <a:endParaRPr lang="en-US" sz="1600" dirty="0"/>
          </a:p>
        </p:txBody>
      </p:sp>
      <p:sp>
        <p:nvSpPr>
          <p:cNvPr id="113" name="Text 111"/>
          <p:cNvSpPr/>
          <p:nvPr/>
        </p:nvSpPr>
        <p:spPr>
          <a:xfrm>
            <a:off x="7492305" y="5648325"/>
            <a:ext cx="466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Ireland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10594032" y="5648325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Dublin Operations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7492305" y="5895975"/>
            <a:ext cx="51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Canada</a:t>
            </a:r>
            <a:endParaRPr lang="en-US" sz="1600" dirty="0"/>
          </a:p>
        </p:txBody>
      </p:sp>
      <p:sp>
        <p:nvSpPr>
          <p:cNvPr id="116" name="Text 114"/>
          <p:cNvSpPr/>
          <p:nvPr/>
        </p:nvSpPr>
        <p:spPr>
          <a:xfrm>
            <a:off x="10960298" y="5895975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Toronto HQ</a:t>
            </a:r>
            <a:endParaRPr lang="en-US" sz="1600" dirty="0"/>
          </a:p>
        </p:txBody>
      </p:sp>
      <p:sp>
        <p:nvSpPr>
          <p:cNvPr id="117" name="Text 115"/>
          <p:cNvSpPr/>
          <p:nvPr/>
        </p:nvSpPr>
        <p:spPr>
          <a:xfrm>
            <a:off x="7492305" y="6143625"/>
            <a:ext cx="352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</a:t>
            </a:r>
            <a:endParaRPr lang="en-US" sz="1600" dirty="0"/>
          </a:p>
        </p:txBody>
      </p:sp>
      <p:sp>
        <p:nvSpPr>
          <p:cNvPr id="118" name="Text 116"/>
          <p:cNvSpPr/>
          <p:nvPr/>
        </p:nvSpPr>
        <p:spPr>
          <a:xfrm>
            <a:off x="10748963" y="6143625"/>
            <a:ext cx="962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74% Subsidiary</a:t>
            </a:r>
            <a:endParaRPr lang="en-US" sz="1600" dirty="0"/>
          </a:p>
        </p:txBody>
      </p:sp>
      <p:sp>
        <p:nvSpPr>
          <p:cNvPr id="119" name="Text 117"/>
          <p:cNvSpPr/>
          <p:nvPr/>
        </p:nvSpPr>
        <p:spPr>
          <a:xfrm>
            <a:off x="7492305" y="6391275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China</a:t>
            </a:r>
            <a:endParaRPr lang="en-US" sz="1600" dirty="0"/>
          </a:p>
        </p:txBody>
      </p:sp>
      <p:sp>
        <p:nvSpPr>
          <p:cNvPr id="120" name="Text 118"/>
          <p:cNvSpPr/>
          <p:nvPr/>
        </p:nvSpPr>
        <p:spPr>
          <a:xfrm>
            <a:off x="10234017" y="6391275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 JV (Aviva-COFCO)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116" y="466851"/>
            <a:ext cx="71823" cy="359116"/>
          </a:xfrm>
          <a:custGeom>
            <a:avLst/>
            <a:gdLst/>
            <a:ahLst/>
            <a:cxnLst/>
            <a:rect l="l" t="t" r="r" b="b"/>
            <a:pathLst>
              <a:path w="71823" h="359116">
                <a:moveTo>
                  <a:pt x="0" y="0"/>
                </a:moveTo>
                <a:lnTo>
                  <a:pt x="71823" y="0"/>
                </a:lnTo>
                <a:lnTo>
                  <a:pt x="71823" y="359116"/>
                </a:lnTo>
                <a:lnTo>
                  <a:pt x="0" y="359116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38675" y="359116"/>
            <a:ext cx="5296966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kern="0" spc="57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INVESTMENTS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8675" y="574586"/>
            <a:ext cx="538674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Direction: Proof of Intent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8675" y="1005526"/>
            <a:ext cx="1136603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Aviva's Microsoft case study provides unusually explicit signals of cloud-native and AI investment commitment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605" y="1333219"/>
            <a:ext cx="5656082" cy="2711328"/>
          </a:xfrm>
          <a:custGeom>
            <a:avLst/>
            <a:gdLst/>
            <a:ahLst/>
            <a:cxnLst/>
            <a:rect l="l" t="t" r="r" b="b"/>
            <a:pathLst>
              <a:path w="5656082" h="2711328">
                <a:moveTo>
                  <a:pt x="107748" y="0"/>
                </a:moveTo>
                <a:lnTo>
                  <a:pt x="5548334" y="0"/>
                </a:lnTo>
                <a:cubicBezTo>
                  <a:pt x="5607842" y="0"/>
                  <a:pt x="5656082" y="48241"/>
                  <a:pt x="5656082" y="107748"/>
                </a:cubicBezTo>
                <a:lnTo>
                  <a:pt x="5656082" y="2603580"/>
                </a:lnTo>
                <a:cubicBezTo>
                  <a:pt x="5656082" y="2663088"/>
                  <a:pt x="5607842" y="2711328"/>
                  <a:pt x="5548334" y="2711328"/>
                </a:cubicBezTo>
                <a:lnTo>
                  <a:pt x="107748" y="2711328"/>
                </a:lnTo>
                <a:cubicBezTo>
                  <a:pt x="48241" y="2711328"/>
                  <a:pt x="0" y="2663088"/>
                  <a:pt x="0" y="2603580"/>
                </a:cubicBezTo>
                <a:lnTo>
                  <a:pt x="0" y="107748"/>
                </a:lnTo>
                <a:cubicBezTo>
                  <a:pt x="0" y="48280"/>
                  <a:pt x="48280" y="0"/>
                  <a:pt x="107748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7652" y="1657967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71825" y="0"/>
                </a:moveTo>
                <a:lnTo>
                  <a:pt x="359115" y="0"/>
                </a:lnTo>
                <a:cubicBezTo>
                  <a:pt x="398756" y="0"/>
                  <a:pt x="430940" y="32184"/>
                  <a:pt x="430940" y="71825"/>
                </a:cubicBezTo>
                <a:lnTo>
                  <a:pt x="430940" y="359115"/>
                </a:lnTo>
                <a:cubicBezTo>
                  <a:pt x="430940" y="398756"/>
                  <a:pt x="398756" y="430940"/>
                  <a:pt x="359115" y="430940"/>
                </a:cubicBezTo>
                <a:lnTo>
                  <a:pt x="71825" y="430940"/>
                </a:lnTo>
                <a:cubicBezTo>
                  <a:pt x="32184" y="430940"/>
                  <a:pt x="0" y="398756"/>
                  <a:pt x="0" y="359115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68854" y="1765702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0" y="13467"/>
                </a:moveTo>
                <a:lnTo>
                  <a:pt x="90312" y="13467"/>
                </a:lnTo>
                <a:lnTo>
                  <a:pt x="90312" y="103779"/>
                </a:lnTo>
                <a:lnTo>
                  <a:pt x="0" y="103779"/>
                </a:lnTo>
                <a:lnTo>
                  <a:pt x="0" y="13467"/>
                </a:lnTo>
                <a:close/>
                <a:moveTo>
                  <a:pt x="98224" y="13467"/>
                </a:moveTo>
                <a:lnTo>
                  <a:pt x="188536" y="13467"/>
                </a:lnTo>
                <a:lnTo>
                  <a:pt x="188536" y="103779"/>
                </a:lnTo>
                <a:lnTo>
                  <a:pt x="98224" y="103779"/>
                </a:lnTo>
                <a:lnTo>
                  <a:pt x="98224" y="13467"/>
                </a:lnTo>
                <a:close/>
                <a:moveTo>
                  <a:pt x="0" y="111691"/>
                </a:moveTo>
                <a:lnTo>
                  <a:pt x="90312" y="111691"/>
                </a:lnTo>
                <a:lnTo>
                  <a:pt x="90312" y="202003"/>
                </a:lnTo>
                <a:lnTo>
                  <a:pt x="0" y="202003"/>
                </a:lnTo>
                <a:lnTo>
                  <a:pt x="0" y="111691"/>
                </a:lnTo>
                <a:close/>
                <a:moveTo>
                  <a:pt x="98224" y="111691"/>
                </a:moveTo>
                <a:lnTo>
                  <a:pt x="188536" y="111691"/>
                </a:lnTo>
                <a:lnTo>
                  <a:pt x="188536" y="202003"/>
                </a:lnTo>
                <a:lnTo>
                  <a:pt x="98224" y="202003"/>
                </a:lnTo>
                <a:lnTo>
                  <a:pt x="98224" y="111691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86327" y="1747746"/>
            <a:ext cx="3241025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Migration: Bamboo Policy System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7652" y="2196642"/>
            <a:ext cx="5359811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successfully migrated its main policy system, Bamboo, to Microsoft Azure—one of the largest insurance system migrations of its kind.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2141" y="2811628"/>
            <a:ext cx="1678869" cy="906769"/>
          </a:xfrm>
          <a:custGeom>
            <a:avLst/>
            <a:gdLst/>
            <a:ahLst/>
            <a:cxnLst/>
            <a:rect l="l" t="t" r="r" b="b"/>
            <a:pathLst>
              <a:path w="1678869" h="906769">
                <a:moveTo>
                  <a:pt x="71825" y="0"/>
                </a:moveTo>
                <a:lnTo>
                  <a:pt x="1607044" y="0"/>
                </a:lnTo>
                <a:cubicBezTo>
                  <a:pt x="1646712" y="0"/>
                  <a:pt x="1678869" y="32157"/>
                  <a:pt x="1678869" y="71825"/>
                </a:cubicBezTo>
                <a:lnTo>
                  <a:pt x="1678869" y="834944"/>
                </a:lnTo>
                <a:cubicBezTo>
                  <a:pt x="1678869" y="874612"/>
                  <a:pt x="1646712" y="906769"/>
                  <a:pt x="1607044" y="906769"/>
                </a:cubicBezTo>
                <a:lnTo>
                  <a:pt x="71825" y="906769"/>
                </a:lnTo>
                <a:cubicBezTo>
                  <a:pt x="32157" y="906769"/>
                  <a:pt x="0" y="874612"/>
                  <a:pt x="0" y="834944"/>
                </a:cubicBezTo>
                <a:lnTo>
                  <a:pt x="0" y="71825"/>
                </a:lnTo>
                <a:cubicBezTo>
                  <a:pt x="0" y="32157"/>
                  <a:pt x="32157" y="0"/>
                  <a:pt x="7182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7031" y="2923852"/>
            <a:ext cx="1589090" cy="3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2943" y="3247057"/>
            <a:ext cx="151726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Faster Quotes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432" y="3462527"/>
            <a:ext cx="1508289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 sec response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50950" y="2811628"/>
            <a:ext cx="1678869" cy="906769"/>
          </a:xfrm>
          <a:custGeom>
            <a:avLst/>
            <a:gdLst/>
            <a:ahLst/>
            <a:cxnLst/>
            <a:rect l="l" t="t" r="r" b="b"/>
            <a:pathLst>
              <a:path w="1678869" h="906769">
                <a:moveTo>
                  <a:pt x="71825" y="0"/>
                </a:moveTo>
                <a:lnTo>
                  <a:pt x="1607044" y="0"/>
                </a:lnTo>
                <a:cubicBezTo>
                  <a:pt x="1646712" y="0"/>
                  <a:pt x="1678869" y="32157"/>
                  <a:pt x="1678869" y="71825"/>
                </a:cubicBezTo>
                <a:lnTo>
                  <a:pt x="1678869" y="834944"/>
                </a:lnTo>
                <a:cubicBezTo>
                  <a:pt x="1678869" y="874612"/>
                  <a:pt x="1646712" y="906769"/>
                  <a:pt x="1607044" y="906769"/>
                </a:cubicBezTo>
                <a:lnTo>
                  <a:pt x="71825" y="906769"/>
                </a:lnTo>
                <a:cubicBezTo>
                  <a:pt x="32157" y="906769"/>
                  <a:pt x="0" y="874612"/>
                  <a:pt x="0" y="834944"/>
                </a:cubicBezTo>
                <a:lnTo>
                  <a:pt x="0" y="71825"/>
                </a:lnTo>
                <a:cubicBezTo>
                  <a:pt x="0" y="32157"/>
                  <a:pt x="32157" y="0"/>
                  <a:pt x="7182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395839" y="2923852"/>
            <a:ext cx="1589090" cy="3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1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431751" y="3247057"/>
            <a:ext cx="151726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Gain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36240" y="3462527"/>
            <a:ext cx="1508289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System-wide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49898" y="2811628"/>
            <a:ext cx="1678869" cy="906769"/>
          </a:xfrm>
          <a:custGeom>
            <a:avLst/>
            <a:gdLst/>
            <a:ahLst/>
            <a:cxnLst/>
            <a:rect l="l" t="t" r="r" b="b"/>
            <a:pathLst>
              <a:path w="1678869" h="906769">
                <a:moveTo>
                  <a:pt x="71825" y="0"/>
                </a:moveTo>
                <a:lnTo>
                  <a:pt x="1607044" y="0"/>
                </a:lnTo>
                <a:cubicBezTo>
                  <a:pt x="1646712" y="0"/>
                  <a:pt x="1678869" y="32157"/>
                  <a:pt x="1678869" y="71825"/>
                </a:cubicBezTo>
                <a:lnTo>
                  <a:pt x="1678869" y="834944"/>
                </a:lnTo>
                <a:cubicBezTo>
                  <a:pt x="1678869" y="874612"/>
                  <a:pt x="1646712" y="906769"/>
                  <a:pt x="1607044" y="906769"/>
                </a:cubicBezTo>
                <a:lnTo>
                  <a:pt x="71825" y="906769"/>
                </a:lnTo>
                <a:cubicBezTo>
                  <a:pt x="32157" y="906769"/>
                  <a:pt x="0" y="874612"/>
                  <a:pt x="0" y="834944"/>
                </a:cubicBezTo>
                <a:lnTo>
                  <a:pt x="0" y="71825"/>
                </a:lnTo>
                <a:cubicBezTo>
                  <a:pt x="0" y="32157"/>
                  <a:pt x="32157" y="0"/>
                  <a:pt x="71825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194788" y="2923852"/>
            <a:ext cx="1589090" cy="323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2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30699" y="3247057"/>
            <a:ext cx="151726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Platform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35188" y="3462527"/>
            <a:ext cx="1508289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Business-critical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3605" y="4200258"/>
            <a:ext cx="5656082" cy="2549040"/>
          </a:xfrm>
          <a:custGeom>
            <a:avLst/>
            <a:gdLst/>
            <a:ahLst/>
            <a:cxnLst/>
            <a:rect l="l" t="t" r="r" b="b"/>
            <a:pathLst>
              <a:path w="5656082" h="2711328">
                <a:moveTo>
                  <a:pt x="107748" y="0"/>
                </a:moveTo>
                <a:lnTo>
                  <a:pt x="5548334" y="0"/>
                </a:lnTo>
                <a:cubicBezTo>
                  <a:pt x="5607842" y="0"/>
                  <a:pt x="5656082" y="48241"/>
                  <a:pt x="5656082" y="107748"/>
                </a:cubicBezTo>
                <a:lnTo>
                  <a:pt x="5656082" y="2603580"/>
                </a:lnTo>
                <a:cubicBezTo>
                  <a:pt x="5656082" y="2663088"/>
                  <a:pt x="5607842" y="2711328"/>
                  <a:pt x="5548334" y="2711328"/>
                </a:cubicBezTo>
                <a:lnTo>
                  <a:pt x="107748" y="2711328"/>
                </a:lnTo>
                <a:cubicBezTo>
                  <a:pt x="48241" y="2711328"/>
                  <a:pt x="0" y="2663088"/>
                  <a:pt x="0" y="2603580"/>
                </a:cubicBezTo>
                <a:lnTo>
                  <a:pt x="0" y="107748"/>
                </a:lnTo>
                <a:cubicBezTo>
                  <a:pt x="0" y="48280"/>
                  <a:pt x="48280" y="0"/>
                  <a:pt x="107748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59997" y="4722520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113879" y="379"/>
                </a:moveTo>
                <a:cubicBezTo>
                  <a:pt x="108513" y="-1168"/>
                  <a:pt x="102927" y="1957"/>
                  <a:pt x="101380" y="7323"/>
                </a:cubicBezTo>
                <a:lnTo>
                  <a:pt x="60980" y="148725"/>
                </a:lnTo>
                <a:cubicBezTo>
                  <a:pt x="59433" y="154090"/>
                  <a:pt x="62558" y="159677"/>
                  <a:pt x="67923" y="161224"/>
                </a:cubicBezTo>
                <a:cubicBezTo>
                  <a:pt x="73289" y="162770"/>
                  <a:pt x="78876" y="159645"/>
                  <a:pt x="80422" y="154280"/>
                </a:cubicBezTo>
                <a:lnTo>
                  <a:pt x="120823" y="12878"/>
                </a:lnTo>
                <a:cubicBezTo>
                  <a:pt x="122370" y="7512"/>
                  <a:pt x="119245" y="1925"/>
                  <a:pt x="113879" y="379"/>
                </a:cubicBezTo>
                <a:close/>
                <a:moveTo>
                  <a:pt x="134269" y="43336"/>
                </a:moveTo>
                <a:cubicBezTo>
                  <a:pt x="130323" y="47281"/>
                  <a:pt x="130323" y="53689"/>
                  <a:pt x="134269" y="57634"/>
                </a:cubicBezTo>
                <a:lnTo>
                  <a:pt x="157436" y="80801"/>
                </a:lnTo>
                <a:lnTo>
                  <a:pt x="134269" y="103968"/>
                </a:lnTo>
                <a:cubicBezTo>
                  <a:pt x="130323" y="107914"/>
                  <a:pt x="130323" y="114321"/>
                  <a:pt x="134269" y="118266"/>
                </a:cubicBezTo>
                <a:cubicBezTo>
                  <a:pt x="138214" y="122212"/>
                  <a:pt x="144621" y="122212"/>
                  <a:pt x="148567" y="118266"/>
                </a:cubicBezTo>
                <a:lnTo>
                  <a:pt x="178867" y="87966"/>
                </a:lnTo>
                <a:cubicBezTo>
                  <a:pt x="182813" y="84021"/>
                  <a:pt x="182813" y="77613"/>
                  <a:pt x="178867" y="73668"/>
                </a:cubicBezTo>
                <a:lnTo>
                  <a:pt x="148567" y="43368"/>
                </a:lnTo>
                <a:cubicBezTo>
                  <a:pt x="144621" y="39422"/>
                  <a:pt x="138214" y="39422"/>
                  <a:pt x="134269" y="43368"/>
                </a:cubicBezTo>
                <a:close/>
                <a:moveTo>
                  <a:pt x="47565" y="43336"/>
                </a:moveTo>
                <a:cubicBezTo>
                  <a:pt x="43620" y="39391"/>
                  <a:pt x="37213" y="39391"/>
                  <a:pt x="33267" y="43336"/>
                </a:cubicBezTo>
                <a:lnTo>
                  <a:pt x="2967" y="73636"/>
                </a:lnTo>
                <a:cubicBezTo>
                  <a:pt x="-978" y="77582"/>
                  <a:pt x="-978" y="83989"/>
                  <a:pt x="2967" y="87934"/>
                </a:cubicBezTo>
                <a:lnTo>
                  <a:pt x="33267" y="118235"/>
                </a:lnTo>
                <a:cubicBezTo>
                  <a:pt x="37213" y="122180"/>
                  <a:pt x="43620" y="122180"/>
                  <a:pt x="47565" y="118235"/>
                </a:cubicBezTo>
                <a:cubicBezTo>
                  <a:pt x="51511" y="114289"/>
                  <a:pt x="51511" y="107882"/>
                  <a:pt x="47565" y="103937"/>
                </a:cubicBezTo>
                <a:lnTo>
                  <a:pt x="24398" y="80801"/>
                </a:lnTo>
                <a:lnTo>
                  <a:pt x="47534" y="57634"/>
                </a:lnTo>
                <a:cubicBezTo>
                  <a:pt x="51479" y="53689"/>
                  <a:pt x="51479" y="47281"/>
                  <a:pt x="47534" y="4333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54144" y="4677631"/>
            <a:ext cx="516229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Acceleration Signals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7652" y="5054703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lnTo>
                  <a:pt x="143647" y="0"/>
                </a:lnTo>
                <a:cubicBezTo>
                  <a:pt x="222980" y="0"/>
                  <a:pt x="287293" y="64313"/>
                  <a:pt x="287293" y="143647"/>
                </a:cubicBezTo>
                <a:lnTo>
                  <a:pt x="287293" y="143647"/>
                </a:lnTo>
                <a:cubicBezTo>
                  <a:pt x="287293" y="222980"/>
                  <a:pt x="222980" y="287293"/>
                  <a:pt x="143647" y="287293"/>
                </a:cubicBezTo>
                <a:lnTo>
                  <a:pt x="143647" y="287293"/>
                </a:lnTo>
                <a:cubicBezTo>
                  <a:pt x="64313" y="287293"/>
                  <a:pt x="0" y="222980"/>
                  <a:pt x="0" y="143647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19476" y="5126526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48789" y="111494"/>
                </a:moveTo>
                <a:cubicBezTo>
                  <a:pt x="48789" y="112056"/>
                  <a:pt x="48144" y="112504"/>
                  <a:pt x="47330" y="112504"/>
                </a:cubicBezTo>
                <a:cubicBezTo>
                  <a:pt x="46405" y="112589"/>
                  <a:pt x="45759" y="112140"/>
                  <a:pt x="45759" y="111494"/>
                </a:cubicBezTo>
                <a:cubicBezTo>
                  <a:pt x="45759" y="110933"/>
                  <a:pt x="46405" y="110484"/>
                  <a:pt x="47218" y="110484"/>
                </a:cubicBezTo>
                <a:cubicBezTo>
                  <a:pt x="48060" y="110400"/>
                  <a:pt x="48789" y="110849"/>
                  <a:pt x="48789" y="111494"/>
                </a:cubicBezTo>
                <a:close/>
                <a:moveTo>
                  <a:pt x="40064" y="110232"/>
                </a:moveTo>
                <a:cubicBezTo>
                  <a:pt x="39868" y="110793"/>
                  <a:pt x="40429" y="111438"/>
                  <a:pt x="41270" y="111607"/>
                </a:cubicBezTo>
                <a:cubicBezTo>
                  <a:pt x="42000" y="111887"/>
                  <a:pt x="42841" y="111607"/>
                  <a:pt x="43010" y="111046"/>
                </a:cubicBezTo>
                <a:cubicBezTo>
                  <a:pt x="43178" y="110484"/>
                  <a:pt x="42645" y="109839"/>
                  <a:pt x="41803" y="109587"/>
                </a:cubicBezTo>
                <a:cubicBezTo>
                  <a:pt x="41074" y="109390"/>
                  <a:pt x="40260" y="109671"/>
                  <a:pt x="40064" y="110232"/>
                </a:cubicBezTo>
                <a:close/>
                <a:moveTo>
                  <a:pt x="52465" y="109755"/>
                </a:moveTo>
                <a:cubicBezTo>
                  <a:pt x="51651" y="109951"/>
                  <a:pt x="51090" y="110484"/>
                  <a:pt x="51174" y="111130"/>
                </a:cubicBezTo>
                <a:cubicBezTo>
                  <a:pt x="51258" y="111691"/>
                  <a:pt x="51988" y="112056"/>
                  <a:pt x="52829" y="111859"/>
                </a:cubicBezTo>
                <a:cubicBezTo>
                  <a:pt x="53643" y="111663"/>
                  <a:pt x="54204" y="111130"/>
                  <a:pt x="54120" y="110569"/>
                </a:cubicBezTo>
                <a:cubicBezTo>
                  <a:pt x="54036" y="110035"/>
                  <a:pt x="53278" y="109671"/>
                  <a:pt x="52465" y="109755"/>
                </a:cubicBezTo>
                <a:close/>
                <a:moveTo>
                  <a:pt x="70925" y="2244"/>
                </a:moveTo>
                <a:cubicBezTo>
                  <a:pt x="32012" y="2244"/>
                  <a:pt x="2244" y="31787"/>
                  <a:pt x="2244" y="70701"/>
                </a:cubicBezTo>
                <a:cubicBezTo>
                  <a:pt x="2244" y="101815"/>
                  <a:pt x="21828" y="128440"/>
                  <a:pt x="49799" y="137811"/>
                </a:cubicBezTo>
                <a:cubicBezTo>
                  <a:pt x="53391" y="138456"/>
                  <a:pt x="54653" y="136240"/>
                  <a:pt x="54653" y="134416"/>
                </a:cubicBezTo>
                <a:cubicBezTo>
                  <a:pt x="54653" y="132677"/>
                  <a:pt x="54569" y="123082"/>
                  <a:pt x="54569" y="117190"/>
                </a:cubicBezTo>
                <a:cubicBezTo>
                  <a:pt x="54569" y="117190"/>
                  <a:pt x="34930" y="121398"/>
                  <a:pt x="30805" y="108829"/>
                </a:cubicBezTo>
                <a:cubicBezTo>
                  <a:pt x="30805" y="108829"/>
                  <a:pt x="27607" y="100665"/>
                  <a:pt x="23006" y="98561"/>
                </a:cubicBezTo>
                <a:cubicBezTo>
                  <a:pt x="23006" y="98561"/>
                  <a:pt x="16581" y="94156"/>
                  <a:pt x="23455" y="94240"/>
                </a:cubicBezTo>
                <a:cubicBezTo>
                  <a:pt x="23455" y="94240"/>
                  <a:pt x="30441" y="94801"/>
                  <a:pt x="34284" y="101478"/>
                </a:cubicBezTo>
                <a:cubicBezTo>
                  <a:pt x="40429" y="112308"/>
                  <a:pt x="50725" y="109194"/>
                  <a:pt x="54737" y="107342"/>
                </a:cubicBezTo>
                <a:cubicBezTo>
                  <a:pt x="55382" y="102853"/>
                  <a:pt x="57206" y="99739"/>
                  <a:pt x="59226" y="97887"/>
                </a:cubicBezTo>
                <a:cubicBezTo>
                  <a:pt x="43543" y="96148"/>
                  <a:pt x="27719" y="93875"/>
                  <a:pt x="27719" y="66885"/>
                </a:cubicBezTo>
                <a:cubicBezTo>
                  <a:pt x="27719" y="59170"/>
                  <a:pt x="29852" y="55298"/>
                  <a:pt x="34341" y="50360"/>
                </a:cubicBezTo>
                <a:cubicBezTo>
                  <a:pt x="33611" y="48537"/>
                  <a:pt x="31226" y="41018"/>
                  <a:pt x="35070" y="31310"/>
                </a:cubicBezTo>
                <a:cubicBezTo>
                  <a:pt x="40934" y="29487"/>
                  <a:pt x="54429" y="38886"/>
                  <a:pt x="54429" y="38886"/>
                </a:cubicBezTo>
                <a:cubicBezTo>
                  <a:pt x="60040" y="37314"/>
                  <a:pt x="66072" y="36501"/>
                  <a:pt x="72048" y="36501"/>
                </a:cubicBezTo>
                <a:cubicBezTo>
                  <a:pt x="78024" y="36501"/>
                  <a:pt x="84056" y="37314"/>
                  <a:pt x="89667" y="38886"/>
                </a:cubicBezTo>
                <a:cubicBezTo>
                  <a:pt x="89667" y="38886"/>
                  <a:pt x="103162" y="29459"/>
                  <a:pt x="109025" y="31310"/>
                </a:cubicBezTo>
                <a:cubicBezTo>
                  <a:pt x="112869" y="41046"/>
                  <a:pt x="110484" y="48537"/>
                  <a:pt x="109755" y="50360"/>
                </a:cubicBezTo>
                <a:cubicBezTo>
                  <a:pt x="114244" y="55326"/>
                  <a:pt x="116993" y="59198"/>
                  <a:pt x="116993" y="66885"/>
                </a:cubicBezTo>
                <a:cubicBezTo>
                  <a:pt x="116993" y="93959"/>
                  <a:pt x="100468" y="96120"/>
                  <a:pt x="84785" y="97887"/>
                </a:cubicBezTo>
                <a:cubicBezTo>
                  <a:pt x="87366" y="100104"/>
                  <a:pt x="89555" y="104312"/>
                  <a:pt x="89555" y="110905"/>
                </a:cubicBezTo>
                <a:cubicBezTo>
                  <a:pt x="89555" y="120360"/>
                  <a:pt x="89470" y="132059"/>
                  <a:pt x="89470" y="134360"/>
                </a:cubicBezTo>
                <a:cubicBezTo>
                  <a:pt x="89470" y="136184"/>
                  <a:pt x="90761" y="138400"/>
                  <a:pt x="94324" y="137755"/>
                </a:cubicBezTo>
                <a:cubicBezTo>
                  <a:pt x="122380" y="128440"/>
                  <a:pt x="141402" y="101815"/>
                  <a:pt x="141402" y="70701"/>
                </a:cubicBezTo>
                <a:cubicBezTo>
                  <a:pt x="141402" y="31787"/>
                  <a:pt x="109839" y="2244"/>
                  <a:pt x="70925" y="2244"/>
                </a:cubicBezTo>
                <a:close/>
                <a:moveTo>
                  <a:pt x="29515" y="99009"/>
                </a:moveTo>
                <a:cubicBezTo>
                  <a:pt x="29150" y="99290"/>
                  <a:pt x="29234" y="99935"/>
                  <a:pt x="29711" y="100468"/>
                </a:cubicBezTo>
                <a:cubicBezTo>
                  <a:pt x="30160" y="100917"/>
                  <a:pt x="30805" y="101114"/>
                  <a:pt x="31170" y="100749"/>
                </a:cubicBezTo>
                <a:cubicBezTo>
                  <a:pt x="31535" y="100468"/>
                  <a:pt x="31451" y="99823"/>
                  <a:pt x="30974" y="99290"/>
                </a:cubicBezTo>
                <a:cubicBezTo>
                  <a:pt x="30525" y="98841"/>
                  <a:pt x="29880" y="98645"/>
                  <a:pt x="29515" y="99009"/>
                </a:cubicBezTo>
                <a:close/>
                <a:moveTo>
                  <a:pt x="26485" y="96737"/>
                </a:moveTo>
                <a:cubicBezTo>
                  <a:pt x="26288" y="97102"/>
                  <a:pt x="26569" y="97551"/>
                  <a:pt x="27130" y="97831"/>
                </a:cubicBezTo>
                <a:cubicBezTo>
                  <a:pt x="27579" y="98112"/>
                  <a:pt x="28140" y="98028"/>
                  <a:pt x="28337" y="97635"/>
                </a:cubicBezTo>
                <a:cubicBezTo>
                  <a:pt x="28533" y="97270"/>
                  <a:pt x="28252" y="96821"/>
                  <a:pt x="27691" y="96541"/>
                </a:cubicBezTo>
                <a:cubicBezTo>
                  <a:pt x="27130" y="96372"/>
                  <a:pt x="26681" y="96456"/>
                  <a:pt x="26485" y="96737"/>
                </a:cubicBezTo>
                <a:close/>
                <a:moveTo>
                  <a:pt x="35575" y="106725"/>
                </a:moveTo>
                <a:cubicBezTo>
                  <a:pt x="35126" y="107090"/>
                  <a:pt x="35294" y="107931"/>
                  <a:pt x="35940" y="108464"/>
                </a:cubicBezTo>
                <a:cubicBezTo>
                  <a:pt x="36585" y="109110"/>
                  <a:pt x="37399" y="109194"/>
                  <a:pt x="37763" y="108745"/>
                </a:cubicBezTo>
                <a:cubicBezTo>
                  <a:pt x="38128" y="108380"/>
                  <a:pt x="37960" y="107539"/>
                  <a:pt x="37399" y="107005"/>
                </a:cubicBezTo>
                <a:cubicBezTo>
                  <a:pt x="36781" y="106360"/>
                  <a:pt x="35940" y="106276"/>
                  <a:pt x="35575" y="106725"/>
                </a:cubicBezTo>
                <a:close/>
                <a:moveTo>
                  <a:pt x="32377" y="102601"/>
                </a:moveTo>
                <a:cubicBezTo>
                  <a:pt x="31928" y="102881"/>
                  <a:pt x="31928" y="103611"/>
                  <a:pt x="32377" y="104256"/>
                </a:cubicBezTo>
                <a:cubicBezTo>
                  <a:pt x="32825" y="104901"/>
                  <a:pt x="33583" y="105182"/>
                  <a:pt x="33948" y="104901"/>
                </a:cubicBezTo>
                <a:cubicBezTo>
                  <a:pt x="34397" y="104537"/>
                  <a:pt x="34397" y="103807"/>
                  <a:pt x="33948" y="103162"/>
                </a:cubicBezTo>
                <a:cubicBezTo>
                  <a:pt x="33555" y="102516"/>
                  <a:pt x="32825" y="102236"/>
                  <a:pt x="32377" y="10260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42680" y="5036747"/>
            <a:ext cx="462362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Copilot at Scale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2680" y="5252217"/>
            <a:ext cx="461464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Deployed across engineering organization for developer productivity enhancement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7652" y="5557466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lnTo>
                  <a:pt x="143647" y="0"/>
                </a:lnTo>
                <a:cubicBezTo>
                  <a:pt x="222980" y="0"/>
                  <a:pt x="287293" y="64313"/>
                  <a:pt x="287293" y="143647"/>
                </a:cubicBezTo>
                <a:lnTo>
                  <a:pt x="287293" y="143647"/>
                </a:lnTo>
                <a:cubicBezTo>
                  <a:pt x="287293" y="222980"/>
                  <a:pt x="222980" y="287293"/>
                  <a:pt x="143647" y="287293"/>
                </a:cubicBezTo>
                <a:lnTo>
                  <a:pt x="143647" y="287293"/>
                </a:lnTo>
                <a:cubicBezTo>
                  <a:pt x="64313" y="287293"/>
                  <a:pt x="0" y="222980"/>
                  <a:pt x="0" y="143647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01520" y="5629289"/>
            <a:ext cx="179558" cy="143647"/>
          </a:xfrm>
          <a:custGeom>
            <a:avLst/>
            <a:gdLst/>
            <a:ahLst/>
            <a:cxnLst/>
            <a:rect l="l" t="t" r="r" b="b"/>
            <a:pathLst>
              <a:path w="179558" h="143647">
                <a:moveTo>
                  <a:pt x="98757" y="0"/>
                </a:moveTo>
                <a:cubicBezTo>
                  <a:pt x="98757" y="-4966"/>
                  <a:pt x="94745" y="-8978"/>
                  <a:pt x="89779" y="-8978"/>
                </a:cubicBezTo>
                <a:cubicBezTo>
                  <a:pt x="84813" y="-8978"/>
                  <a:pt x="80801" y="-4966"/>
                  <a:pt x="80801" y="0"/>
                </a:cubicBezTo>
                <a:lnTo>
                  <a:pt x="80801" y="17956"/>
                </a:lnTo>
                <a:lnTo>
                  <a:pt x="53867" y="17956"/>
                </a:lnTo>
                <a:cubicBezTo>
                  <a:pt x="38998" y="17956"/>
                  <a:pt x="26934" y="30020"/>
                  <a:pt x="26934" y="44890"/>
                </a:cubicBezTo>
                <a:lnTo>
                  <a:pt x="26934" y="107735"/>
                </a:lnTo>
                <a:cubicBezTo>
                  <a:pt x="26934" y="122605"/>
                  <a:pt x="38998" y="134669"/>
                  <a:pt x="53867" y="134669"/>
                </a:cubicBezTo>
                <a:lnTo>
                  <a:pt x="125691" y="134669"/>
                </a:lnTo>
                <a:cubicBezTo>
                  <a:pt x="140560" y="134669"/>
                  <a:pt x="152624" y="122605"/>
                  <a:pt x="152624" y="107735"/>
                </a:cubicBezTo>
                <a:lnTo>
                  <a:pt x="152624" y="44890"/>
                </a:lnTo>
                <a:cubicBezTo>
                  <a:pt x="152624" y="30020"/>
                  <a:pt x="140560" y="17956"/>
                  <a:pt x="125691" y="17956"/>
                </a:cubicBezTo>
                <a:lnTo>
                  <a:pt x="98757" y="17956"/>
                </a:lnTo>
                <a:lnTo>
                  <a:pt x="98757" y="0"/>
                </a:lnTo>
                <a:close/>
                <a:moveTo>
                  <a:pt x="44890" y="103246"/>
                </a:moveTo>
                <a:cubicBezTo>
                  <a:pt x="44890" y="99515"/>
                  <a:pt x="47892" y="96513"/>
                  <a:pt x="51623" y="96513"/>
                </a:cubicBezTo>
                <a:lnTo>
                  <a:pt x="60601" y="96513"/>
                </a:lnTo>
                <a:cubicBezTo>
                  <a:pt x="64332" y="96513"/>
                  <a:pt x="67334" y="99515"/>
                  <a:pt x="67334" y="103246"/>
                </a:cubicBezTo>
                <a:cubicBezTo>
                  <a:pt x="67334" y="106977"/>
                  <a:pt x="64332" y="109979"/>
                  <a:pt x="60601" y="109979"/>
                </a:cubicBezTo>
                <a:lnTo>
                  <a:pt x="51623" y="109979"/>
                </a:lnTo>
                <a:cubicBezTo>
                  <a:pt x="47892" y="109979"/>
                  <a:pt x="44890" y="106977"/>
                  <a:pt x="44890" y="103246"/>
                </a:cubicBezTo>
                <a:close/>
                <a:moveTo>
                  <a:pt x="78557" y="103246"/>
                </a:moveTo>
                <a:cubicBezTo>
                  <a:pt x="78557" y="99515"/>
                  <a:pt x="81559" y="96513"/>
                  <a:pt x="85290" y="96513"/>
                </a:cubicBezTo>
                <a:lnTo>
                  <a:pt x="94268" y="96513"/>
                </a:lnTo>
                <a:cubicBezTo>
                  <a:pt x="97999" y="96513"/>
                  <a:pt x="101001" y="99515"/>
                  <a:pt x="101001" y="103246"/>
                </a:cubicBezTo>
                <a:cubicBezTo>
                  <a:pt x="101001" y="106977"/>
                  <a:pt x="97999" y="109979"/>
                  <a:pt x="94268" y="109979"/>
                </a:cubicBezTo>
                <a:lnTo>
                  <a:pt x="85290" y="109979"/>
                </a:lnTo>
                <a:cubicBezTo>
                  <a:pt x="81559" y="109979"/>
                  <a:pt x="78557" y="106977"/>
                  <a:pt x="78557" y="103246"/>
                </a:cubicBezTo>
                <a:close/>
                <a:moveTo>
                  <a:pt x="112224" y="103246"/>
                </a:moveTo>
                <a:cubicBezTo>
                  <a:pt x="112224" y="99515"/>
                  <a:pt x="115226" y="96513"/>
                  <a:pt x="118957" y="96513"/>
                </a:cubicBezTo>
                <a:lnTo>
                  <a:pt x="127935" y="96513"/>
                </a:lnTo>
                <a:cubicBezTo>
                  <a:pt x="131667" y="96513"/>
                  <a:pt x="134669" y="99515"/>
                  <a:pt x="134669" y="103246"/>
                </a:cubicBezTo>
                <a:cubicBezTo>
                  <a:pt x="134669" y="106977"/>
                  <a:pt x="131667" y="109979"/>
                  <a:pt x="127935" y="109979"/>
                </a:cubicBezTo>
                <a:lnTo>
                  <a:pt x="118957" y="109979"/>
                </a:lnTo>
                <a:cubicBezTo>
                  <a:pt x="115226" y="109979"/>
                  <a:pt x="112224" y="106977"/>
                  <a:pt x="112224" y="103246"/>
                </a:cubicBezTo>
                <a:close/>
                <a:moveTo>
                  <a:pt x="62845" y="49378"/>
                </a:moveTo>
                <a:cubicBezTo>
                  <a:pt x="70278" y="49378"/>
                  <a:pt x="76312" y="55413"/>
                  <a:pt x="76312" y="62845"/>
                </a:cubicBezTo>
                <a:cubicBezTo>
                  <a:pt x="76312" y="70278"/>
                  <a:pt x="70278" y="76312"/>
                  <a:pt x="62845" y="76312"/>
                </a:cubicBezTo>
                <a:cubicBezTo>
                  <a:pt x="55413" y="76312"/>
                  <a:pt x="49378" y="70278"/>
                  <a:pt x="49378" y="62845"/>
                </a:cubicBezTo>
                <a:cubicBezTo>
                  <a:pt x="49378" y="55413"/>
                  <a:pt x="55413" y="49378"/>
                  <a:pt x="62845" y="49378"/>
                </a:cubicBezTo>
                <a:close/>
                <a:moveTo>
                  <a:pt x="103246" y="62845"/>
                </a:moveTo>
                <a:cubicBezTo>
                  <a:pt x="103246" y="55413"/>
                  <a:pt x="109280" y="49378"/>
                  <a:pt x="116713" y="49378"/>
                </a:cubicBezTo>
                <a:cubicBezTo>
                  <a:pt x="124145" y="49378"/>
                  <a:pt x="130180" y="55413"/>
                  <a:pt x="130180" y="62845"/>
                </a:cubicBezTo>
                <a:cubicBezTo>
                  <a:pt x="130180" y="70278"/>
                  <a:pt x="124145" y="76312"/>
                  <a:pt x="116713" y="76312"/>
                </a:cubicBezTo>
                <a:cubicBezTo>
                  <a:pt x="109280" y="76312"/>
                  <a:pt x="103246" y="70278"/>
                  <a:pt x="103246" y="62845"/>
                </a:cubicBezTo>
                <a:close/>
                <a:moveTo>
                  <a:pt x="17956" y="62845"/>
                </a:moveTo>
                <a:cubicBezTo>
                  <a:pt x="17956" y="57879"/>
                  <a:pt x="13944" y="53867"/>
                  <a:pt x="8978" y="53867"/>
                </a:cubicBezTo>
                <a:cubicBezTo>
                  <a:pt x="4012" y="53867"/>
                  <a:pt x="0" y="57879"/>
                  <a:pt x="0" y="62845"/>
                </a:cubicBezTo>
                <a:lnTo>
                  <a:pt x="0" y="89779"/>
                </a:lnTo>
                <a:cubicBezTo>
                  <a:pt x="0" y="94745"/>
                  <a:pt x="4012" y="98757"/>
                  <a:pt x="8978" y="98757"/>
                </a:cubicBezTo>
                <a:cubicBezTo>
                  <a:pt x="13944" y="98757"/>
                  <a:pt x="17956" y="94745"/>
                  <a:pt x="17956" y="89779"/>
                </a:cubicBezTo>
                <a:lnTo>
                  <a:pt x="17956" y="62845"/>
                </a:lnTo>
                <a:close/>
                <a:moveTo>
                  <a:pt x="170580" y="53867"/>
                </a:moveTo>
                <a:cubicBezTo>
                  <a:pt x="165614" y="53867"/>
                  <a:pt x="161602" y="57879"/>
                  <a:pt x="161602" y="62845"/>
                </a:cubicBezTo>
                <a:lnTo>
                  <a:pt x="161602" y="89779"/>
                </a:lnTo>
                <a:cubicBezTo>
                  <a:pt x="161602" y="94745"/>
                  <a:pt x="165614" y="98757"/>
                  <a:pt x="170580" y="98757"/>
                </a:cubicBezTo>
                <a:cubicBezTo>
                  <a:pt x="175546" y="98757"/>
                  <a:pt x="179558" y="94745"/>
                  <a:pt x="179558" y="89779"/>
                </a:cubicBezTo>
                <a:lnTo>
                  <a:pt x="179558" y="62845"/>
                </a:lnTo>
                <a:cubicBezTo>
                  <a:pt x="179558" y="57879"/>
                  <a:pt x="175546" y="53867"/>
                  <a:pt x="170580" y="53867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942680" y="5539510"/>
            <a:ext cx="327693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 Studio Exploration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2680" y="5754980"/>
            <a:ext cx="326795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Next-step innovation for custom AI assistant development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7652" y="6060229"/>
            <a:ext cx="287293" cy="287293"/>
          </a:xfrm>
          <a:custGeom>
            <a:avLst/>
            <a:gdLst/>
            <a:ahLst/>
            <a:cxnLst/>
            <a:rect l="l" t="t" r="r" b="b"/>
            <a:pathLst>
              <a:path w="287293" h="287293">
                <a:moveTo>
                  <a:pt x="143647" y="0"/>
                </a:moveTo>
                <a:lnTo>
                  <a:pt x="143647" y="0"/>
                </a:lnTo>
                <a:cubicBezTo>
                  <a:pt x="222980" y="0"/>
                  <a:pt x="287293" y="64313"/>
                  <a:pt x="287293" y="143647"/>
                </a:cubicBezTo>
                <a:lnTo>
                  <a:pt x="287293" y="143647"/>
                </a:lnTo>
                <a:cubicBezTo>
                  <a:pt x="287293" y="222980"/>
                  <a:pt x="222980" y="287293"/>
                  <a:pt x="143647" y="287293"/>
                </a:cubicBezTo>
                <a:lnTo>
                  <a:pt x="143647" y="287293"/>
                </a:lnTo>
                <a:cubicBezTo>
                  <a:pt x="64313" y="287293"/>
                  <a:pt x="0" y="222980"/>
                  <a:pt x="0" y="143647"/>
                </a:cubicBezTo>
                <a:lnTo>
                  <a:pt x="0" y="143647"/>
                </a:lnTo>
                <a:cubicBezTo>
                  <a:pt x="0" y="64313"/>
                  <a:pt x="64313" y="0"/>
                  <a:pt x="143647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19476" y="6132052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65230" y="1459"/>
                </a:moveTo>
                <a:cubicBezTo>
                  <a:pt x="69410" y="-477"/>
                  <a:pt x="74236" y="-477"/>
                  <a:pt x="78416" y="1459"/>
                </a:cubicBezTo>
                <a:lnTo>
                  <a:pt x="139747" y="29795"/>
                </a:lnTo>
                <a:cubicBezTo>
                  <a:pt x="142132" y="30890"/>
                  <a:pt x="143647" y="33274"/>
                  <a:pt x="143647" y="35912"/>
                </a:cubicBezTo>
                <a:cubicBezTo>
                  <a:pt x="143647" y="38549"/>
                  <a:pt x="142132" y="40934"/>
                  <a:pt x="139747" y="42028"/>
                </a:cubicBezTo>
                <a:lnTo>
                  <a:pt x="78416" y="70364"/>
                </a:lnTo>
                <a:cubicBezTo>
                  <a:pt x="74236" y="72300"/>
                  <a:pt x="69410" y="72300"/>
                  <a:pt x="65230" y="70364"/>
                </a:cubicBezTo>
                <a:lnTo>
                  <a:pt x="3900" y="42028"/>
                </a:lnTo>
                <a:cubicBezTo>
                  <a:pt x="1515" y="40906"/>
                  <a:pt x="0" y="38521"/>
                  <a:pt x="0" y="35912"/>
                </a:cubicBezTo>
                <a:cubicBezTo>
                  <a:pt x="0" y="33302"/>
                  <a:pt x="1515" y="30890"/>
                  <a:pt x="3900" y="29795"/>
                </a:cubicBezTo>
                <a:lnTo>
                  <a:pt x="65230" y="1459"/>
                </a:lnTo>
                <a:close/>
                <a:moveTo>
                  <a:pt x="13495" y="61274"/>
                </a:moveTo>
                <a:lnTo>
                  <a:pt x="59591" y="82569"/>
                </a:lnTo>
                <a:cubicBezTo>
                  <a:pt x="67362" y="86160"/>
                  <a:pt x="76312" y="86160"/>
                  <a:pt x="84084" y="82569"/>
                </a:cubicBezTo>
                <a:lnTo>
                  <a:pt x="130180" y="61274"/>
                </a:lnTo>
                <a:lnTo>
                  <a:pt x="139747" y="65707"/>
                </a:lnTo>
                <a:cubicBezTo>
                  <a:pt x="142132" y="66801"/>
                  <a:pt x="143647" y="69186"/>
                  <a:pt x="143647" y="71823"/>
                </a:cubicBezTo>
                <a:cubicBezTo>
                  <a:pt x="143647" y="74461"/>
                  <a:pt x="142132" y="76845"/>
                  <a:pt x="139747" y="77939"/>
                </a:cubicBezTo>
                <a:lnTo>
                  <a:pt x="78416" y="106276"/>
                </a:lnTo>
                <a:cubicBezTo>
                  <a:pt x="74236" y="108212"/>
                  <a:pt x="69410" y="108212"/>
                  <a:pt x="65230" y="106276"/>
                </a:cubicBezTo>
                <a:lnTo>
                  <a:pt x="3900" y="77939"/>
                </a:lnTo>
                <a:cubicBezTo>
                  <a:pt x="1515" y="76817"/>
                  <a:pt x="0" y="74432"/>
                  <a:pt x="0" y="71823"/>
                </a:cubicBezTo>
                <a:cubicBezTo>
                  <a:pt x="0" y="69214"/>
                  <a:pt x="1515" y="66801"/>
                  <a:pt x="3900" y="65707"/>
                </a:cubicBezTo>
                <a:lnTo>
                  <a:pt x="13467" y="61274"/>
                </a:lnTo>
                <a:close/>
                <a:moveTo>
                  <a:pt x="3900" y="101619"/>
                </a:moveTo>
                <a:lnTo>
                  <a:pt x="13467" y="97186"/>
                </a:lnTo>
                <a:lnTo>
                  <a:pt x="59563" y="118480"/>
                </a:lnTo>
                <a:cubicBezTo>
                  <a:pt x="67334" y="122072"/>
                  <a:pt x="76284" y="122072"/>
                  <a:pt x="84056" y="118480"/>
                </a:cubicBezTo>
                <a:lnTo>
                  <a:pt x="130152" y="97186"/>
                </a:lnTo>
                <a:lnTo>
                  <a:pt x="139719" y="101619"/>
                </a:lnTo>
                <a:cubicBezTo>
                  <a:pt x="142103" y="102713"/>
                  <a:pt x="143618" y="105098"/>
                  <a:pt x="143618" y="107735"/>
                </a:cubicBezTo>
                <a:cubicBezTo>
                  <a:pt x="143618" y="110372"/>
                  <a:pt x="142103" y="112757"/>
                  <a:pt x="139719" y="113851"/>
                </a:cubicBezTo>
                <a:lnTo>
                  <a:pt x="78388" y="142188"/>
                </a:lnTo>
                <a:cubicBezTo>
                  <a:pt x="74208" y="144123"/>
                  <a:pt x="69382" y="144123"/>
                  <a:pt x="65202" y="142188"/>
                </a:cubicBezTo>
                <a:lnTo>
                  <a:pt x="3900" y="113851"/>
                </a:lnTo>
                <a:cubicBezTo>
                  <a:pt x="1515" y="112729"/>
                  <a:pt x="0" y="110344"/>
                  <a:pt x="0" y="107735"/>
                </a:cubicBezTo>
                <a:cubicBezTo>
                  <a:pt x="0" y="105126"/>
                  <a:pt x="1515" y="102713"/>
                  <a:pt x="3900" y="10161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942680" y="6042273"/>
            <a:ext cx="325898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Standardisation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42680" y="6257743"/>
            <a:ext cx="32500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Consolidation of development tooling and CI/CD pipelines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3294" y="1333219"/>
            <a:ext cx="5656082" cy="2810085"/>
          </a:xfrm>
          <a:custGeom>
            <a:avLst/>
            <a:gdLst/>
            <a:ahLst/>
            <a:cxnLst/>
            <a:rect l="l" t="t" r="r" b="b"/>
            <a:pathLst>
              <a:path w="5656082" h="2810085">
                <a:moveTo>
                  <a:pt x="107739" y="0"/>
                </a:moveTo>
                <a:lnTo>
                  <a:pt x="5548344" y="0"/>
                </a:lnTo>
                <a:cubicBezTo>
                  <a:pt x="5607846" y="0"/>
                  <a:pt x="5656082" y="48236"/>
                  <a:pt x="5656082" y="107739"/>
                </a:cubicBezTo>
                <a:lnTo>
                  <a:pt x="5656082" y="2702347"/>
                </a:lnTo>
                <a:cubicBezTo>
                  <a:pt x="5656082" y="2761849"/>
                  <a:pt x="5607846" y="2810085"/>
                  <a:pt x="5548344" y="2810085"/>
                </a:cubicBezTo>
                <a:lnTo>
                  <a:pt x="107739" y="2810085"/>
                </a:lnTo>
                <a:cubicBezTo>
                  <a:pt x="48236" y="2810085"/>
                  <a:pt x="0" y="2761849"/>
                  <a:pt x="0" y="2702347"/>
                </a:cubicBezTo>
                <a:lnTo>
                  <a:pt x="0" y="107739"/>
                </a:lnTo>
                <a:cubicBezTo>
                  <a:pt x="0" y="48276"/>
                  <a:pt x="48276" y="0"/>
                  <a:pt x="10773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369686" y="1562156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0" y="106052"/>
                </a:moveTo>
                <a:cubicBezTo>
                  <a:pt x="0" y="131144"/>
                  <a:pt x="20358" y="151502"/>
                  <a:pt x="45451" y="151502"/>
                </a:cubicBezTo>
                <a:lnTo>
                  <a:pt x="141402" y="151502"/>
                </a:lnTo>
                <a:cubicBezTo>
                  <a:pt x="163717" y="151502"/>
                  <a:pt x="181803" y="133417"/>
                  <a:pt x="181803" y="111102"/>
                </a:cubicBezTo>
                <a:cubicBezTo>
                  <a:pt x="181803" y="94815"/>
                  <a:pt x="172176" y="80770"/>
                  <a:pt x="158288" y="74394"/>
                </a:cubicBezTo>
                <a:cubicBezTo>
                  <a:pt x="160403" y="70259"/>
                  <a:pt x="161602" y="65556"/>
                  <a:pt x="161602" y="60601"/>
                </a:cubicBezTo>
                <a:cubicBezTo>
                  <a:pt x="161602" y="43873"/>
                  <a:pt x="148030" y="30300"/>
                  <a:pt x="131302" y="30300"/>
                </a:cubicBezTo>
                <a:cubicBezTo>
                  <a:pt x="125715" y="30300"/>
                  <a:pt x="120507" y="31815"/>
                  <a:pt x="116025" y="34435"/>
                </a:cubicBezTo>
                <a:cubicBezTo>
                  <a:pt x="108419" y="19979"/>
                  <a:pt x="93237" y="10100"/>
                  <a:pt x="75751" y="10100"/>
                </a:cubicBezTo>
                <a:cubicBezTo>
                  <a:pt x="50659" y="10100"/>
                  <a:pt x="30300" y="30458"/>
                  <a:pt x="30300" y="55551"/>
                </a:cubicBezTo>
                <a:cubicBezTo>
                  <a:pt x="30300" y="58076"/>
                  <a:pt x="30521" y="60569"/>
                  <a:pt x="30900" y="62968"/>
                </a:cubicBezTo>
                <a:cubicBezTo>
                  <a:pt x="12941" y="69028"/>
                  <a:pt x="0" y="86041"/>
                  <a:pt x="0" y="106052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563833" y="1517267"/>
            <a:ext cx="516229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Foundation Investments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75297" y="1876383"/>
            <a:ext cx="5270032" cy="646409"/>
          </a:xfrm>
          <a:custGeom>
            <a:avLst/>
            <a:gdLst/>
            <a:ahLst/>
            <a:cxnLst/>
            <a:rect l="l" t="t" r="r" b="b"/>
            <a:pathLst>
              <a:path w="5270032" h="646409">
                <a:moveTo>
                  <a:pt x="35912" y="0"/>
                </a:moveTo>
                <a:lnTo>
                  <a:pt x="5198210" y="0"/>
                </a:lnTo>
                <a:cubicBezTo>
                  <a:pt x="5237876" y="0"/>
                  <a:pt x="5270032" y="32156"/>
                  <a:pt x="5270032" y="71823"/>
                </a:cubicBezTo>
                <a:lnTo>
                  <a:pt x="5270032" y="574587"/>
                </a:lnTo>
                <a:cubicBezTo>
                  <a:pt x="5270032" y="614253"/>
                  <a:pt x="5237876" y="646409"/>
                  <a:pt x="5198210" y="646409"/>
                </a:cubicBezTo>
                <a:lnTo>
                  <a:pt x="35912" y="646409"/>
                </a:lnTo>
                <a:cubicBezTo>
                  <a:pt x="16078" y="646409"/>
                  <a:pt x="0" y="630331"/>
                  <a:pt x="0" y="610498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6375297" y="1876383"/>
            <a:ext cx="35912" cy="646409"/>
          </a:xfrm>
          <a:custGeom>
            <a:avLst/>
            <a:gdLst/>
            <a:ahLst/>
            <a:cxnLst/>
            <a:rect l="l" t="t" r="r" b="b"/>
            <a:pathLst>
              <a:path w="35912" h="646409">
                <a:moveTo>
                  <a:pt x="35912" y="0"/>
                </a:moveTo>
                <a:lnTo>
                  <a:pt x="35912" y="0"/>
                </a:lnTo>
                <a:lnTo>
                  <a:pt x="35912" y="646409"/>
                </a:lnTo>
                <a:lnTo>
                  <a:pt x="35912" y="646409"/>
                </a:lnTo>
                <a:cubicBezTo>
                  <a:pt x="16078" y="646409"/>
                  <a:pt x="0" y="630331"/>
                  <a:pt x="0" y="610498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500988" y="1984118"/>
            <a:ext cx="510843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Process Automation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00988" y="2235499"/>
            <a:ext cx="509945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Renewals, cancellations, document processing workflows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5297" y="2594616"/>
            <a:ext cx="5270032" cy="646409"/>
          </a:xfrm>
          <a:custGeom>
            <a:avLst/>
            <a:gdLst/>
            <a:ahLst/>
            <a:cxnLst/>
            <a:rect l="l" t="t" r="r" b="b"/>
            <a:pathLst>
              <a:path w="5270032" h="646409">
                <a:moveTo>
                  <a:pt x="35912" y="0"/>
                </a:moveTo>
                <a:lnTo>
                  <a:pt x="5198210" y="0"/>
                </a:lnTo>
                <a:cubicBezTo>
                  <a:pt x="5237876" y="0"/>
                  <a:pt x="5270032" y="32156"/>
                  <a:pt x="5270032" y="71823"/>
                </a:cubicBezTo>
                <a:lnTo>
                  <a:pt x="5270032" y="574587"/>
                </a:lnTo>
                <a:cubicBezTo>
                  <a:pt x="5270032" y="614253"/>
                  <a:pt x="5237876" y="646409"/>
                  <a:pt x="5198210" y="646409"/>
                </a:cubicBezTo>
                <a:lnTo>
                  <a:pt x="35912" y="646409"/>
                </a:lnTo>
                <a:cubicBezTo>
                  <a:pt x="16078" y="646409"/>
                  <a:pt x="0" y="630331"/>
                  <a:pt x="0" y="610498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6375297" y="2594616"/>
            <a:ext cx="35912" cy="646409"/>
          </a:xfrm>
          <a:custGeom>
            <a:avLst/>
            <a:gdLst/>
            <a:ahLst/>
            <a:cxnLst/>
            <a:rect l="l" t="t" r="r" b="b"/>
            <a:pathLst>
              <a:path w="35912" h="646409">
                <a:moveTo>
                  <a:pt x="35912" y="0"/>
                </a:moveTo>
                <a:lnTo>
                  <a:pt x="35912" y="0"/>
                </a:lnTo>
                <a:lnTo>
                  <a:pt x="35912" y="646409"/>
                </a:lnTo>
                <a:lnTo>
                  <a:pt x="35912" y="646409"/>
                </a:lnTo>
                <a:cubicBezTo>
                  <a:pt x="16078" y="646409"/>
                  <a:pt x="0" y="630331"/>
                  <a:pt x="0" y="610498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500988" y="2702351"/>
            <a:ext cx="510843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Claims Handling Enablement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00988" y="2953732"/>
            <a:ext cx="509945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improvements supporting faster claims processing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75297" y="3312848"/>
            <a:ext cx="5270032" cy="646409"/>
          </a:xfrm>
          <a:custGeom>
            <a:avLst/>
            <a:gdLst/>
            <a:ahLst/>
            <a:cxnLst/>
            <a:rect l="l" t="t" r="r" b="b"/>
            <a:pathLst>
              <a:path w="5270032" h="646409">
                <a:moveTo>
                  <a:pt x="35912" y="0"/>
                </a:moveTo>
                <a:lnTo>
                  <a:pt x="5198210" y="0"/>
                </a:lnTo>
                <a:cubicBezTo>
                  <a:pt x="5237876" y="0"/>
                  <a:pt x="5270032" y="32156"/>
                  <a:pt x="5270032" y="71823"/>
                </a:cubicBezTo>
                <a:lnTo>
                  <a:pt x="5270032" y="574587"/>
                </a:lnTo>
                <a:cubicBezTo>
                  <a:pt x="5270032" y="614253"/>
                  <a:pt x="5237876" y="646409"/>
                  <a:pt x="5198210" y="646409"/>
                </a:cubicBezTo>
                <a:lnTo>
                  <a:pt x="35912" y="646409"/>
                </a:lnTo>
                <a:cubicBezTo>
                  <a:pt x="16078" y="646409"/>
                  <a:pt x="0" y="630331"/>
                  <a:pt x="0" y="610498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6375297" y="3312848"/>
            <a:ext cx="35912" cy="646409"/>
          </a:xfrm>
          <a:custGeom>
            <a:avLst/>
            <a:gdLst/>
            <a:ahLst/>
            <a:cxnLst/>
            <a:rect l="l" t="t" r="r" b="b"/>
            <a:pathLst>
              <a:path w="35912" h="646409">
                <a:moveTo>
                  <a:pt x="35912" y="0"/>
                </a:moveTo>
                <a:lnTo>
                  <a:pt x="35912" y="0"/>
                </a:lnTo>
                <a:lnTo>
                  <a:pt x="35912" y="646409"/>
                </a:lnTo>
                <a:lnTo>
                  <a:pt x="35912" y="646409"/>
                </a:lnTo>
                <a:cubicBezTo>
                  <a:pt x="16078" y="646409"/>
                  <a:pt x="0" y="630331"/>
                  <a:pt x="0" y="610498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6500988" y="3420583"/>
            <a:ext cx="510843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Platform Modernisation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500988" y="3671965"/>
            <a:ext cx="509945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API-first architecture and microservices adoption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3294" y="4295929"/>
            <a:ext cx="5656082" cy="2464635"/>
          </a:xfrm>
          <a:custGeom>
            <a:avLst/>
            <a:gdLst/>
            <a:ahLst/>
            <a:cxnLst/>
            <a:rect l="l" t="t" r="r" b="b"/>
            <a:pathLst>
              <a:path w="5656082" h="2621549">
                <a:moveTo>
                  <a:pt x="107746" y="0"/>
                </a:moveTo>
                <a:lnTo>
                  <a:pt x="5548337" y="0"/>
                </a:lnTo>
                <a:cubicBezTo>
                  <a:pt x="5607843" y="0"/>
                  <a:pt x="5656082" y="48239"/>
                  <a:pt x="5656082" y="107746"/>
                </a:cubicBezTo>
                <a:lnTo>
                  <a:pt x="5656082" y="2513804"/>
                </a:lnTo>
                <a:cubicBezTo>
                  <a:pt x="5656082" y="2573310"/>
                  <a:pt x="5607843" y="2621549"/>
                  <a:pt x="5548337" y="2621549"/>
                </a:cubicBezTo>
                <a:lnTo>
                  <a:pt x="107746" y="2621549"/>
                </a:lnTo>
                <a:cubicBezTo>
                  <a:pt x="48239" y="2621549"/>
                  <a:pt x="0" y="2573310"/>
                  <a:pt x="0" y="2513804"/>
                </a:cubicBezTo>
                <a:lnTo>
                  <a:pt x="0" y="107746"/>
                </a:lnTo>
                <a:cubicBezTo>
                  <a:pt x="0" y="48279"/>
                  <a:pt x="48279" y="0"/>
                  <a:pt x="10774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6357341" y="4509996"/>
            <a:ext cx="430940" cy="430940"/>
          </a:xfrm>
          <a:custGeom>
            <a:avLst/>
            <a:gdLst/>
            <a:ahLst/>
            <a:cxnLst/>
            <a:rect l="l" t="t" r="r" b="b"/>
            <a:pathLst>
              <a:path w="430940" h="430940">
                <a:moveTo>
                  <a:pt x="215470" y="0"/>
                </a:moveTo>
                <a:lnTo>
                  <a:pt x="215470" y="0"/>
                </a:lnTo>
                <a:cubicBezTo>
                  <a:pt x="334391" y="0"/>
                  <a:pt x="430940" y="96549"/>
                  <a:pt x="430940" y="215470"/>
                </a:cubicBezTo>
                <a:lnTo>
                  <a:pt x="430940" y="215470"/>
                </a:lnTo>
                <a:cubicBezTo>
                  <a:pt x="430940" y="334391"/>
                  <a:pt x="334391" y="430940"/>
                  <a:pt x="215470" y="430940"/>
                </a:cubicBezTo>
                <a:lnTo>
                  <a:pt x="215470" y="430940"/>
                </a:lnTo>
                <a:cubicBezTo>
                  <a:pt x="96549" y="430940"/>
                  <a:pt x="0" y="334391"/>
                  <a:pt x="0" y="215470"/>
                </a:cubicBezTo>
                <a:lnTo>
                  <a:pt x="0" y="215470"/>
                </a:lnTo>
                <a:cubicBezTo>
                  <a:pt x="0" y="96549"/>
                  <a:pt x="96549" y="0"/>
                  <a:pt x="21547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6505477" y="4635687"/>
            <a:ext cx="134669" cy="179558"/>
          </a:xfrm>
          <a:custGeom>
            <a:avLst/>
            <a:gdLst/>
            <a:ahLst/>
            <a:cxnLst/>
            <a:rect l="l" t="t" r="r" b="b"/>
            <a:pathLst>
              <a:path w="134669" h="179558">
                <a:moveTo>
                  <a:pt x="102720" y="134669"/>
                </a:moveTo>
                <a:cubicBezTo>
                  <a:pt x="105280" y="126848"/>
                  <a:pt x="110400" y="119764"/>
                  <a:pt x="116187" y="113662"/>
                </a:cubicBezTo>
                <a:cubicBezTo>
                  <a:pt x="127655" y="101598"/>
                  <a:pt x="134669" y="85290"/>
                  <a:pt x="134669" y="67334"/>
                </a:cubicBezTo>
                <a:cubicBezTo>
                  <a:pt x="134669" y="30160"/>
                  <a:pt x="104508" y="0"/>
                  <a:pt x="67334" y="0"/>
                </a:cubicBezTo>
                <a:cubicBezTo>
                  <a:pt x="30160" y="0"/>
                  <a:pt x="0" y="30160"/>
                  <a:pt x="0" y="67334"/>
                </a:cubicBezTo>
                <a:cubicBezTo>
                  <a:pt x="0" y="85290"/>
                  <a:pt x="7014" y="101598"/>
                  <a:pt x="18482" y="113662"/>
                </a:cubicBezTo>
                <a:cubicBezTo>
                  <a:pt x="24268" y="119764"/>
                  <a:pt x="29424" y="126848"/>
                  <a:pt x="31949" y="134669"/>
                </a:cubicBezTo>
                <a:lnTo>
                  <a:pt x="102685" y="134669"/>
                </a:lnTo>
                <a:close/>
                <a:moveTo>
                  <a:pt x="101001" y="151502"/>
                </a:moveTo>
                <a:lnTo>
                  <a:pt x="33667" y="151502"/>
                </a:lnTo>
                <a:lnTo>
                  <a:pt x="33667" y="157113"/>
                </a:lnTo>
                <a:cubicBezTo>
                  <a:pt x="33667" y="172614"/>
                  <a:pt x="46222" y="185169"/>
                  <a:pt x="61723" y="185169"/>
                </a:cubicBezTo>
                <a:lnTo>
                  <a:pt x="72946" y="185169"/>
                </a:lnTo>
                <a:cubicBezTo>
                  <a:pt x="88446" y="185169"/>
                  <a:pt x="101001" y="172614"/>
                  <a:pt x="101001" y="157113"/>
                </a:cubicBezTo>
                <a:lnTo>
                  <a:pt x="101001" y="151502"/>
                </a:lnTo>
                <a:close/>
                <a:moveTo>
                  <a:pt x="64529" y="39278"/>
                </a:moveTo>
                <a:cubicBezTo>
                  <a:pt x="50571" y="39278"/>
                  <a:pt x="39278" y="50571"/>
                  <a:pt x="39278" y="64529"/>
                </a:cubicBezTo>
                <a:cubicBezTo>
                  <a:pt x="39278" y="69193"/>
                  <a:pt x="35526" y="72946"/>
                  <a:pt x="30862" y="72946"/>
                </a:cubicBezTo>
                <a:cubicBezTo>
                  <a:pt x="26197" y="72946"/>
                  <a:pt x="22445" y="69193"/>
                  <a:pt x="22445" y="64529"/>
                </a:cubicBezTo>
                <a:cubicBezTo>
                  <a:pt x="22445" y="41277"/>
                  <a:pt x="41277" y="22445"/>
                  <a:pt x="64529" y="22445"/>
                </a:cubicBezTo>
                <a:cubicBezTo>
                  <a:pt x="69193" y="22445"/>
                  <a:pt x="72946" y="26197"/>
                  <a:pt x="72946" y="30862"/>
                </a:cubicBezTo>
                <a:cubicBezTo>
                  <a:pt x="72946" y="35526"/>
                  <a:pt x="69193" y="39278"/>
                  <a:pt x="64529" y="392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6896016" y="4599775"/>
            <a:ext cx="193025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Interpretation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57341" y="5048671"/>
            <a:ext cx="5359811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environment creates </a:t>
            </a:r>
            <a:r>
              <a:rPr lang="en-US" sz="1131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conditions</a:t>
            </a:r>
            <a:r>
              <a:rPr lang="en-US" sz="113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workflow automation and resilient hybrid connectivity solutions.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75297" y="5659169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608723" y="5623257"/>
            <a:ext cx="236119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foundation established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75297" y="5946462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6608723" y="5910550"/>
            <a:ext cx="215469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capabilities scaling rapidly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75297" y="6233755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6608723" y="6197843"/>
            <a:ext cx="18943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productivity focus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75297" y="6521048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95503" y="59675"/>
                </a:moveTo>
                <a:lnTo>
                  <a:pt x="73058" y="95587"/>
                </a:lnTo>
                <a:cubicBezTo>
                  <a:pt x="71879" y="97466"/>
                  <a:pt x="69859" y="98645"/>
                  <a:pt x="67643" y="98757"/>
                </a:cubicBezTo>
                <a:cubicBezTo>
                  <a:pt x="65427" y="98869"/>
                  <a:pt x="63294" y="97859"/>
                  <a:pt x="61976" y="96064"/>
                </a:cubicBezTo>
                <a:lnTo>
                  <a:pt x="48509" y="78108"/>
                </a:lnTo>
                <a:cubicBezTo>
                  <a:pt x="46264" y="75134"/>
                  <a:pt x="46882" y="70925"/>
                  <a:pt x="49855" y="68681"/>
                </a:cubicBezTo>
                <a:cubicBezTo>
                  <a:pt x="52829" y="66437"/>
                  <a:pt x="57038" y="67054"/>
                  <a:pt x="59282" y="70028"/>
                </a:cubicBezTo>
                <a:lnTo>
                  <a:pt x="66857" y="80128"/>
                </a:lnTo>
                <a:lnTo>
                  <a:pt x="84084" y="52549"/>
                </a:lnTo>
                <a:cubicBezTo>
                  <a:pt x="86048" y="49407"/>
                  <a:pt x="90200" y="48425"/>
                  <a:pt x="93370" y="50417"/>
                </a:cubicBezTo>
                <a:cubicBezTo>
                  <a:pt x="96541" y="52409"/>
                  <a:pt x="97494" y="56533"/>
                  <a:pt x="95503" y="5970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6608723" y="6485136"/>
            <a:ext cx="204696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efficiency mandate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581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&amp;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5905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AI Stack: Infrastructure Signals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66800"/>
            <a:ext cx="1131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Multi-cloud posture with enterprise-grade governance—Dataiku + TCS partnership demonstrates scaled AI operationalisation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5629275" cy="3400425"/>
          </a:xfrm>
          <a:custGeom>
            <a:avLst/>
            <a:gdLst/>
            <a:ahLst/>
            <a:cxnLst/>
            <a:rect l="l" t="t" r="r" b="b"/>
            <a:pathLst>
              <a:path w="5629275" h="3400425">
                <a:moveTo>
                  <a:pt x="114288" y="0"/>
                </a:moveTo>
                <a:lnTo>
                  <a:pt x="5514987" y="0"/>
                </a:lnTo>
                <a:cubicBezTo>
                  <a:pt x="5578106" y="0"/>
                  <a:pt x="5629275" y="51169"/>
                  <a:pt x="5629275" y="114288"/>
                </a:cubicBezTo>
                <a:lnTo>
                  <a:pt x="5629275" y="3286137"/>
                </a:lnTo>
                <a:cubicBezTo>
                  <a:pt x="5629275" y="3349256"/>
                  <a:pt x="5578106" y="3400425"/>
                  <a:pt x="5514987" y="3400425"/>
                </a:cubicBezTo>
                <a:lnTo>
                  <a:pt x="114288" y="3400425"/>
                </a:lnTo>
                <a:cubicBezTo>
                  <a:pt x="51169" y="3400425"/>
                  <a:pt x="0" y="3349256"/>
                  <a:pt x="0" y="3286137"/>
                </a:cubicBezTo>
                <a:lnTo>
                  <a:pt x="0" y="114288"/>
                </a:lnTo>
                <a:cubicBezTo>
                  <a:pt x="0" y="51211"/>
                  <a:pt x="51211" y="0"/>
                  <a:pt x="114288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66738" y="1657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2000" y="16097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Dataiku + TCS Partnership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75" y="1952625"/>
            <a:ext cx="5295900" cy="866775"/>
          </a:xfrm>
          <a:custGeom>
            <a:avLst/>
            <a:gdLst/>
            <a:ahLst/>
            <a:cxnLst/>
            <a:rect l="l" t="t" r="r" b="b"/>
            <a:pathLst>
              <a:path w="5295900" h="866775">
                <a:moveTo>
                  <a:pt x="38100" y="0"/>
                </a:moveTo>
                <a:lnTo>
                  <a:pt x="5219702" y="0"/>
                </a:lnTo>
                <a:cubicBezTo>
                  <a:pt x="5261785" y="0"/>
                  <a:pt x="5295900" y="34115"/>
                  <a:pt x="5295900" y="76198"/>
                </a:cubicBezTo>
                <a:lnTo>
                  <a:pt x="5295900" y="790577"/>
                </a:lnTo>
                <a:cubicBezTo>
                  <a:pt x="5295900" y="832660"/>
                  <a:pt x="5261785" y="866775"/>
                  <a:pt x="5219702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1975" y="1952625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95325" y="2066925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Infrastructure Modernisation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325" y="2333625"/>
            <a:ext cx="51149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partnership with TCS and Dataiku experts to modernize AI infrastructure and scale delivery capabilities.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1975" y="2890838"/>
            <a:ext cx="5295900" cy="866775"/>
          </a:xfrm>
          <a:custGeom>
            <a:avLst/>
            <a:gdLst/>
            <a:ahLst/>
            <a:cxnLst/>
            <a:rect l="l" t="t" r="r" b="b"/>
            <a:pathLst>
              <a:path w="5295900" h="866775">
                <a:moveTo>
                  <a:pt x="38100" y="0"/>
                </a:moveTo>
                <a:lnTo>
                  <a:pt x="5219702" y="0"/>
                </a:lnTo>
                <a:cubicBezTo>
                  <a:pt x="5261785" y="0"/>
                  <a:pt x="5295900" y="34115"/>
                  <a:pt x="5295900" y="76198"/>
                </a:cubicBezTo>
                <a:lnTo>
                  <a:pt x="5295900" y="790577"/>
                </a:lnTo>
                <a:cubicBezTo>
                  <a:pt x="5295900" y="832660"/>
                  <a:pt x="5261785" y="866775"/>
                  <a:pt x="5219702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61975" y="2890838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95325" y="3005138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EKS Integration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" y="3271838"/>
            <a:ext cx="51149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compute scaling with containerized execution and Spark profiles enabling GPU utilization for complex model training.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1975" y="3829050"/>
            <a:ext cx="5295900" cy="866775"/>
          </a:xfrm>
          <a:custGeom>
            <a:avLst/>
            <a:gdLst/>
            <a:ahLst/>
            <a:cxnLst/>
            <a:rect l="l" t="t" r="r" b="b"/>
            <a:pathLst>
              <a:path w="5295900" h="866775">
                <a:moveTo>
                  <a:pt x="38100" y="0"/>
                </a:moveTo>
                <a:lnTo>
                  <a:pt x="5219702" y="0"/>
                </a:lnTo>
                <a:cubicBezTo>
                  <a:pt x="5261785" y="0"/>
                  <a:pt x="5295900" y="34115"/>
                  <a:pt x="5295900" y="76198"/>
                </a:cubicBezTo>
                <a:lnTo>
                  <a:pt x="5295900" y="790577"/>
                </a:lnTo>
                <a:cubicBezTo>
                  <a:pt x="5295900" y="832660"/>
                  <a:pt x="5261785" y="866775"/>
                  <a:pt x="5219702" y="866775"/>
                </a:cubicBez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61975" y="3829050"/>
            <a:ext cx="38100" cy="866775"/>
          </a:xfrm>
          <a:custGeom>
            <a:avLst/>
            <a:gdLst/>
            <a:ahLst/>
            <a:cxnLst/>
            <a:rect l="l" t="t" r="r" b="b"/>
            <a:pathLst>
              <a:path w="38100" h="866775">
                <a:moveTo>
                  <a:pt x="38100" y="0"/>
                </a:moveTo>
                <a:lnTo>
                  <a:pt x="38100" y="0"/>
                </a:lnTo>
                <a:lnTo>
                  <a:pt x="38100" y="866775"/>
                </a:lnTo>
                <a:lnTo>
                  <a:pt x="38100" y="866775"/>
                </a:lnTo>
                <a:cubicBezTo>
                  <a:pt x="17072" y="866775"/>
                  <a:pt x="0" y="849703"/>
                  <a:pt x="0" y="82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95325" y="3943350"/>
            <a:ext cx="512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MLOps &amp; CI/CD Framework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325" y="4210050"/>
            <a:ext cx="51149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 foundation for deployment and maintenance with governance controls and automated pipelines.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763" y="5010150"/>
            <a:ext cx="5629275" cy="1571625"/>
          </a:xfrm>
          <a:custGeom>
            <a:avLst/>
            <a:gdLst/>
            <a:ahLst/>
            <a:cxnLst/>
            <a:rect l="l" t="t" r="r" b="b"/>
            <a:pathLst>
              <a:path w="5629275" h="1571625">
                <a:moveTo>
                  <a:pt x="114304" y="0"/>
                </a:moveTo>
                <a:lnTo>
                  <a:pt x="5514971" y="0"/>
                </a:lnTo>
                <a:cubicBezTo>
                  <a:pt x="5578099" y="0"/>
                  <a:pt x="5629275" y="51176"/>
                  <a:pt x="5629275" y="114304"/>
                </a:cubicBezTo>
                <a:lnTo>
                  <a:pt x="5629275" y="1457321"/>
                </a:lnTo>
                <a:cubicBezTo>
                  <a:pt x="5629275" y="1520449"/>
                  <a:pt x="5578099" y="1571625"/>
                  <a:pt x="551497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77453" y="521493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0" y="72330"/>
                </a:moveTo>
                <a:cubicBezTo>
                  <a:pt x="0" y="50129"/>
                  <a:pt x="17982" y="32147"/>
                  <a:pt x="40184" y="32147"/>
                </a:cubicBezTo>
                <a:lnTo>
                  <a:pt x="42863" y="32147"/>
                </a:lnTo>
                <a:cubicBezTo>
                  <a:pt x="48790" y="32147"/>
                  <a:pt x="53578" y="36935"/>
                  <a:pt x="53578" y="42863"/>
                </a:cubicBezTo>
                <a:cubicBezTo>
                  <a:pt x="53578" y="48790"/>
                  <a:pt x="48790" y="53578"/>
                  <a:pt x="42863" y="53578"/>
                </a:cubicBezTo>
                <a:lnTo>
                  <a:pt x="40184" y="53578"/>
                </a:lnTo>
                <a:cubicBezTo>
                  <a:pt x="29836" y="53578"/>
                  <a:pt x="21431" y="61983"/>
                  <a:pt x="21431" y="72330"/>
                </a:cubicBezTo>
                <a:lnTo>
                  <a:pt x="21431" y="75009"/>
                </a:lnTo>
                <a:lnTo>
                  <a:pt x="42863" y="75009"/>
                </a:lnTo>
                <a:cubicBezTo>
                  <a:pt x="54683" y="75009"/>
                  <a:pt x="64294" y="84620"/>
                  <a:pt x="64294" y="96441"/>
                </a:cubicBezTo>
                <a:lnTo>
                  <a:pt x="64294" y="117872"/>
                </a:lnTo>
                <a:cubicBezTo>
                  <a:pt x="64294" y="129693"/>
                  <a:pt x="54683" y="139303"/>
                  <a:pt x="42863" y="139303"/>
                </a:cubicBezTo>
                <a:lnTo>
                  <a:pt x="21431" y="139303"/>
                </a:lnTo>
                <a:cubicBezTo>
                  <a:pt x="9611" y="139303"/>
                  <a:pt x="0" y="129693"/>
                  <a:pt x="0" y="117872"/>
                </a:cubicBezTo>
                <a:lnTo>
                  <a:pt x="0" y="72330"/>
                </a:lnTo>
                <a:close/>
                <a:moveTo>
                  <a:pt x="85725" y="72330"/>
                </a:moveTo>
                <a:cubicBezTo>
                  <a:pt x="85725" y="50129"/>
                  <a:pt x="103707" y="32147"/>
                  <a:pt x="125909" y="32147"/>
                </a:cubicBezTo>
                <a:lnTo>
                  <a:pt x="128588" y="32147"/>
                </a:lnTo>
                <a:cubicBezTo>
                  <a:pt x="134515" y="32147"/>
                  <a:pt x="139303" y="36935"/>
                  <a:pt x="139303" y="42863"/>
                </a:cubicBezTo>
                <a:cubicBezTo>
                  <a:pt x="139303" y="48790"/>
                  <a:pt x="134515" y="53578"/>
                  <a:pt x="128588" y="53578"/>
                </a:cubicBezTo>
                <a:lnTo>
                  <a:pt x="125909" y="53578"/>
                </a:lnTo>
                <a:cubicBezTo>
                  <a:pt x="115561" y="53578"/>
                  <a:pt x="107156" y="61983"/>
                  <a:pt x="107156" y="72330"/>
                </a:cubicBezTo>
                <a:lnTo>
                  <a:pt x="107156" y="75009"/>
                </a:lnTo>
                <a:lnTo>
                  <a:pt x="128588" y="75009"/>
                </a:lnTo>
                <a:cubicBezTo>
                  <a:pt x="140408" y="75009"/>
                  <a:pt x="150019" y="84620"/>
                  <a:pt x="150019" y="96441"/>
                </a:cubicBezTo>
                <a:lnTo>
                  <a:pt x="150019" y="117872"/>
                </a:lnTo>
                <a:cubicBezTo>
                  <a:pt x="150019" y="129693"/>
                  <a:pt x="140408" y="139303"/>
                  <a:pt x="128588" y="139303"/>
                </a:cubicBezTo>
                <a:lnTo>
                  <a:pt x="107156" y="139303"/>
                </a:lnTo>
                <a:cubicBezTo>
                  <a:pt x="95336" y="139303"/>
                  <a:pt x="85725" y="129693"/>
                  <a:pt x="85725" y="117872"/>
                </a:cubicBezTo>
                <a:lnTo>
                  <a:pt x="85725" y="7233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62000" y="5167313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Testimonial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2925" y="5510213"/>
            <a:ext cx="5314950" cy="914400"/>
          </a:xfrm>
          <a:custGeom>
            <a:avLst/>
            <a:gdLst/>
            <a:ahLst/>
            <a:cxnLst/>
            <a:rect l="l" t="t" r="r" b="b"/>
            <a:pathLst>
              <a:path w="5314950" h="914400">
                <a:moveTo>
                  <a:pt x="76197" y="0"/>
                </a:moveTo>
                <a:lnTo>
                  <a:pt x="5238753" y="0"/>
                </a:lnTo>
                <a:cubicBezTo>
                  <a:pt x="5280835" y="0"/>
                  <a:pt x="5314950" y="34115"/>
                  <a:pt x="5314950" y="76197"/>
                </a:cubicBezTo>
                <a:lnTo>
                  <a:pt x="5314950" y="838203"/>
                </a:lnTo>
                <a:cubicBezTo>
                  <a:pt x="5314950" y="880285"/>
                  <a:pt x="5280835" y="914400"/>
                  <a:pt x="52387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657225" y="5624513"/>
            <a:ext cx="5162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"Dataiku sits as a backbone for the entire solution and supports the growth in demand of AI use cases in the organization..."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7225" y="6119813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Adam Warburton, Data Science Platform Lead, Aviva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963" y="1452563"/>
            <a:ext cx="5629275" cy="3571875"/>
          </a:xfrm>
          <a:custGeom>
            <a:avLst/>
            <a:gdLst/>
            <a:ahLst/>
            <a:cxnLst/>
            <a:rect l="l" t="t" r="r" b="b"/>
            <a:pathLst>
              <a:path w="5629275" h="3571875">
                <a:moveTo>
                  <a:pt x="114300" y="0"/>
                </a:moveTo>
                <a:lnTo>
                  <a:pt x="5514975" y="0"/>
                </a:lnTo>
                <a:cubicBezTo>
                  <a:pt x="5578059" y="0"/>
                  <a:pt x="5629275" y="51216"/>
                  <a:pt x="5629275" y="114300"/>
                </a:cubicBezTo>
                <a:lnTo>
                  <a:pt x="5629275" y="3457575"/>
                </a:lnTo>
                <a:cubicBezTo>
                  <a:pt x="5629275" y="3520659"/>
                  <a:pt x="5578059" y="3571875"/>
                  <a:pt x="5514975" y="3571875"/>
                </a:cubicBezTo>
                <a:lnTo>
                  <a:pt x="114300" y="3571875"/>
                </a:lnTo>
                <a:cubicBezTo>
                  <a:pt x="51216" y="3571875"/>
                  <a:pt x="0" y="3520659"/>
                  <a:pt x="0" y="345757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357938" y="16573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553200" y="160972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&amp; Performance Metrics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8888" y="1957388"/>
            <a:ext cx="2590800" cy="809625"/>
          </a:xfrm>
          <a:custGeom>
            <a:avLst/>
            <a:gdLst/>
            <a:ahLst/>
            <a:cxnLst/>
            <a:rect l="l" t="t" r="r" b="b"/>
            <a:pathLst>
              <a:path w="2590800" h="809625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733423"/>
                </a:lnTo>
                <a:cubicBezTo>
                  <a:pt x="2590800" y="775508"/>
                  <a:pt x="2556683" y="809625"/>
                  <a:pt x="25145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362700" y="2038350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250+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86513" y="234315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Scientists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91275" y="2533650"/>
            <a:ext cx="2486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10 in 5 years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53513" y="1957388"/>
            <a:ext cx="2590800" cy="809625"/>
          </a:xfrm>
          <a:custGeom>
            <a:avLst/>
            <a:gdLst/>
            <a:ahLst/>
            <a:cxnLst/>
            <a:rect l="l" t="t" r="r" b="b"/>
            <a:pathLst>
              <a:path w="2590800" h="809625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733423"/>
                </a:lnTo>
                <a:cubicBezTo>
                  <a:pt x="2590800" y="775508"/>
                  <a:pt x="2556683" y="809625"/>
                  <a:pt x="25145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9077325" y="2038350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2,000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01138" y="234315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Consumers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05900" y="2533650"/>
            <a:ext cx="2486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Organization-wide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8888" y="2890838"/>
            <a:ext cx="2590800" cy="809625"/>
          </a:xfrm>
          <a:custGeom>
            <a:avLst/>
            <a:gdLst/>
            <a:ahLst/>
            <a:cxnLst/>
            <a:rect l="l" t="t" r="r" b="b"/>
            <a:pathLst>
              <a:path w="2590800" h="809625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733423"/>
                </a:lnTo>
                <a:cubicBezTo>
                  <a:pt x="2590800" y="775508"/>
                  <a:pt x="2556683" y="809625"/>
                  <a:pt x="25145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362700" y="2971800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6513" y="327660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Runtime Reduction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91275" y="3467100"/>
            <a:ext cx="2486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53513" y="2890838"/>
            <a:ext cx="2590800" cy="809625"/>
          </a:xfrm>
          <a:custGeom>
            <a:avLst/>
            <a:gdLst/>
            <a:ahLst/>
            <a:cxnLst/>
            <a:rect l="l" t="t" r="r" b="b"/>
            <a:pathLst>
              <a:path w="2590800" h="809625">
                <a:moveTo>
                  <a:pt x="76202" y="0"/>
                </a:moveTo>
                <a:lnTo>
                  <a:pt x="2514598" y="0"/>
                </a:lnTo>
                <a:cubicBezTo>
                  <a:pt x="2556683" y="0"/>
                  <a:pt x="2590800" y="34117"/>
                  <a:pt x="2590800" y="76202"/>
                </a:cubicBezTo>
                <a:lnTo>
                  <a:pt x="2590800" y="733423"/>
                </a:lnTo>
                <a:cubicBezTo>
                  <a:pt x="2590800" y="775508"/>
                  <a:pt x="2556683" y="809625"/>
                  <a:pt x="2514598" y="809625"/>
                </a:cubicBezTo>
                <a:lnTo>
                  <a:pt x="76202" y="809625"/>
                </a:lnTo>
                <a:cubicBezTo>
                  <a:pt x="34117" y="809625"/>
                  <a:pt x="0" y="775508"/>
                  <a:pt x="0" y="7334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9077325" y="2971800"/>
            <a:ext cx="2543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5x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01138" y="3276600"/>
            <a:ext cx="2495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Gain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05900" y="3467100"/>
            <a:ext cx="2486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development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8888" y="3786188"/>
            <a:ext cx="5305425" cy="1076325"/>
          </a:xfrm>
          <a:custGeom>
            <a:avLst/>
            <a:gdLst/>
            <a:ahLst/>
            <a:cxnLst/>
            <a:rect l="l" t="t" r="r" b="b"/>
            <a:pathLst>
              <a:path w="5305425" h="1076325">
                <a:moveTo>
                  <a:pt x="76204" y="0"/>
                </a:moveTo>
                <a:lnTo>
                  <a:pt x="5229221" y="0"/>
                </a:lnTo>
                <a:cubicBezTo>
                  <a:pt x="5271307" y="0"/>
                  <a:pt x="5305425" y="34118"/>
                  <a:pt x="5305425" y="76204"/>
                </a:cubicBezTo>
                <a:lnTo>
                  <a:pt x="5305425" y="1000121"/>
                </a:lnTo>
                <a:cubicBezTo>
                  <a:pt x="5305425" y="1042207"/>
                  <a:pt x="5271307" y="1076325"/>
                  <a:pt x="5229221" y="1076325"/>
                </a:cubicBezTo>
                <a:lnTo>
                  <a:pt x="76204" y="1076325"/>
                </a:lnTo>
                <a:cubicBezTo>
                  <a:pt x="34118" y="1076325"/>
                  <a:pt x="0" y="1042207"/>
                  <a:pt x="0" y="10001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6496050" y="404336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27176" y="85725"/>
                </a:moveTo>
                <a:lnTo>
                  <a:pt x="16818" y="85725"/>
                </a:lnTo>
                <a:cubicBezTo>
                  <a:pt x="12859" y="85725"/>
                  <a:pt x="9674" y="82540"/>
                  <a:pt x="9674" y="78581"/>
                </a:cubicBezTo>
                <a:cubicBezTo>
                  <a:pt x="9674" y="74622"/>
                  <a:pt x="12859" y="71438"/>
                  <a:pt x="16818" y="71438"/>
                </a:cubicBezTo>
                <a:lnTo>
                  <a:pt x="23187" y="71438"/>
                </a:lnTo>
                <a:cubicBezTo>
                  <a:pt x="11103" y="43845"/>
                  <a:pt x="31284" y="12502"/>
                  <a:pt x="61793" y="12502"/>
                </a:cubicBezTo>
                <a:lnTo>
                  <a:pt x="64234" y="12502"/>
                </a:lnTo>
                <a:cubicBezTo>
                  <a:pt x="74235" y="12502"/>
                  <a:pt x="83939" y="15865"/>
                  <a:pt x="91767" y="22086"/>
                </a:cubicBezTo>
                <a:lnTo>
                  <a:pt x="96560" y="25866"/>
                </a:lnTo>
                <a:cubicBezTo>
                  <a:pt x="100697" y="29141"/>
                  <a:pt x="101382" y="35123"/>
                  <a:pt x="98108" y="39261"/>
                </a:cubicBezTo>
                <a:cubicBezTo>
                  <a:pt x="94833" y="43398"/>
                  <a:pt x="88850" y="44083"/>
                  <a:pt x="84713" y="40809"/>
                </a:cubicBezTo>
                <a:lnTo>
                  <a:pt x="79921" y="37028"/>
                </a:lnTo>
                <a:cubicBezTo>
                  <a:pt x="75456" y="33486"/>
                  <a:pt x="69919" y="31552"/>
                  <a:pt x="64204" y="31552"/>
                </a:cubicBezTo>
                <a:lnTo>
                  <a:pt x="61764" y="31552"/>
                </a:lnTo>
                <a:cubicBezTo>
                  <a:pt x="44708" y="31552"/>
                  <a:pt x="33576" y="49381"/>
                  <a:pt x="41017" y="64710"/>
                </a:cubicBezTo>
                <a:cubicBezTo>
                  <a:pt x="42089" y="66913"/>
                  <a:pt x="42982" y="69146"/>
                  <a:pt x="43726" y="71438"/>
                </a:cubicBezTo>
                <a:lnTo>
                  <a:pt x="88225" y="71438"/>
                </a:lnTo>
                <a:cubicBezTo>
                  <a:pt x="92184" y="71438"/>
                  <a:pt x="95369" y="74622"/>
                  <a:pt x="95369" y="78581"/>
                </a:cubicBezTo>
                <a:cubicBezTo>
                  <a:pt x="95369" y="82540"/>
                  <a:pt x="92184" y="85725"/>
                  <a:pt x="88225" y="85725"/>
                </a:cubicBezTo>
                <a:lnTo>
                  <a:pt x="46196" y="85725"/>
                </a:lnTo>
                <a:cubicBezTo>
                  <a:pt x="46494" y="96232"/>
                  <a:pt x="43607" y="106740"/>
                  <a:pt x="37594" y="115759"/>
                </a:cubicBezTo>
                <a:lnTo>
                  <a:pt x="32206" y="123825"/>
                </a:lnTo>
                <a:lnTo>
                  <a:pt x="95369" y="123825"/>
                </a:lnTo>
                <a:cubicBezTo>
                  <a:pt x="100638" y="123825"/>
                  <a:pt x="104894" y="128081"/>
                  <a:pt x="104894" y="133350"/>
                </a:cubicBezTo>
                <a:cubicBezTo>
                  <a:pt x="104894" y="138619"/>
                  <a:pt x="100638" y="142875"/>
                  <a:pt x="95369" y="142875"/>
                </a:cubicBezTo>
                <a:lnTo>
                  <a:pt x="14407" y="142875"/>
                </a:lnTo>
                <a:cubicBezTo>
                  <a:pt x="10894" y="142875"/>
                  <a:pt x="7680" y="140940"/>
                  <a:pt x="6013" y="137845"/>
                </a:cubicBezTo>
                <a:cubicBezTo>
                  <a:pt x="4346" y="134749"/>
                  <a:pt x="4524" y="130999"/>
                  <a:pt x="6489" y="128052"/>
                </a:cubicBezTo>
                <a:lnTo>
                  <a:pt x="21729" y="105192"/>
                </a:lnTo>
                <a:cubicBezTo>
                  <a:pt x="25628" y="99358"/>
                  <a:pt x="27444" y="92512"/>
                  <a:pt x="27146" y="8572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6648450" y="4005262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Savings Evidence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57950" y="4271963"/>
            <a:ext cx="51339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 automation delivers </a:t>
            </a: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£10,000/month</a:t>
            </a: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savings. Log analytics solution achieves </a:t>
            </a: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~700 hours MTTR</a:t>
            </a: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savings monthly.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6963" y="5181600"/>
            <a:ext cx="5629275" cy="1400175"/>
          </a:xfrm>
          <a:custGeom>
            <a:avLst/>
            <a:gdLst/>
            <a:ahLst/>
            <a:cxnLst/>
            <a:rect l="l" t="t" r="r" b="b"/>
            <a:pathLst>
              <a:path w="5629275" h="1400175">
                <a:moveTo>
                  <a:pt x="114296" y="0"/>
                </a:moveTo>
                <a:lnTo>
                  <a:pt x="5514979" y="0"/>
                </a:lnTo>
                <a:cubicBezTo>
                  <a:pt x="5578061" y="0"/>
                  <a:pt x="5629275" y="51214"/>
                  <a:pt x="5629275" y="114296"/>
                </a:cubicBezTo>
                <a:lnTo>
                  <a:pt x="5629275" y="1285879"/>
                </a:lnTo>
                <a:cubicBezTo>
                  <a:pt x="5629275" y="1348961"/>
                  <a:pt x="5578061" y="1400175"/>
                  <a:pt x="5514979" y="1400175"/>
                </a:cubicBezTo>
                <a:lnTo>
                  <a:pt x="114296" y="1400175"/>
                </a:lnTo>
                <a:cubicBezTo>
                  <a:pt x="51214" y="1400175"/>
                  <a:pt x="0" y="1348961"/>
                  <a:pt x="0" y="128587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6368653" y="5386388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53578"/>
                </a:lnTo>
                <a:cubicBezTo>
                  <a:pt x="0" y="65399"/>
                  <a:pt x="9611" y="75009"/>
                  <a:pt x="21431" y="75009"/>
                </a:cubicBezTo>
                <a:lnTo>
                  <a:pt x="128588" y="75009"/>
                </a:lnTo>
                <a:cubicBezTo>
                  <a:pt x="140408" y="75009"/>
                  <a:pt x="150019" y="65399"/>
                  <a:pt x="150019" y="53578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93762" y="34826"/>
                </a:moveTo>
                <a:cubicBezTo>
                  <a:pt x="98197" y="34826"/>
                  <a:pt x="101798" y="38427"/>
                  <a:pt x="101798" y="42863"/>
                </a:cubicBezTo>
                <a:cubicBezTo>
                  <a:pt x="101798" y="47298"/>
                  <a:pt x="98197" y="50899"/>
                  <a:pt x="93762" y="50899"/>
                </a:cubicBezTo>
                <a:cubicBezTo>
                  <a:pt x="89326" y="50899"/>
                  <a:pt x="85725" y="47298"/>
                  <a:pt x="85725" y="42863"/>
                </a:cubicBezTo>
                <a:cubicBezTo>
                  <a:pt x="85725" y="38427"/>
                  <a:pt x="89326" y="34826"/>
                  <a:pt x="93762" y="34826"/>
                </a:cubicBezTo>
                <a:close/>
                <a:moveTo>
                  <a:pt x="112514" y="42863"/>
                </a:moveTo>
                <a:cubicBezTo>
                  <a:pt x="112514" y="38427"/>
                  <a:pt x="116115" y="34826"/>
                  <a:pt x="120551" y="34826"/>
                </a:cubicBezTo>
                <a:cubicBezTo>
                  <a:pt x="124986" y="34826"/>
                  <a:pt x="128588" y="38427"/>
                  <a:pt x="128588" y="42863"/>
                </a:cubicBezTo>
                <a:cubicBezTo>
                  <a:pt x="128588" y="47298"/>
                  <a:pt x="124986" y="50899"/>
                  <a:pt x="120551" y="50899"/>
                </a:cubicBezTo>
                <a:cubicBezTo>
                  <a:pt x="116115" y="50899"/>
                  <a:pt x="112514" y="47298"/>
                  <a:pt x="112514" y="42863"/>
                </a:cubicBezTo>
                <a:close/>
                <a:moveTo>
                  <a:pt x="21431" y="96441"/>
                </a:moveTo>
                <a:cubicBezTo>
                  <a:pt x="9611" y="96441"/>
                  <a:pt x="0" y="106051"/>
                  <a:pt x="0" y="117872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117872"/>
                </a:lnTo>
                <a:cubicBezTo>
                  <a:pt x="150019" y="106051"/>
                  <a:pt x="140408" y="96441"/>
                  <a:pt x="128588" y="96441"/>
                </a:cubicBezTo>
                <a:lnTo>
                  <a:pt x="21431" y="96441"/>
                </a:lnTo>
                <a:close/>
                <a:moveTo>
                  <a:pt x="93762" y="120551"/>
                </a:moveTo>
                <a:cubicBezTo>
                  <a:pt x="98197" y="120551"/>
                  <a:pt x="101798" y="124152"/>
                  <a:pt x="101798" y="128588"/>
                </a:cubicBezTo>
                <a:cubicBezTo>
                  <a:pt x="101798" y="133023"/>
                  <a:pt x="98197" y="136624"/>
                  <a:pt x="93762" y="136624"/>
                </a:cubicBezTo>
                <a:cubicBezTo>
                  <a:pt x="89326" y="136624"/>
                  <a:pt x="85725" y="133023"/>
                  <a:pt x="85725" y="128588"/>
                </a:cubicBezTo>
                <a:cubicBezTo>
                  <a:pt x="85725" y="124152"/>
                  <a:pt x="89326" y="120551"/>
                  <a:pt x="93762" y="120551"/>
                </a:cubicBezTo>
                <a:close/>
                <a:moveTo>
                  <a:pt x="112514" y="128588"/>
                </a:moveTo>
                <a:cubicBezTo>
                  <a:pt x="112514" y="124152"/>
                  <a:pt x="116115" y="120551"/>
                  <a:pt x="120551" y="120551"/>
                </a:cubicBezTo>
                <a:cubicBezTo>
                  <a:pt x="124986" y="120551"/>
                  <a:pt x="128588" y="124152"/>
                  <a:pt x="128588" y="128588"/>
                </a:cubicBezTo>
                <a:cubicBezTo>
                  <a:pt x="128588" y="133023"/>
                  <a:pt x="124986" y="136624"/>
                  <a:pt x="120551" y="136624"/>
                </a:cubicBezTo>
                <a:cubicBezTo>
                  <a:pt x="116115" y="136624"/>
                  <a:pt x="112514" y="133023"/>
                  <a:pt x="112514" y="128588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6553200" y="5338763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Assumption: Multi-Cloud Posture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38888" y="5686425"/>
            <a:ext cx="1714500" cy="733425"/>
          </a:xfrm>
          <a:custGeom>
            <a:avLst/>
            <a:gdLst/>
            <a:ahLst/>
            <a:cxnLst/>
            <a:rect l="l" t="t" r="r" b="b"/>
            <a:pathLst>
              <a:path w="1714500" h="733425">
                <a:moveTo>
                  <a:pt x="76203" y="0"/>
                </a:moveTo>
                <a:lnTo>
                  <a:pt x="1638297" y="0"/>
                </a:lnTo>
                <a:cubicBezTo>
                  <a:pt x="1680355" y="0"/>
                  <a:pt x="1714500" y="34145"/>
                  <a:pt x="1714500" y="76203"/>
                </a:cubicBezTo>
                <a:lnTo>
                  <a:pt x="1714500" y="657222"/>
                </a:lnTo>
                <a:cubicBezTo>
                  <a:pt x="1714500" y="699280"/>
                  <a:pt x="1680355" y="733425"/>
                  <a:pt x="16382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7111157" y="57673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0" y="11906"/>
                </a:moveTo>
                <a:lnTo>
                  <a:pt x="79846" y="11906"/>
                </a:lnTo>
                <a:lnTo>
                  <a:pt x="79846" y="91753"/>
                </a:lnTo>
                <a:lnTo>
                  <a:pt x="0" y="91753"/>
                </a:lnTo>
                <a:lnTo>
                  <a:pt x="0" y="11906"/>
                </a:lnTo>
                <a:close/>
                <a:moveTo>
                  <a:pt x="86841" y="11906"/>
                </a:moveTo>
                <a:lnTo>
                  <a:pt x="166688" y="11906"/>
                </a:lnTo>
                <a:lnTo>
                  <a:pt x="166688" y="91753"/>
                </a:lnTo>
                <a:lnTo>
                  <a:pt x="86841" y="91753"/>
                </a:lnTo>
                <a:lnTo>
                  <a:pt x="86841" y="11906"/>
                </a:lnTo>
                <a:close/>
                <a:moveTo>
                  <a:pt x="0" y="98747"/>
                </a:moveTo>
                <a:lnTo>
                  <a:pt x="79846" y="98747"/>
                </a:lnTo>
                <a:lnTo>
                  <a:pt x="79846" y="178594"/>
                </a:lnTo>
                <a:lnTo>
                  <a:pt x="0" y="178594"/>
                </a:lnTo>
                <a:lnTo>
                  <a:pt x="0" y="98747"/>
                </a:lnTo>
                <a:close/>
                <a:moveTo>
                  <a:pt x="86841" y="98747"/>
                </a:moveTo>
                <a:lnTo>
                  <a:pt x="166688" y="98747"/>
                </a:lnTo>
                <a:lnTo>
                  <a:pt x="166688" y="178594"/>
                </a:lnTo>
                <a:lnTo>
                  <a:pt x="86841" y="178594"/>
                </a:lnTo>
                <a:lnTo>
                  <a:pt x="86841" y="9874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6386513" y="5995988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91275" y="6186488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Platform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135838" y="5686425"/>
            <a:ext cx="1714500" cy="733425"/>
          </a:xfrm>
          <a:custGeom>
            <a:avLst/>
            <a:gdLst/>
            <a:ahLst/>
            <a:cxnLst/>
            <a:rect l="l" t="t" r="r" b="b"/>
            <a:pathLst>
              <a:path w="1714500" h="733425">
                <a:moveTo>
                  <a:pt x="76203" y="0"/>
                </a:moveTo>
                <a:lnTo>
                  <a:pt x="1638297" y="0"/>
                </a:lnTo>
                <a:cubicBezTo>
                  <a:pt x="1680355" y="0"/>
                  <a:pt x="1714500" y="34145"/>
                  <a:pt x="1714500" y="76203"/>
                </a:cubicBezTo>
                <a:lnTo>
                  <a:pt x="1714500" y="657222"/>
                </a:lnTo>
                <a:cubicBezTo>
                  <a:pt x="1714500" y="699280"/>
                  <a:pt x="1680355" y="733425"/>
                  <a:pt x="16382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8872389" y="57673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67121" y="75530"/>
                </a:moveTo>
                <a:cubicBezTo>
                  <a:pt x="66861" y="83939"/>
                  <a:pt x="71065" y="87697"/>
                  <a:pt x="71177" y="90041"/>
                </a:cubicBezTo>
                <a:cubicBezTo>
                  <a:pt x="71140" y="90525"/>
                  <a:pt x="70954" y="90971"/>
                  <a:pt x="70693" y="91380"/>
                </a:cubicBezTo>
                <a:cubicBezTo>
                  <a:pt x="70433" y="91790"/>
                  <a:pt x="70061" y="92125"/>
                  <a:pt x="69652" y="92348"/>
                </a:cubicBezTo>
                <a:lnTo>
                  <a:pt x="64889" y="95696"/>
                </a:lnTo>
                <a:cubicBezTo>
                  <a:pt x="64257" y="96143"/>
                  <a:pt x="63550" y="96366"/>
                  <a:pt x="62805" y="96403"/>
                </a:cubicBezTo>
                <a:cubicBezTo>
                  <a:pt x="62657" y="96403"/>
                  <a:pt x="59754" y="97073"/>
                  <a:pt x="55178" y="86878"/>
                </a:cubicBezTo>
                <a:cubicBezTo>
                  <a:pt x="52387" y="90376"/>
                  <a:pt x="48853" y="93166"/>
                  <a:pt x="44797" y="95064"/>
                </a:cubicBezTo>
                <a:cubicBezTo>
                  <a:pt x="40742" y="96962"/>
                  <a:pt x="36351" y="97929"/>
                  <a:pt x="31886" y="97854"/>
                </a:cubicBezTo>
                <a:cubicBezTo>
                  <a:pt x="25822" y="98189"/>
                  <a:pt x="9413" y="94431"/>
                  <a:pt x="10269" y="76944"/>
                </a:cubicBezTo>
                <a:cubicBezTo>
                  <a:pt x="9674" y="62694"/>
                  <a:pt x="22957" y="53839"/>
                  <a:pt x="36649" y="54620"/>
                </a:cubicBezTo>
                <a:cubicBezTo>
                  <a:pt x="39291" y="54620"/>
                  <a:pt x="44686" y="54769"/>
                  <a:pt x="54136" y="56964"/>
                </a:cubicBezTo>
                <a:lnTo>
                  <a:pt x="54136" y="51160"/>
                </a:lnTo>
                <a:cubicBezTo>
                  <a:pt x="55141" y="41300"/>
                  <a:pt x="48667" y="33672"/>
                  <a:pt x="37467" y="34826"/>
                </a:cubicBezTo>
                <a:cubicBezTo>
                  <a:pt x="36575" y="34826"/>
                  <a:pt x="30249" y="34640"/>
                  <a:pt x="20427" y="38584"/>
                </a:cubicBezTo>
                <a:cubicBezTo>
                  <a:pt x="17673" y="39849"/>
                  <a:pt x="17338" y="39625"/>
                  <a:pt x="16408" y="39625"/>
                </a:cubicBezTo>
                <a:cubicBezTo>
                  <a:pt x="13655" y="39625"/>
                  <a:pt x="14771" y="31626"/>
                  <a:pt x="15329" y="30621"/>
                </a:cubicBezTo>
                <a:cubicBezTo>
                  <a:pt x="17264" y="28240"/>
                  <a:pt x="28687" y="23775"/>
                  <a:pt x="39849" y="23850"/>
                </a:cubicBezTo>
                <a:cubicBezTo>
                  <a:pt x="47327" y="23180"/>
                  <a:pt x="54769" y="25487"/>
                  <a:pt x="60573" y="30287"/>
                </a:cubicBezTo>
                <a:cubicBezTo>
                  <a:pt x="62917" y="32928"/>
                  <a:pt x="64740" y="36016"/>
                  <a:pt x="65856" y="39365"/>
                </a:cubicBezTo>
                <a:cubicBezTo>
                  <a:pt x="66973" y="42714"/>
                  <a:pt x="67419" y="46248"/>
                  <a:pt x="67159" y="49783"/>
                </a:cubicBezTo>
                <a:lnTo>
                  <a:pt x="67159" y="75567"/>
                </a:lnTo>
                <a:close/>
                <a:moveTo>
                  <a:pt x="34975" y="87585"/>
                </a:moveTo>
                <a:cubicBezTo>
                  <a:pt x="47030" y="87399"/>
                  <a:pt x="52164" y="80144"/>
                  <a:pt x="53318" y="76237"/>
                </a:cubicBezTo>
                <a:cubicBezTo>
                  <a:pt x="54248" y="72479"/>
                  <a:pt x="54099" y="70135"/>
                  <a:pt x="54099" y="66042"/>
                </a:cubicBezTo>
                <a:cubicBezTo>
                  <a:pt x="50490" y="65187"/>
                  <a:pt x="45318" y="64219"/>
                  <a:pt x="39365" y="64219"/>
                </a:cubicBezTo>
                <a:cubicBezTo>
                  <a:pt x="33710" y="63810"/>
                  <a:pt x="23440" y="66303"/>
                  <a:pt x="23850" y="76237"/>
                </a:cubicBezTo>
                <a:cubicBezTo>
                  <a:pt x="23403" y="82488"/>
                  <a:pt x="27980" y="87920"/>
                  <a:pt x="35012" y="87585"/>
                </a:cubicBezTo>
                <a:close/>
                <a:moveTo>
                  <a:pt x="98561" y="96180"/>
                </a:moveTo>
                <a:cubicBezTo>
                  <a:pt x="95622" y="96441"/>
                  <a:pt x="94283" y="94357"/>
                  <a:pt x="93836" y="92311"/>
                </a:cubicBezTo>
                <a:lnTo>
                  <a:pt x="75307" y="31031"/>
                </a:lnTo>
                <a:cubicBezTo>
                  <a:pt x="74935" y="29989"/>
                  <a:pt x="74712" y="28947"/>
                  <a:pt x="74600" y="27831"/>
                </a:cubicBezTo>
                <a:cubicBezTo>
                  <a:pt x="74526" y="27384"/>
                  <a:pt x="74637" y="26938"/>
                  <a:pt x="74898" y="26566"/>
                </a:cubicBezTo>
                <a:cubicBezTo>
                  <a:pt x="75158" y="26194"/>
                  <a:pt x="75567" y="25971"/>
                  <a:pt x="76014" y="25896"/>
                </a:cubicBezTo>
                <a:cubicBezTo>
                  <a:pt x="76088" y="25896"/>
                  <a:pt x="75233" y="25896"/>
                  <a:pt x="84274" y="25896"/>
                </a:cubicBezTo>
                <a:cubicBezTo>
                  <a:pt x="87548" y="25561"/>
                  <a:pt x="88590" y="28129"/>
                  <a:pt x="88962" y="29766"/>
                </a:cubicBezTo>
                <a:lnTo>
                  <a:pt x="102282" y="82153"/>
                </a:lnTo>
                <a:lnTo>
                  <a:pt x="114635" y="29766"/>
                </a:lnTo>
                <a:cubicBezTo>
                  <a:pt x="114821" y="28575"/>
                  <a:pt x="115714" y="25636"/>
                  <a:pt x="119397" y="25971"/>
                </a:cubicBezTo>
                <a:lnTo>
                  <a:pt x="125797" y="25971"/>
                </a:lnTo>
                <a:cubicBezTo>
                  <a:pt x="126616" y="25896"/>
                  <a:pt x="129927" y="25784"/>
                  <a:pt x="130522" y="29840"/>
                </a:cubicBezTo>
                <a:lnTo>
                  <a:pt x="142912" y="82860"/>
                </a:lnTo>
                <a:lnTo>
                  <a:pt x="156642" y="29803"/>
                </a:lnTo>
                <a:cubicBezTo>
                  <a:pt x="156828" y="28984"/>
                  <a:pt x="157646" y="25561"/>
                  <a:pt x="161367" y="25933"/>
                </a:cubicBezTo>
                <a:lnTo>
                  <a:pt x="168697" y="25933"/>
                </a:lnTo>
                <a:cubicBezTo>
                  <a:pt x="169032" y="25896"/>
                  <a:pt x="171004" y="25636"/>
                  <a:pt x="170669" y="29133"/>
                </a:cubicBezTo>
                <a:cubicBezTo>
                  <a:pt x="170520" y="29803"/>
                  <a:pt x="171934" y="25152"/>
                  <a:pt x="151023" y="92348"/>
                </a:cubicBezTo>
                <a:cubicBezTo>
                  <a:pt x="150614" y="94394"/>
                  <a:pt x="149237" y="96478"/>
                  <a:pt x="146298" y="96217"/>
                </a:cubicBezTo>
                <a:lnTo>
                  <a:pt x="139340" y="96217"/>
                </a:lnTo>
                <a:cubicBezTo>
                  <a:pt x="135285" y="96664"/>
                  <a:pt x="134689" y="92608"/>
                  <a:pt x="134615" y="92236"/>
                </a:cubicBezTo>
                <a:lnTo>
                  <a:pt x="122262" y="41225"/>
                </a:lnTo>
                <a:lnTo>
                  <a:pt x="110058" y="92199"/>
                </a:lnTo>
                <a:cubicBezTo>
                  <a:pt x="109984" y="92608"/>
                  <a:pt x="109426" y="96627"/>
                  <a:pt x="105333" y="96180"/>
                </a:cubicBezTo>
                <a:lnTo>
                  <a:pt x="98524" y="96180"/>
                </a:lnTo>
                <a:lnTo>
                  <a:pt x="98524" y="96180"/>
                </a:lnTo>
                <a:close/>
                <a:moveTo>
                  <a:pt x="200323" y="98264"/>
                </a:moveTo>
                <a:cubicBezTo>
                  <a:pt x="198127" y="98264"/>
                  <a:pt x="187709" y="98152"/>
                  <a:pt x="178966" y="93687"/>
                </a:cubicBezTo>
                <a:cubicBezTo>
                  <a:pt x="178110" y="93315"/>
                  <a:pt x="177366" y="92720"/>
                  <a:pt x="176845" y="91901"/>
                </a:cubicBezTo>
                <a:cubicBezTo>
                  <a:pt x="176324" y="91083"/>
                  <a:pt x="176064" y="90190"/>
                  <a:pt x="176064" y="89260"/>
                </a:cubicBezTo>
                <a:lnTo>
                  <a:pt x="176064" y="85279"/>
                </a:lnTo>
                <a:cubicBezTo>
                  <a:pt x="176064" y="82116"/>
                  <a:pt x="178371" y="82711"/>
                  <a:pt x="179338" y="83083"/>
                </a:cubicBezTo>
                <a:cubicBezTo>
                  <a:pt x="183059" y="84609"/>
                  <a:pt x="185477" y="85725"/>
                  <a:pt x="190054" y="86655"/>
                </a:cubicBezTo>
                <a:cubicBezTo>
                  <a:pt x="203708" y="89446"/>
                  <a:pt x="209699" y="85799"/>
                  <a:pt x="211150" y="84981"/>
                </a:cubicBezTo>
                <a:cubicBezTo>
                  <a:pt x="216061" y="82079"/>
                  <a:pt x="216433" y="75419"/>
                  <a:pt x="213122" y="71996"/>
                </a:cubicBezTo>
                <a:cubicBezTo>
                  <a:pt x="209215" y="68721"/>
                  <a:pt x="207355" y="68610"/>
                  <a:pt x="193365" y="64182"/>
                </a:cubicBezTo>
                <a:cubicBezTo>
                  <a:pt x="191653" y="63698"/>
                  <a:pt x="177105" y="59122"/>
                  <a:pt x="177068" y="44686"/>
                </a:cubicBezTo>
                <a:cubicBezTo>
                  <a:pt x="176845" y="34193"/>
                  <a:pt x="186370" y="23775"/>
                  <a:pt x="202927" y="23850"/>
                </a:cubicBezTo>
                <a:cubicBezTo>
                  <a:pt x="207652" y="23850"/>
                  <a:pt x="220191" y="25375"/>
                  <a:pt x="223614" y="29654"/>
                </a:cubicBezTo>
                <a:cubicBezTo>
                  <a:pt x="224135" y="30435"/>
                  <a:pt x="224358" y="31366"/>
                  <a:pt x="224321" y="32258"/>
                </a:cubicBezTo>
                <a:lnTo>
                  <a:pt x="224321" y="36016"/>
                </a:lnTo>
                <a:cubicBezTo>
                  <a:pt x="224321" y="37654"/>
                  <a:pt x="223726" y="38509"/>
                  <a:pt x="222498" y="38509"/>
                </a:cubicBezTo>
                <a:cubicBezTo>
                  <a:pt x="219633" y="38174"/>
                  <a:pt x="214536" y="34342"/>
                  <a:pt x="204192" y="34491"/>
                </a:cubicBezTo>
                <a:cubicBezTo>
                  <a:pt x="201625" y="34342"/>
                  <a:pt x="189347" y="34826"/>
                  <a:pt x="189905" y="43793"/>
                </a:cubicBezTo>
                <a:cubicBezTo>
                  <a:pt x="189756" y="50862"/>
                  <a:pt x="199802" y="53504"/>
                  <a:pt x="200955" y="53801"/>
                </a:cubicBezTo>
                <a:cubicBezTo>
                  <a:pt x="214536" y="57894"/>
                  <a:pt x="219038" y="58564"/>
                  <a:pt x="224433" y="64815"/>
                </a:cubicBezTo>
                <a:cubicBezTo>
                  <a:pt x="230795" y="73075"/>
                  <a:pt x="227372" y="82786"/>
                  <a:pt x="226033" y="85427"/>
                </a:cubicBezTo>
                <a:cubicBezTo>
                  <a:pt x="218926" y="99380"/>
                  <a:pt x="200583" y="98227"/>
                  <a:pt x="200248" y="98227"/>
                </a:cubicBezTo>
                <a:close/>
                <a:moveTo>
                  <a:pt x="215280" y="137294"/>
                </a:moveTo>
                <a:cubicBezTo>
                  <a:pt x="189235" y="156530"/>
                  <a:pt x="151395" y="166762"/>
                  <a:pt x="119100" y="166762"/>
                </a:cubicBezTo>
                <a:cubicBezTo>
                  <a:pt x="75530" y="167060"/>
                  <a:pt x="33412" y="151023"/>
                  <a:pt x="1042" y="121853"/>
                </a:cubicBezTo>
                <a:cubicBezTo>
                  <a:pt x="-1377" y="119658"/>
                  <a:pt x="744" y="116644"/>
                  <a:pt x="3721" y="118318"/>
                </a:cubicBezTo>
                <a:cubicBezTo>
                  <a:pt x="39625" y="138857"/>
                  <a:pt x="80256" y="149647"/>
                  <a:pt x="121630" y="149609"/>
                </a:cubicBezTo>
                <a:cubicBezTo>
                  <a:pt x="152512" y="149461"/>
                  <a:pt x="183059" y="143173"/>
                  <a:pt x="211522" y="131192"/>
                </a:cubicBezTo>
                <a:cubicBezTo>
                  <a:pt x="215912" y="129332"/>
                  <a:pt x="219633" y="134094"/>
                  <a:pt x="215280" y="137294"/>
                </a:cubicBezTo>
                <a:close/>
                <a:moveTo>
                  <a:pt x="226144" y="124904"/>
                </a:moveTo>
                <a:cubicBezTo>
                  <a:pt x="222796" y="120625"/>
                  <a:pt x="204081" y="122895"/>
                  <a:pt x="195709" y="123899"/>
                </a:cubicBezTo>
                <a:cubicBezTo>
                  <a:pt x="193179" y="124197"/>
                  <a:pt x="192770" y="122002"/>
                  <a:pt x="195039" y="120365"/>
                </a:cubicBezTo>
                <a:cubicBezTo>
                  <a:pt x="209959" y="109872"/>
                  <a:pt x="234442" y="112886"/>
                  <a:pt x="237232" y="116421"/>
                </a:cubicBezTo>
                <a:cubicBezTo>
                  <a:pt x="240023" y="119955"/>
                  <a:pt x="236451" y="144475"/>
                  <a:pt x="222498" y="156195"/>
                </a:cubicBezTo>
                <a:cubicBezTo>
                  <a:pt x="220340" y="158018"/>
                  <a:pt x="218294" y="157051"/>
                  <a:pt x="219261" y="154670"/>
                </a:cubicBezTo>
                <a:cubicBezTo>
                  <a:pt x="222386" y="146745"/>
                  <a:pt x="229456" y="129183"/>
                  <a:pt x="226107" y="12490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8183463" y="5995988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88226" y="6186488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EKS Infrastructure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932938" y="5686425"/>
            <a:ext cx="1714500" cy="733425"/>
          </a:xfrm>
          <a:custGeom>
            <a:avLst/>
            <a:gdLst/>
            <a:ahLst/>
            <a:cxnLst/>
            <a:rect l="l" t="t" r="r" b="b"/>
            <a:pathLst>
              <a:path w="1714500" h="733425">
                <a:moveTo>
                  <a:pt x="76203" y="0"/>
                </a:moveTo>
                <a:lnTo>
                  <a:pt x="1638297" y="0"/>
                </a:lnTo>
                <a:cubicBezTo>
                  <a:pt x="1680355" y="0"/>
                  <a:pt x="1714500" y="34145"/>
                  <a:pt x="1714500" y="76203"/>
                </a:cubicBezTo>
                <a:lnTo>
                  <a:pt x="1714500" y="657222"/>
                </a:lnTo>
                <a:cubicBezTo>
                  <a:pt x="1714500" y="699280"/>
                  <a:pt x="1680355" y="733425"/>
                  <a:pt x="16382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10693301" y="57673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9980563" y="5995988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985325" y="6186488"/>
            <a:ext cx="1609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Regulated Insurance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63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 LANDSCAPE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6734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Outsourcing &amp; Strategic Partner Ecosystem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66800"/>
            <a:ext cx="1131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Partner-influenced buying motion with formal procurement processes—understand who shapes platform decisions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6191250" cy="3267075"/>
          </a:xfrm>
          <a:custGeom>
            <a:avLst/>
            <a:gdLst/>
            <a:ahLst/>
            <a:cxnLst/>
            <a:rect l="l" t="t" r="r" b="b"/>
            <a:pathLst>
              <a:path w="6191250" h="3267075">
                <a:moveTo>
                  <a:pt x="114315" y="0"/>
                </a:moveTo>
                <a:lnTo>
                  <a:pt x="6076935" y="0"/>
                </a:lnTo>
                <a:cubicBezTo>
                  <a:pt x="6140069" y="0"/>
                  <a:pt x="6191250" y="51181"/>
                  <a:pt x="6191250" y="114315"/>
                </a:cubicBezTo>
                <a:lnTo>
                  <a:pt x="6191250" y="3152760"/>
                </a:lnTo>
                <a:cubicBezTo>
                  <a:pt x="6191250" y="3215894"/>
                  <a:pt x="6140069" y="3267075"/>
                  <a:pt x="6076935" y="3267075"/>
                </a:cubicBezTo>
                <a:lnTo>
                  <a:pt x="114315" y="3267075"/>
                </a:lnTo>
                <a:cubicBezTo>
                  <a:pt x="51181" y="3267075"/>
                  <a:pt x="0" y="3215894"/>
                  <a:pt x="0" y="3152760"/>
                </a:cubicBezTo>
                <a:lnTo>
                  <a:pt x="0" y="114315"/>
                </a:lnTo>
                <a:cubicBezTo>
                  <a:pt x="0" y="51181"/>
                  <a:pt x="51181" y="0"/>
                  <a:pt x="11431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56022" y="16573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2000" y="1609725"/>
            <a:ext cx="574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Systems Integrators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1975" y="2076450"/>
            <a:ext cx="5857875" cy="1143000"/>
          </a:xfrm>
          <a:custGeom>
            <a:avLst/>
            <a:gdLst/>
            <a:ahLst/>
            <a:cxnLst/>
            <a:rect l="l" t="t" r="r" b="b"/>
            <a:pathLst>
              <a:path w="5857875" h="1143000">
                <a:moveTo>
                  <a:pt x="38100" y="0"/>
                </a:moveTo>
                <a:lnTo>
                  <a:pt x="5781671" y="0"/>
                </a:lnTo>
                <a:cubicBezTo>
                  <a:pt x="5823757" y="0"/>
                  <a:pt x="5857875" y="34118"/>
                  <a:pt x="5857875" y="76204"/>
                </a:cubicBezTo>
                <a:lnTo>
                  <a:pt x="5857875" y="1066796"/>
                </a:lnTo>
                <a:cubicBezTo>
                  <a:pt x="5857875" y="1108882"/>
                  <a:pt x="5823757" y="1143000"/>
                  <a:pt x="578167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1975" y="20764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95325" y="2190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23913" y="22955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21431" y="0"/>
                </a:moveTo>
                <a:cubicBezTo>
                  <a:pt x="9611" y="0"/>
                  <a:pt x="0" y="9611"/>
                  <a:pt x="0" y="21431"/>
                </a:cubicBezTo>
                <a:lnTo>
                  <a:pt x="0" y="150019"/>
                </a:lnTo>
                <a:cubicBezTo>
                  <a:pt x="0" y="161839"/>
                  <a:pt x="9611" y="171450"/>
                  <a:pt x="21431" y="171450"/>
                </a:cubicBezTo>
                <a:lnTo>
                  <a:pt x="107156" y="171450"/>
                </a:lnTo>
                <a:cubicBezTo>
                  <a:pt x="118977" y="171450"/>
                  <a:pt x="128588" y="161839"/>
                  <a:pt x="128588" y="150019"/>
                </a:cubicBezTo>
                <a:lnTo>
                  <a:pt x="128588" y="21431"/>
                </a:lnTo>
                <a:cubicBezTo>
                  <a:pt x="128588" y="9611"/>
                  <a:pt x="118977" y="0"/>
                  <a:pt x="107156" y="0"/>
                </a:cubicBezTo>
                <a:lnTo>
                  <a:pt x="21431" y="0"/>
                </a:lnTo>
                <a:close/>
                <a:moveTo>
                  <a:pt x="58936" y="117872"/>
                </a:moveTo>
                <a:lnTo>
                  <a:pt x="69652" y="117872"/>
                </a:lnTo>
                <a:cubicBezTo>
                  <a:pt x="75579" y="117872"/>
                  <a:pt x="80367" y="122660"/>
                  <a:pt x="80367" y="128588"/>
                </a:cubicBezTo>
                <a:lnTo>
                  <a:pt x="80367" y="155377"/>
                </a:lnTo>
                <a:lnTo>
                  <a:pt x="48220" y="155377"/>
                </a:lnTo>
                <a:lnTo>
                  <a:pt x="48220" y="128588"/>
                </a:lnTo>
                <a:cubicBezTo>
                  <a:pt x="48220" y="122660"/>
                  <a:pt x="53009" y="117872"/>
                  <a:pt x="58936" y="117872"/>
                </a:cubicBezTo>
                <a:close/>
                <a:moveTo>
                  <a:pt x="32147" y="37505"/>
                </a:moveTo>
                <a:cubicBezTo>
                  <a:pt x="32147" y="34558"/>
                  <a:pt x="34558" y="32147"/>
                  <a:pt x="37505" y="32147"/>
                </a:cubicBezTo>
                <a:lnTo>
                  <a:pt x="48220" y="32147"/>
                </a:lnTo>
                <a:cubicBezTo>
                  <a:pt x="51167" y="32147"/>
                  <a:pt x="53578" y="34558"/>
                  <a:pt x="53578" y="37505"/>
                </a:cubicBezTo>
                <a:lnTo>
                  <a:pt x="53578" y="48220"/>
                </a:lnTo>
                <a:cubicBezTo>
                  <a:pt x="53578" y="51167"/>
                  <a:pt x="51167" y="53578"/>
                  <a:pt x="48220" y="53578"/>
                </a:cubicBezTo>
                <a:lnTo>
                  <a:pt x="37505" y="53578"/>
                </a:lnTo>
                <a:cubicBezTo>
                  <a:pt x="34558" y="53578"/>
                  <a:pt x="32147" y="51167"/>
                  <a:pt x="32147" y="48220"/>
                </a:cubicBezTo>
                <a:lnTo>
                  <a:pt x="32147" y="37505"/>
                </a:lnTo>
                <a:close/>
                <a:moveTo>
                  <a:pt x="80367" y="32147"/>
                </a:moveTo>
                <a:lnTo>
                  <a:pt x="91083" y="32147"/>
                </a:lnTo>
                <a:cubicBezTo>
                  <a:pt x="94030" y="32147"/>
                  <a:pt x="96441" y="34558"/>
                  <a:pt x="96441" y="37505"/>
                </a:cubicBezTo>
                <a:lnTo>
                  <a:pt x="96441" y="48220"/>
                </a:lnTo>
                <a:cubicBezTo>
                  <a:pt x="96441" y="51167"/>
                  <a:pt x="94030" y="53578"/>
                  <a:pt x="91083" y="53578"/>
                </a:cubicBezTo>
                <a:lnTo>
                  <a:pt x="80367" y="53578"/>
                </a:lnTo>
                <a:cubicBezTo>
                  <a:pt x="77420" y="53578"/>
                  <a:pt x="75009" y="51167"/>
                  <a:pt x="75009" y="48220"/>
                </a:cubicBezTo>
                <a:lnTo>
                  <a:pt x="75009" y="37505"/>
                </a:lnTo>
                <a:cubicBezTo>
                  <a:pt x="75009" y="34558"/>
                  <a:pt x="77420" y="32147"/>
                  <a:pt x="80367" y="32147"/>
                </a:cubicBezTo>
                <a:close/>
                <a:moveTo>
                  <a:pt x="32147" y="80367"/>
                </a:moveTo>
                <a:cubicBezTo>
                  <a:pt x="32147" y="77420"/>
                  <a:pt x="34558" y="75009"/>
                  <a:pt x="37505" y="75009"/>
                </a:cubicBezTo>
                <a:lnTo>
                  <a:pt x="48220" y="75009"/>
                </a:lnTo>
                <a:cubicBezTo>
                  <a:pt x="51167" y="75009"/>
                  <a:pt x="53578" y="77420"/>
                  <a:pt x="53578" y="80367"/>
                </a:cubicBezTo>
                <a:lnTo>
                  <a:pt x="53578" y="91083"/>
                </a:lnTo>
                <a:cubicBezTo>
                  <a:pt x="53578" y="94030"/>
                  <a:pt x="51167" y="96441"/>
                  <a:pt x="48220" y="96441"/>
                </a:cubicBezTo>
                <a:lnTo>
                  <a:pt x="37505" y="96441"/>
                </a:lnTo>
                <a:cubicBezTo>
                  <a:pt x="34558" y="96441"/>
                  <a:pt x="32147" y="94030"/>
                  <a:pt x="32147" y="91083"/>
                </a:cubicBezTo>
                <a:lnTo>
                  <a:pt x="32147" y="80367"/>
                </a:lnTo>
                <a:close/>
                <a:moveTo>
                  <a:pt x="80367" y="75009"/>
                </a:moveTo>
                <a:lnTo>
                  <a:pt x="91083" y="75009"/>
                </a:lnTo>
                <a:cubicBezTo>
                  <a:pt x="94030" y="75009"/>
                  <a:pt x="96441" y="77420"/>
                  <a:pt x="96441" y="80367"/>
                </a:cubicBezTo>
                <a:lnTo>
                  <a:pt x="96441" y="91083"/>
                </a:lnTo>
                <a:cubicBezTo>
                  <a:pt x="96441" y="94030"/>
                  <a:pt x="94030" y="96441"/>
                  <a:pt x="91083" y="96441"/>
                </a:cubicBezTo>
                <a:lnTo>
                  <a:pt x="80367" y="96441"/>
                </a:lnTo>
                <a:cubicBezTo>
                  <a:pt x="77420" y="96441"/>
                  <a:pt x="75009" y="94030"/>
                  <a:pt x="75009" y="91083"/>
                </a:cubicBezTo>
                <a:lnTo>
                  <a:pt x="75009" y="80367"/>
                </a:lnTo>
                <a:cubicBezTo>
                  <a:pt x="75009" y="77420"/>
                  <a:pt x="77420" y="75009"/>
                  <a:pt x="80367" y="7500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190625" y="219075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TCS / Diligenta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4462" y="2209800"/>
            <a:ext cx="609600" cy="190500"/>
          </a:xfrm>
          <a:custGeom>
            <a:avLst/>
            <a:gdLst/>
            <a:ahLst/>
            <a:cxnLst/>
            <a:rect l="l" t="t" r="r" b="b"/>
            <a:pathLst>
              <a:path w="609600" h="190500">
                <a:moveTo>
                  <a:pt x="95250" y="0"/>
                </a:moveTo>
                <a:lnTo>
                  <a:pt x="514350" y="0"/>
                </a:lnTo>
                <a:cubicBezTo>
                  <a:pt x="566920" y="0"/>
                  <a:pt x="609600" y="42680"/>
                  <a:pt x="609600" y="95250"/>
                </a:cubicBezTo>
                <a:lnTo>
                  <a:pt x="609600" y="95250"/>
                </a:lnTo>
                <a:cubicBezTo>
                  <a:pt x="609600" y="147820"/>
                  <a:pt x="566920" y="190500"/>
                  <a:pt x="5143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94462" y="2209800"/>
            <a:ext cx="6667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0625" y="2457450"/>
            <a:ext cx="518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partner for UK life &amp; pensions policy administration. Scale back-office processing and AI/ops context influence.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90625" y="2914650"/>
            <a:ext cx="809625" cy="190500"/>
          </a:xfrm>
          <a:custGeom>
            <a:avLst/>
            <a:gdLst/>
            <a:ahLst/>
            <a:cxnLst/>
            <a:rect l="l" t="t" r="r" b="b"/>
            <a:pathLst>
              <a:path w="809625" h="190500">
                <a:moveTo>
                  <a:pt x="38100" y="0"/>
                </a:moveTo>
                <a:lnTo>
                  <a:pt x="771525" y="0"/>
                </a:lnTo>
                <a:cubicBezTo>
                  <a:pt x="792553" y="0"/>
                  <a:pt x="809625" y="17072"/>
                  <a:pt x="809625" y="38100"/>
                </a:cubicBezTo>
                <a:lnTo>
                  <a:pt x="809625" y="152400"/>
                </a:lnTo>
                <a:cubicBezTo>
                  <a:pt x="809625" y="173428"/>
                  <a:pt x="792553" y="190500"/>
                  <a:pt x="7715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190625" y="2914650"/>
            <a:ext cx="8667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Admin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78682" y="2914650"/>
            <a:ext cx="866775" cy="190500"/>
          </a:xfrm>
          <a:custGeom>
            <a:avLst/>
            <a:gdLst/>
            <a:ahLst/>
            <a:cxnLst/>
            <a:rect l="l" t="t" r="r" b="b"/>
            <a:pathLst>
              <a:path w="866775" h="190500">
                <a:moveTo>
                  <a:pt x="38100" y="0"/>
                </a:moveTo>
                <a:lnTo>
                  <a:pt x="828675" y="0"/>
                </a:lnTo>
                <a:cubicBezTo>
                  <a:pt x="849703" y="0"/>
                  <a:pt x="866775" y="17072"/>
                  <a:pt x="866775" y="38100"/>
                </a:cubicBezTo>
                <a:lnTo>
                  <a:pt x="866775" y="152400"/>
                </a:lnTo>
                <a:cubicBezTo>
                  <a:pt x="866775" y="173428"/>
                  <a:pt x="849703" y="190500"/>
                  <a:pt x="8286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078682" y="2914650"/>
            <a:ext cx="9239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Partnership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017341" y="2914650"/>
            <a:ext cx="790575" cy="190500"/>
          </a:xfrm>
          <a:custGeom>
            <a:avLst/>
            <a:gdLst/>
            <a:ahLst/>
            <a:cxnLst/>
            <a:rect l="l" t="t" r="r" b="b"/>
            <a:pathLst>
              <a:path w="790575" h="190500">
                <a:moveTo>
                  <a:pt x="38100" y="0"/>
                </a:moveTo>
                <a:lnTo>
                  <a:pt x="752475" y="0"/>
                </a:lnTo>
                <a:cubicBezTo>
                  <a:pt x="773503" y="0"/>
                  <a:pt x="790575" y="17072"/>
                  <a:pt x="790575" y="38100"/>
                </a:cubicBezTo>
                <a:lnTo>
                  <a:pt x="790575" y="152400"/>
                </a:lnTo>
                <a:cubicBezTo>
                  <a:pt x="790575" y="173428"/>
                  <a:pt x="773503" y="190500"/>
                  <a:pt x="7524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017341" y="2914650"/>
            <a:ext cx="8477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Ops Support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1975" y="3333750"/>
            <a:ext cx="5857875" cy="1143000"/>
          </a:xfrm>
          <a:custGeom>
            <a:avLst/>
            <a:gdLst/>
            <a:ahLst/>
            <a:cxnLst/>
            <a:rect l="l" t="t" r="r" b="b"/>
            <a:pathLst>
              <a:path w="5857875" h="1143000">
                <a:moveTo>
                  <a:pt x="38100" y="0"/>
                </a:moveTo>
                <a:lnTo>
                  <a:pt x="5781671" y="0"/>
                </a:lnTo>
                <a:cubicBezTo>
                  <a:pt x="5823757" y="0"/>
                  <a:pt x="5857875" y="34118"/>
                  <a:pt x="5857875" y="76204"/>
                </a:cubicBezTo>
                <a:lnTo>
                  <a:pt x="5857875" y="1066796"/>
                </a:lnTo>
                <a:cubicBezTo>
                  <a:pt x="5857875" y="1108882"/>
                  <a:pt x="5823757" y="1143000"/>
                  <a:pt x="5781671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61975" y="3333750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95325" y="3448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802481" y="35528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1190625" y="3448050"/>
            <a:ext cx="59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Dataiku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20507" y="3467100"/>
            <a:ext cx="590550" cy="190500"/>
          </a:xfrm>
          <a:custGeom>
            <a:avLst/>
            <a:gdLst/>
            <a:ahLst/>
            <a:cxnLst/>
            <a:rect l="l" t="t" r="r" b="b"/>
            <a:pathLst>
              <a:path w="590550" h="190500">
                <a:moveTo>
                  <a:pt x="95250" y="0"/>
                </a:moveTo>
                <a:lnTo>
                  <a:pt x="495300" y="0"/>
                </a:lnTo>
                <a:cubicBezTo>
                  <a:pt x="547870" y="0"/>
                  <a:pt x="590550" y="42680"/>
                  <a:pt x="590550" y="95250"/>
                </a:cubicBezTo>
                <a:lnTo>
                  <a:pt x="590550" y="95250"/>
                </a:lnTo>
                <a:cubicBezTo>
                  <a:pt x="590550" y="147820"/>
                  <a:pt x="547870" y="190500"/>
                  <a:pt x="49530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720507" y="3467100"/>
            <a:ext cx="6477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90625" y="3714750"/>
            <a:ext cx="518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 platform partner with TCS for MLOps infrastructure, AWS EKS integration, and governance frameworks.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90625" y="4171950"/>
            <a:ext cx="523875" cy="190500"/>
          </a:xfrm>
          <a:custGeom>
            <a:avLst/>
            <a:gdLst/>
            <a:ahLst/>
            <a:cxnLst/>
            <a:rect l="l" t="t" r="r" b="b"/>
            <a:pathLst>
              <a:path w="523875" h="190500">
                <a:moveTo>
                  <a:pt x="38100" y="0"/>
                </a:moveTo>
                <a:lnTo>
                  <a:pt x="485775" y="0"/>
                </a:lnTo>
                <a:cubicBezTo>
                  <a:pt x="506803" y="0"/>
                  <a:pt x="523875" y="17072"/>
                  <a:pt x="523875" y="38100"/>
                </a:cubicBezTo>
                <a:lnTo>
                  <a:pt x="523875" y="152400"/>
                </a:lnTo>
                <a:cubicBezTo>
                  <a:pt x="523875" y="173428"/>
                  <a:pt x="506803" y="190500"/>
                  <a:pt x="4857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1190625" y="4171950"/>
            <a:ext cx="5810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MLOps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789956" y="4171950"/>
            <a:ext cx="809625" cy="190500"/>
          </a:xfrm>
          <a:custGeom>
            <a:avLst/>
            <a:gdLst/>
            <a:ahLst/>
            <a:cxnLst/>
            <a:rect l="l" t="t" r="r" b="b"/>
            <a:pathLst>
              <a:path w="809625" h="190500">
                <a:moveTo>
                  <a:pt x="38100" y="0"/>
                </a:moveTo>
                <a:lnTo>
                  <a:pt x="771525" y="0"/>
                </a:lnTo>
                <a:cubicBezTo>
                  <a:pt x="792553" y="0"/>
                  <a:pt x="809625" y="17072"/>
                  <a:pt x="809625" y="38100"/>
                </a:cubicBezTo>
                <a:lnTo>
                  <a:pt x="809625" y="152400"/>
                </a:lnTo>
                <a:cubicBezTo>
                  <a:pt x="809625" y="173428"/>
                  <a:pt x="792553" y="190500"/>
                  <a:pt x="7715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1789956" y="4171950"/>
            <a:ext cx="8667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680246" y="417195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38100" y="0"/>
                </a:moveTo>
                <a:lnTo>
                  <a:pt x="723900" y="0"/>
                </a:lnTo>
                <a:cubicBezTo>
                  <a:pt x="744928" y="0"/>
                  <a:pt x="762000" y="17072"/>
                  <a:pt x="762000" y="38100"/>
                </a:cubicBezTo>
                <a:lnTo>
                  <a:pt x="762000" y="152400"/>
                </a:lnTo>
                <a:cubicBezTo>
                  <a:pt x="762000" y="173428"/>
                  <a:pt x="744928" y="190500"/>
                  <a:pt x="7239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2680246" y="4171950"/>
            <a:ext cx="8191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5763" y="4881563"/>
            <a:ext cx="6191250" cy="1590675"/>
          </a:xfrm>
          <a:custGeom>
            <a:avLst/>
            <a:gdLst/>
            <a:ahLst/>
            <a:cxnLst/>
            <a:rect l="l" t="t" r="r" b="b"/>
            <a:pathLst>
              <a:path w="6191250" h="1590675">
                <a:moveTo>
                  <a:pt x="114306" y="0"/>
                </a:moveTo>
                <a:lnTo>
                  <a:pt x="6076944" y="0"/>
                </a:lnTo>
                <a:cubicBezTo>
                  <a:pt x="6140074" y="0"/>
                  <a:pt x="6191250" y="51176"/>
                  <a:pt x="6191250" y="114306"/>
                </a:cubicBezTo>
                <a:lnTo>
                  <a:pt x="6191250" y="1476369"/>
                </a:lnTo>
                <a:cubicBezTo>
                  <a:pt x="6191250" y="1539499"/>
                  <a:pt x="6140074" y="1590675"/>
                  <a:pt x="6076944" y="1590675"/>
                </a:cubicBezTo>
                <a:lnTo>
                  <a:pt x="114306" y="1590675"/>
                </a:lnTo>
                <a:cubicBezTo>
                  <a:pt x="51176" y="1590675"/>
                  <a:pt x="0" y="1539499"/>
                  <a:pt x="0" y="1476369"/>
                </a:cubicBezTo>
                <a:lnTo>
                  <a:pt x="0" y="114306"/>
                </a:lnTo>
                <a:cubicBezTo>
                  <a:pt x="0" y="51176"/>
                  <a:pt x="51176" y="0"/>
                  <a:pt x="11430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56022" y="50863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112514"/>
                </a:moveTo>
                <a:cubicBezTo>
                  <a:pt x="0" y="139136"/>
                  <a:pt x="21599" y="160734"/>
                  <a:pt x="48220" y="160734"/>
                </a:cubicBezTo>
                <a:lnTo>
                  <a:pt x="150019" y="160734"/>
                </a:lnTo>
                <a:cubicBezTo>
                  <a:pt x="173694" y="160734"/>
                  <a:pt x="192881" y="141547"/>
                  <a:pt x="192881" y="117872"/>
                </a:cubicBezTo>
                <a:cubicBezTo>
                  <a:pt x="192881" y="100593"/>
                  <a:pt x="182668" y="85692"/>
                  <a:pt x="167934" y="78927"/>
                </a:cubicBezTo>
                <a:cubicBezTo>
                  <a:pt x="170178" y="74541"/>
                  <a:pt x="171450" y="69551"/>
                  <a:pt x="171450" y="64294"/>
                </a:cubicBezTo>
                <a:cubicBezTo>
                  <a:pt x="171450" y="46546"/>
                  <a:pt x="157051" y="32147"/>
                  <a:pt x="139303" y="32147"/>
                </a:cubicBezTo>
                <a:cubicBezTo>
                  <a:pt x="133376" y="32147"/>
                  <a:pt x="127851" y="33754"/>
                  <a:pt x="123096" y="36534"/>
                </a:cubicBezTo>
                <a:cubicBezTo>
                  <a:pt x="115026" y="21197"/>
                  <a:pt x="98919" y="10716"/>
                  <a:pt x="80367" y="10716"/>
                </a:cubicBezTo>
                <a:cubicBezTo>
                  <a:pt x="53746" y="10716"/>
                  <a:pt x="32147" y="32314"/>
                  <a:pt x="32147" y="58936"/>
                </a:cubicBezTo>
                <a:cubicBezTo>
                  <a:pt x="32147" y="61615"/>
                  <a:pt x="32381" y="64260"/>
                  <a:pt x="32783" y="66805"/>
                </a:cubicBezTo>
                <a:cubicBezTo>
                  <a:pt x="13729" y="73235"/>
                  <a:pt x="0" y="91284"/>
                  <a:pt x="0" y="11251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762000" y="5038725"/>
            <a:ext cx="574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Partners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7688" y="5424488"/>
            <a:ext cx="1876425" cy="885825"/>
          </a:xfrm>
          <a:custGeom>
            <a:avLst/>
            <a:gdLst/>
            <a:ahLst/>
            <a:cxnLst/>
            <a:rect l="l" t="t" r="r" b="b"/>
            <a:pathLst>
              <a:path w="1876425" h="885825">
                <a:moveTo>
                  <a:pt x="76199" y="0"/>
                </a:moveTo>
                <a:lnTo>
                  <a:pt x="1800226" y="0"/>
                </a:lnTo>
                <a:cubicBezTo>
                  <a:pt x="1842310" y="0"/>
                  <a:pt x="1876425" y="34115"/>
                  <a:pt x="1876425" y="76199"/>
                </a:cubicBezTo>
                <a:lnTo>
                  <a:pt x="1876425" y="809626"/>
                </a:lnTo>
                <a:cubicBezTo>
                  <a:pt x="1876425" y="851710"/>
                  <a:pt x="1842310" y="885825"/>
                  <a:pt x="18002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384548" y="55435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14288"/>
                </a:moveTo>
                <a:lnTo>
                  <a:pt x="95816" y="14288"/>
                </a:lnTo>
                <a:lnTo>
                  <a:pt x="95816" y="110103"/>
                </a:lnTo>
                <a:lnTo>
                  <a:pt x="0" y="110103"/>
                </a:lnTo>
                <a:lnTo>
                  <a:pt x="0" y="14288"/>
                </a:lnTo>
                <a:close/>
                <a:moveTo>
                  <a:pt x="104209" y="14288"/>
                </a:moveTo>
                <a:lnTo>
                  <a:pt x="200025" y="14288"/>
                </a:lnTo>
                <a:lnTo>
                  <a:pt x="200025" y="110103"/>
                </a:lnTo>
                <a:lnTo>
                  <a:pt x="104209" y="110103"/>
                </a:lnTo>
                <a:lnTo>
                  <a:pt x="104209" y="14288"/>
                </a:lnTo>
                <a:close/>
                <a:moveTo>
                  <a:pt x="0" y="118497"/>
                </a:moveTo>
                <a:lnTo>
                  <a:pt x="95816" y="118497"/>
                </a:lnTo>
                <a:lnTo>
                  <a:pt x="95816" y="214313"/>
                </a:lnTo>
                <a:lnTo>
                  <a:pt x="0" y="214313"/>
                </a:lnTo>
                <a:lnTo>
                  <a:pt x="0" y="118497"/>
                </a:lnTo>
                <a:close/>
                <a:moveTo>
                  <a:pt x="104209" y="118497"/>
                </a:moveTo>
                <a:lnTo>
                  <a:pt x="200025" y="118497"/>
                </a:lnTo>
                <a:lnTo>
                  <a:pt x="200025" y="214313"/>
                </a:lnTo>
                <a:lnTo>
                  <a:pt x="104209" y="214313"/>
                </a:lnTo>
                <a:lnTo>
                  <a:pt x="104209" y="11849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33413" y="584835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38175" y="6038850"/>
            <a:ext cx="1695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Platform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545407" y="5424488"/>
            <a:ext cx="1876425" cy="885825"/>
          </a:xfrm>
          <a:custGeom>
            <a:avLst/>
            <a:gdLst/>
            <a:ahLst/>
            <a:cxnLst/>
            <a:rect l="l" t="t" r="r" b="b"/>
            <a:pathLst>
              <a:path w="1876425" h="885825">
                <a:moveTo>
                  <a:pt x="76199" y="0"/>
                </a:moveTo>
                <a:lnTo>
                  <a:pt x="1800226" y="0"/>
                </a:lnTo>
                <a:cubicBezTo>
                  <a:pt x="1842310" y="0"/>
                  <a:pt x="1876425" y="34115"/>
                  <a:pt x="1876425" y="76199"/>
                </a:cubicBezTo>
                <a:lnTo>
                  <a:pt x="1876425" y="809626"/>
                </a:lnTo>
                <a:cubicBezTo>
                  <a:pt x="1876425" y="851710"/>
                  <a:pt x="1842310" y="885825"/>
                  <a:pt x="18002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3339405" y="554355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80546" y="90636"/>
                </a:moveTo>
                <a:cubicBezTo>
                  <a:pt x="80233" y="100727"/>
                  <a:pt x="85279" y="105236"/>
                  <a:pt x="85412" y="108049"/>
                </a:cubicBezTo>
                <a:cubicBezTo>
                  <a:pt x="85368" y="108630"/>
                  <a:pt x="85145" y="109165"/>
                  <a:pt x="84832" y="109657"/>
                </a:cubicBezTo>
                <a:cubicBezTo>
                  <a:pt x="84519" y="110148"/>
                  <a:pt x="84073" y="110550"/>
                  <a:pt x="83582" y="110817"/>
                </a:cubicBezTo>
                <a:lnTo>
                  <a:pt x="77867" y="114836"/>
                </a:lnTo>
                <a:cubicBezTo>
                  <a:pt x="77108" y="115372"/>
                  <a:pt x="76260" y="115639"/>
                  <a:pt x="75367" y="115684"/>
                </a:cubicBezTo>
                <a:cubicBezTo>
                  <a:pt x="75188" y="115684"/>
                  <a:pt x="71705" y="116488"/>
                  <a:pt x="66214" y="104254"/>
                </a:cubicBezTo>
                <a:cubicBezTo>
                  <a:pt x="62865" y="108451"/>
                  <a:pt x="58623" y="111800"/>
                  <a:pt x="53757" y="114077"/>
                </a:cubicBezTo>
                <a:cubicBezTo>
                  <a:pt x="48890" y="116354"/>
                  <a:pt x="43622" y="117515"/>
                  <a:pt x="38264" y="117425"/>
                </a:cubicBezTo>
                <a:cubicBezTo>
                  <a:pt x="30986" y="117827"/>
                  <a:pt x="11296" y="113318"/>
                  <a:pt x="12323" y="92333"/>
                </a:cubicBezTo>
                <a:cubicBezTo>
                  <a:pt x="11609" y="75233"/>
                  <a:pt x="27548" y="64606"/>
                  <a:pt x="43979" y="65544"/>
                </a:cubicBezTo>
                <a:cubicBezTo>
                  <a:pt x="47149" y="65544"/>
                  <a:pt x="53623" y="65723"/>
                  <a:pt x="64963" y="68357"/>
                </a:cubicBezTo>
                <a:lnTo>
                  <a:pt x="64963" y="61392"/>
                </a:lnTo>
                <a:cubicBezTo>
                  <a:pt x="66169" y="49560"/>
                  <a:pt x="58400" y="40407"/>
                  <a:pt x="44961" y="41791"/>
                </a:cubicBezTo>
                <a:cubicBezTo>
                  <a:pt x="43889" y="41791"/>
                  <a:pt x="36299" y="41568"/>
                  <a:pt x="24512" y="46300"/>
                </a:cubicBezTo>
                <a:cubicBezTo>
                  <a:pt x="21208" y="47818"/>
                  <a:pt x="20806" y="47551"/>
                  <a:pt x="19690" y="47551"/>
                </a:cubicBezTo>
                <a:cubicBezTo>
                  <a:pt x="16386" y="47551"/>
                  <a:pt x="17725" y="37951"/>
                  <a:pt x="18395" y="36746"/>
                </a:cubicBezTo>
                <a:cubicBezTo>
                  <a:pt x="20717" y="33888"/>
                  <a:pt x="34424" y="28530"/>
                  <a:pt x="47818" y="28620"/>
                </a:cubicBezTo>
                <a:cubicBezTo>
                  <a:pt x="56793" y="27816"/>
                  <a:pt x="65723" y="30584"/>
                  <a:pt x="72688" y="36344"/>
                </a:cubicBezTo>
                <a:cubicBezTo>
                  <a:pt x="75501" y="39514"/>
                  <a:pt x="77688" y="43220"/>
                  <a:pt x="79028" y="47238"/>
                </a:cubicBezTo>
                <a:cubicBezTo>
                  <a:pt x="80367" y="51256"/>
                  <a:pt x="80903" y="55498"/>
                  <a:pt x="80590" y="59740"/>
                </a:cubicBezTo>
                <a:lnTo>
                  <a:pt x="80590" y="90681"/>
                </a:lnTo>
                <a:close/>
                <a:moveTo>
                  <a:pt x="41970" y="105102"/>
                </a:moveTo>
                <a:cubicBezTo>
                  <a:pt x="56436" y="104879"/>
                  <a:pt x="62597" y="96173"/>
                  <a:pt x="63981" y="91485"/>
                </a:cubicBezTo>
                <a:cubicBezTo>
                  <a:pt x="65097" y="86975"/>
                  <a:pt x="64919" y="84162"/>
                  <a:pt x="64919" y="79251"/>
                </a:cubicBezTo>
                <a:cubicBezTo>
                  <a:pt x="60588" y="78224"/>
                  <a:pt x="54382" y="77063"/>
                  <a:pt x="47238" y="77063"/>
                </a:cubicBezTo>
                <a:cubicBezTo>
                  <a:pt x="40451" y="76572"/>
                  <a:pt x="28129" y="79564"/>
                  <a:pt x="28620" y="91485"/>
                </a:cubicBezTo>
                <a:cubicBezTo>
                  <a:pt x="28084" y="98986"/>
                  <a:pt x="33576" y="105504"/>
                  <a:pt x="42014" y="105102"/>
                </a:cubicBezTo>
                <a:close/>
                <a:moveTo>
                  <a:pt x="118274" y="115416"/>
                </a:moveTo>
                <a:cubicBezTo>
                  <a:pt x="114746" y="115729"/>
                  <a:pt x="113139" y="113228"/>
                  <a:pt x="112603" y="110773"/>
                </a:cubicBezTo>
                <a:lnTo>
                  <a:pt x="90368" y="37237"/>
                </a:lnTo>
                <a:cubicBezTo>
                  <a:pt x="89922" y="35987"/>
                  <a:pt x="89654" y="34736"/>
                  <a:pt x="89520" y="33397"/>
                </a:cubicBezTo>
                <a:cubicBezTo>
                  <a:pt x="89431" y="32861"/>
                  <a:pt x="89565" y="32325"/>
                  <a:pt x="89877" y="31879"/>
                </a:cubicBezTo>
                <a:cubicBezTo>
                  <a:pt x="90190" y="31433"/>
                  <a:pt x="90681" y="31165"/>
                  <a:pt x="91217" y="31075"/>
                </a:cubicBezTo>
                <a:cubicBezTo>
                  <a:pt x="91306" y="31075"/>
                  <a:pt x="90279" y="31075"/>
                  <a:pt x="101129" y="31075"/>
                </a:cubicBezTo>
                <a:cubicBezTo>
                  <a:pt x="105058" y="30673"/>
                  <a:pt x="106308" y="33754"/>
                  <a:pt x="106754" y="35719"/>
                </a:cubicBezTo>
                <a:lnTo>
                  <a:pt x="122739" y="98584"/>
                </a:lnTo>
                <a:lnTo>
                  <a:pt x="137562" y="35719"/>
                </a:lnTo>
                <a:cubicBezTo>
                  <a:pt x="137785" y="34290"/>
                  <a:pt x="138857" y="30763"/>
                  <a:pt x="143277" y="31165"/>
                </a:cubicBezTo>
                <a:lnTo>
                  <a:pt x="150956" y="31165"/>
                </a:lnTo>
                <a:cubicBezTo>
                  <a:pt x="151939" y="31075"/>
                  <a:pt x="155912" y="30941"/>
                  <a:pt x="156627" y="35808"/>
                </a:cubicBezTo>
                <a:lnTo>
                  <a:pt x="171495" y="99432"/>
                </a:lnTo>
                <a:lnTo>
                  <a:pt x="187970" y="35763"/>
                </a:lnTo>
                <a:cubicBezTo>
                  <a:pt x="188193" y="34781"/>
                  <a:pt x="189175" y="30673"/>
                  <a:pt x="193640" y="31120"/>
                </a:cubicBezTo>
                <a:lnTo>
                  <a:pt x="202436" y="31120"/>
                </a:lnTo>
                <a:cubicBezTo>
                  <a:pt x="202838" y="31075"/>
                  <a:pt x="205204" y="30763"/>
                  <a:pt x="204802" y="34960"/>
                </a:cubicBezTo>
                <a:cubicBezTo>
                  <a:pt x="204624" y="35763"/>
                  <a:pt x="206320" y="30182"/>
                  <a:pt x="181228" y="110817"/>
                </a:cubicBezTo>
                <a:cubicBezTo>
                  <a:pt x="180737" y="113273"/>
                  <a:pt x="179085" y="115773"/>
                  <a:pt x="175558" y="115461"/>
                </a:cubicBezTo>
                <a:lnTo>
                  <a:pt x="167208" y="115461"/>
                </a:lnTo>
                <a:cubicBezTo>
                  <a:pt x="162342" y="115997"/>
                  <a:pt x="161627" y="111130"/>
                  <a:pt x="161538" y="110683"/>
                </a:cubicBezTo>
                <a:lnTo>
                  <a:pt x="146715" y="49470"/>
                </a:lnTo>
                <a:lnTo>
                  <a:pt x="132070" y="110639"/>
                </a:lnTo>
                <a:cubicBezTo>
                  <a:pt x="131981" y="111130"/>
                  <a:pt x="131311" y="115952"/>
                  <a:pt x="126400" y="115416"/>
                </a:cubicBezTo>
                <a:lnTo>
                  <a:pt x="118229" y="115416"/>
                </a:lnTo>
                <a:lnTo>
                  <a:pt x="118229" y="115416"/>
                </a:lnTo>
                <a:close/>
                <a:moveTo>
                  <a:pt x="240387" y="117917"/>
                </a:moveTo>
                <a:cubicBezTo>
                  <a:pt x="237753" y="117917"/>
                  <a:pt x="225251" y="117783"/>
                  <a:pt x="214759" y="112425"/>
                </a:cubicBezTo>
                <a:cubicBezTo>
                  <a:pt x="213732" y="111978"/>
                  <a:pt x="212839" y="111264"/>
                  <a:pt x="212214" y="110282"/>
                </a:cubicBezTo>
                <a:cubicBezTo>
                  <a:pt x="211589" y="109299"/>
                  <a:pt x="211276" y="108228"/>
                  <a:pt x="211276" y="107112"/>
                </a:cubicBezTo>
                <a:lnTo>
                  <a:pt x="211276" y="102334"/>
                </a:lnTo>
                <a:cubicBezTo>
                  <a:pt x="211276" y="98539"/>
                  <a:pt x="214045" y="99253"/>
                  <a:pt x="215205" y="99700"/>
                </a:cubicBezTo>
                <a:cubicBezTo>
                  <a:pt x="219670" y="101531"/>
                  <a:pt x="222572" y="102870"/>
                  <a:pt x="228064" y="103986"/>
                </a:cubicBezTo>
                <a:cubicBezTo>
                  <a:pt x="244450" y="107335"/>
                  <a:pt x="251639" y="102959"/>
                  <a:pt x="253380" y="101977"/>
                </a:cubicBezTo>
                <a:cubicBezTo>
                  <a:pt x="259273" y="98494"/>
                  <a:pt x="259720" y="90502"/>
                  <a:pt x="255746" y="86395"/>
                </a:cubicBezTo>
                <a:cubicBezTo>
                  <a:pt x="251058" y="82466"/>
                  <a:pt x="248826" y="82332"/>
                  <a:pt x="232038" y="77019"/>
                </a:cubicBezTo>
                <a:cubicBezTo>
                  <a:pt x="229984" y="76438"/>
                  <a:pt x="212527" y="70946"/>
                  <a:pt x="212482" y="53623"/>
                </a:cubicBezTo>
                <a:cubicBezTo>
                  <a:pt x="212214" y="41032"/>
                  <a:pt x="223644" y="28530"/>
                  <a:pt x="243513" y="28620"/>
                </a:cubicBezTo>
                <a:cubicBezTo>
                  <a:pt x="249183" y="28620"/>
                  <a:pt x="264229" y="30450"/>
                  <a:pt x="268337" y="35585"/>
                </a:cubicBezTo>
                <a:cubicBezTo>
                  <a:pt x="268962" y="36522"/>
                  <a:pt x="269230" y="37639"/>
                  <a:pt x="269185" y="38710"/>
                </a:cubicBezTo>
                <a:lnTo>
                  <a:pt x="269185" y="43220"/>
                </a:lnTo>
                <a:cubicBezTo>
                  <a:pt x="269185" y="45184"/>
                  <a:pt x="268471" y="46211"/>
                  <a:pt x="266998" y="46211"/>
                </a:cubicBezTo>
                <a:cubicBezTo>
                  <a:pt x="263560" y="45809"/>
                  <a:pt x="257443" y="41211"/>
                  <a:pt x="245031" y="41389"/>
                </a:cubicBezTo>
                <a:cubicBezTo>
                  <a:pt x="241950" y="41211"/>
                  <a:pt x="227216" y="41791"/>
                  <a:pt x="227886" y="52551"/>
                </a:cubicBezTo>
                <a:cubicBezTo>
                  <a:pt x="227707" y="61034"/>
                  <a:pt x="239762" y="64204"/>
                  <a:pt x="241146" y="64562"/>
                </a:cubicBezTo>
                <a:cubicBezTo>
                  <a:pt x="257443" y="69473"/>
                  <a:pt x="262845" y="70277"/>
                  <a:pt x="269319" y="77778"/>
                </a:cubicBezTo>
                <a:cubicBezTo>
                  <a:pt x="276954" y="87690"/>
                  <a:pt x="272847" y="99343"/>
                  <a:pt x="271239" y="102513"/>
                </a:cubicBezTo>
                <a:cubicBezTo>
                  <a:pt x="262711" y="119256"/>
                  <a:pt x="240700" y="117872"/>
                  <a:pt x="240298" y="117872"/>
                </a:cubicBezTo>
                <a:close/>
                <a:moveTo>
                  <a:pt x="258336" y="164753"/>
                </a:moveTo>
                <a:cubicBezTo>
                  <a:pt x="227082" y="187836"/>
                  <a:pt x="181674" y="200114"/>
                  <a:pt x="142920" y="200114"/>
                </a:cubicBezTo>
                <a:cubicBezTo>
                  <a:pt x="90636" y="200471"/>
                  <a:pt x="40094" y="181228"/>
                  <a:pt x="1250" y="146224"/>
                </a:cubicBezTo>
                <a:cubicBezTo>
                  <a:pt x="-1652" y="143589"/>
                  <a:pt x="893" y="139973"/>
                  <a:pt x="4465" y="141982"/>
                </a:cubicBezTo>
                <a:cubicBezTo>
                  <a:pt x="47551" y="166628"/>
                  <a:pt x="96307" y="179576"/>
                  <a:pt x="145956" y="179531"/>
                </a:cubicBezTo>
                <a:cubicBezTo>
                  <a:pt x="183014" y="179353"/>
                  <a:pt x="219670" y="171807"/>
                  <a:pt x="253826" y="157430"/>
                </a:cubicBezTo>
                <a:cubicBezTo>
                  <a:pt x="259095" y="155198"/>
                  <a:pt x="263560" y="160913"/>
                  <a:pt x="258336" y="164753"/>
                </a:cubicBezTo>
                <a:close/>
                <a:moveTo>
                  <a:pt x="271373" y="149885"/>
                </a:moveTo>
                <a:cubicBezTo>
                  <a:pt x="267355" y="144750"/>
                  <a:pt x="244897" y="147474"/>
                  <a:pt x="234851" y="148679"/>
                </a:cubicBezTo>
                <a:cubicBezTo>
                  <a:pt x="231815" y="149036"/>
                  <a:pt x="231324" y="146402"/>
                  <a:pt x="234047" y="144438"/>
                </a:cubicBezTo>
                <a:cubicBezTo>
                  <a:pt x="251951" y="131847"/>
                  <a:pt x="281330" y="135463"/>
                  <a:pt x="284678" y="139705"/>
                </a:cubicBezTo>
                <a:cubicBezTo>
                  <a:pt x="288027" y="143947"/>
                  <a:pt x="283741" y="173370"/>
                  <a:pt x="266998" y="187434"/>
                </a:cubicBezTo>
                <a:cubicBezTo>
                  <a:pt x="264408" y="189622"/>
                  <a:pt x="261952" y="188461"/>
                  <a:pt x="263113" y="185604"/>
                </a:cubicBezTo>
                <a:cubicBezTo>
                  <a:pt x="266864" y="176093"/>
                  <a:pt x="275347" y="155019"/>
                  <a:pt x="271329" y="14988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2631132" y="584835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635895" y="6038850"/>
            <a:ext cx="1695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EKS Infrastructure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543127" y="5424488"/>
            <a:ext cx="1876425" cy="885825"/>
          </a:xfrm>
          <a:custGeom>
            <a:avLst/>
            <a:gdLst/>
            <a:ahLst/>
            <a:cxnLst/>
            <a:rect l="l" t="t" r="r" b="b"/>
            <a:pathLst>
              <a:path w="1876425" h="885825">
                <a:moveTo>
                  <a:pt x="76199" y="0"/>
                </a:moveTo>
                <a:lnTo>
                  <a:pt x="1800226" y="0"/>
                </a:lnTo>
                <a:cubicBezTo>
                  <a:pt x="1842310" y="0"/>
                  <a:pt x="1876425" y="34115"/>
                  <a:pt x="1876425" y="76199"/>
                </a:cubicBezTo>
                <a:lnTo>
                  <a:pt x="1876425" y="809626"/>
                </a:lnTo>
                <a:cubicBezTo>
                  <a:pt x="1876425" y="851710"/>
                  <a:pt x="1842310" y="885825"/>
                  <a:pt x="1800226" y="885825"/>
                </a:cubicBezTo>
                <a:lnTo>
                  <a:pt x="76199" y="885825"/>
                </a:lnTo>
                <a:cubicBezTo>
                  <a:pt x="34115" y="885825"/>
                  <a:pt x="0" y="851710"/>
                  <a:pt x="0" y="8096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5365700" y="5543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4628852" y="5848350"/>
            <a:ext cx="1704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633615" y="6038850"/>
            <a:ext cx="1695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Dev/Productivity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740872" y="1452563"/>
            <a:ext cx="5067300" cy="2638425"/>
          </a:xfrm>
          <a:custGeom>
            <a:avLst/>
            <a:gdLst/>
            <a:ahLst/>
            <a:cxnLst/>
            <a:rect l="l" t="t" r="r" b="b"/>
            <a:pathLst>
              <a:path w="5067300" h="2638425">
                <a:moveTo>
                  <a:pt x="114297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2524128"/>
                </a:lnTo>
                <a:cubicBezTo>
                  <a:pt x="5067300" y="2587253"/>
                  <a:pt x="5016128" y="2638425"/>
                  <a:pt x="4953003" y="2638425"/>
                </a:cubicBezTo>
                <a:lnTo>
                  <a:pt x="114297" y="2638425"/>
                </a:lnTo>
                <a:cubicBezTo>
                  <a:pt x="51172" y="2638425"/>
                  <a:pt x="0" y="2587253"/>
                  <a:pt x="0" y="2524128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6943279" y="165735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9468" y="21431"/>
                </a:moveTo>
                <a:cubicBezTo>
                  <a:pt x="25014" y="21431"/>
                  <a:pt x="21431" y="25014"/>
                  <a:pt x="21431" y="29468"/>
                </a:cubicBezTo>
                <a:cubicBezTo>
                  <a:pt x="21431" y="33922"/>
                  <a:pt x="25014" y="37505"/>
                  <a:pt x="29468" y="37505"/>
                </a:cubicBezTo>
                <a:lnTo>
                  <a:pt x="45541" y="37505"/>
                </a:lnTo>
                <a:cubicBezTo>
                  <a:pt x="49995" y="37505"/>
                  <a:pt x="53578" y="33922"/>
                  <a:pt x="53578" y="29468"/>
                </a:cubicBezTo>
                <a:cubicBezTo>
                  <a:pt x="53578" y="25014"/>
                  <a:pt x="49995" y="21431"/>
                  <a:pt x="45541" y="21431"/>
                </a:cubicBezTo>
                <a:lnTo>
                  <a:pt x="29468" y="21431"/>
                </a:lnTo>
                <a:close/>
                <a:moveTo>
                  <a:pt x="29468" y="53578"/>
                </a:moveTo>
                <a:cubicBezTo>
                  <a:pt x="25014" y="53578"/>
                  <a:pt x="21431" y="57161"/>
                  <a:pt x="21431" y="61615"/>
                </a:cubicBezTo>
                <a:cubicBezTo>
                  <a:pt x="21431" y="66069"/>
                  <a:pt x="25014" y="69652"/>
                  <a:pt x="29468" y="69652"/>
                </a:cubicBezTo>
                <a:lnTo>
                  <a:pt x="45541" y="69652"/>
                </a:lnTo>
                <a:cubicBezTo>
                  <a:pt x="49995" y="69652"/>
                  <a:pt x="53578" y="66069"/>
                  <a:pt x="53578" y="61615"/>
                </a:cubicBezTo>
                <a:cubicBezTo>
                  <a:pt x="53578" y="57161"/>
                  <a:pt x="49995" y="53578"/>
                  <a:pt x="45541" y="53578"/>
                </a:cubicBezTo>
                <a:lnTo>
                  <a:pt x="29468" y="53578"/>
                </a:lnTo>
                <a:close/>
                <a:moveTo>
                  <a:pt x="53009" y="107156"/>
                </a:moveTo>
                <a:cubicBezTo>
                  <a:pt x="49225" y="107156"/>
                  <a:pt x="45675" y="108864"/>
                  <a:pt x="43331" y="111811"/>
                </a:cubicBezTo>
                <a:lnTo>
                  <a:pt x="23206" y="136959"/>
                </a:lnTo>
                <a:cubicBezTo>
                  <a:pt x="20427" y="140408"/>
                  <a:pt x="20996" y="145498"/>
                  <a:pt x="24445" y="148244"/>
                </a:cubicBezTo>
                <a:cubicBezTo>
                  <a:pt x="27894" y="150990"/>
                  <a:pt x="32984" y="150454"/>
                  <a:pt x="35730" y="146971"/>
                </a:cubicBezTo>
                <a:lnTo>
                  <a:pt x="51502" y="127282"/>
                </a:lnTo>
                <a:lnTo>
                  <a:pt x="56592" y="144259"/>
                </a:lnTo>
                <a:cubicBezTo>
                  <a:pt x="57596" y="147675"/>
                  <a:pt x="60744" y="149985"/>
                  <a:pt x="64294" y="149985"/>
                </a:cubicBezTo>
                <a:lnTo>
                  <a:pt x="99120" y="149985"/>
                </a:lnTo>
                <a:cubicBezTo>
                  <a:pt x="103573" y="149985"/>
                  <a:pt x="107156" y="146402"/>
                  <a:pt x="107156" y="141949"/>
                </a:cubicBezTo>
                <a:cubicBezTo>
                  <a:pt x="107156" y="137495"/>
                  <a:pt x="103573" y="133912"/>
                  <a:pt x="99120" y="133912"/>
                </a:cubicBezTo>
                <a:lnTo>
                  <a:pt x="70288" y="133912"/>
                </a:lnTo>
                <a:lnTo>
                  <a:pt x="64897" y="115963"/>
                </a:lnTo>
                <a:cubicBezTo>
                  <a:pt x="63323" y="110706"/>
                  <a:pt x="58501" y="107123"/>
                  <a:pt x="53009" y="107123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7117110" y="1609725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 Formalization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917085" y="1990725"/>
            <a:ext cx="4733925" cy="914400"/>
          </a:xfrm>
          <a:custGeom>
            <a:avLst/>
            <a:gdLst/>
            <a:ahLst/>
            <a:cxnLst/>
            <a:rect l="l" t="t" r="r" b="b"/>
            <a:pathLst>
              <a:path w="4733925" h="914400">
                <a:moveTo>
                  <a:pt x="38100" y="0"/>
                </a:moveTo>
                <a:lnTo>
                  <a:pt x="4657728" y="0"/>
                </a:lnTo>
                <a:cubicBezTo>
                  <a:pt x="4699810" y="0"/>
                  <a:pt x="4733925" y="34115"/>
                  <a:pt x="4733925" y="76197"/>
                </a:cubicBezTo>
                <a:lnTo>
                  <a:pt x="4733925" y="838203"/>
                </a:lnTo>
                <a:cubicBezTo>
                  <a:pt x="4733925" y="880285"/>
                  <a:pt x="4699810" y="914400"/>
                  <a:pt x="465772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917085" y="19907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7050435" y="21431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7317135" y="2105025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SAP Ariba Network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050435" y="2409825"/>
            <a:ext cx="4552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Formal supplier onboarding processes through Ariba Network. Procurement enforces process discipline across indirect categories.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17085" y="3019425"/>
            <a:ext cx="4733925" cy="914400"/>
          </a:xfrm>
          <a:custGeom>
            <a:avLst/>
            <a:gdLst/>
            <a:ahLst/>
            <a:cxnLst/>
            <a:rect l="l" t="t" r="r" b="b"/>
            <a:pathLst>
              <a:path w="4733925" h="914400">
                <a:moveTo>
                  <a:pt x="38100" y="0"/>
                </a:moveTo>
                <a:lnTo>
                  <a:pt x="4657728" y="0"/>
                </a:lnTo>
                <a:cubicBezTo>
                  <a:pt x="4699810" y="0"/>
                  <a:pt x="4733925" y="34115"/>
                  <a:pt x="4733925" y="76197"/>
                </a:cubicBezTo>
                <a:lnTo>
                  <a:pt x="4733925" y="838203"/>
                </a:lnTo>
                <a:cubicBezTo>
                  <a:pt x="4733925" y="880285"/>
                  <a:pt x="4699810" y="914400"/>
                  <a:pt x="4657728" y="914400"/>
                </a:cubicBezTo>
                <a:lnTo>
                  <a:pt x="38100" y="914400"/>
                </a:lnTo>
                <a:cubicBezTo>
                  <a:pt x="17058" y="914400"/>
                  <a:pt x="0" y="897342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6917085" y="30194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3810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38100" y="914400"/>
                </a:lnTo>
                <a:cubicBezTo>
                  <a:pt x="17072" y="914400"/>
                  <a:pt x="0" y="897328"/>
                  <a:pt x="0" y="876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7069485" y="3171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7317135" y="3133725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Procurement Portal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050435" y="3438525"/>
            <a:ext cx="4552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Supplier portal emphasises broad indirect categories including IT goods and services. Structured vendor management.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740872" y="4252913"/>
            <a:ext cx="5067300" cy="2257425"/>
          </a:xfrm>
          <a:custGeom>
            <a:avLst/>
            <a:gdLst/>
            <a:ahLst/>
            <a:cxnLst/>
            <a:rect l="l" t="t" r="r" b="b"/>
            <a:pathLst>
              <a:path w="5067300" h="2257425">
                <a:moveTo>
                  <a:pt x="114293" y="0"/>
                </a:moveTo>
                <a:lnTo>
                  <a:pt x="4953007" y="0"/>
                </a:lnTo>
                <a:cubicBezTo>
                  <a:pt x="5016087" y="0"/>
                  <a:pt x="5067300" y="51213"/>
                  <a:pt x="5067300" y="114293"/>
                </a:cubicBezTo>
                <a:lnTo>
                  <a:pt x="5067300" y="2143132"/>
                </a:lnTo>
                <a:cubicBezTo>
                  <a:pt x="5067300" y="2206212"/>
                  <a:pt x="5016087" y="2257425"/>
                  <a:pt x="4953007" y="2257425"/>
                </a:cubicBezTo>
                <a:lnTo>
                  <a:pt x="114293" y="2257425"/>
                </a:lnTo>
                <a:cubicBezTo>
                  <a:pt x="51213" y="2257425"/>
                  <a:pt x="0" y="2206212"/>
                  <a:pt x="0" y="2143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Shape 64"/>
          <p:cNvSpPr/>
          <p:nvPr/>
        </p:nvSpPr>
        <p:spPr>
          <a:xfrm>
            <a:off x="6921847" y="4457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56257" y="18752"/>
                </a:moveTo>
                <a:lnTo>
                  <a:pt x="56257" y="32147"/>
                </a:lnTo>
                <a:lnTo>
                  <a:pt x="30104" y="32147"/>
                </a:lnTo>
                <a:cubicBezTo>
                  <a:pt x="25316" y="32147"/>
                  <a:pt x="21431" y="36031"/>
                  <a:pt x="21431" y="40820"/>
                </a:cubicBezTo>
                <a:cubicBezTo>
                  <a:pt x="21431" y="42159"/>
                  <a:pt x="21733" y="43499"/>
                  <a:pt x="22335" y="44704"/>
                </a:cubicBezTo>
                <a:lnTo>
                  <a:pt x="33520" y="67073"/>
                </a:lnTo>
                <a:cubicBezTo>
                  <a:pt x="29702" y="67676"/>
                  <a:pt x="26756" y="70991"/>
                  <a:pt x="26756" y="75009"/>
                </a:cubicBezTo>
                <a:cubicBezTo>
                  <a:pt x="26756" y="79463"/>
                  <a:pt x="30339" y="83046"/>
                  <a:pt x="34792" y="83046"/>
                </a:cubicBezTo>
                <a:lnTo>
                  <a:pt x="36668" y="83046"/>
                </a:lnTo>
                <a:lnTo>
                  <a:pt x="32113" y="128588"/>
                </a:lnTo>
                <a:lnTo>
                  <a:pt x="13294" y="152128"/>
                </a:lnTo>
                <a:cubicBezTo>
                  <a:pt x="11620" y="154238"/>
                  <a:pt x="10682" y="156850"/>
                  <a:pt x="10682" y="159562"/>
                </a:cubicBezTo>
                <a:cubicBezTo>
                  <a:pt x="10682" y="166126"/>
                  <a:pt x="16006" y="171450"/>
                  <a:pt x="22570" y="171450"/>
                </a:cubicBezTo>
                <a:lnTo>
                  <a:pt x="105917" y="171450"/>
                </a:lnTo>
                <a:cubicBezTo>
                  <a:pt x="112481" y="171450"/>
                  <a:pt x="117805" y="166126"/>
                  <a:pt x="117805" y="159562"/>
                </a:cubicBezTo>
                <a:cubicBezTo>
                  <a:pt x="117805" y="156850"/>
                  <a:pt x="116901" y="154238"/>
                  <a:pt x="115193" y="152128"/>
                </a:cubicBezTo>
                <a:lnTo>
                  <a:pt x="96441" y="128588"/>
                </a:lnTo>
                <a:lnTo>
                  <a:pt x="91886" y="83046"/>
                </a:lnTo>
                <a:lnTo>
                  <a:pt x="93762" y="83046"/>
                </a:lnTo>
                <a:cubicBezTo>
                  <a:pt x="98215" y="83046"/>
                  <a:pt x="101798" y="79463"/>
                  <a:pt x="101798" y="75009"/>
                </a:cubicBezTo>
                <a:cubicBezTo>
                  <a:pt x="101798" y="71025"/>
                  <a:pt x="98885" y="67676"/>
                  <a:pt x="95034" y="67073"/>
                </a:cubicBezTo>
                <a:lnTo>
                  <a:pt x="106219" y="44704"/>
                </a:lnTo>
                <a:cubicBezTo>
                  <a:pt x="106821" y="43499"/>
                  <a:pt x="107123" y="42159"/>
                  <a:pt x="107123" y="40820"/>
                </a:cubicBezTo>
                <a:cubicBezTo>
                  <a:pt x="107123" y="36031"/>
                  <a:pt x="103238" y="32147"/>
                  <a:pt x="98450" y="32147"/>
                </a:cubicBezTo>
                <a:lnTo>
                  <a:pt x="72297" y="32147"/>
                </a:lnTo>
                <a:lnTo>
                  <a:pt x="72297" y="18752"/>
                </a:lnTo>
                <a:lnTo>
                  <a:pt x="77655" y="18752"/>
                </a:lnTo>
                <a:cubicBezTo>
                  <a:pt x="82108" y="18752"/>
                  <a:pt x="85692" y="15169"/>
                  <a:pt x="85692" y="10716"/>
                </a:cubicBezTo>
                <a:cubicBezTo>
                  <a:pt x="85692" y="6262"/>
                  <a:pt x="82142" y="2679"/>
                  <a:pt x="77688" y="2679"/>
                </a:cubicBezTo>
                <a:lnTo>
                  <a:pt x="72330" y="2679"/>
                </a:lnTo>
                <a:lnTo>
                  <a:pt x="72330" y="-2679"/>
                </a:lnTo>
                <a:cubicBezTo>
                  <a:pt x="72330" y="-7133"/>
                  <a:pt x="68747" y="-10716"/>
                  <a:pt x="64294" y="-10716"/>
                </a:cubicBezTo>
                <a:cubicBezTo>
                  <a:pt x="59840" y="-10716"/>
                  <a:pt x="56257" y="-7133"/>
                  <a:pt x="56257" y="-2679"/>
                </a:cubicBezTo>
                <a:lnTo>
                  <a:pt x="56257" y="2679"/>
                </a:lnTo>
                <a:lnTo>
                  <a:pt x="50899" y="2679"/>
                </a:lnTo>
                <a:cubicBezTo>
                  <a:pt x="46446" y="2679"/>
                  <a:pt x="42863" y="6262"/>
                  <a:pt x="42863" y="10716"/>
                </a:cubicBezTo>
                <a:cubicBezTo>
                  <a:pt x="42863" y="15169"/>
                  <a:pt x="46446" y="18752"/>
                  <a:pt x="50899" y="18752"/>
                </a:cubicBezTo>
                <a:lnTo>
                  <a:pt x="56257" y="18752"/>
                </a:lnTo>
                <a:close/>
                <a:moveTo>
                  <a:pt x="109098" y="93628"/>
                </a:moveTo>
                <a:lnTo>
                  <a:pt x="111945" y="122259"/>
                </a:lnTo>
                <a:lnTo>
                  <a:pt x="127817" y="142082"/>
                </a:lnTo>
                <a:lnTo>
                  <a:pt x="129224" y="143991"/>
                </a:lnTo>
                <a:cubicBezTo>
                  <a:pt x="132304" y="148579"/>
                  <a:pt x="133945" y="154004"/>
                  <a:pt x="133945" y="159562"/>
                </a:cubicBezTo>
                <a:cubicBezTo>
                  <a:pt x="133945" y="163815"/>
                  <a:pt x="133008" y="167867"/>
                  <a:pt x="131300" y="171450"/>
                </a:cubicBezTo>
                <a:lnTo>
                  <a:pt x="159127" y="171450"/>
                </a:lnTo>
                <a:cubicBezTo>
                  <a:pt x="165925" y="171450"/>
                  <a:pt x="171450" y="165925"/>
                  <a:pt x="171450" y="159127"/>
                </a:cubicBezTo>
                <a:cubicBezTo>
                  <a:pt x="171450" y="156683"/>
                  <a:pt x="170713" y="154305"/>
                  <a:pt x="169374" y="152296"/>
                </a:cubicBezTo>
                <a:lnTo>
                  <a:pt x="160734" y="139337"/>
                </a:lnTo>
                <a:lnTo>
                  <a:pt x="160734" y="117905"/>
                </a:lnTo>
                <a:lnTo>
                  <a:pt x="165188" y="113452"/>
                </a:lnTo>
                <a:cubicBezTo>
                  <a:pt x="169206" y="109433"/>
                  <a:pt x="171450" y="103975"/>
                  <a:pt x="171450" y="98282"/>
                </a:cubicBezTo>
                <a:lnTo>
                  <a:pt x="171450" y="64294"/>
                </a:lnTo>
                <a:cubicBezTo>
                  <a:pt x="171450" y="58367"/>
                  <a:pt x="166661" y="53578"/>
                  <a:pt x="160734" y="53578"/>
                </a:cubicBezTo>
                <a:cubicBezTo>
                  <a:pt x="154807" y="53578"/>
                  <a:pt x="150019" y="58367"/>
                  <a:pt x="150019" y="64294"/>
                </a:cubicBezTo>
                <a:lnTo>
                  <a:pt x="150019" y="69652"/>
                </a:lnTo>
                <a:lnTo>
                  <a:pt x="139303" y="69652"/>
                </a:lnTo>
                <a:lnTo>
                  <a:pt x="139303" y="64294"/>
                </a:lnTo>
                <a:cubicBezTo>
                  <a:pt x="139303" y="58367"/>
                  <a:pt x="134515" y="53578"/>
                  <a:pt x="128588" y="53578"/>
                </a:cubicBezTo>
                <a:cubicBezTo>
                  <a:pt x="122660" y="53578"/>
                  <a:pt x="117872" y="58367"/>
                  <a:pt x="117872" y="64294"/>
                </a:cubicBezTo>
                <a:lnTo>
                  <a:pt x="117872" y="75009"/>
                </a:lnTo>
                <a:cubicBezTo>
                  <a:pt x="117872" y="82510"/>
                  <a:pt x="114456" y="89208"/>
                  <a:pt x="109098" y="9362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7117110" y="4410075"/>
            <a:ext cx="461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GTM Implication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898035" y="4791075"/>
            <a:ext cx="4752975" cy="1562100"/>
          </a:xfrm>
          <a:custGeom>
            <a:avLst/>
            <a:gdLst/>
            <a:ahLst/>
            <a:cxnLst/>
            <a:rect l="l" t="t" r="r" b="b"/>
            <a:pathLst>
              <a:path w="4752975" h="1562100">
                <a:moveTo>
                  <a:pt x="76199" y="0"/>
                </a:moveTo>
                <a:lnTo>
                  <a:pt x="4676776" y="0"/>
                </a:lnTo>
                <a:cubicBezTo>
                  <a:pt x="4718859" y="0"/>
                  <a:pt x="4752975" y="34116"/>
                  <a:pt x="4752975" y="76199"/>
                </a:cubicBezTo>
                <a:lnTo>
                  <a:pt x="4752975" y="1485901"/>
                </a:lnTo>
                <a:cubicBezTo>
                  <a:pt x="4752975" y="1527984"/>
                  <a:pt x="4718859" y="1562100"/>
                  <a:pt x="4676776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7012335" y="4905375"/>
            <a:ext cx="4600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 a </a:t>
            </a: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partner-influenced buying motion</a:t>
            </a:r>
            <a:r>
              <a:rPr lang="en-US" sz="12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. Many platform decisions will be shaped by strategic SIs and incumbents.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031385" y="55530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7255222" y="5514975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 TCS early in AI/ops contexts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031385" y="58197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7255222" y="5781675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Navigate Ariba procurement process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031385" y="608647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7255222" y="6048375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 with Microsoft/Azure ecosystem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46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INVESTOR-GRADE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6562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Spend Envelope: Benchmarked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66800"/>
            <a:ext cx="1131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Modelled using Avasant financial services benchmarks with Aviva FY2024 revenue anchors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5629275" cy="3152775"/>
          </a:xfrm>
          <a:custGeom>
            <a:avLst/>
            <a:gdLst/>
            <a:ahLst/>
            <a:cxnLst/>
            <a:rect l="l" t="t" r="r" b="b"/>
            <a:pathLst>
              <a:path w="5629275" h="3152775">
                <a:moveTo>
                  <a:pt x="114288" y="0"/>
                </a:moveTo>
                <a:lnTo>
                  <a:pt x="5514987" y="0"/>
                </a:lnTo>
                <a:cubicBezTo>
                  <a:pt x="5578106" y="0"/>
                  <a:pt x="5629275" y="51169"/>
                  <a:pt x="5629275" y="114288"/>
                </a:cubicBezTo>
                <a:lnTo>
                  <a:pt x="5629275" y="3038487"/>
                </a:lnTo>
                <a:cubicBezTo>
                  <a:pt x="5629275" y="3101606"/>
                  <a:pt x="5578106" y="3152775"/>
                  <a:pt x="5514987" y="3152775"/>
                </a:cubicBezTo>
                <a:lnTo>
                  <a:pt x="114288" y="3152775"/>
                </a:lnTo>
                <a:cubicBezTo>
                  <a:pt x="51169" y="3152775"/>
                  <a:pt x="0" y="3101606"/>
                  <a:pt x="0" y="3038487"/>
                </a:cubicBezTo>
                <a:lnTo>
                  <a:pt x="0" y="114288"/>
                </a:lnTo>
                <a:cubicBezTo>
                  <a:pt x="0" y="51169"/>
                  <a:pt x="51169" y="0"/>
                  <a:pt x="114288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28650" y="18859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19150" y="1847850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&amp; Benchmarks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228850"/>
            <a:ext cx="5219700" cy="990600"/>
          </a:xfrm>
          <a:custGeom>
            <a:avLst/>
            <a:gdLst/>
            <a:ahLst/>
            <a:cxnLst/>
            <a:rect l="l" t="t" r="r" b="b"/>
            <a:pathLst>
              <a:path w="5219700" h="990600">
                <a:moveTo>
                  <a:pt x="38100" y="0"/>
                </a:moveTo>
                <a:lnTo>
                  <a:pt x="5143503" y="0"/>
                </a:lnTo>
                <a:cubicBezTo>
                  <a:pt x="5185585" y="0"/>
                  <a:pt x="5219700" y="34115"/>
                  <a:pt x="5219700" y="76197"/>
                </a:cubicBezTo>
                <a:lnTo>
                  <a:pt x="5219700" y="914403"/>
                </a:lnTo>
                <a:cubicBezTo>
                  <a:pt x="5219700" y="956485"/>
                  <a:pt x="5185585" y="990600"/>
                  <a:pt x="5143503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00075" y="2228850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33425" y="2343150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Avasant Financial Services Benchmarks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0088" y="26479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25th %ile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283845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4.4%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82738" y="26479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68451" y="283845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~7.5%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65538" y="2647950"/>
            <a:ext cx="167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75th %ile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51250" y="2838450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11.4%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0075" y="3333750"/>
            <a:ext cx="5219700" cy="876300"/>
          </a:xfrm>
          <a:custGeom>
            <a:avLst/>
            <a:gdLst/>
            <a:ahLst/>
            <a:cxnLst/>
            <a:rect l="l" t="t" r="r" b="b"/>
            <a:pathLst>
              <a:path w="5219700" h="876300">
                <a:moveTo>
                  <a:pt x="38100" y="0"/>
                </a:moveTo>
                <a:lnTo>
                  <a:pt x="5143497" y="0"/>
                </a:lnTo>
                <a:cubicBezTo>
                  <a:pt x="5185583" y="0"/>
                  <a:pt x="5219700" y="34117"/>
                  <a:pt x="5219700" y="76203"/>
                </a:cubicBezTo>
                <a:lnTo>
                  <a:pt x="5219700" y="800097"/>
                </a:lnTo>
                <a:cubicBezTo>
                  <a:pt x="5219700" y="842183"/>
                  <a:pt x="5185583" y="876300"/>
                  <a:pt x="51434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00075" y="333375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33425" y="3448050"/>
            <a:ext cx="5048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Avila Revenue Anchor (FY2024)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3425" y="3714750"/>
            <a:ext cx="5038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Based on operating profit of £1,767m and general insurance premiums of £12.2bn, with estimated total revenue of ~£18-22bn range for IT spend modelling.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4767263"/>
            <a:ext cx="5629275" cy="1704975"/>
          </a:xfrm>
          <a:custGeom>
            <a:avLst/>
            <a:gdLst/>
            <a:ahLst/>
            <a:cxnLst/>
            <a:rect l="l" t="t" r="r" b="b"/>
            <a:pathLst>
              <a:path w="5629275" h="1704975">
                <a:moveTo>
                  <a:pt x="114302" y="0"/>
                </a:moveTo>
                <a:lnTo>
                  <a:pt x="5514973" y="0"/>
                </a:lnTo>
                <a:cubicBezTo>
                  <a:pt x="5578100" y="0"/>
                  <a:pt x="5629275" y="51175"/>
                  <a:pt x="5629275" y="114302"/>
                </a:cubicBezTo>
                <a:lnTo>
                  <a:pt x="5629275" y="1590673"/>
                </a:lnTo>
                <a:cubicBezTo>
                  <a:pt x="5629275" y="1653800"/>
                  <a:pt x="5578100" y="1704975"/>
                  <a:pt x="5514973" y="1704975"/>
                </a:cubicBezTo>
                <a:lnTo>
                  <a:pt x="114302" y="1704975"/>
                </a:lnTo>
                <a:cubicBezTo>
                  <a:pt x="51175" y="1704975"/>
                  <a:pt x="0" y="1653800"/>
                  <a:pt x="0" y="159067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28650" y="500062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3970" y="107156"/>
                </a:moveTo>
                <a:lnTo>
                  <a:pt x="21022" y="107156"/>
                </a:lnTo>
                <a:cubicBezTo>
                  <a:pt x="16073" y="107156"/>
                  <a:pt x="12092" y="103175"/>
                  <a:pt x="12092" y="98227"/>
                </a:cubicBezTo>
                <a:cubicBezTo>
                  <a:pt x="12092" y="93278"/>
                  <a:pt x="16073" y="89297"/>
                  <a:pt x="21022" y="89297"/>
                </a:cubicBezTo>
                <a:lnTo>
                  <a:pt x="28984" y="89297"/>
                </a:lnTo>
                <a:cubicBezTo>
                  <a:pt x="13878" y="54806"/>
                  <a:pt x="39105" y="15627"/>
                  <a:pt x="77242" y="15627"/>
                </a:cubicBezTo>
                <a:lnTo>
                  <a:pt x="80293" y="15627"/>
                </a:lnTo>
                <a:cubicBezTo>
                  <a:pt x="92794" y="15627"/>
                  <a:pt x="104924" y="19831"/>
                  <a:pt x="114709" y="27608"/>
                </a:cubicBezTo>
                <a:lnTo>
                  <a:pt x="120700" y="32333"/>
                </a:lnTo>
                <a:cubicBezTo>
                  <a:pt x="125871" y="36426"/>
                  <a:pt x="126727" y="43904"/>
                  <a:pt x="122634" y="49076"/>
                </a:cubicBezTo>
                <a:cubicBezTo>
                  <a:pt x="118542" y="54248"/>
                  <a:pt x="111063" y="55104"/>
                  <a:pt x="105891" y="51011"/>
                </a:cubicBezTo>
                <a:lnTo>
                  <a:pt x="99901" y="46286"/>
                </a:lnTo>
                <a:cubicBezTo>
                  <a:pt x="94320" y="41858"/>
                  <a:pt x="87399" y="39439"/>
                  <a:pt x="80256" y="39439"/>
                </a:cubicBezTo>
                <a:lnTo>
                  <a:pt x="77205" y="39439"/>
                </a:lnTo>
                <a:cubicBezTo>
                  <a:pt x="55885" y="39439"/>
                  <a:pt x="41970" y="61726"/>
                  <a:pt x="51271" y="80888"/>
                </a:cubicBezTo>
                <a:cubicBezTo>
                  <a:pt x="52611" y="83641"/>
                  <a:pt x="53727" y="86432"/>
                  <a:pt x="54657" y="89297"/>
                </a:cubicBezTo>
                <a:lnTo>
                  <a:pt x="110282" y="89297"/>
                </a:lnTo>
                <a:cubicBezTo>
                  <a:pt x="115230" y="89297"/>
                  <a:pt x="119211" y="93278"/>
                  <a:pt x="119211" y="98227"/>
                </a:cubicBezTo>
                <a:cubicBezTo>
                  <a:pt x="119211" y="103175"/>
                  <a:pt x="115230" y="107156"/>
                  <a:pt x="110282" y="107156"/>
                </a:cubicBezTo>
                <a:lnTo>
                  <a:pt x="57745" y="107156"/>
                </a:lnTo>
                <a:cubicBezTo>
                  <a:pt x="58117" y="120290"/>
                  <a:pt x="54508" y="133424"/>
                  <a:pt x="46992" y="144698"/>
                </a:cubicBezTo>
                <a:lnTo>
                  <a:pt x="40258" y="154781"/>
                </a:lnTo>
                <a:lnTo>
                  <a:pt x="119211" y="154781"/>
                </a:lnTo>
                <a:cubicBezTo>
                  <a:pt x="125797" y="154781"/>
                  <a:pt x="131118" y="160102"/>
                  <a:pt x="131118" y="166688"/>
                </a:cubicBezTo>
                <a:cubicBezTo>
                  <a:pt x="131118" y="173273"/>
                  <a:pt x="125797" y="178594"/>
                  <a:pt x="119211" y="178594"/>
                </a:cubicBezTo>
                <a:lnTo>
                  <a:pt x="18008" y="178594"/>
                </a:lnTo>
                <a:cubicBezTo>
                  <a:pt x="13618" y="178594"/>
                  <a:pt x="9599" y="176175"/>
                  <a:pt x="7516" y="172306"/>
                </a:cubicBezTo>
                <a:cubicBezTo>
                  <a:pt x="5432" y="168436"/>
                  <a:pt x="5655" y="163748"/>
                  <a:pt x="8111" y="160065"/>
                </a:cubicBezTo>
                <a:lnTo>
                  <a:pt x="27161" y="131490"/>
                </a:lnTo>
                <a:cubicBezTo>
                  <a:pt x="32035" y="124197"/>
                  <a:pt x="34305" y="115639"/>
                  <a:pt x="33933" y="10715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19150" y="49625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Spend Scenarios (Annual)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5788" y="5348288"/>
            <a:ext cx="1657350" cy="923925"/>
          </a:xfrm>
          <a:custGeom>
            <a:avLst/>
            <a:gdLst/>
            <a:ahLst/>
            <a:cxnLst/>
            <a:rect l="l" t="t" r="r" b="b"/>
            <a:pathLst>
              <a:path w="1657350" h="923925">
                <a:moveTo>
                  <a:pt x="76196" y="0"/>
                </a:moveTo>
                <a:lnTo>
                  <a:pt x="1581154" y="0"/>
                </a:lnTo>
                <a:cubicBezTo>
                  <a:pt x="1623236" y="0"/>
                  <a:pt x="1657350" y="34114"/>
                  <a:pt x="1657350" y="76196"/>
                </a:cubicBezTo>
                <a:lnTo>
                  <a:pt x="1657350" y="847729"/>
                </a:lnTo>
                <a:cubicBezTo>
                  <a:pt x="1657350" y="889811"/>
                  <a:pt x="1623236" y="923925"/>
                  <a:pt x="15811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94A3B8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71513" y="54673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Case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700" y="569595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£800m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275" y="6000750"/>
            <a:ext cx="1476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 4.4% of £18bn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370088" y="5348288"/>
            <a:ext cx="1657350" cy="923925"/>
          </a:xfrm>
          <a:custGeom>
            <a:avLst/>
            <a:gdLst/>
            <a:ahLst/>
            <a:cxnLst/>
            <a:rect l="l" t="t" r="r" b="b"/>
            <a:pathLst>
              <a:path w="1657350" h="923925">
                <a:moveTo>
                  <a:pt x="76196" y="0"/>
                </a:moveTo>
                <a:lnTo>
                  <a:pt x="1581154" y="0"/>
                </a:lnTo>
                <a:cubicBezTo>
                  <a:pt x="1623236" y="0"/>
                  <a:pt x="1657350" y="34114"/>
                  <a:pt x="1657350" y="76196"/>
                </a:cubicBezTo>
                <a:lnTo>
                  <a:pt x="1657350" y="847729"/>
                </a:lnTo>
                <a:cubicBezTo>
                  <a:pt x="1657350" y="889811"/>
                  <a:pt x="1623236" y="923925"/>
                  <a:pt x="15811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2455813" y="54673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 Case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432000" y="569595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£1.4bn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460575" y="6000750"/>
            <a:ext cx="1476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 7% of £20bn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154388" y="5348288"/>
            <a:ext cx="1657350" cy="923925"/>
          </a:xfrm>
          <a:custGeom>
            <a:avLst/>
            <a:gdLst/>
            <a:ahLst/>
            <a:cxnLst/>
            <a:rect l="l" t="t" r="r" b="b"/>
            <a:pathLst>
              <a:path w="1657350" h="923925">
                <a:moveTo>
                  <a:pt x="76196" y="0"/>
                </a:moveTo>
                <a:lnTo>
                  <a:pt x="1581154" y="0"/>
                </a:lnTo>
                <a:cubicBezTo>
                  <a:pt x="1623236" y="0"/>
                  <a:pt x="1657350" y="34114"/>
                  <a:pt x="1657350" y="76196"/>
                </a:cubicBezTo>
                <a:lnTo>
                  <a:pt x="1657350" y="847729"/>
                </a:lnTo>
                <a:cubicBezTo>
                  <a:pt x="1657350" y="889811"/>
                  <a:pt x="1623236" y="923925"/>
                  <a:pt x="1581154" y="923925"/>
                </a:cubicBezTo>
                <a:lnTo>
                  <a:pt x="76196" y="923925"/>
                </a:lnTo>
                <a:cubicBezTo>
                  <a:pt x="34114" y="923925"/>
                  <a:pt x="0" y="889811"/>
                  <a:pt x="0" y="847729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240113" y="54673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Case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16301" y="5695950"/>
            <a:ext cx="1533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£2.3bn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44876" y="6000750"/>
            <a:ext cx="14763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 10.5% of £22bn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76963" y="1452563"/>
            <a:ext cx="5629275" cy="3019425"/>
          </a:xfrm>
          <a:custGeom>
            <a:avLst/>
            <a:gdLst/>
            <a:ahLst/>
            <a:cxnLst/>
            <a:rect l="l" t="t" r="r" b="b"/>
            <a:pathLst>
              <a:path w="5629275" h="3019425">
                <a:moveTo>
                  <a:pt x="114285" y="0"/>
                </a:moveTo>
                <a:lnTo>
                  <a:pt x="5514990" y="0"/>
                </a:lnTo>
                <a:cubicBezTo>
                  <a:pt x="5578108" y="0"/>
                  <a:pt x="5629275" y="51167"/>
                  <a:pt x="5629275" y="114285"/>
                </a:cubicBezTo>
                <a:lnTo>
                  <a:pt x="5629275" y="2905140"/>
                </a:lnTo>
                <a:cubicBezTo>
                  <a:pt x="5629275" y="2968258"/>
                  <a:pt x="5578108" y="3019425"/>
                  <a:pt x="5514990" y="3019425"/>
                </a:cubicBezTo>
                <a:lnTo>
                  <a:pt x="114285" y="3019425"/>
                </a:lnTo>
                <a:cubicBezTo>
                  <a:pt x="51167" y="3019425"/>
                  <a:pt x="0" y="2968258"/>
                  <a:pt x="0" y="2905140"/>
                </a:cubicBezTo>
                <a:lnTo>
                  <a:pt x="0" y="114285"/>
                </a:lnTo>
                <a:cubicBezTo>
                  <a:pt x="0" y="51167"/>
                  <a:pt x="51167" y="0"/>
                  <a:pt x="114285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6384131" y="16859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610350" y="1647825"/>
            <a:ext cx="509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Spend by Tower (Illustrative)</a:t>
            </a:r>
            <a:endParaRPr lang="en-US" sz="1600" dirty="0"/>
          </a:p>
        </p:txBody>
      </p:sp>
      <p:pic>
        <p:nvPicPr>
          <p:cNvPr id="40" name="Image 0" descr="https://kimi-img.moonshot.cn/pub/slides/26-01-29-10:14:28-d5tc516dcmossbuh06u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2225" y="2028825"/>
            <a:ext cx="5238750" cy="2247900"/>
          </a:xfrm>
          <a:prstGeom prst="roundRect">
            <a:avLst>
              <a:gd name="adj" fmla="val 0"/>
            </a:avLst>
          </a:prstGeom>
        </p:spPr>
      </p:pic>
      <p:sp>
        <p:nvSpPr>
          <p:cNvPr id="41" name="Shape 38"/>
          <p:cNvSpPr/>
          <p:nvPr/>
        </p:nvSpPr>
        <p:spPr>
          <a:xfrm>
            <a:off x="6176963" y="4633913"/>
            <a:ext cx="5629275" cy="1838325"/>
          </a:xfrm>
          <a:custGeom>
            <a:avLst/>
            <a:gdLst/>
            <a:ahLst/>
            <a:cxnLst/>
            <a:rect l="l" t="t" r="r" b="b"/>
            <a:pathLst>
              <a:path w="5629275" h="1838325">
                <a:moveTo>
                  <a:pt x="114307" y="0"/>
                </a:moveTo>
                <a:lnTo>
                  <a:pt x="5514968" y="0"/>
                </a:lnTo>
                <a:cubicBezTo>
                  <a:pt x="5578098" y="0"/>
                  <a:pt x="5629275" y="51177"/>
                  <a:pt x="5629275" y="114307"/>
                </a:cubicBezTo>
                <a:lnTo>
                  <a:pt x="5629275" y="1724018"/>
                </a:lnTo>
                <a:cubicBezTo>
                  <a:pt x="5629275" y="1787148"/>
                  <a:pt x="5578098" y="1838325"/>
                  <a:pt x="551496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39"/>
          <p:cNvSpPr/>
          <p:nvPr/>
        </p:nvSpPr>
        <p:spPr>
          <a:xfrm>
            <a:off x="6357938" y="48387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6553200" y="4791075"/>
            <a:ext cx="518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High-Likelihood Spend Centres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334125" y="5133975"/>
            <a:ext cx="2619375" cy="342900"/>
          </a:xfrm>
          <a:custGeom>
            <a:avLst/>
            <a:gdLst/>
            <a:ahLst/>
            <a:cxnLst/>
            <a:rect l="l" t="t" r="r" b="b"/>
            <a:pathLst>
              <a:path w="2619375" h="342900">
                <a:moveTo>
                  <a:pt x="38100" y="0"/>
                </a:moveTo>
                <a:lnTo>
                  <a:pt x="2581275" y="0"/>
                </a:lnTo>
                <a:cubicBezTo>
                  <a:pt x="2602317" y="0"/>
                  <a:pt x="2619375" y="17058"/>
                  <a:pt x="2619375" y="38100"/>
                </a:cubicBezTo>
                <a:lnTo>
                  <a:pt x="2619375" y="304800"/>
                </a:lnTo>
                <a:cubicBezTo>
                  <a:pt x="2619375" y="325842"/>
                  <a:pt x="2602317" y="342900"/>
                  <a:pt x="2581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6421041" y="52387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0" y="87511"/>
                </a:moveTo>
                <a:cubicBezTo>
                  <a:pt x="0" y="108217"/>
                  <a:pt x="16799" y="125016"/>
                  <a:pt x="37505" y="125016"/>
                </a:cubicBezTo>
                <a:lnTo>
                  <a:pt x="116681" y="125016"/>
                </a:lnTo>
                <a:cubicBezTo>
                  <a:pt x="135095" y="125016"/>
                  <a:pt x="150019" y="110092"/>
                  <a:pt x="150019" y="91678"/>
                </a:cubicBezTo>
                <a:cubicBezTo>
                  <a:pt x="150019" y="78239"/>
                  <a:pt x="142075" y="66649"/>
                  <a:pt x="130615" y="61388"/>
                </a:cubicBezTo>
                <a:cubicBezTo>
                  <a:pt x="132360" y="57976"/>
                  <a:pt x="133350" y="54095"/>
                  <a:pt x="133350" y="50006"/>
                </a:cubicBezTo>
                <a:cubicBezTo>
                  <a:pt x="133350" y="36202"/>
                  <a:pt x="122151" y="25003"/>
                  <a:pt x="108347" y="25003"/>
                </a:cubicBezTo>
                <a:cubicBezTo>
                  <a:pt x="103737" y="25003"/>
                  <a:pt x="99440" y="26253"/>
                  <a:pt x="95741" y="28415"/>
                </a:cubicBezTo>
                <a:cubicBezTo>
                  <a:pt x="89464" y="16486"/>
                  <a:pt x="76937" y="8334"/>
                  <a:pt x="62508" y="8334"/>
                </a:cubicBezTo>
                <a:cubicBezTo>
                  <a:pt x="41802" y="8334"/>
                  <a:pt x="25003" y="25133"/>
                  <a:pt x="25003" y="45839"/>
                </a:cubicBezTo>
                <a:cubicBezTo>
                  <a:pt x="25003" y="47923"/>
                  <a:pt x="25185" y="49980"/>
                  <a:pt x="25498" y="51960"/>
                </a:cubicBezTo>
                <a:cubicBezTo>
                  <a:pt x="10678" y="56960"/>
                  <a:pt x="0" y="70998"/>
                  <a:pt x="0" y="8751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6653213" y="5210175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migration (Azure)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029700" y="5133975"/>
            <a:ext cx="2619375" cy="342900"/>
          </a:xfrm>
          <a:custGeom>
            <a:avLst/>
            <a:gdLst/>
            <a:ahLst/>
            <a:cxnLst/>
            <a:rect l="l" t="t" r="r" b="b"/>
            <a:pathLst>
              <a:path w="2619375" h="342900">
                <a:moveTo>
                  <a:pt x="38100" y="0"/>
                </a:moveTo>
                <a:lnTo>
                  <a:pt x="2581275" y="0"/>
                </a:lnTo>
                <a:cubicBezTo>
                  <a:pt x="2602317" y="0"/>
                  <a:pt x="2619375" y="17058"/>
                  <a:pt x="2619375" y="38100"/>
                </a:cubicBezTo>
                <a:lnTo>
                  <a:pt x="2619375" y="304800"/>
                </a:lnTo>
                <a:cubicBezTo>
                  <a:pt x="2619375" y="325842"/>
                  <a:pt x="2602317" y="342900"/>
                  <a:pt x="2581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8" name="Shape 45"/>
          <p:cNvSpPr/>
          <p:nvPr/>
        </p:nvSpPr>
        <p:spPr>
          <a:xfrm>
            <a:off x="9116616" y="52387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93970" y="313"/>
                </a:moveTo>
                <a:cubicBezTo>
                  <a:pt x="89542" y="-964"/>
                  <a:pt x="84932" y="1615"/>
                  <a:pt x="83656" y="6042"/>
                </a:cubicBezTo>
                <a:lnTo>
                  <a:pt x="50319" y="122724"/>
                </a:lnTo>
                <a:cubicBezTo>
                  <a:pt x="49043" y="127151"/>
                  <a:pt x="51621" y="131761"/>
                  <a:pt x="56049" y="133037"/>
                </a:cubicBezTo>
                <a:cubicBezTo>
                  <a:pt x="60476" y="134314"/>
                  <a:pt x="65086" y="131735"/>
                  <a:pt x="66362" y="127308"/>
                </a:cubicBezTo>
                <a:lnTo>
                  <a:pt x="99700" y="10626"/>
                </a:lnTo>
                <a:cubicBezTo>
                  <a:pt x="100976" y="6199"/>
                  <a:pt x="98398" y="1589"/>
                  <a:pt x="93970" y="313"/>
                </a:cubicBezTo>
                <a:close/>
                <a:moveTo>
                  <a:pt x="110795" y="35760"/>
                </a:moveTo>
                <a:cubicBezTo>
                  <a:pt x="107539" y="39015"/>
                  <a:pt x="107539" y="44302"/>
                  <a:pt x="110795" y="47558"/>
                </a:cubicBezTo>
                <a:lnTo>
                  <a:pt x="129912" y="66675"/>
                </a:lnTo>
                <a:lnTo>
                  <a:pt x="110795" y="85792"/>
                </a:lnTo>
                <a:cubicBezTo>
                  <a:pt x="107539" y="89048"/>
                  <a:pt x="107539" y="94335"/>
                  <a:pt x="110795" y="97590"/>
                </a:cubicBezTo>
                <a:cubicBezTo>
                  <a:pt x="114051" y="100846"/>
                  <a:pt x="119338" y="100846"/>
                  <a:pt x="122593" y="97590"/>
                </a:cubicBezTo>
                <a:lnTo>
                  <a:pt x="147597" y="72587"/>
                </a:lnTo>
                <a:cubicBezTo>
                  <a:pt x="150852" y="69332"/>
                  <a:pt x="150852" y="64044"/>
                  <a:pt x="147597" y="60789"/>
                </a:cubicBezTo>
                <a:lnTo>
                  <a:pt x="122593" y="35786"/>
                </a:lnTo>
                <a:cubicBezTo>
                  <a:pt x="119338" y="32530"/>
                  <a:pt x="114051" y="32530"/>
                  <a:pt x="110795" y="35786"/>
                </a:cubicBezTo>
                <a:close/>
                <a:moveTo>
                  <a:pt x="39250" y="35760"/>
                </a:moveTo>
                <a:cubicBezTo>
                  <a:pt x="35994" y="32504"/>
                  <a:pt x="30707" y="32504"/>
                  <a:pt x="27451" y="35760"/>
                </a:cubicBezTo>
                <a:lnTo>
                  <a:pt x="2448" y="60763"/>
                </a:lnTo>
                <a:cubicBezTo>
                  <a:pt x="-807" y="64018"/>
                  <a:pt x="-807" y="69306"/>
                  <a:pt x="2448" y="72561"/>
                </a:cubicBezTo>
                <a:lnTo>
                  <a:pt x="27451" y="97564"/>
                </a:lnTo>
                <a:cubicBezTo>
                  <a:pt x="30707" y="100820"/>
                  <a:pt x="35994" y="100820"/>
                  <a:pt x="39250" y="97564"/>
                </a:cubicBezTo>
                <a:cubicBezTo>
                  <a:pt x="42505" y="94309"/>
                  <a:pt x="42505" y="89022"/>
                  <a:pt x="39250" y="85766"/>
                </a:cubicBezTo>
                <a:lnTo>
                  <a:pt x="20133" y="66675"/>
                </a:lnTo>
                <a:lnTo>
                  <a:pt x="39224" y="47558"/>
                </a:lnTo>
                <a:cubicBezTo>
                  <a:pt x="42479" y="44302"/>
                  <a:pt x="42479" y="39015"/>
                  <a:pt x="39224" y="3576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6"/>
          <p:cNvSpPr/>
          <p:nvPr/>
        </p:nvSpPr>
        <p:spPr>
          <a:xfrm>
            <a:off x="9348788" y="5210175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productivity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34125" y="5553075"/>
            <a:ext cx="2619375" cy="342900"/>
          </a:xfrm>
          <a:custGeom>
            <a:avLst/>
            <a:gdLst/>
            <a:ahLst/>
            <a:cxnLst/>
            <a:rect l="l" t="t" r="r" b="b"/>
            <a:pathLst>
              <a:path w="2619375" h="342900">
                <a:moveTo>
                  <a:pt x="38100" y="0"/>
                </a:moveTo>
                <a:lnTo>
                  <a:pt x="2581275" y="0"/>
                </a:lnTo>
                <a:cubicBezTo>
                  <a:pt x="2602317" y="0"/>
                  <a:pt x="2619375" y="17058"/>
                  <a:pt x="2619375" y="38100"/>
                </a:cubicBezTo>
                <a:lnTo>
                  <a:pt x="2619375" y="304800"/>
                </a:lnTo>
                <a:cubicBezTo>
                  <a:pt x="2619375" y="325842"/>
                  <a:pt x="2602317" y="342900"/>
                  <a:pt x="2581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8"/>
          <p:cNvSpPr/>
          <p:nvPr/>
        </p:nvSpPr>
        <p:spPr>
          <a:xfrm>
            <a:off x="6429375" y="56578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31254" y="14585"/>
                </a:moveTo>
                <a:cubicBezTo>
                  <a:pt x="31254" y="6537"/>
                  <a:pt x="37791" y="0"/>
                  <a:pt x="45839" y="0"/>
                </a:cubicBezTo>
                <a:lnTo>
                  <a:pt x="52090" y="0"/>
                </a:lnTo>
                <a:cubicBezTo>
                  <a:pt x="56700" y="0"/>
                  <a:pt x="60424" y="3724"/>
                  <a:pt x="60424" y="8334"/>
                </a:cubicBezTo>
                <a:lnTo>
                  <a:pt x="60424" y="125016"/>
                </a:lnTo>
                <a:cubicBezTo>
                  <a:pt x="60424" y="129626"/>
                  <a:pt x="56700" y="133350"/>
                  <a:pt x="52090" y="133350"/>
                </a:cubicBezTo>
                <a:lnTo>
                  <a:pt x="43755" y="133350"/>
                </a:lnTo>
                <a:cubicBezTo>
                  <a:pt x="35994" y="133350"/>
                  <a:pt x="29457" y="128037"/>
                  <a:pt x="27608" y="120848"/>
                </a:cubicBezTo>
                <a:cubicBezTo>
                  <a:pt x="27425" y="120848"/>
                  <a:pt x="27269" y="120848"/>
                  <a:pt x="27087" y="120848"/>
                </a:cubicBezTo>
                <a:cubicBezTo>
                  <a:pt x="15575" y="120848"/>
                  <a:pt x="6251" y="111524"/>
                  <a:pt x="6251" y="100013"/>
                </a:cubicBezTo>
                <a:cubicBezTo>
                  <a:pt x="6251" y="95324"/>
                  <a:pt x="7813" y="91001"/>
                  <a:pt x="10418" y="87511"/>
                </a:cubicBezTo>
                <a:cubicBezTo>
                  <a:pt x="5365" y="83708"/>
                  <a:pt x="2084" y="77666"/>
                  <a:pt x="2084" y="70842"/>
                </a:cubicBezTo>
                <a:cubicBezTo>
                  <a:pt x="2084" y="62794"/>
                  <a:pt x="6668" y="55788"/>
                  <a:pt x="13335" y="52324"/>
                </a:cubicBezTo>
                <a:cubicBezTo>
                  <a:pt x="11486" y="49199"/>
                  <a:pt x="10418" y="45553"/>
                  <a:pt x="10418" y="41672"/>
                </a:cubicBezTo>
                <a:cubicBezTo>
                  <a:pt x="10418" y="30160"/>
                  <a:pt x="19742" y="20836"/>
                  <a:pt x="31254" y="20836"/>
                </a:cubicBezTo>
                <a:lnTo>
                  <a:pt x="31254" y="14585"/>
                </a:lnTo>
                <a:close/>
                <a:moveTo>
                  <a:pt x="102096" y="14585"/>
                </a:moveTo>
                <a:lnTo>
                  <a:pt x="102096" y="20836"/>
                </a:lnTo>
                <a:cubicBezTo>
                  <a:pt x="113608" y="20836"/>
                  <a:pt x="122932" y="30160"/>
                  <a:pt x="122932" y="41672"/>
                </a:cubicBezTo>
                <a:cubicBezTo>
                  <a:pt x="122932" y="45579"/>
                  <a:pt x="121864" y="49225"/>
                  <a:pt x="120015" y="52324"/>
                </a:cubicBezTo>
                <a:cubicBezTo>
                  <a:pt x="126709" y="55788"/>
                  <a:pt x="131266" y="62768"/>
                  <a:pt x="131266" y="70842"/>
                </a:cubicBezTo>
                <a:cubicBezTo>
                  <a:pt x="131266" y="77666"/>
                  <a:pt x="127985" y="83708"/>
                  <a:pt x="122932" y="87511"/>
                </a:cubicBezTo>
                <a:cubicBezTo>
                  <a:pt x="125537" y="91001"/>
                  <a:pt x="127099" y="95324"/>
                  <a:pt x="127099" y="100013"/>
                </a:cubicBezTo>
                <a:cubicBezTo>
                  <a:pt x="127099" y="111524"/>
                  <a:pt x="117775" y="120848"/>
                  <a:pt x="106263" y="120848"/>
                </a:cubicBezTo>
                <a:cubicBezTo>
                  <a:pt x="106081" y="120848"/>
                  <a:pt x="105925" y="120848"/>
                  <a:pt x="105742" y="120848"/>
                </a:cubicBezTo>
                <a:cubicBezTo>
                  <a:pt x="103893" y="128037"/>
                  <a:pt x="97356" y="133350"/>
                  <a:pt x="89595" y="133350"/>
                </a:cubicBezTo>
                <a:lnTo>
                  <a:pt x="81260" y="133350"/>
                </a:lnTo>
                <a:cubicBezTo>
                  <a:pt x="76650" y="133350"/>
                  <a:pt x="72926" y="129626"/>
                  <a:pt x="72926" y="125016"/>
                </a:cubicBezTo>
                <a:lnTo>
                  <a:pt x="72926" y="8334"/>
                </a:lnTo>
                <a:cubicBezTo>
                  <a:pt x="72926" y="3724"/>
                  <a:pt x="76650" y="0"/>
                  <a:pt x="81260" y="0"/>
                </a:cubicBezTo>
                <a:lnTo>
                  <a:pt x="87511" y="0"/>
                </a:lnTo>
                <a:cubicBezTo>
                  <a:pt x="95559" y="0"/>
                  <a:pt x="102096" y="6537"/>
                  <a:pt x="102096" y="14585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/>
          <p:nvPr/>
        </p:nvSpPr>
        <p:spPr>
          <a:xfrm>
            <a:off x="6653213" y="5629275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AI/MLOps (Dataiku)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029700" y="5553075"/>
            <a:ext cx="2619375" cy="342900"/>
          </a:xfrm>
          <a:custGeom>
            <a:avLst/>
            <a:gdLst/>
            <a:ahLst/>
            <a:cxnLst/>
            <a:rect l="l" t="t" r="r" b="b"/>
            <a:pathLst>
              <a:path w="2619375" h="342900">
                <a:moveTo>
                  <a:pt x="38100" y="0"/>
                </a:moveTo>
                <a:lnTo>
                  <a:pt x="2581275" y="0"/>
                </a:lnTo>
                <a:cubicBezTo>
                  <a:pt x="2602317" y="0"/>
                  <a:pt x="2619375" y="17058"/>
                  <a:pt x="2619375" y="38100"/>
                </a:cubicBezTo>
                <a:lnTo>
                  <a:pt x="2619375" y="304800"/>
                </a:lnTo>
                <a:cubicBezTo>
                  <a:pt x="2619375" y="325842"/>
                  <a:pt x="2602317" y="342900"/>
                  <a:pt x="2581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4" name="Shape 51"/>
          <p:cNvSpPr/>
          <p:nvPr/>
        </p:nvSpPr>
        <p:spPr>
          <a:xfrm>
            <a:off x="9108281" y="56578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2"/>
          <p:cNvSpPr/>
          <p:nvPr/>
        </p:nvSpPr>
        <p:spPr>
          <a:xfrm>
            <a:off x="9348788" y="5629275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admin (TCS)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6334125" y="5972175"/>
            <a:ext cx="2619375" cy="342900"/>
          </a:xfrm>
          <a:custGeom>
            <a:avLst/>
            <a:gdLst/>
            <a:ahLst/>
            <a:cxnLst/>
            <a:rect l="l" t="t" r="r" b="b"/>
            <a:pathLst>
              <a:path w="2619375" h="342900">
                <a:moveTo>
                  <a:pt x="38100" y="0"/>
                </a:moveTo>
                <a:lnTo>
                  <a:pt x="2581275" y="0"/>
                </a:lnTo>
                <a:cubicBezTo>
                  <a:pt x="2602317" y="0"/>
                  <a:pt x="2619375" y="17058"/>
                  <a:pt x="2619375" y="38100"/>
                </a:cubicBezTo>
                <a:lnTo>
                  <a:pt x="2619375" y="304800"/>
                </a:lnTo>
                <a:cubicBezTo>
                  <a:pt x="2619375" y="325842"/>
                  <a:pt x="2602317" y="342900"/>
                  <a:pt x="2581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6412706" y="6076950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6251" y="-4167"/>
                </a:moveTo>
                <a:cubicBezTo>
                  <a:pt x="2787" y="-4167"/>
                  <a:pt x="0" y="-1380"/>
                  <a:pt x="0" y="2084"/>
                </a:cubicBezTo>
                <a:cubicBezTo>
                  <a:pt x="0" y="5548"/>
                  <a:pt x="2787" y="8334"/>
                  <a:pt x="6251" y="8334"/>
                </a:cubicBezTo>
                <a:lnTo>
                  <a:pt x="18049" y="8334"/>
                </a:lnTo>
                <a:cubicBezTo>
                  <a:pt x="19065" y="8334"/>
                  <a:pt x="19924" y="9064"/>
                  <a:pt x="20107" y="10053"/>
                </a:cubicBezTo>
                <a:lnTo>
                  <a:pt x="33676" y="84620"/>
                </a:lnTo>
                <a:cubicBezTo>
                  <a:pt x="35291" y="93527"/>
                  <a:pt x="43052" y="100013"/>
                  <a:pt x="52116" y="100013"/>
                </a:cubicBezTo>
                <a:lnTo>
                  <a:pt x="118765" y="100013"/>
                </a:lnTo>
                <a:cubicBezTo>
                  <a:pt x="122229" y="100013"/>
                  <a:pt x="125016" y="97226"/>
                  <a:pt x="125016" y="93762"/>
                </a:cubicBezTo>
                <a:cubicBezTo>
                  <a:pt x="125016" y="90298"/>
                  <a:pt x="122229" y="87511"/>
                  <a:pt x="118765" y="87511"/>
                </a:cubicBezTo>
                <a:lnTo>
                  <a:pt x="52116" y="87511"/>
                </a:lnTo>
                <a:cubicBezTo>
                  <a:pt x="49095" y="87511"/>
                  <a:pt x="46516" y="85349"/>
                  <a:pt x="45969" y="82380"/>
                </a:cubicBezTo>
                <a:lnTo>
                  <a:pt x="44641" y="75009"/>
                </a:lnTo>
                <a:lnTo>
                  <a:pt x="123713" y="75009"/>
                </a:lnTo>
                <a:cubicBezTo>
                  <a:pt x="131735" y="75009"/>
                  <a:pt x="138611" y="69306"/>
                  <a:pt x="140096" y="61414"/>
                </a:cubicBezTo>
                <a:lnTo>
                  <a:pt x="148170" y="18205"/>
                </a:lnTo>
                <a:cubicBezTo>
                  <a:pt x="149133" y="13075"/>
                  <a:pt x="145200" y="8334"/>
                  <a:pt x="139965" y="8334"/>
                </a:cubicBezTo>
                <a:lnTo>
                  <a:pt x="32478" y="8334"/>
                </a:lnTo>
                <a:lnTo>
                  <a:pt x="32374" y="7813"/>
                </a:lnTo>
                <a:cubicBezTo>
                  <a:pt x="31124" y="886"/>
                  <a:pt x="25081" y="-4167"/>
                  <a:pt x="18023" y="-4167"/>
                </a:cubicBezTo>
                <a:lnTo>
                  <a:pt x="6251" y="-4167"/>
                </a:lnTo>
                <a:close/>
                <a:moveTo>
                  <a:pt x="54173" y="133350"/>
                </a:moveTo>
                <a:cubicBezTo>
                  <a:pt x="61073" y="133350"/>
                  <a:pt x="66675" y="127748"/>
                  <a:pt x="66675" y="120848"/>
                </a:cubicBezTo>
                <a:cubicBezTo>
                  <a:pt x="66675" y="113949"/>
                  <a:pt x="61073" y="108347"/>
                  <a:pt x="54173" y="108347"/>
                </a:cubicBezTo>
                <a:cubicBezTo>
                  <a:pt x="47274" y="108347"/>
                  <a:pt x="41672" y="113949"/>
                  <a:pt x="41672" y="120848"/>
                </a:cubicBezTo>
                <a:cubicBezTo>
                  <a:pt x="41672" y="127748"/>
                  <a:pt x="47274" y="133350"/>
                  <a:pt x="54173" y="133350"/>
                </a:cubicBezTo>
                <a:close/>
                <a:moveTo>
                  <a:pt x="112514" y="133350"/>
                </a:moveTo>
                <a:cubicBezTo>
                  <a:pt x="119414" y="133350"/>
                  <a:pt x="125016" y="127748"/>
                  <a:pt x="125016" y="120848"/>
                </a:cubicBezTo>
                <a:cubicBezTo>
                  <a:pt x="125016" y="113949"/>
                  <a:pt x="119414" y="108347"/>
                  <a:pt x="112514" y="108347"/>
                </a:cubicBezTo>
                <a:cubicBezTo>
                  <a:pt x="105614" y="108347"/>
                  <a:pt x="100013" y="113949"/>
                  <a:pt x="100013" y="120848"/>
                </a:cubicBezTo>
                <a:cubicBezTo>
                  <a:pt x="100013" y="127748"/>
                  <a:pt x="105614" y="133350"/>
                  <a:pt x="112514" y="13335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/>
          <p:nvPr/>
        </p:nvSpPr>
        <p:spPr>
          <a:xfrm>
            <a:off x="6653213" y="6048375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 (Ariba)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9029700" y="5972175"/>
            <a:ext cx="2619375" cy="342900"/>
          </a:xfrm>
          <a:custGeom>
            <a:avLst/>
            <a:gdLst/>
            <a:ahLst/>
            <a:cxnLst/>
            <a:rect l="l" t="t" r="r" b="b"/>
            <a:pathLst>
              <a:path w="2619375" h="342900">
                <a:moveTo>
                  <a:pt x="38100" y="0"/>
                </a:moveTo>
                <a:lnTo>
                  <a:pt x="2581275" y="0"/>
                </a:lnTo>
                <a:cubicBezTo>
                  <a:pt x="2602317" y="0"/>
                  <a:pt x="2619375" y="17058"/>
                  <a:pt x="2619375" y="38100"/>
                </a:cubicBezTo>
                <a:lnTo>
                  <a:pt x="2619375" y="304800"/>
                </a:lnTo>
                <a:cubicBezTo>
                  <a:pt x="2619375" y="325842"/>
                  <a:pt x="2602317" y="342900"/>
                  <a:pt x="258127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Shape 57"/>
          <p:cNvSpPr/>
          <p:nvPr/>
        </p:nvSpPr>
        <p:spPr>
          <a:xfrm>
            <a:off x="9116616" y="6076950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64591" y="22920"/>
                </a:moveTo>
                <a:lnTo>
                  <a:pt x="85427" y="22920"/>
                </a:lnTo>
                <a:lnTo>
                  <a:pt x="85427" y="35421"/>
                </a:lnTo>
                <a:lnTo>
                  <a:pt x="64591" y="35421"/>
                </a:lnTo>
                <a:lnTo>
                  <a:pt x="64591" y="22920"/>
                </a:lnTo>
                <a:close/>
                <a:moveTo>
                  <a:pt x="62508" y="8334"/>
                </a:moveTo>
                <a:cubicBezTo>
                  <a:pt x="55606" y="8334"/>
                  <a:pt x="50006" y="13934"/>
                  <a:pt x="50006" y="20836"/>
                </a:cubicBezTo>
                <a:lnTo>
                  <a:pt x="50006" y="37505"/>
                </a:lnTo>
                <a:cubicBezTo>
                  <a:pt x="50006" y="44407"/>
                  <a:pt x="55606" y="50006"/>
                  <a:pt x="62508" y="50006"/>
                </a:cubicBezTo>
                <a:lnTo>
                  <a:pt x="66675" y="50006"/>
                </a:lnTo>
                <a:lnTo>
                  <a:pt x="66675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33337" y="75009"/>
                </a:lnTo>
                <a:lnTo>
                  <a:pt x="33337" y="83344"/>
                </a:lnTo>
                <a:lnTo>
                  <a:pt x="29170" y="83344"/>
                </a:lnTo>
                <a:cubicBezTo>
                  <a:pt x="22268" y="83344"/>
                  <a:pt x="16669" y="88943"/>
                  <a:pt x="16669" y="95845"/>
                </a:cubicBezTo>
                <a:lnTo>
                  <a:pt x="16669" y="112514"/>
                </a:lnTo>
                <a:cubicBezTo>
                  <a:pt x="16669" y="119416"/>
                  <a:pt x="22268" y="125016"/>
                  <a:pt x="29170" y="125016"/>
                </a:cubicBezTo>
                <a:lnTo>
                  <a:pt x="54173" y="125016"/>
                </a:lnTo>
                <a:cubicBezTo>
                  <a:pt x="61075" y="125016"/>
                  <a:pt x="66675" y="119416"/>
                  <a:pt x="66675" y="112514"/>
                </a:cubicBezTo>
                <a:lnTo>
                  <a:pt x="66675" y="95845"/>
                </a:lnTo>
                <a:cubicBezTo>
                  <a:pt x="66675" y="88943"/>
                  <a:pt x="61075" y="83344"/>
                  <a:pt x="54173" y="83344"/>
                </a:cubicBezTo>
                <a:lnTo>
                  <a:pt x="50006" y="83344"/>
                </a:lnTo>
                <a:lnTo>
                  <a:pt x="50006" y="75009"/>
                </a:lnTo>
                <a:lnTo>
                  <a:pt x="100013" y="75009"/>
                </a:lnTo>
                <a:lnTo>
                  <a:pt x="100013" y="83344"/>
                </a:lnTo>
                <a:lnTo>
                  <a:pt x="95845" y="83344"/>
                </a:lnTo>
                <a:cubicBezTo>
                  <a:pt x="88943" y="83344"/>
                  <a:pt x="83344" y="88943"/>
                  <a:pt x="83344" y="95845"/>
                </a:cubicBezTo>
                <a:lnTo>
                  <a:pt x="83344" y="112514"/>
                </a:lnTo>
                <a:cubicBezTo>
                  <a:pt x="83344" y="119416"/>
                  <a:pt x="88943" y="125016"/>
                  <a:pt x="95845" y="125016"/>
                </a:cubicBezTo>
                <a:lnTo>
                  <a:pt x="120848" y="125016"/>
                </a:lnTo>
                <a:cubicBezTo>
                  <a:pt x="127750" y="125016"/>
                  <a:pt x="133350" y="119416"/>
                  <a:pt x="133350" y="112514"/>
                </a:cubicBezTo>
                <a:lnTo>
                  <a:pt x="133350" y="95845"/>
                </a:lnTo>
                <a:cubicBezTo>
                  <a:pt x="133350" y="88943"/>
                  <a:pt x="127750" y="83344"/>
                  <a:pt x="120848" y="83344"/>
                </a:cubicBezTo>
                <a:lnTo>
                  <a:pt x="116681" y="83344"/>
                </a:lnTo>
                <a:lnTo>
                  <a:pt x="116681" y="75009"/>
                </a:lnTo>
                <a:lnTo>
                  <a:pt x="141684" y="75009"/>
                </a:lnTo>
                <a:cubicBezTo>
                  <a:pt x="146294" y="75009"/>
                  <a:pt x="150019" y="71285"/>
                  <a:pt x="150019" y="66675"/>
                </a:cubicBezTo>
                <a:cubicBezTo>
                  <a:pt x="150019" y="62065"/>
                  <a:pt x="146294" y="58341"/>
                  <a:pt x="141684" y="58341"/>
                </a:cubicBezTo>
                <a:lnTo>
                  <a:pt x="83344" y="58341"/>
                </a:lnTo>
                <a:lnTo>
                  <a:pt x="83344" y="50006"/>
                </a:lnTo>
                <a:lnTo>
                  <a:pt x="87511" y="50006"/>
                </a:lnTo>
                <a:cubicBezTo>
                  <a:pt x="94413" y="50006"/>
                  <a:pt x="100013" y="44407"/>
                  <a:pt x="100013" y="37505"/>
                </a:cubicBezTo>
                <a:lnTo>
                  <a:pt x="100013" y="20836"/>
                </a:lnTo>
                <a:cubicBezTo>
                  <a:pt x="100013" y="13934"/>
                  <a:pt x="94413" y="8334"/>
                  <a:pt x="87511" y="8334"/>
                </a:cubicBezTo>
                <a:lnTo>
                  <a:pt x="62508" y="8334"/>
                </a:lnTo>
                <a:close/>
                <a:moveTo>
                  <a:pt x="116681" y="97929"/>
                </a:moveTo>
                <a:lnTo>
                  <a:pt x="118765" y="97929"/>
                </a:lnTo>
                <a:lnTo>
                  <a:pt x="118765" y="110430"/>
                </a:lnTo>
                <a:lnTo>
                  <a:pt x="97929" y="110430"/>
                </a:lnTo>
                <a:lnTo>
                  <a:pt x="97929" y="97929"/>
                </a:lnTo>
                <a:lnTo>
                  <a:pt x="116681" y="97929"/>
                </a:lnTo>
                <a:close/>
                <a:moveTo>
                  <a:pt x="50006" y="97929"/>
                </a:moveTo>
                <a:lnTo>
                  <a:pt x="52090" y="97929"/>
                </a:lnTo>
                <a:lnTo>
                  <a:pt x="52090" y="110430"/>
                </a:lnTo>
                <a:lnTo>
                  <a:pt x="31254" y="110430"/>
                </a:lnTo>
                <a:lnTo>
                  <a:pt x="31254" y="97929"/>
                </a:lnTo>
                <a:lnTo>
                  <a:pt x="50006" y="97929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1" name="Text 58"/>
          <p:cNvSpPr/>
          <p:nvPr/>
        </p:nvSpPr>
        <p:spPr>
          <a:xfrm>
            <a:off x="9348788" y="6048375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Network/connectivity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381000"/>
          </a:xfrm>
          <a:custGeom>
            <a:avLst/>
            <a:gdLst/>
            <a:ahLst/>
            <a:cxnLst/>
            <a:rect l="l" t="t" r="r" b="b"/>
            <a:pathLst>
              <a:path w="76200" h="381000">
                <a:moveTo>
                  <a:pt x="0" y="0"/>
                </a:moveTo>
                <a:lnTo>
                  <a:pt x="76200" y="0"/>
                </a:lnTo>
                <a:lnTo>
                  <a:pt x="762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642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POSITIONING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6524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Workflow Automation: Six Wedge Plays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066800"/>
            <a:ext cx="11315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 as "claims + service + compliance throughput"—not generic RPA. Map to Aviva's insurer economics.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5763" y="1452563"/>
            <a:ext cx="3724275" cy="2457450"/>
          </a:xfrm>
          <a:custGeom>
            <a:avLst/>
            <a:gdLst/>
            <a:ahLst/>
            <a:cxnLst/>
            <a:rect l="l" t="t" r="r" b="b"/>
            <a:pathLst>
              <a:path w="3724275" h="2457450">
                <a:moveTo>
                  <a:pt x="114296" y="0"/>
                </a:moveTo>
                <a:lnTo>
                  <a:pt x="3609979" y="0"/>
                </a:lnTo>
                <a:cubicBezTo>
                  <a:pt x="3673103" y="0"/>
                  <a:pt x="3724275" y="51172"/>
                  <a:pt x="3724275" y="114296"/>
                </a:cubicBezTo>
                <a:lnTo>
                  <a:pt x="3724275" y="2343154"/>
                </a:lnTo>
                <a:cubicBezTo>
                  <a:pt x="3724275" y="2406278"/>
                  <a:pt x="3673103" y="2457450"/>
                  <a:pt x="36099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42925" y="163353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99046" y="1690688"/>
            <a:ext cx="15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8225" y="1609725"/>
            <a:ext cx="30003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Claims Triage &amp; Straight-Through 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2925" y="2152650"/>
            <a:ext cx="347662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intake → fraud checks → settlement routing. Automate high-volume, rules-based claims decisions.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4356" y="28098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62000" y="2790825"/>
            <a:ext cx="16859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+ NLP document extraction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356" y="3019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62000" y="3000375"/>
            <a:ext cx="1228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fraud scoring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4356" y="3228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62000" y="3209925"/>
            <a:ext cx="1390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Auto-routing to settlement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2925" y="3481388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  <a:lnTo>
                  <a:pt x="3409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2925" y="356235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ROI: 40-60% cycle time reduction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33863" y="1452563"/>
            <a:ext cx="3724275" cy="2457450"/>
          </a:xfrm>
          <a:custGeom>
            <a:avLst/>
            <a:gdLst/>
            <a:ahLst/>
            <a:cxnLst/>
            <a:rect l="l" t="t" r="r" b="b"/>
            <a:pathLst>
              <a:path w="3724275" h="2457450">
                <a:moveTo>
                  <a:pt x="114296" y="0"/>
                </a:moveTo>
                <a:lnTo>
                  <a:pt x="3609979" y="0"/>
                </a:lnTo>
                <a:cubicBezTo>
                  <a:pt x="3673103" y="0"/>
                  <a:pt x="3724275" y="51172"/>
                  <a:pt x="3724275" y="114296"/>
                </a:cubicBezTo>
                <a:lnTo>
                  <a:pt x="3724275" y="2343154"/>
                </a:lnTo>
                <a:cubicBezTo>
                  <a:pt x="3724275" y="2406278"/>
                  <a:pt x="3673103" y="2457450"/>
                  <a:pt x="36099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391025" y="160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31668" y="1666875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86325" y="1693069"/>
            <a:ext cx="2381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Centre Agent Co-Pilot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91025" y="2105025"/>
            <a:ext cx="3476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summarisation, next-best-action, knowledge retrieval. Augment agent productivity with real-time AI assistance.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12456" y="28098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610100" y="2790825"/>
            <a:ext cx="1209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transcription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12456" y="3019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610100" y="3000375"/>
            <a:ext cx="1009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12456" y="3228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610100" y="3209925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base query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91025" y="3481388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  <a:lnTo>
                  <a:pt x="3409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391025" y="356235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ROI: 25-35% handle time reduction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81962" y="1452563"/>
            <a:ext cx="3724275" cy="2457450"/>
          </a:xfrm>
          <a:custGeom>
            <a:avLst/>
            <a:gdLst/>
            <a:ahLst/>
            <a:cxnLst/>
            <a:rect l="l" t="t" r="r" b="b"/>
            <a:pathLst>
              <a:path w="3724275" h="2457450">
                <a:moveTo>
                  <a:pt x="114296" y="0"/>
                </a:moveTo>
                <a:lnTo>
                  <a:pt x="3609979" y="0"/>
                </a:lnTo>
                <a:cubicBezTo>
                  <a:pt x="3673103" y="0"/>
                  <a:pt x="3724275" y="51172"/>
                  <a:pt x="3724275" y="114296"/>
                </a:cubicBezTo>
                <a:lnTo>
                  <a:pt x="3724275" y="2343154"/>
                </a:lnTo>
                <a:cubicBezTo>
                  <a:pt x="3724275" y="2406278"/>
                  <a:pt x="3673103" y="2457450"/>
                  <a:pt x="36099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8239125" y="16097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8379023" y="1666875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734425" y="1693069"/>
            <a:ext cx="2209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Servicing Automation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39125" y="2105025"/>
            <a:ext cx="3476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Renewals, cancellations, mid-term adjustments. Aviva already cites automation gains in this area—expand the scope.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60556" y="28098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458200" y="2790825"/>
            <a:ext cx="13239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Auto-renewal processing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0556" y="3019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8458200" y="3000375"/>
            <a:ext cx="1171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MTA workflow routing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60556" y="322897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8458200" y="3209925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generation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39125" y="3481388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  <a:lnTo>
                  <a:pt x="3409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8239125" y="3562350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ROI: 50%+ processing cost reduction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5763" y="4033837"/>
            <a:ext cx="3724275" cy="2457450"/>
          </a:xfrm>
          <a:custGeom>
            <a:avLst/>
            <a:gdLst/>
            <a:ahLst/>
            <a:cxnLst/>
            <a:rect l="l" t="t" r="r" b="b"/>
            <a:pathLst>
              <a:path w="3724275" h="2457450">
                <a:moveTo>
                  <a:pt x="114296" y="0"/>
                </a:moveTo>
                <a:lnTo>
                  <a:pt x="3609979" y="0"/>
                </a:lnTo>
                <a:cubicBezTo>
                  <a:pt x="3673103" y="0"/>
                  <a:pt x="3724275" y="51172"/>
                  <a:pt x="3724275" y="114296"/>
                </a:cubicBezTo>
                <a:lnTo>
                  <a:pt x="3724275" y="2343154"/>
                </a:lnTo>
                <a:cubicBezTo>
                  <a:pt x="3724275" y="2406278"/>
                  <a:pt x="3673103" y="2457450"/>
                  <a:pt x="36099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542925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82823" y="42481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38225" y="4274344"/>
            <a:ext cx="2667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&amp; Controls Automation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2925" y="4686300"/>
            <a:ext cx="3476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trails, policy governance, evidence capture. Critical for regulated insurance operations and Solvency II compliance.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4356" y="53911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762000" y="5372100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audit logging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4356" y="5600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762000" y="5581650"/>
            <a:ext cx="11334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version control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4356" y="58102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762000" y="5791200"/>
            <a:ext cx="15525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 evidence capture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42925" y="6062663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  <a:lnTo>
                  <a:pt x="3409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542925" y="614362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ROI: 60% audit prep time reduction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233863" y="4033837"/>
            <a:ext cx="3724275" cy="2457450"/>
          </a:xfrm>
          <a:custGeom>
            <a:avLst/>
            <a:gdLst/>
            <a:ahLst/>
            <a:cxnLst/>
            <a:rect l="l" t="t" r="r" b="b"/>
            <a:pathLst>
              <a:path w="3724275" h="2457450">
                <a:moveTo>
                  <a:pt x="114296" y="0"/>
                </a:moveTo>
                <a:lnTo>
                  <a:pt x="3609979" y="0"/>
                </a:lnTo>
                <a:cubicBezTo>
                  <a:pt x="3673103" y="0"/>
                  <a:pt x="3724275" y="51172"/>
                  <a:pt x="3724275" y="114296"/>
                </a:cubicBezTo>
                <a:lnTo>
                  <a:pt x="3724275" y="2343154"/>
                </a:lnTo>
                <a:cubicBezTo>
                  <a:pt x="3724275" y="2406278"/>
                  <a:pt x="3673103" y="2457450"/>
                  <a:pt x="36099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4391025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4532114" y="4248150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886325" y="4274344"/>
            <a:ext cx="25622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Delivery Automation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391025" y="4686300"/>
            <a:ext cx="3476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CI/CD guardrails, test automation, release governance. Align with Aviva's GitHub Copilot and developer productivity focus.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412456" y="53911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4610100" y="5372100"/>
            <a:ext cx="1466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testing pipelines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12456" y="5600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4610100" y="558165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Release orchestration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12456" y="58102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4610100" y="5791200"/>
            <a:ext cx="1438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gates &amp; governance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391025" y="6062663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  <a:lnTo>
                  <a:pt x="3409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4391025" y="614362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ROI: 30-40% release cycle acceleration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081962" y="4033837"/>
            <a:ext cx="3724275" cy="2457450"/>
          </a:xfrm>
          <a:custGeom>
            <a:avLst/>
            <a:gdLst/>
            <a:ahLst/>
            <a:cxnLst/>
            <a:rect l="l" t="t" r="r" b="b"/>
            <a:pathLst>
              <a:path w="3724275" h="2457450">
                <a:moveTo>
                  <a:pt x="114296" y="0"/>
                </a:moveTo>
                <a:lnTo>
                  <a:pt x="3609979" y="0"/>
                </a:lnTo>
                <a:cubicBezTo>
                  <a:pt x="3673103" y="0"/>
                  <a:pt x="3724275" y="51172"/>
                  <a:pt x="3724275" y="114296"/>
                </a:cubicBezTo>
                <a:lnTo>
                  <a:pt x="3724275" y="2343154"/>
                </a:lnTo>
                <a:cubicBezTo>
                  <a:pt x="3724275" y="2406278"/>
                  <a:pt x="3673103" y="2457450"/>
                  <a:pt x="36099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8239125" y="419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8378279" y="4248150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734425" y="4274344"/>
            <a:ext cx="21812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Underwriting Augmentation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239125" y="4686300"/>
            <a:ext cx="3476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data enrichment + workflow routing. Enhance underwriting decisions with AI-powered risk assessment and automated routing.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60556" y="53911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8458200" y="5372100"/>
            <a:ext cx="1285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data integration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260556" y="560070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8458200" y="5581650"/>
            <a:ext cx="1057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scoring models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60556" y="5810250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1" name="Text 79"/>
          <p:cNvSpPr/>
          <p:nvPr/>
        </p:nvSpPr>
        <p:spPr>
          <a:xfrm>
            <a:off x="8458200" y="5791200"/>
            <a:ext cx="1533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routing to underwriters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239125" y="6062663"/>
            <a:ext cx="3409950" cy="9525"/>
          </a:xfrm>
          <a:custGeom>
            <a:avLst/>
            <a:gdLst/>
            <a:ahLst/>
            <a:cxnLst/>
            <a:rect l="l" t="t" r="r" b="b"/>
            <a:pathLst>
              <a:path w="3409950" h="9525">
                <a:moveTo>
                  <a:pt x="0" y="0"/>
                </a:moveTo>
                <a:lnTo>
                  <a:pt x="3409950" y="0"/>
                </a:lnTo>
                <a:lnTo>
                  <a:pt x="34099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8239125" y="6143625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ROI: 20-30% quote-to-bind acceleration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625" y="458412"/>
            <a:ext cx="70525" cy="352625"/>
          </a:xfrm>
          <a:custGeom>
            <a:avLst/>
            <a:gdLst/>
            <a:ahLst/>
            <a:cxnLst/>
            <a:rect l="l" t="t" r="r" b="b"/>
            <a:pathLst>
              <a:path w="70525" h="352625">
                <a:moveTo>
                  <a:pt x="0" y="0"/>
                </a:moveTo>
                <a:lnTo>
                  <a:pt x="70525" y="0"/>
                </a:lnTo>
                <a:lnTo>
                  <a:pt x="70525" y="352625"/>
                </a:lnTo>
                <a:lnTo>
                  <a:pt x="0" y="352625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28937" y="352625"/>
            <a:ext cx="5976989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kern="0" spc="56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INFRASTRUCTURE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28937" y="564200"/>
            <a:ext cx="6065145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Centre &amp; Interconnection Proposition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28937" y="987349"/>
            <a:ext cx="11380963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data centre + interconnection matters even in "cloud first" insurance—hard constraints favour hybrid solutions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7033" y="1344383"/>
            <a:ext cx="5668443" cy="5461152"/>
          </a:xfrm>
          <a:custGeom>
            <a:avLst/>
            <a:gdLst/>
            <a:ahLst/>
            <a:cxnLst/>
            <a:rect l="l" t="t" r="r" b="b"/>
            <a:pathLst>
              <a:path w="5668443" h="5712521">
                <a:moveTo>
                  <a:pt x="105773" y="0"/>
                </a:moveTo>
                <a:lnTo>
                  <a:pt x="5562669" y="0"/>
                </a:lnTo>
                <a:cubicBezTo>
                  <a:pt x="5621086" y="0"/>
                  <a:pt x="5668443" y="47356"/>
                  <a:pt x="5668443" y="105773"/>
                </a:cubicBezTo>
                <a:lnTo>
                  <a:pt x="5668443" y="5606747"/>
                </a:lnTo>
                <a:cubicBezTo>
                  <a:pt x="5668443" y="5665164"/>
                  <a:pt x="5621086" y="5712521"/>
                  <a:pt x="5562669" y="5712521"/>
                </a:cubicBezTo>
                <a:lnTo>
                  <a:pt x="105773" y="5712521"/>
                </a:lnTo>
                <a:cubicBezTo>
                  <a:pt x="47356" y="5712521"/>
                  <a:pt x="0" y="5665164"/>
                  <a:pt x="0" y="5606747"/>
                </a:cubicBezTo>
                <a:lnTo>
                  <a:pt x="0" y="105773"/>
                </a:lnTo>
                <a:cubicBezTo>
                  <a:pt x="0" y="47356"/>
                  <a:pt x="47356" y="0"/>
                  <a:pt x="105773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59792" y="1560364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88156" y="0"/>
                </a:moveTo>
                <a:cubicBezTo>
                  <a:pt x="93218" y="0"/>
                  <a:pt x="97867" y="2789"/>
                  <a:pt x="100278" y="7232"/>
                </a:cubicBezTo>
                <a:lnTo>
                  <a:pt x="174659" y="144976"/>
                </a:lnTo>
                <a:cubicBezTo>
                  <a:pt x="176967" y="149246"/>
                  <a:pt x="176863" y="154411"/>
                  <a:pt x="174384" y="158578"/>
                </a:cubicBezTo>
                <a:cubicBezTo>
                  <a:pt x="171905" y="162745"/>
                  <a:pt x="167393" y="165293"/>
                  <a:pt x="162538" y="165293"/>
                </a:cubicBezTo>
                <a:lnTo>
                  <a:pt x="13774" y="165293"/>
                </a:lnTo>
                <a:cubicBezTo>
                  <a:pt x="8919" y="165293"/>
                  <a:pt x="4442" y="162745"/>
                  <a:pt x="1928" y="158578"/>
                </a:cubicBezTo>
                <a:cubicBezTo>
                  <a:pt x="-585" y="154411"/>
                  <a:pt x="-654" y="149246"/>
                  <a:pt x="1653" y="144976"/>
                </a:cubicBezTo>
                <a:lnTo>
                  <a:pt x="76035" y="7232"/>
                </a:lnTo>
                <a:cubicBezTo>
                  <a:pt x="78445" y="2789"/>
                  <a:pt x="83094" y="0"/>
                  <a:pt x="88156" y="0"/>
                </a:cubicBezTo>
                <a:close/>
                <a:moveTo>
                  <a:pt x="88156" y="57852"/>
                </a:moveTo>
                <a:cubicBezTo>
                  <a:pt x="83576" y="57852"/>
                  <a:pt x="79892" y="61537"/>
                  <a:pt x="79892" y="66117"/>
                </a:cubicBezTo>
                <a:lnTo>
                  <a:pt x="79892" y="104685"/>
                </a:lnTo>
                <a:cubicBezTo>
                  <a:pt x="79892" y="109265"/>
                  <a:pt x="83576" y="112950"/>
                  <a:pt x="88156" y="112950"/>
                </a:cubicBezTo>
                <a:cubicBezTo>
                  <a:pt x="92736" y="112950"/>
                  <a:pt x="96421" y="109265"/>
                  <a:pt x="96421" y="104685"/>
                </a:cubicBezTo>
                <a:lnTo>
                  <a:pt x="96421" y="66117"/>
                </a:lnTo>
                <a:cubicBezTo>
                  <a:pt x="96421" y="61537"/>
                  <a:pt x="92736" y="57852"/>
                  <a:pt x="88156" y="57852"/>
                </a:cubicBezTo>
                <a:close/>
                <a:moveTo>
                  <a:pt x="97351" y="132234"/>
                </a:moveTo>
                <a:cubicBezTo>
                  <a:pt x="97560" y="128821"/>
                  <a:pt x="95858" y="125574"/>
                  <a:pt x="92932" y="123805"/>
                </a:cubicBezTo>
                <a:cubicBezTo>
                  <a:pt x="90006" y="122035"/>
                  <a:pt x="86340" y="122035"/>
                  <a:pt x="83415" y="123805"/>
                </a:cubicBezTo>
                <a:cubicBezTo>
                  <a:pt x="80489" y="125574"/>
                  <a:pt x="78787" y="128821"/>
                  <a:pt x="78996" y="132234"/>
                </a:cubicBezTo>
                <a:cubicBezTo>
                  <a:pt x="78787" y="135647"/>
                  <a:pt x="80489" y="138894"/>
                  <a:pt x="83415" y="140664"/>
                </a:cubicBezTo>
                <a:cubicBezTo>
                  <a:pt x="86340" y="142434"/>
                  <a:pt x="90006" y="142434"/>
                  <a:pt x="92932" y="140664"/>
                </a:cubicBezTo>
                <a:cubicBezTo>
                  <a:pt x="95858" y="138894"/>
                  <a:pt x="97560" y="135647"/>
                  <a:pt x="97351" y="132234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58143" y="1525102"/>
            <a:ext cx="517476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Constraints in Insurance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5384" y="2612316"/>
            <a:ext cx="5289371" cy="811037"/>
          </a:xfrm>
          <a:custGeom>
            <a:avLst/>
            <a:gdLst/>
            <a:ahLst/>
            <a:cxnLst/>
            <a:rect l="l" t="t" r="r" b="b"/>
            <a:pathLst>
              <a:path w="5289371" h="811037">
                <a:moveTo>
                  <a:pt x="35262" y="0"/>
                </a:moveTo>
                <a:lnTo>
                  <a:pt x="5218843" y="0"/>
                </a:lnTo>
                <a:cubicBezTo>
                  <a:pt x="5257795" y="0"/>
                  <a:pt x="5289371" y="31576"/>
                  <a:pt x="5289371" y="70528"/>
                </a:cubicBezTo>
                <a:lnTo>
                  <a:pt x="5289371" y="740509"/>
                </a:lnTo>
                <a:cubicBezTo>
                  <a:pt x="5289371" y="779461"/>
                  <a:pt x="5257795" y="811037"/>
                  <a:pt x="5218843" y="811037"/>
                </a:cubicBez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55384" y="2612316"/>
            <a:ext cx="35262" cy="811037"/>
          </a:xfrm>
          <a:custGeom>
            <a:avLst/>
            <a:gdLst/>
            <a:ahLst/>
            <a:cxnLst/>
            <a:rect l="l" t="t" r="r" b="b"/>
            <a:pathLst>
              <a:path w="35262" h="811037">
                <a:moveTo>
                  <a:pt x="35262" y="0"/>
                </a:moveTo>
                <a:lnTo>
                  <a:pt x="35262" y="0"/>
                </a:lnTo>
                <a:lnTo>
                  <a:pt x="35262" y="811037"/>
                </a:ln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78803" y="2718103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77978" y="2815075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0" y="79341"/>
                </a:moveTo>
                <a:cubicBezTo>
                  <a:pt x="0" y="35551"/>
                  <a:pt x="35551" y="0"/>
                  <a:pt x="79341" y="0"/>
                </a:cubicBezTo>
                <a:cubicBezTo>
                  <a:pt x="123130" y="0"/>
                  <a:pt x="158681" y="35551"/>
                  <a:pt x="158681" y="79341"/>
                </a:cubicBezTo>
                <a:cubicBezTo>
                  <a:pt x="158681" y="123130"/>
                  <a:pt x="123130" y="158681"/>
                  <a:pt x="79341" y="158681"/>
                </a:cubicBezTo>
                <a:cubicBezTo>
                  <a:pt x="35551" y="158681"/>
                  <a:pt x="0" y="123130"/>
                  <a:pt x="0" y="79341"/>
                </a:cubicBezTo>
                <a:close/>
                <a:moveTo>
                  <a:pt x="89258" y="29753"/>
                </a:moveTo>
                <a:cubicBezTo>
                  <a:pt x="89258" y="24279"/>
                  <a:pt x="84814" y="19835"/>
                  <a:pt x="79341" y="19835"/>
                </a:cubicBezTo>
                <a:cubicBezTo>
                  <a:pt x="73867" y="19835"/>
                  <a:pt x="69423" y="24279"/>
                  <a:pt x="69423" y="29753"/>
                </a:cubicBezTo>
                <a:cubicBezTo>
                  <a:pt x="69423" y="35226"/>
                  <a:pt x="73867" y="39670"/>
                  <a:pt x="79341" y="39670"/>
                </a:cubicBezTo>
                <a:cubicBezTo>
                  <a:pt x="84814" y="39670"/>
                  <a:pt x="89258" y="35226"/>
                  <a:pt x="89258" y="29753"/>
                </a:cubicBezTo>
                <a:close/>
                <a:moveTo>
                  <a:pt x="79341" y="128928"/>
                </a:moveTo>
                <a:cubicBezTo>
                  <a:pt x="90281" y="128928"/>
                  <a:pt x="99176" y="120034"/>
                  <a:pt x="99176" y="109093"/>
                </a:cubicBezTo>
                <a:cubicBezTo>
                  <a:pt x="99176" y="104073"/>
                  <a:pt x="97316" y="99455"/>
                  <a:pt x="94217" y="95983"/>
                </a:cubicBezTo>
                <a:lnTo>
                  <a:pt x="115757" y="52935"/>
                </a:lnTo>
                <a:cubicBezTo>
                  <a:pt x="117585" y="49247"/>
                  <a:pt x="116098" y="44784"/>
                  <a:pt x="112440" y="42955"/>
                </a:cubicBezTo>
                <a:cubicBezTo>
                  <a:pt x="108783" y="41127"/>
                  <a:pt x="104289" y="42615"/>
                  <a:pt x="102461" y="46272"/>
                </a:cubicBezTo>
                <a:lnTo>
                  <a:pt x="80921" y="89320"/>
                </a:lnTo>
                <a:cubicBezTo>
                  <a:pt x="80394" y="89289"/>
                  <a:pt x="79867" y="89258"/>
                  <a:pt x="79341" y="89258"/>
                </a:cubicBezTo>
                <a:cubicBezTo>
                  <a:pt x="68400" y="89258"/>
                  <a:pt x="59505" y="98153"/>
                  <a:pt x="59505" y="109093"/>
                </a:cubicBezTo>
                <a:cubicBezTo>
                  <a:pt x="59505" y="120034"/>
                  <a:pt x="68400" y="128928"/>
                  <a:pt x="79341" y="128928"/>
                </a:cubicBezTo>
                <a:close/>
                <a:moveTo>
                  <a:pt x="54547" y="44629"/>
                </a:moveTo>
                <a:cubicBezTo>
                  <a:pt x="54547" y="39155"/>
                  <a:pt x="50103" y="34711"/>
                  <a:pt x="44629" y="34711"/>
                </a:cubicBezTo>
                <a:cubicBezTo>
                  <a:pt x="39155" y="34711"/>
                  <a:pt x="34711" y="39155"/>
                  <a:pt x="34711" y="44629"/>
                </a:cubicBezTo>
                <a:cubicBezTo>
                  <a:pt x="34711" y="50103"/>
                  <a:pt x="39155" y="54547"/>
                  <a:pt x="44629" y="54547"/>
                </a:cubicBezTo>
                <a:cubicBezTo>
                  <a:pt x="50103" y="54547"/>
                  <a:pt x="54547" y="50103"/>
                  <a:pt x="54547" y="44629"/>
                </a:cubicBezTo>
                <a:close/>
                <a:moveTo>
                  <a:pt x="29753" y="89258"/>
                </a:moveTo>
                <a:cubicBezTo>
                  <a:pt x="35226" y="89258"/>
                  <a:pt x="39670" y="84814"/>
                  <a:pt x="39670" y="79341"/>
                </a:cubicBezTo>
                <a:cubicBezTo>
                  <a:pt x="39670" y="73867"/>
                  <a:pt x="35226" y="69423"/>
                  <a:pt x="29753" y="69423"/>
                </a:cubicBezTo>
                <a:cubicBezTo>
                  <a:pt x="24279" y="69423"/>
                  <a:pt x="19835" y="73867"/>
                  <a:pt x="19835" y="79341"/>
                </a:cubicBezTo>
                <a:cubicBezTo>
                  <a:pt x="19835" y="84814"/>
                  <a:pt x="24279" y="89258"/>
                  <a:pt x="29753" y="89258"/>
                </a:cubicBezTo>
                <a:close/>
                <a:moveTo>
                  <a:pt x="138846" y="79341"/>
                </a:moveTo>
                <a:cubicBezTo>
                  <a:pt x="138846" y="73867"/>
                  <a:pt x="134402" y="69423"/>
                  <a:pt x="128928" y="69423"/>
                </a:cubicBezTo>
                <a:cubicBezTo>
                  <a:pt x="123455" y="69423"/>
                  <a:pt x="119011" y="73867"/>
                  <a:pt x="119011" y="79341"/>
                </a:cubicBezTo>
                <a:cubicBezTo>
                  <a:pt x="119011" y="84814"/>
                  <a:pt x="123455" y="89258"/>
                  <a:pt x="128928" y="89258"/>
                </a:cubicBezTo>
                <a:cubicBezTo>
                  <a:pt x="134402" y="89258"/>
                  <a:pt x="138846" y="84814"/>
                  <a:pt x="138846" y="7934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137215" y="2718103"/>
            <a:ext cx="467227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Latency + Resilience Requirements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7215" y="2964940"/>
            <a:ext cx="466346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pricing/quote journeys, especially aggregator-driven. Sub-second response times critical for conversion.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5384" y="3529140"/>
            <a:ext cx="5289371" cy="811037"/>
          </a:xfrm>
          <a:custGeom>
            <a:avLst/>
            <a:gdLst/>
            <a:ahLst/>
            <a:cxnLst/>
            <a:rect l="l" t="t" r="r" b="b"/>
            <a:pathLst>
              <a:path w="5289371" h="811037">
                <a:moveTo>
                  <a:pt x="35262" y="0"/>
                </a:moveTo>
                <a:lnTo>
                  <a:pt x="5218843" y="0"/>
                </a:lnTo>
                <a:cubicBezTo>
                  <a:pt x="5257795" y="0"/>
                  <a:pt x="5289371" y="31576"/>
                  <a:pt x="5289371" y="70528"/>
                </a:cubicBezTo>
                <a:lnTo>
                  <a:pt x="5289371" y="740509"/>
                </a:lnTo>
                <a:cubicBezTo>
                  <a:pt x="5289371" y="779461"/>
                  <a:pt x="5257795" y="811037"/>
                  <a:pt x="5218843" y="811037"/>
                </a:cubicBez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55384" y="3529140"/>
            <a:ext cx="35262" cy="811037"/>
          </a:xfrm>
          <a:custGeom>
            <a:avLst/>
            <a:gdLst/>
            <a:ahLst/>
            <a:cxnLst/>
            <a:rect l="l" t="t" r="r" b="b"/>
            <a:pathLst>
              <a:path w="35262" h="811037">
                <a:moveTo>
                  <a:pt x="35262" y="0"/>
                </a:moveTo>
                <a:lnTo>
                  <a:pt x="35262" y="0"/>
                </a:lnTo>
                <a:lnTo>
                  <a:pt x="35262" y="811037"/>
                </a:ln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78803" y="3634927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77978" y="3731899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155768" y="46675"/>
                </a:moveTo>
                <a:lnTo>
                  <a:pt x="126015" y="76427"/>
                </a:lnTo>
                <a:cubicBezTo>
                  <a:pt x="123164" y="79279"/>
                  <a:pt x="118918" y="80115"/>
                  <a:pt x="115199" y="78566"/>
                </a:cubicBezTo>
                <a:cubicBezTo>
                  <a:pt x="111480" y="77016"/>
                  <a:pt x="109093" y="73421"/>
                  <a:pt x="109093" y="69423"/>
                </a:cubicBezTo>
                <a:lnTo>
                  <a:pt x="109093" y="49588"/>
                </a:lnTo>
                <a:lnTo>
                  <a:pt x="9918" y="49588"/>
                </a:lnTo>
                <a:cubicBezTo>
                  <a:pt x="4432" y="49588"/>
                  <a:pt x="0" y="45156"/>
                  <a:pt x="0" y="39670"/>
                </a:cubicBezTo>
                <a:cubicBezTo>
                  <a:pt x="0" y="34185"/>
                  <a:pt x="4432" y="29753"/>
                  <a:pt x="9918" y="29753"/>
                </a:cubicBezTo>
                <a:lnTo>
                  <a:pt x="109093" y="29753"/>
                </a:lnTo>
                <a:lnTo>
                  <a:pt x="109093" y="9918"/>
                </a:lnTo>
                <a:cubicBezTo>
                  <a:pt x="109093" y="5920"/>
                  <a:pt x="111511" y="2293"/>
                  <a:pt x="115230" y="744"/>
                </a:cubicBezTo>
                <a:cubicBezTo>
                  <a:pt x="118949" y="-806"/>
                  <a:pt x="123195" y="62"/>
                  <a:pt x="126046" y="2882"/>
                </a:cubicBezTo>
                <a:lnTo>
                  <a:pt x="155799" y="32635"/>
                </a:lnTo>
                <a:cubicBezTo>
                  <a:pt x="159673" y="36509"/>
                  <a:pt x="159673" y="42801"/>
                  <a:pt x="155799" y="46675"/>
                </a:cubicBezTo>
                <a:close/>
                <a:moveTo>
                  <a:pt x="32635" y="155768"/>
                </a:moveTo>
                <a:lnTo>
                  <a:pt x="2882" y="126015"/>
                </a:lnTo>
                <a:cubicBezTo>
                  <a:pt x="-992" y="122141"/>
                  <a:pt x="-992" y="115850"/>
                  <a:pt x="2882" y="111976"/>
                </a:cubicBezTo>
                <a:lnTo>
                  <a:pt x="32635" y="82223"/>
                </a:lnTo>
                <a:cubicBezTo>
                  <a:pt x="35486" y="79372"/>
                  <a:pt x="39732" y="78535"/>
                  <a:pt x="43451" y="80084"/>
                </a:cubicBezTo>
                <a:cubicBezTo>
                  <a:pt x="47170" y="81634"/>
                  <a:pt x="49588" y="85260"/>
                  <a:pt x="49588" y="89258"/>
                </a:cubicBezTo>
                <a:lnTo>
                  <a:pt x="49588" y="109093"/>
                </a:lnTo>
                <a:lnTo>
                  <a:pt x="148764" y="109093"/>
                </a:lnTo>
                <a:cubicBezTo>
                  <a:pt x="154249" y="109093"/>
                  <a:pt x="158681" y="113525"/>
                  <a:pt x="158681" y="119011"/>
                </a:cubicBezTo>
                <a:cubicBezTo>
                  <a:pt x="158681" y="124497"/>
                  <a:pt x="154249" y="128928"/>
                  <a:pt x="148764" y="128928"/>
                </a:cubicBezTo>
                <a:lnTo>
                  <a:pt x="49588" y="128928"/>
                </a:lnTo>
                <a:lnTo>
                  <a:pt x="49588" y="148764"/>
                </a:lnTo>
                <a:cubicBezTo>
                  <a:pt x="49588" y="152762"/>
                  <a:pt x="47170" y="156388"/>
                  <a:pt x="43451" y="157937"/>
                </a:cubicBezTo>
                <a:cubicBezTo>
                  <a:pt x="39732" y="159487"/>
                  <a:pt x="35486" y="158619"/>
                  <a:pt x="32635" y="15579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137215" y="3634927"/>
            <a:ext cx="467227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Connectivity During Migration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7215" y="3881765"/>
            <a:ext cx="466346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 legacy retirement requires seamless connectivity between on-prem and cloud workloads.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5384" y="4445964"/>
            <a:ext cx="5289371" cy="811037"/>
          </a:xfrm>
          <a:custGeom>
            <a:avLst/>
            <a:gdLst/>
            <a:ahLst/>
            <a:cxnLst/>
            <a:rect l="l" t="t" r="r" b="b"/>
            <a:pathLst>
              <a:path w="5289371" h="811037">
                <a:moveTo>
                  <a:pt x="35262" y="0"/>
                </a:moveTo>
                <a:lnTo>
                  <a:pt x="5218843" y="0"/>
                </a:lnTo>
                <a:cubicBezTo>
                  <a:pt x="5257795" y="0"/>
                  <a:pt x="5289371" y="31576"/>
                  <a:pt x="5289371" y="70528"/>
                </a:cubicBezTo>
                <a:lnTo>
                  <a:pt x="5289371" y="740509"/>
                </a:lnTo>
                <a:cubicBezTo>
                  <a:pt x="5289371" y="779461"/>
                  <a:pt x="5257795" y="811037"/>
                  <a:pt x="5218843" y="811037"/>
                </a:cubicBez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55384" y="4445964"/>
            <a:ext cx="35262" cy="811037"/>
          </a:xfrm>
          <a:custGeom>
            <a:avLst/>
            <a:gdLst/>
            <a:ahLst/>
            <a:cxnLst/>
            <a:rect l="l" t="t" r="r" b="b"/>
            <a:pathLst>
              <a:path w="35262" h="811037">
                <a:moveTo>
                  <a:pt x="35262" y="0"/>
                </a:moveTo>
                <a:lnTo>
                  <a:pt x="35262" y="0"/>
                </a:lnTo>
                <a:lnTo>
                  <a:pt x="35262" y="811037"/>
                </a:ln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78803" y="4551752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77978" y="4648723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79341" y="0"/>
                </a:moveTo>
                <a:cubicBezTo>
                  <a:pt x="80766" y="0"/>
                  <a:pt x="82192" y="310"/>
                  <a:pt x="83494" y="899"/>
                </a:cubicBezTo>
                <a:lnTo>
                  <a:pt x="141883" y="25662"/>
                </a:lnTo>
                <a:cubicBezTo>
                  <a:pt x="148702" y="28544"/>
                  <a:pt x="153784" y="35269"/>
                  <a:pt x="153753" y="43389"/>
                </a:cubicBezTo>
                <a:cubicBezTo>
                  <a:pt x="153598" y="74134"/>
                  <a:pt x="140953" y="130385"/>
                  <a:pt x="87554" y="155954"/>
                </a:cubicBezTo>
                <a:cubicBezTo>
                  <a:pt x="82378" y="158433"/>
                  <a:pt x="76365" y="158433"/>
                  <a:pt x="71190" y="155954"/>
                </a:cubicBezTo>
                <a:cubicBezTo>
                  <a:pt x="17759" y="130385"/>
                  <a:pt x="5145" y="74134"/>
                  <a:pt x="4990" y="43389"/>
                </a:cubicBezTo>
                <a:cubicBezTo>
                  <a:pt x="4959" y="35269"/>
                  <a:pt x="10042" y="28544"/>
                  <a:pt x="16860" y="25662"/>
                </a:cubicBezTo>
                <a:lnTo>
                  <a:pt x="75219" y="899"/>
                </a:lnTo>
                <a:cubicBezTo>
                  <a:pt x="76520" y="310"/>
                  <a:pt x="77915" y="0"/>
                  <a:pt x="79341" y="0"/>
                </a:cubicBezTo>
                <a:close/>
                <a:moveTo>
                  <a:pt x="79341" y="20703"/>
                </a:moveTo>
                <a:lnTo>
                  <a:pt x="79341" y="137885"/>
                </a:lnTo>
                <a:cubicBezTo>
                  <a:pt x="122110" y="117182"/>
                  <a:pt x="133608" y="71314"/>
                  <a:pt x="133887" y="43854"/>
                </a:cubicBezTo>
                <a:lnTo>
                  <a:pt x="79341" y="20734"/>
                </a:lnTo>
                <a:lnTo>
                  <a:pt x="79341" y="20734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137215" y="4551752"/>
            <a:ext cx="467227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Regulatory Controls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37215" y="4798589"/>
            <a:ext cx="466346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residency, segmentation, auditability. Solvency II and GDPR compliance requirements.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55384" y="5362789"/>
            <a:ext cx="5289371" cy="811037"/>
          </a:xfrm>
          <a:custGeom>
            <a:avLst/>
            <a:gdLst/>
            <a:ahLst/>
            <a:cxnLst/>
            <a:rect l="l" t="t" r="r" b="b"/>
            <a:pathLst>
              <a:path w="5289371" h="811037">
                <a:moveTo>
                  <a:pt x="35262" y="0"/>
                </a:moveTo>
                <a:lnTo>
                  <a:pt x="5218843" y="0"/>
                </a:lnTo>
                <a:cubicBezTo>
                  <a:pt x="5257795" y="0"/>
                  <a:pt x="5289371" y="31576"/>
                  <a:pt x="5289371" y="70528"/>
                </a:cubicBezTo>
                <a:lnTo>
                  <a:pt x="5289371" y="740509"/>
                </a:lnTo>
                <a:cubicBezTo>
                  <a:pt x="5289371" y="779461"/>
                  <a:pt x="5257795" y="811037"/>
                  <a:pt x="5218843" y="811037"/>
                </a:cubicBez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788"/>
                  <a:pt x="15788" y="0"/>
                  <a:pt x="35262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55384" y="5362789"/>
            <a:ext cx="35262" cy="811037"/>
          </a:xfrm>
          <a:custGeom>
            <a:avLst/>
            <a:gdLst/>
            <a:ahLst/>
            <a:cxnLst/>
            <a:rect l="l" t="t" r="r" b="b"/>
            <a:pathLst>
              <a:path w="35262" h="811037">
                <a:moveTo>
                  <a:pt x="35262" y="0"/>
                </a:moveTo>
                <a:lnTo>
                  <a:pt x="35262" y="0"/>
                </a:lnTo>
                <a:lnTo>
                  <a:pt x="35262" y="811037"/>
                </a:lnTo>
                <a:lnTo>
                  <a:pt x="35262" y="811037"/>
                </a:lnTo>
                <a:cubicBezTo>
                  <a:pt x="15788" y="811037"/>
                  <a:pt x="0" y="795249"/>
                  <a:pt x="0" y="775774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78803" y="5468576"/>
            <a:ext cx="352625" cy="352625"/>
          </a:xfrm>
          <a:custGeom>
            <a:avLst/>
            <a:gdLst/>
            <a:ahLst/>
            <a:cxnLst/>
            <a:rect l="l" t="t" r="r" b="b"/>
            <a:pathLst>
              <a:path w="352625" h="352625">
                <a:moveTo>
                  <a:pt x="70525" y="0"/>
                </a:moveTo>
                <a:lnTo>
                  <a:pt x="282100" y="0"/>
                </a:lnTo>
                <a:cubicBezTo>
                  <a:pt x="321050" y="0"/>
                  <a:pt x="352625" y="31575"/>
                  <a:pt x="352625" y="70525"/>
                </a:cubicBezTo>
                <a:lnTo>
                  <a:pt x="352625" y="282100"/>
                </a:lnTo>
                <a:cubicBezTo>
                  <a:pt x="352625" y="321050"/>
                  <a:pt x="321050" y="352625"/>
                  <a:pt x="282100" y="352625"/>
                </a:cubicBezTo>
                <a:lnTo>
                  <a:pt x="70525" y="352625"/>
                </a:lnTo>
                <a:cubicBezTo>
                  <a:pt x="31575" y="352625"/>
                  <a:pt x="0" y="321050"/>
                  <a:pt x="0" y="282100"/>
                </a:cubicBezTo>
                <a:lnTo>
                  <a:pt x="0" y="70525"/>
                </a:lnTo>
                <a:cubicBezTo>
                  <a:pt x="0" y="31601"/>
                  <a:pt x="31601" y="0"/>
                  <a:pt x="70525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87896" y="5565548"/>
            <a:ext cx="138846" cy="158681"/>
          </a:xfrm>
          <a:custGeom>
            <a:avLst/>
            <a:gdLst/>
            <a:ahLst/>
            <a:cxnLst/>
            <a:rect l="l" t="t" r="r" b="b"/>
            <a:pathLst>
              <a:path w="138846" h="158681">
                <a:moveTo>
                  <a:pt x="39670" y="-9918"/>
                </a:moveTo>
                <a:cubicBezTo>
                  <a:pt x="45156" y="-9918"/>
                  <a:pt x="49588" y="-5486"/>
                  <a:pt x="49588" y="0"/>
                </a:cubicBezTo>
                <a:lnTo>
                  <a:pt x="49588" y="29753"/>
                </a:lnTo>
                <a:lnTo>
                  <a:pt x="89258" y="29753"/>
                </a:lnTo>
                <a:lnTo>
                  <a:pt x="89258" y="0"/>
                </a:lnTo>
                <a:cubicBezTo>
                  <a:pt x="89258" y="-5486"/>
                  <a:pt x="93690" y="-9918"/>
                  <a:pt x="99176" y="-9918"/>
                </a:cubicBezTo>
                <a:cubicBezTo>
                  <a:pt x="104661" y="-9918"/>
                  <a:pt x="109093" y="-5486"/>
                  <a:pt x="109093" y="0"/>
                </a:cubicBezTo>
                <a:lnTo>
                  <a:pt x="109093" y="29753"/>
                </a:lnTo>
                <a:lnTo>
                  <a:pt x="128928" y="29753"/>
                </a:lnTo>
                <a:cubicBezTo>
                  <a:pt x="134414" y="29753"/>
                  <a:pt x="138846" y="34185"/>
                  <a:pt x="138846" y="39670"/>
                </a:cubicBezTo>
                <a:cubicBezTo>
                  <a:pt x="138846" y="45156"/>
                  <a:pt x="134414" y="49588"/>
                  <a:pt x="128928" y="49588"/>
                </a:cubicBezTo>
                <a:lnTo>
                  <a:pt x="128928" y="69423"/>
                </a:lnTo>
                <a:cubicBezTo>
                  <a:pt x="128928" y="98897"/>
                  <a:pt x="107482" y="123381"/>
                  <a:pt x="79341" y="128092"/>
                </a:cubicBezTo>
                <a:lnTo>
                  <a:pt x="79341" y="148764"/>
                </a:lnTo>
                <a:cubicBezTo>
                  <a:pt x="79341" y="154249"/>
                  <a:pt x="74909" y="158681"/>
                  <a:pt x="69423" y="158681"/>
                </a:cubicBezTo>
                <a:cubicBezTo>
                  <a:pt x="63937" y="158681"/>
                  <a:pt x="59505" y="154249"/>
                  <a:pt x="59505" y="148764"/>
                </a:cubicBezTo>
                <a:lnTo>
                  <a:pt x="59505" y="128092"/>
                </a:lnTo>
                <a:cubicBezTo>
                  <a:pt x="31364" y="123381"/>
                  <a:pt x="9918" y="98897"/>
                  <a:pt x="9918" y="69423"/>
                </a:cubicBezTo>
                <a:lnTo>
                  <a:pt x="9918" y="49588"/>
                </a:lnTo>
                <a:cubicBezTo>
                  <a:pt x="4432" y="49588"/>
                  <a:pt x="0" y="45156"/>
                  <a:pt x="0" y="39670"/>
                </a:cubicBezTo>
                <a:cubicBezTo>
                  <a:pt x="0" y="34185"/>
                  <a:pt x="4432" y="29753"/>
                  <a:pt x="9918" y="29753"/>
                </a:cubicBezTo>
                <a:lnTo>
                  <a:pt x="29753" y="29753"/>
                </a:lnTo>
                <a:lnTo>
                  <a:pt x="29753" y="0"/>
                </a:lnTo>
                <a:cubicBezTo>
                  <a:pt x="29753" y="-5486"/>
                  <a:pt x="34185" y="-9918"/>
                  <a:pt x="39670" y="-991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137215" y="5468576"/>
            <a:ext cx="4672278" cy="211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Third-Party Ecosystem Connectivity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7215" y="5715413"/>
            <a:ext cx="4663462" cy="3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SIs, SaaS platforms, data providers, aggregators. Dense interconnection requirements.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1346" y="1344383"/>
            <a:ext cx="5668443" cy="3988516"/>
          </a:xfrm>
          <a:custGeom>
            <a:avLst/>
            <a:gdLst/>
            <a:ahLst/>
            <a:cxnLst/>
            <a:rect l="l" t="t" r="r" b="b"/>
            <a:pathLst>
              <a:path w="5668443" h="4090447">
                <a:moveTo>
                  <a:pt x="105779" y="0"/>
                </a:moveTo>
                <a:lnTo>
                  <a:pt x="5562664" y="0"/>
                </a:lnTo>
                <a:cubicBezTo>
                  <a:pt x="5621084" y="0"/>
                  <a:pt x="5668443" y="47359"/>
                  <a:pt x="5668443" y="105779"/>
                </a:cubicBezTo>
                <a:lnTo>
                  <a:pt x="5668443" y="3984668"/>
                </a:lnTo>
                <a:cubicBezTo>
                  <a:pt x="5668443" y="4043088"/>
                  <a:pt x="5621084" y="4090447"/>
                  <a:pt x="5562664" y="4090447"/>
                </a:cubicBezTo>
                <a:lnTo>
                  <a:pt x="105779" y="4090447"/>
                </a:lnTo>
                <a:cubicBezTo>
                  <a:pt x="47359" y="4090447"/>
                  <a:pt x="0" y="4043088"/>
                  <a:pt x="0" y="3984668"/>
                </a:cubicBezTo>
                <a:lnTo>
                  <a:pt x="0" y="105779"/>
                </a:lnTo>
                <a:cubicBezTo>
                  <a:pt x="0" y="47359"/>
                  <a:pt x="47359" y="0"/>
                  <a:pt x="10577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374105" y="1560364"/>
            <a:ext cx="176312" cy="176312"/>
          </a:xfrm>
          <a:custGeom>
            <a:avLst/>
            <a:gdLst/>
            <a:ahLst/>
            <a:cxnLst/>
            <a:rect l="l" t="t" r="r" b="b"/>
            <a:pathLst>
              <a:path w="176312" h="176312">
                <a:moveTo>
                  <a:pt x="154273" y="88156"/>
                </a:moveTo>
                <a:cubicBezTo>
                  <a:pt x="154273" y="51665"/>
                  <a:pt x="124647" y="22039"/>
                  <a:pt x="88156" y="22039"/>
                </a:cubicBezTo>
                <a:cubicBezTo>
                  <a:pt x="51665" y="22039"/>
                  <a:pt x="22039" y="51665"/>
                  <a:pt x="22039" y="88156"/>
                </a:cubicBezTo>
                <a:cubicBezTo>
                  <a:pt x="22039" y="124647"/>
                  <a:pt x="51665" y="154273"/>
                  <a:pt x="88156" y="154273"/>
                </a:cubicBezTo>
                <a:cubicBezTo>
                  <a:pt x="124647" y="154273"/>
                  <a:pt x="154273" y="124647"/>
                  <a:pt x="154273" y="88156"/>
                </a:cubicBezTo>
                <a:close/>
                <a:moveTo>
                  <a:pt x="0" y="88156"/>
                </a:moveTo>
                <a:cubicBezTo>
                  <a:pt x="0" y="39501"/>
                  <a:pt x="39501" y="0"/>
                  <a:pt x="88156" y="0"/>
                </a:cubicBezTo>
                <a:cubicBezTo>
                  <a:pt x="136811" y="0"/>
                  <a:pt x="176312" y="39501"/>
                  <a:pt x="176312" y="88156"/>
                </a:cubicBezTo>
                <a:cubicBezTo>
                  <a:pt x="176312" y="136811"/>
                  <a:pt x="136811" y="176312"/>
                  <a:pt x="88156" y="176312"/>
                </a:cubicBezTo>
                <a:cubicBezTo>
                  <a:pt x="39501" y="176312"/>
                  <a:pt x="0" y="136811"/>
                  <a:pt x="0" y="88156"/>
                </a:cubicBezTo>
                <a:close/>
                <a:moveTo>
                  <a:pt x="88156" y="115705"/>
                </a:moveTo>
                <a:cubicBezTo>
                  <a:pt x="103361" y="115705"/>
                  <a:pt x="115705" y="103361"/>
                  <a:pt x="115705" y="88156"/>
                </a:cubicBezTo>
                <a:cubicBezTo>
                  <a:pt x="115705" y="72952"/>
                  <a:pt x="103361" y="60607"/>
                  <a:pt x="88156" y="60607"/>
                </a:cubicBezTo>
                <a:cubicBezTo>
                  <a:pt x="72952" y="60607"/>
                  <a:pt x="60607" y="72952"/>
                  <a:pt x="60607" y="88156"/>
                </a:cubicBezTo>
                <a:cubicBezTo>
                  <a:pt x="60607" y="103361"/>
                  <a:pt x="72952" y="115705"/>
                  <a:pt x="88156" y="115705"/>
                </a:cubicBezTo>
                <a:close/>
                <a:moveTo>
                  <a:pt x="88156" y="38568"/>
                </a:moveTo>
                <a:cubicBezTo>
                  <a:pt x="115524" y="38568"/>
                  <a:pt x="137744" y="60788"/>
                  <a:pt x="137744" y="88156"/>
                </a:cubicBezTo>
                <a:cubicBezTo>
                  <a:pt x="137744" y="115524"/>
                  <a:pt x="115524" y="137744"/>
                  <a:pt x="88156" y="137744"/>
                </a:cubicBezTo>
                <a:cubicBezTo>
                  <a:pt x="60788" y="137744"/>
                  <a:pt x="38568" y="115524"/>
                  <a:pt x="38568" y="88156"/>
                </a:cubicBezTo>
                <a:cubicBezTo>
                  <a:pt x="38568" y="60788"/>
                  <a:pt x="60788" y="38568"/>
                  <a:pt x="88156" y="38568"/>
                </a:cubicBezTo>
                <a:close/>
                <a:moveTo>
                  <a:pt x="77137" y="88156"/>
                </a:moveTo>
                <a:cubicBezTo>
                  <a:pt x="77137" y="82074"/>
                  <a:pt x="82074" y="77137"/>
                  <a:pt x="88156" y="77137"/>
                </a:cubicBezTo>
                <a:cubicBezTo>
                  <a:pt x="94238" y="77137"/>
                  <a:pt x="99176" y="82074"/>
                  <a:pt x="99176" y="88156"/>
                </a:cubicBezTo>
                <a:cubicBezTo>
                  <a:pt x="99176" y="94238"/>
                  <a:pt x="94238" y="99176"/>
                  <a:pt x="88156" y="99176"/>
                </a:cubicBezTo>
                <a:cubicBezTo>
                  <a:pt x="82074" y="99176"/>
                  <a:pt x="77137" y="94238"/>
                  <a:pt x="77137" y="8815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572457" y="1525102"/>
            <a:ext cx="517476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Positioning Line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2066" y="1877727"/>
            <a:ext cx="5307002" cy="1507471"/>
          </a:xfrm>
          <a:custGeom>
            <a:avLst/>
            <a:gdLst/>
            <a:ahLst/>
            <a:cxnLst/>
            <a:rect l="l" t="t" r="r" b="b"/>
            <a:pathLst>
              <a:path w="5307002" h="1507471">
                <a:moveTo>
                  <a:pt x="70519" y="0"/>
                </a:moveTo>
                <a:lnTo>
                  <a:pt x="5236483" y="0"/>
                </a:lnTo>
                <a:cubicBezTo>
                  <a:pt x="5275430" y="0"/>
                  <a:pt x="5307002" y="31573"/>
                  <a:pt x="5307002" y="70519"/>
                </a:cubicBezTo>
                <a:lnTo>
                  <a:pt x="5307002" y="1436951"/>
                </a:lnTo>
                <a:cubicBezTo>
                  <a:pt x="5307002" y="1475898"/>
                  <a:pt x="5275430" y="1507471"/>
                  <a:pt x="5236483" y="1507471"/>
                </a:cubicBezTo>
                <a:lnTo>
                  <a:pt x="70519" y="1507471"/>
                </a:lnTo>
                <a:cubicBezTo>
                  <a:pt x="31599" y="1507471"/>
                  <a:pt x="0" y="1475872"/>
                  <a:pt x="0" y="1436951"/>
                </a:cubicBezTo>
                <a:lnTo>
                  <a:pt x="0" y="70519"/>
                </a:lnTo>
                <a:cubicBezTo>
                  <a:pt x="0" y="31573"/>
                  <a:pt x="31573" y="0"/>
                  <a:pt x="7051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493116" y="2118641"/>
            <a:ext cx="5130690" cy="528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6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"Make the hybrid estate boringly reliable while you industrialise AI."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93116" y="2718103"/>
            <a:ext cx="5095427" cy="423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1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resilient, predictable infrastructure that enables AI innovation without operational risk.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6474" y="3492500"/>
            <a:ext cx="2591792" cy="819852"/>
          </a:xfrm>
          <a:custGeom>
            <a:avLst/>
            <a:gdLst/>
            <a:ahLst/>
            <a:cxnLst/>
            <a:rect l="l" t="t" r="r" b="b"/>
            <a:pathLst>
              <a:path w="2591792" h="819852">
                <a:moveTo>
                  <a:pt x="70524" y="0"/>
                </a:moveTo>
                <a:lnTo>
                  <a:pt x="2521268" y="0"/>
                </a:lnTo>
                <a:cubicBezTo>
                  <a:pt x="2560217" y="0"/>
                  <a:pt x="2591792" y="31575"/>
                  <a:pt x="2591792" y="70524"/>
                </a:cubicBezTo>
                <a:lnTo>
                  <a:pt x="2591792" y="749329"/>
                </a:lnTo>
                <a:cubicBezTo>
                  <a:pt x="2591792" y="788278"/>
                  <a:pt x="2560217" y="819852"/>
                  <a:pt x="2521268" y="819852"/>
                </a:cubicBezTo>
                <a:lnTo>
                  <a:pt x="70524" y="819852"/>
                </a:lnTo>
                <a:cubicBezTo>
                  <a:pt x="31575" y="819852"/>
                  <a:pt x="0" y="788278"/>
                  <a:pt x="0" y="749329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7558842" y="3602695"/>
            <a:ext cx="185128" cy="211575"/>
          </a:xfrm>
          <a:custGeom>
            <a:avLst/>
            <a:gdLst/>
            <a:ahLst/>
            <a:cxnLst/>
            <a:rect l="l" t="t" r="r" b="b"/>
            <a:pathLst>
              <a:path w="185128" h="211575">
                <a:moveTo>
                  <a:pt x="26447" y="13223"/>
                </a:moveTo>
                <a:cubicBezTo>
                  <a:pt x="11860" y="13223"/>
                  <a:pt x="0" y="25083"/>
                  <a:pt x="0" y="39670"/>
                </a:cubicBezTo>
                <a:lnTo>
                  <a:pt x="0" y="66117"/>
                </a:lnTo>
                <a:cubicBezTo>
                  <a:pt x="0" y="80704"/>
                  <a:pt x="11860" y="92564"/>
                  <a:pt x="26447" y="92564"/>
                </a:cubicBezTo>
                <a:lnTo>
                  <a:pt x="158681" y="92564"/>
                </a:lnTo>
                <a:cubicBezTo>
                  <a:pt x="173268" y="92564"/>
                  <a:pt x="185128" y="80704"/>
                  <a:pt x="185128" y="66117"/>
                </a:cubicBezTo>
                <a:lnTo>
                  <a:pt x="185128" y="39670"/>
                </a:lnTo>
                <a:cubicBezTo>
                  <a:pt x="185128" y="25083"/>
                  <a:pt x="173268" y="13223"/>
                  <a:pt x="158681" y="13223"/>
                </a:cubicBezTo>
                <a:lnTo>
                  <a:pt x="26447" y="13223"/>
                </a:lnTo>
                <a:close/>
                <a:moveTo>
                  <a:pt x="115705" y="42976"/>
                </a:moveTo>
                <a:cubicBezTo>
                  <a:pt x="121179" y="42976"/>
                  <a:pt x="125623" y="47420"/>
                  <a:pt x="125623" y="52894"/>
                </a:cubicBezTo>
                <a:cubicBezTo>
                  <a:pt x="125623" y="58367"/>
                  <a:pt x="121179" y="62811"/>
                  <a:pt x="115705" y="62811"/>
                </a:cubicBezTo>
                <a:cubicBezTo>
                  <a:pt x="110231" y="62811"/>
                  <a:pt x="105787" y="58367"/>
                  <a:pt x="105787" y="52894"/>
                </a:cubicBezTo>
                <a:cubicBezTo>
                  <a:pt x="105787" y="47420"/>
                  <a:pt x="110231" y="42976"/>
                  <a:pt x="115705" y="42976"/>
                </a:cubicBezTo>
                <a:close/>
                <a:moveTo>
                  <a:pt x="138846" y="52894"/>
                </a:moveTo>
                <a:cubicBezTo>
                  <a:pt x="138846" y="47420"/>
                  <a:pt x="143290" y="42976"/>
                  <a:pt x="148764" y="42976"/>
                </a:cubicBezTo>
                <a:cubicBezTo>
                  <a:pt x="154237" y="42976"/>
                  <a:pt x="158681" y="47420"/>
                  <a:pt x="158681" y="52894"/>
                </a:cubicBezTo>
                <a:cubicBezTo>
                  <a:pt x="158681" y="58367"/>
                  <a:pt x="154237" y="62811"/>
                  <a:pt x="148764" y="62811"/>
                </a:cubicBezTo>
                <a:cubicBezTo>
                  <a:pt x="143290" y="62811"/>
                  <a:pt x="138846" y="58367"/>
                  <a:pt x="138846" y="52894"/>
                </a:cubicBezTo>
                <a:close/>
                <a:moveTo>
                  <a:pt x="26447" y="119011"/>
                </a:moveTo>
                <a:cubicBezTo>
                  <a:pt x="11860" y="119011"/>
                  <a:pt x="0" y="130871"/>
                  <a:pt x="0" y="145458"/>
                </a:cubicBezTo>
                <a:lnTo>
                  <a:pt x="0" y="171905"/>
                </a:lnTo>
                <a:cubicBezTo>
                  <a:pt x="0" y="186492"/>
                  <a:pt x="11860" y="198351"/>
                  <a:pt x="26447" y="198351"/>
                </a:cubicBezTo>
                <a:lnTo>
                  <a:pt x="158681" y="198351"/>
                </a:lnTo>
                <a:cubicBezTo>
                  <a:pt x="173268" y="198351"/>
                  <a:pt x="185128" y="186492"/>
                  <a:pt x="185128" y="171905"/>
                </a:cubicBezTo>
                <a:lnTo>
                  <a:pt x="185128" y="145458"/>
                </a:lnTo>
                <a:cubicBezTo>
                  <a:pt x="185128" y="130871"/>
                  <a:pt x="173268" y="119011"/>
                  <a:pt x="158681" y="119011"/>
                </a:cubicBezTo>
                <a:lnTo>
                  <a:pt x="26447" y="119011"/>
                </a:lnTo>
                <a:close/>
                <a:moveTo>
                  <a:pt x="115705" y="148764"/>
                </a:moveTo>
                <a:cubicBezTo>
                  <a:pt x="121179" y="148764"/>
                  <a:pt x="125623" y="153207"/>
                  <a:pt x="125623" y="158681"/>
                </a:cubicBezTo>
                <a:cubicBezTo>
                  <a:pt x="125623" y="164155"/>
                  <a:pt x="121179" y="168599"/>
                  <a:pt x="115705" y="168599"/>
                </a:cubicBezTo>
                <a:cubicBezTo>
                  <a:pt x="110231" y="168599"/>
                  <a:pt x="105787" y="164155"/>
                  <a:pt x="105787" y="158681"/>
                </a:cubicBezTo>
                <a:cubicBezTo>
                  <a:pt x="105787" y="153207"/>
                  <a:pt x="110231" y="148764"/>
                  <a:pt x="115705" y="148764"/>
                </a:cubicBezTo>
                <a:close/>
                <a:moveTo>
                  <a:pt x="138846" y="158681"/>
                </a:moveTo>
                <a:cubicBezTo>
                  <a:pt x="138846" y="153207"/>
                  <a:pt x="143290" y="148764"/>
                  <a:pt x="148764" y="148764"/>
                </a:cubicBezTo>
                <a:cubicBezTo>
                  <a:pt x="154237" y="148764"/>
                  <a:pt x="158681" y="153207"/>
                  <a:pt x="158681" y="158681"/>
                </a:cubicBezTo>
                <a:cubicBezTo>
                  <a:pt x="158681" y="164155"/>
                  <a:pt x="154237" y="168599"/>
                  <a:pt x="148764" y="168599"/>
                </a:cubicBezTo>
                <a:cubicBezTo>
                  <a:pt x="143290" y="168599"/>
                  <a:pt x="138846" y="164155"/>
                  <a:pt x="138846" y="158681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435815" y="3884795"/>
            <a:ext cx="243311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40222" y="4061107"/>
            <a:ext cx="2424295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presence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060940" y="3492500"/>
            <a:ext cx="2591792" cy="819852"/>
          </a:xfrm>
          <a:custGeom>
            <a:avLst/>
            <a:gdLst/>
            <a:ahLst/>
            <a:cxnLst/>
            <a:rect l="l" t="t" r="r" b="b"/>
            <a:pathLst>
              <a:path w="2591792" h="819852">
                <a:moveTo>
                  <a:pt x="70524" y="0"/>
                </a:moveTo>
                <a:lnTo>
                  <a:pt x="2521268" y="0"/>
                </a:lnTo>
                <a:cubicBezTo>
                  <a:pt x="2560217" y="0"/>
                  <a:pt x="2591792" y="31575"/>
                  <a:pt x="2591792" y="70524"/>
                </a:cubicBezTo>
                <a:lnTo>
                  <a:pt x="2591792" y="749329"/>
                </a:lnTo>
                <a:cubicBezTo>
                  <a:pt x="2591792" y="788278"/>
                  <a:pt x="2560217" y="819852"/>
                  <a:pt x="2521268" y="819852"/>
                </a:cubicBezTo>
                <a:lnTo>
                  <a:pt x="70524" y="819852"/>
                </a:lnTo>
                <a:cubicBezTo>
                  <a:pt x="31575" y="819852"/>
                  <a:pt x="0" y="788278"/>
                  <a:pt x="0" y="749329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10236861" y="3602695"/>
            <a:ext cx="238022" cy="211575"/>
          </a:xfrm>
          <a:custGeom>
            <a:avLst/>
            <a:gdLst/>
            <a:ahLst/>
            <a:cxnLst/>
            <a:rect l="l" t="t" r="r" b="b"/>
            <a:pathLst>
              <a:path w="238022" h="211575">
                <a:moveTo>
                  <a:pt x="102482" y="36364"/>
                </a:moveTo>
                <a:lnTo>
                  <a:pt x="135540" y="36364"/>
                </a:lnTo>
                <a:lnTo>
                  <a:pt x="135540" y="56200"/>
                </a:lnTo>
                <a:lnTo>
                  <a:pt x="102482" y="56200"/>
                </a:lnTo>
                <a:lnTo>
                  <a:pt x="102482" y="36364"/>
                </a:lnTo>
                <a:close/>
                <a:moveTo>
                  <a:pt x="99176" y="13223"/>
                </a:moveTo>
                <a:cubicBezTo>
                  <a:pt x="88225" y="13223"/>
                  <a:pt x="79341" y="22108"/>
                  <a:pt x="79341" y="33059"/>
                </a:cubicBezTo>
                <a:lnTo>
                  <a:pt x="79341" y="59505"/>
                </a:lnTo>
                <a:cubicBezTo>
                  <a:pt x="79341" y="70456"/>
                  <a:pt x="88225" y="79341"/>
                  <a:pt x="99176" y="79341"/>
                </a:cubicBezTo>
                <a:lnTo>
                  <a:pt x="105787" y="79341"/>
                </a:lnTo>
                <a:lnTo>
                  <a:pt x="105787" y="92564"/>
                </a:lnTo>
                <a:lnTo>
                  <a:pt x="13223" y="92564"/>
                </a:lnTo>
                <a:cubicBezTo>
                  <a:pt x="5909" y="92564"/>
                  <a:pt x="0" y="98473"/>
                  <a:pt x="0" y="105787"/>
                </a:cubicBezTo>
                <a:cubicBezTo>
                  <a:pt x="0" y="113102"/>
                  <a:pt x="5909" y="119011"/>
                  <a:pt x="13223" y="119011"/>
                </a:cubicBezTo>
                <a:lnTo>
                  <a:pt x="52894" y="119011"/>
                </a:lnTo>
                <a:lnTo>
                  <a:pt x="52894" y="132234"/>
                </a:lnTo>
                <a:lnTo>
                  <a:pt x="46282" y="132234"/>
                </a:lnTo>
                <a:cubicBezTo>
                  <a:pt x="35331" y="132234"/>
                  <a:pt x="26447" y="141119"/>
                  <a:pt x="26447" y="152069"/>
                </a:cubicBezTo>
                <a:lnTo>
                  <a:pt x="26447" y="178516"/>
                </a:lnTo>
                <a:cubicBezTo>
                  <a:pt x="26447" y="189467"/>
                  <a:pt x="35331" y="198351"/>
                  <a:pt x="46282" y="198351"/>
                </a:cubicBezTo>
                <a:lnTo>
                  <a:pt x="85952" y="198351"/>
                </a:lnTo>
                <a:cubicBezTo>
                  <a:pt x="96903" y="198351"/>
                  <a:pt x="105787" y="189467"/>
                  <a:pt x="105787" y="178516"/>
                </a:cubicBezTo>
                <a:lnTo>
                  <a:pt x="105787" y="152069"/>
                </a:lnTo>
                <a:cubicBezTo>
                  <a:pt x="105787" y="141119"/>
                  <a:pt x="96903" y="132234"/>
                  <a:pt x="85952" y="132234"/>
                </a:cubicBezTo>
                <a:lnTo>
                  <a:pt x="79341" y="132234"/>
                </a:lnTo>
                <a:lnTo>
                  <a:pt x="79341" y="119011"/>
                </a:lnTo>
                <a:lnTo>
                  <a:pt x="158681" y="119011"/>
                </a:lnTo>
                <a:lnTo>
                  <a:pt x="158681" y="132234"/>
                </a:lnTo>
                <a:lnTo>
                  <a:pt x="152069" y="132234"/>
                </a:lnTo>
                <a:cubicBezTo>
                  <a:pt x="141119" y="132234"/>
                  <a:pt x="132234" y="141119"/>
                  <a:pt x="132234" y="152069"/>
                </a:cubicBezTo>
                <a:lnTo>
                  <a:pt x="132234" y="178516"/>
                </a:lnTo>
                <a:cubicBezTo>
                  <a:pt x="132234" y="189467"/>
                  <a:pt x="141119" y="198351"/>
                  <a:pt x="152069" y="198351"/>
                </a:cubicBezTo>
                <a:lnTo>
                  <a:pt x="191740" y="198351"/>
                </a:lnTo>
                <a:cubicBezTo>
                  <a:pt x="202690" y="198351"/>
                  <a:pt x="211575" y="189467"/>
                  <a:pt x="211575" y="178516"/>
                </a:cubicBezTo>
                <a:lnTo>
                  <a:pt x="211575" y="152069"/>
                </a:lnTo>
                <a:cubicBezTo>
                  <a:pt x="211575" y="141119"/>
                  <a:pt x="202690" y="132234"/>
                  <a:pt x="191740" y="132234"/>
                </a:cubicBezTo>
                <a:lnTo>
                  <a:pt x="185128" y="132234"/>
                </a:lnTo>
                <a:lnTo>
                  <a:pt x="185128" y="119011"/>
                </a:lnTo>
                <a:lnTo>
                  <a:pt x="224798" y="119011"/>
                </a:lnTo>
                <a:cubicBezTo>
                  <a:pt x="232112" y="119011"/>
                  <a:pt x="238022" y="113102"/>
                  <a:pt x="238022" y="105787"/>
                </a:cubicBezTo>
                <a:cubicBezTo>
                  <a:pt x="238022" y="98473"/>
                  <a:pt x="232112" y="92564"/>
                  <a:pt x="224798" y="92564"/>
                </a:cubicBezTo>
                <a:lnTo>
                  <a:pt x="132234" y="92564"/>
                </a:lnTo>
                <a:lnTo>
                  <a:pt x="132234" y="79341"/>
                </a:lnTo>
                <a:lnTo>
                  <a:pt x="138846" y="79341"/>
                </a:lnTo>
                <a:cubicBezTo>
                  <a:pt x="149797" y="79341"/>
                  <a:pt x="158681" y="70456"/>
                  <a:pt x="158681" y="59505"/>
                </a:cubicBezTo>
                <a:lnTo>
                  <a:pt x="158681" y="33059"/>
                </a:lnTo>
                <a:cubicBezTo>
                  <a:pt x="158681" y="22108"/>
                  <a:pt x="149797" y="13223"/>
                  <a:pt x="138846" y="13223"/>
                </a:cubicBezTo>
                <a:lnTo>
                  <a:pt x="99176" y="13223"/>
                </a:lnTo>
                <a:close/>
                <a:moveTo>
                  <a:pt x="185128" y="155375"/>
                </a:moveTo>
                <a:lnTo>
                  <a:pt x="188434" y="155375"/>
                </a:lnTo>
                <a:lnTo>
                  <a:pt x="188434" y="175210"/>
                </a:lnTo>
                <a:lnTo>
                  <a:pt x="155375" y="175210"/>
                </a:lnTo>
                <a:lnTo>
                  <a:pt x="155375" y="155375"/>
                </a:lnTo>
                <a:lnTo>
                  <a:pt x="185128" y="155375"/>
                </a:lnTo>
                <a:close/>
                <a:moveTo>
                  <a:pt x="79341" y="155375"/>
                </a:moveTo>
                <a:lnTo>
                  <a:pt x="82646" y="155375"/>
                </a:lnTo>
                <a:lnTo>
                  <a:pt x="82646" y="175210"/>
                </a:lnTo>
                <a:lnTo>
                  <a:pt x="49588" y="175210"/>
                </a:lnTo>
                <a:lnTo>
                  <a:pt x="49588" y="155375"/>
                </a:lnTo>
                <a:lnTo>
                  <a:pt x="79341" y="155375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9140281" y="3884795"/>
            <a:ext cx="243311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Interconnection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44689" y="4061107"/>
            <a:ext cx="2424295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Ecosystem access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6474" y="4426956"/>
            <a:ext cx="2591792" cy="819852"/>
          </a:xfrm>
          <a:custGeom>
            <a:avLst/>
            <a:gdLst/>
            <a:ahLst/>
            <a:cxnLst/>
            <a:rect l="l" t="t" r="r" b="b"/>
            <a:pathLst>
              <a:path w="2591792" h="819852">
                <a:moveTo>
                  <a:pt x="70524" y="0"/>
                </a:moveTo>
                <a:lnTo>
                  <a:pt x="2521268" y="0"/>
                </a:lnTo>
                <a:cubicBezTo>
                  <a:pt x="2560217" y="0"/>
                  <a:pt x="2591792" y="31575"/>
                  <a:pt x="2591792" y="70524"/>
                </a:cubicBezTo>
                <a:lnTo>
                  <a:pt x="2591792" y="749329"/>
                </a:lnTo>
                <a:cubicBezTo>
                  <a:pt x="2591792" y="788278"/>
                  <a:pt x="2560217" y="819852"/>
                  <a:pt x="2521268" y="819852"/>
                </a:cubicBezTo>
                <a:lnTo>
                  <a:pt x="70524" y="819852"/>
                </a:lnTo>
                <a:cubicBezTo>
                  <a:pt x="31575" y="819852"/>
                  <a:pt x="0" y="788278"/>
                  <a:pt x="0" y="749329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7532395" y="4537151"/>
            <a:ext cx="238022" cy="211575"/>
          </a:xfrm>
          <a:custGeom>
            <a:avLst/>
            <a:gdLst/>
            <a:ahLst/>
            <a:cxnLst/>
            <a:rect l="l" t="t" r="r" b="b"/>
            <a:pathLst>
              <a:path w="238022" h="211575">
                <a:moveTo>
                  <a:pt x="0" y="138846"/>
                </a:moveTo>
                <a:cubicBezTo>
                  <a:pt x="0" y="171698"/>
                  <a:pt x="26653" y="198351"/>
                  <a:pt x="59505" y="198351"/>
                </a:cubicBezTo>
                <a:lnTo>
                  <a:pt x="185128" y="198351"/>
                </a:lnTo>
                <a:cubicBezTo>
                  <a:pt x="214343" y="198351"/>
                  <a:pt x="238022" y="174673"/>
                  <a:pt x="238022" y="145458"/>
                </a:cubicBezTo>
                <a:cubicBezTo>
                  <a:pt x="238022" y="124135"/>
                  <a:pt x="225418" y="105746"/>
                  <a:pt x="207236" y="97399"/>
                </a:cubicBezTo>
                <a:cubicBezTo>
                  <a:pt x="210005" y="91985"/>
                  <a:pt x="211575" y="85828"/>
                  <a:pt x="211575" y="79341"/>
                </a:cubicBezTo>
                <a:cubicBezTo>
                  <a:pt x="211575" y="57439"/>
                  <a:pt x="193806" y="39670"/>
                  <a:pt x="171905" y="39670"/>
                </a:cubicBezTo>
                <a:cubicBezTo>
                  <a:pt x="164590" y="39670"/>
                  <a:pt x="157772" y="41654"/>
                  <a:pt x="151904" y="45084"/>
                </a:cubicBezTo>
                <a:cubicBezTo>
                  <a:pt x="141945" y="26158"/>
                  <a:pt x="122069" y="13223"/>
                  <a:pt x="99176" y="13223"/>
                </a:cubicBezTo>
                <a:cubicBezTo>
                  <a:pt x="66324" y="13223"/>
                  <a:pt x="39670" y="39877"/>
                  <a:pt x="39670" y="72729"/>
                </a:cubicBezTo>
                <a:cubicBezTo>
                  <a:pt x="39670" y="76035"/>
                  <a:pt x="39960" y="79299"/>
                  <a:pt x="40455" y="82440"/>
                </a:cubicBezTo>
                <a:cubicBezTo>
                  <a:pt x="16943" y="90374"/>
                  <a:pt x="0" y="112647"/>
                  <a:pt x="0" y="13884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435815" y="4819251"/>
            <a:ext cx="243311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Connect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40222" y="4995563"/>
            <a:ext cx="2424295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Azure/AWS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0940" y="4426956"/>
            <a:ext cx="2591792" cy="819852"/>
          </a:xfrm>
          <a:custGeom>
            <a:avLst/>
            <a:gdLst/>
            <a:ahLst/>
            <a:cxnLst/>
            <a:rect l="l" t="t" r="r" b="b"/>
            <a:pathLst>
              <a:path w="2591792" h="819852">
                <a:moveTo>
                  <a:pt x="70524" y="0"/>
                </a:moveTo>
                <a:lnTo>
                  <a:pt x="2521268" y="0"/>
                </a:lnTo>
                <a:cubicBezTo>
                  <a:pt x="2560217" y="0"/>
                  <a:pt x="2591792" y="31575"/>
                  <a:pt x="2591792" y="70524"/>
                </a:cubicBezTo>
                <a:lnTo>
                  <a:pt x="2591792" y="749329"/>
                </a:lnTo>
                <a:cubicBezTo>
                  <a:pt x="2591792" y="788278"/>
                  <a:pt x="2560217" y="819852"/>
                  <a:pt x="2521268" y="819852"/>
                </a:cubicBezTo>
                <a:lnTo>
                  <a:pt x="70524" y="819852"/>
                </a:lnTo>
                <a:cubicBezTo>
                  <a:pt x="31575" y="819852"/>
                  <a:pt x="0" y="788278"/>
                  <a:pt x="0" y="749329"/>
                </a:cubicBezTo>
                <a:lnTo>
                  <a:pt x="0" y="70524"/>
                </a:lnTo>
                <a:cubicBezTo>
                  <a:pt x="0" y="31601"/>
                  <a:pt x="31601" y="0"/>
                  <a:pt x="70524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 w="12700">
            <a:solidFill>
              <a:srgbClr val="10B981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10250085" y="4537151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105787" y="0"/>
                </a:moveTo>
                <a:cubicBezTo>
                  <a:pt x="107688" y="0"/>
                  <a:pt x="109589" y="413"/>
                  <a:pt x="111325" y="1198"/>
                </a:cubicBezTo>
                <a:lnTo>
                  <a:pt x="189178" y="34216"/>
                </a:lnTo>
                <a:cubicBezTo>
                  <a:pt x="198269" y="38059"/>
                  <a:pt x="205046" y="47026"/>
                  <a:pt x="205004" y="57852"/>
                </a:cubicBezTo>
                <a:cubicBezTo>
                  <a:pt x="204798" y="98845"/>
                  <a:pt x="187938" y="173847"/>
                  <a:pt x="116738" y="207938"/>
                </a:cubicBezTo>
                <a:cubicBezTo>
                  <a:pt x="109837" y="211244"/>
                  <a:pt x="101820" y="211244"/>
                  <a:pt x="94919" y="207938"/>
                </a:cubicBezTo>
                <a:cubicBezTo>
                  <a:pt x="23678" y="173847"/>
                  <a:pt x="6860" y="98845"/>
                  <a:pt x="6653" y="57852"/>
                </a:cubicBezTo>
                <a:cubicBezTo>
                  <a:pt x="6612" y="47026"/>
                  <a:pt x="13389" y="38059"/>
                  <a:pt x="22480" y="34216"/>
                </a:cubicBezTo>
                <a:lnTo>
                  <a:pt x="100291" y="1198"/>
                </a:lnTo>
                <a:cubicBezTo>
                  <a:pt x="102027" y="413"/>
                  <a:pt x="103887" y="0"/>
                  <a:pt x="105787" y="0"/>
                </a:cubicBezTo>
                <a:close/>
                <a:moveTo>
                  <a:pt x="105787" y="27604"/>
                </a:moveTo>
                <a:lnTo>
                  <a:pt x="105787" y="183847"/>
                </a:lnTo>
                <a:cubicBezTo>
                  <a:pt x="162813" y="156243"/>
                  <a:pt x="178144" y="95085"/>
                  <a:pt x="178516" y="58472"/>
                </a:cubicBezTo>
                <a:lnTo>
                  <a:pt x="105787" y="27645"/>
                </a:lnTo>
                <a:lnTo>
                  <a:pt x="105787" y="27645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9140281" y="4819251"/>
            <a:ext cx="2433111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144689" y="4995563"/>
            <a:ext cx="2424295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3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71346" y="5408897"/>
            <a:ext cx="5668443" cy="1396637"/>
          </a:xfrm>
          <a:custGeom>
            <a:avLst/>
            <a:gdLst/>
            <a:ahLst/>
            <a:cxnLst/>
            <a:rect l="l" t="t" r="r" b="b"/>
            <a:pathLst>
              <a:path w="5668443" h="1472208">
                <a:moveTo>
                  <a:pt x="105793" y="0"/>
                </a:moveTo>
                <a:lnTo>
                  <a:pt x="5562650" y="0"/>
                </a:lnTo>
                <a:cubicBezTo>
                  <a:pt x="5621077" y="0"/>
                  <a:pt x="5668443" y="47365"/>
                  <a:pt x="5668443" y="105793"/>
                </a:cubicBezTo>
                <a:lnTo>
                  <a:pt x="5668443" y="1366415"/>
                </a:lnTo>
                <a:cubicBezTo>
                  <a:pt x="5668443" y="1424843"/>
                  <a:pt x="5621077" y="1472208"/>
                  <a:pt x="5562650" y="1472208"/>
                </a:cubicBezTo>
                <a:lnTo>
                  <a:pt x="105793" y="1472208"/>
                </a:lnTo>
                <a:cubicBezTo>
                  <a:pt x="47365" y="1472208"/>
                  <a:pt x="0" y="1424843"/>
                  <a:pt x="0" y="1366415"/>
                </a:cubicBezTo>
                <a:lnTo>
                  <a:pt x="0" y="105793"/>
                </a:lnTo>
                <a:cubicBezTo>
                  <a:pt x="0" y="47404"/>
                  <a:pt x="47404" y="0"/>
                  <a:pt x="105793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6338843" y="5598432"/>
            <a:ext cx="158681" cy="158681"/>
          </a:xfrm>
          <a:custGeom>
            <a:avLst/>
            <a:gdLst/>
            <a:ahLst/>
            <a:cxnLst/>
            <a:rect l="l" t="t" r="r" b="b"/>
            <a:pathLst>
              <a:path w="158681" h="158681">
                <a:moveTo>
                  <a:pt x="19835" y="19835"/>
                </a:moveTo>
                <a:cubicBezTo>
                  <a:pt x="19835" y="14349"/>
                  <a:pt x="15403" y="9918"/>
                  <a:pt x="9918" y="9918"/>
                </a:cubicBezTo>
                <a:cubicBezTo>
                  <a:pt x="4432" y="9918"/>
                  <a:pt x="0" y="14349"/>
                  <a:pt x="0" y="19835"/>
                </a:cubicBezTo>
                <a:lnTo>
                  <a:pt x="0" y="123970"/>
                </a:lnTo>
                <a:cubicBezTo>
                  <a:pt x="0" y="137668"/>
                  <a:pt x="11095" y="148764"/>
                  <a:pt x="24794" y="148764"/>
                </a:cubicBezTo>
                <a:lnTo>
                  <a:pt x="148764" y="148764"/>
                </a:lnTo>
                <a:cubicBezTo>
                  <a:pt x="154249" y="148764"/>
                  <a:pt x="158681" y="144332"/>
                  <a:pt x="158681" y="138846"/>
                </a:cubicBezTo>
                <a:cubicBezTo>
                  <a:pt x="158681" y="133360"/>
                  <a:pt x="154249" y="128928"/>
                  <a:pt x="148764" y="128928"/>
                </a:cubicBezTo>
                <a:lnTo>
                  <a:pt x="24794" y="128928"/>
                </a:lnTo>
                <a:cubicBezTo>
                  <a:pt x="22067" y="128928"/>
                  <a:pt x="19835" y="126697"/>
                  <a:pt x="19835" y="123970"/>
                </a:cubicBezTo>
                <a:lnTo>
                  <a:pt x="19835" y="19835"/>
                </a:lnTo>
                <a:close/>
                <a:moveTo>
                  <a:pt x="145850" y="46675"/>
                </a:moveTo>
                <a:cubicBezTo>
                  <a:pt x="149724" y="42801"/>
                  <a:pt x="149724" y="36509"/>
                  <a:pt x="145850" y="32635"/>
                </a:cubicBezTo>
                <a:cubicBezTo>
                  <a:pt x="141976" y="28761"/>
                  <a:pt x="135685" y="28761"/>
                  <a:pt x="131811" y="32635"/>
                </a:cubicBezTo>
                <a:lnTo>
                  <a:pt x="99176" y="65301"/>
                </a:lnTo>
                <a:lnTo>
                  <a:pt x="81386" y="47542"/>
                </a:lnTo>
                <a:cubicBezTo>
                  <a:pt x="77512" y="43668"/>
                  <a:pt x="71221" y="43668"/>
                  <a:pt x="67347" y="47542"/>
                </a:cubicBezTo>
                <a:lnTo>
                  <a:pt x="37594" y="77295"/>
                </a:lnTo>
                <a:cubicBezTo>
                  <a:pt x="33720" y="81169"/>
                  <a:pt x="33720" y="87461"/>
                  <a:pt x="37594" y="91335"/>
                </a:cubicBezTo>
                <a:cubicBezTo>
                  <a:pt x="41468" y="95209"/>
                  <a:pt x="47759" y="95209"/>
                  <a:pt x="51633" y="91335"/>
                </a:cubicBezTo>
                <a:lnTo>
                  <a:pt x="74382" y="68586"/>
                </a:lnTo>
                <a:lnTo>
                  <a:pt x="92171" y="86376"/>
                </a:lnTo>
                <a:cubicBezTo>
                  <a:pt x="96045" y="90250"/>
                  <a:pt x="102337" y="90250"/>
                  <a:pt x="106211" y="86376"/>
                </a:cubicBezTo>
                <a:lnTo>
                  <a:pt x="145881" y="46706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6519563" y="5554354"/>
            <a:ext cx="5254108" cy="246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9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Scenarios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6804" y="5924610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35263" y="0"/>
                </a:moveTo>
                <a:lnTo>
                  <a:pt x="176312" y="0"/>
                </a:lnTo>
                <a:cubicBezTo>
                  <a:pt x="195774" y="0"/>
                  <a:pt x="211575" y="15801"/>
                  <a:pt x="211575" y="35263"/>
                </a:cubicBezTo>
                <a:lnTo>
                  <a:pt x="211575" y="176312"/>
                </a:lnTo>
                <a:cubicBezTo>
                  <a:pt x="211575" y="195787"/>
                  <a:pt x="195787" y="211575"/>
                  <a:pt x="176312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401379" y="5959873"/>
            <a:ext cx="96972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598903" y="5906979"/>
            <a:ext cx="4205050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Aggregator Connectivity:</a:t>
            </a:r>
            <a:r>
              <a:rPr lang="en-US" sz="972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Low-latency connections to price comparison sites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16804" y="6224341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35263" y="0"/>
                </a:moveTo>
                <a:lnTo>
                  <a:pt x="176312" y="0"/>
                </a:lnTo>
                <a:cubicBezTo>
                  <a:pt x="195774" y="0"/>
                  <a:pt x="211575" y="15801"/>
                  <a:pt x="211575" y="35263"/>
                </a:cubicBezTo>
                <a:lnTo>
                  <a:pt x="211575" y="176312"/>
                </a:lnTo>
                <a:cubicBezTo>
                  <a:pt x="211575" y="195787"/>
                  <a:pt x="195787" y="211575"/>
                  <a:pt x="176312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6391736" y="6259604"/>
            <a:ext cx="114603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598903" y="6206710"/>
            <a:ext cx="3349935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 Bridge:</a:t>
            </a:r>
            <a:r>
              <a:rPr lang="en-US" sz="972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Hybrid connectivity during phased retirement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16804" y="6524072"/>
            <a:ext cx="211575" cy="211575"/>
          </a:xfrm>
          <a:custGeom>
            <a:avLst/>
            <a:gdLst/>
            <a:ahLst/>
            <a:cxnLst/>
            <a:rect l="l" t="t" r="r" b="b"/>
            <a:pathLst>
              <a:path w="211575" h="211575">
                <a:moveTo>
                  <a:pt x="35263" y="0"/>
                </a:moveTo>
                <a:lnTo>
                  <a:pt x="176312" y="0"/>
                </a:lnTo>
                <a:cubicBezTo>
                  <a:pt x="195774" y="0"/>
                  <a:pt x="211575" y="15801"/>
                  <a:pt x="211575" y="35263"/>
                </a:cubicBezTo>
                <a:lnTo>
                  <a:pt x="211575" y="176312"/>
                </a:lnTo>
                <a:cubicBezTo>
                  <a:pt x="211575" y="195787"/>
                  <a:pt x="195787" y="211575"/>
                  <a:pt x="176312" y="211575"/>
                </a:cubicBezTo>
                <a:lnTo>
                  <a:pt x="35263" y="211575"/>
                </a:lnTo>
                <a:cubicBezTo>
                  <a:pt x="15801" y="211575"/>
                  <a:pt x="0" y="195774"/>
                  <a:pt x="0" y="176312"/>
                </a:cubicBezTo>
                <a:lnTo>
                  <a:pt x="0" y="35263"/>
                </a:lnTo>
                <a:cubicBezTo>
                  <a:pt x="0" y="15801"/>
                  <a:pt x="15801" y="0"/>
                  <a:pt x="3526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6391323" y="6559335"/>
            <a:ext cx="114603" cy="14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598903" y="6506441"/>
            <a:ext cx="2909154" cy="176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2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Residency:</a:t>
            </a:r>
            <a:r>
              <a:rPr lang="en-US" sz="972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UK/EU data sovereignty compliance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207" y="431869"/>
            <a:ext cx="66441" cy="332207"/>
          </a:xfrm>
          <a:custGeom>
            <a:avLst/>
            <a:gdLst/>
            <a:ahLst/>
            <a:cxnLst/>
            <a:rect l="l" t="t" r="r" b="b"/>
            <a:pathLst>
              <a:path w="66441" h="332207">
                <a:moveTo>
                  <a:pt x="0" y="0"/>
                </a:moveTo>
                <a:lnTo>
                  <a:pt x="66441" y="0"/>
                </a:lnTo>
                <a:lnTo>
                  <a:pt x="66441" y="332207"/>
                </a:lnTo>
                <a:lnTo>
                  <a:pt x="0" y="332207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98311" y="332207"/>
            <a:ext cx="5564469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kern="0" spc="52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8311" y="531531"/>
            <a:ext cx="5647520" cy="33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4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 Entry Plan: Engagement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8311" y="930180"/>
            <a:ext cx="1142792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deal motion assumptions and recommended first plays for Aviva engagement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6360" y="1266540"/>
            <a:ext cx="5689046" cy="5405243"/>
          </a:xfrm>
          <a:custGeom>
            <a:avLst/>
            <a:gdLst/>
            <a:ahLst/>
            <a:cxnLst/>
            <a:rect l="l" t="t" r="r" b="b"/>
            <a:pathLst>
              <a:path w="5689046" h="6079390">
                <a:moveTo>
                  <a:pt x="99672" y="0"/>
                </a:moveTo>
                <a:lnTo>
                  <a:pt x="5589374" y="0"/>
                </a:lnTo>
                <a:cubicBezTo>
                  <a:pt x="5644422" y="0"/>
                  <a:pt x="5689046" y="44625"/>
                  <a:pt x="5689046" y="99672"/>
                </a:cubicBezTo>
                <a:lnTo>
                  <a:pt x="5689046" y="5979718"/>
                </a:lnTo>
                <a:cubicBezTo>
                  <a:pt x="5689046" y="6034765"/>
                  <a:pt x="5644422" y="6079390"/>
                  <a:pt x="5589374" y="6079390"/>
                </a:cubicBezTo>
                <a:lnTo>
                  <a:pt x="99672" y="6079390"/>
                </a:lnTo>
                <a:cubicBezTo>
                  <a:pt x="44625" y="6079390"/>
                  <a:pt x="0" y="6034765"/>
                  <a:pt x="0" y="5979718"/>
                </a:cubicBezTo>
                <a:lnTo>
                  <a:pt x="0" y="99672"/>
                </a:lnTo>
                <a:cubicBezTo>
                  <a:pt x="0" y="44625"/>
                  <a:pt x="44625" y="0"/>
                  <a:pt x="99672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27379" y="1470016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62289" y="20763"/>
                </a:moveTo>
                <a:cubicBezTo>
                  <a:pt x="62289" y="15021"/>
                  <a:pt x="66928" y="10381"/>
                  <a:pt x="72670" y="10381"/>
                </a:cubicBezTo>
                <a:lnTo>
                  <a:pt x="93433" y="10381"/>
                </a:lnTo>
                <a:cubicBezTo>
                  <a:pt x="99175" y="10381"/>
                  <a:pt x="103815" y="15021"/>
                  <a:pt x="103815" y="20763"/>
                </a:cubicBezTo>
                <a:lnTo>
                  <a:pt x="103815" y="41526"/>
                </a:lnTo>
                <a:cubicBezTo>
                  <a:pt x="103815" y="47268"/>
                  <a:pt x="99175" y="51907"/>
                  <a:pt x="93433" y="51907"/>
                </a:cubicBezTo>
                <a:lnTo>
                  <a:pt x="90838" y="51907"/>
                </a:lnTo>
                <a:lnTo>
                  <a:pt x="90838" y="72670"/>
                </a:lnTo>
                <a:lnTo>
                  <a:pt x="129768" y="72670"/>
                </a:lnTo>
                <a:cubicBezTo>
                  <a:pt x="142680" y="72670"/>
                  <a:pt x="153127" y="83117"/>
                  <a:pt x="153127" y="96029"/>
                </a:cubicBezTo>
                <a:lnTo>
                  <a:pt x="153127" y="114196"/>
                </a:lnTo>
                <a:lnTo>
                  <a:pt x="155722" y="114196"/>
                </a:lnTo>
                <a:cubicBezTo>
                  <a:pt x="161464" y="114196"/>
                  <a:pt x="166104" y="118835"/>
                  <a:pt x="166104" y="124578"/>
                </a:cubicBezTo>
                <a:lnTo>
                  <a:pt x="166104" y="145341"/>
                </a:lnTo>
                <a:cubicBezTo>
                  <a:pt x="166104" y="151083"/>
                  <a:pt x="161464" y="155722"/>
                  <a:pt x="155722" y="155722"/>
                </a:cubicBezTo>
                <a:lnTo>
                  <a:pt x="134959" y="155722"/>
                </a:lnTo>
                <a:cubicBezTo>
                  <a:pt x="129217" y="155722"/>
                  <a:pt x="124578" y="151083"/>
                  <a:pt x="124578" y="145341"/>
                </a:cubicBezTo>
                <a:lnTo>
                  <a:pt x="124578" y="124578"/>
                </a:lnTo>
                <a:cubicBezTo>
                  <a:pt x="124578" y="118835"/>
                  <a:pt x="129217" y="114196"/>
                  <a:pt x="134959" y="114196"/>
                </a:cubicBezTo>
                <a:lnTo>
                  <a:pt x="137554" y="114196"/>
                </a:lnTo>
                <a:lnTo>
                  <a:pt x="137554" y="96029"/>
                </a:lnTo>
                <a:cubicBezTo>
                  <a:pt x="137554" y="91714"/>
                  <a:pt x="134083" y="88243"/>
                  <a:pt x="129768" y="88243"/>
                </a:cubicBezTo>
                <a:lnTo>
                  <a:pt x="90838" y="88243"/>
                </a:lnTo>
                <a:lnTo>
                  <a:pt x="90838" y="114196"/>
                </a:lnTo>
                <a:lnTo>
                  <a:pt x="93433" y="114196"/>
                </a:lnTo>
                <a:cubicBezTo>
                  <a:pt x="99175" y="114196"/>
                  <a:pt x="103815" y="118835"/>
                  <a:pt x="103815" y="124578"/>
                </a:cubicBezTo>
                <a:lnTo>
                  <a:pt x="103815" y="145341"/>
                </a:lnTo>
                <a:cubicBezTo>
                  <a:pt x="103815" y="151083"/>
                  <a:pt x="99175" y="155722"/>
                  <a:pt x="93433" y="155722"/>
                </a:cubicBezTo>
                <a:lnTo>
                  <a:pt x="72670" y="155722"/>
                </a:lnTo>
                <a:cubicBezTo>
                  <a:pt x="66928" y="155722"/>
                  <a:pt x="62289" y="151083"/>
                  <a:pt x="62289" y="145341"/>
                </a:cubicBezTo>
                <a:lnTo>
                  <a:pt x="62289" y="124578"/>
                </a:lnTo>
                <a:cubicBezTo>
                  <a:pt x="62289" y="118835"/>
                  <a:pt x="66928" y="114196"/>
                  <a:pt x="72670" y="114196"/>
                </a:cubicBezTo>
                <a:lnTo>
                  <a:pt x="75266" y="114196"/>
                </a:lnTo>
                <a:lnTo>
                  <a:pt x="75266" y="88243"/>
                </a:lnTo>
                <a:lnTo>
                  <a:pt x="36335" y="88243"/>
                </a:lnTo>
                <a:cubicBezTo>
                  <a:pt x="32020" y="88243"/>
                  <a:pt x="28549" y="91714"/>
                  <a:pt x="28549" y="96029"/>
                </a:cubicBezTo>
                <a:lnTo>
                  <a:pt x="28549" y="114196"/>
                </a:lnTo>
                <a:lnTo>
                  <a:pt x="31144" y="114196"/>
                </a:lnTo>
                <a:cubicBezTo>
                  <a:pt x="36887" y="114196"/>
                  <a:pt x="41526" y="118835"/>
                  <a:pt x="41526" y="124578"/>
                </a:cubicBezTo>
                <a:lnTo>
                  <a:pt x="41526" y="145341"/>
                </a:lnTo>
                <a:cubicBezTo>
                  <a:pt x="41526" y="151083"/>
                  <a:pt x="36887" y="155722"/>
                  <a:pt x="31144" y="155722"/>
                </a:cubicBezTo>
                <a:lnTo>
                  <a:pt x="10381" y="155722"/>
                </a:lnTo>
                <a:cubicBezTo>
                  <a:pt x="4639" y="155722"/>
                  <a:pt x="0" y="151083"/>
                  <a:pt x="0" y="145341"/>
                </a:cubicBezTo>
                <a:lnTo>
                  <a:pt x="0" y="124578"/>
                </a:lnTo>
                <a:cubicBezTo>
                  <a:pt x="0" y="118835"/>
                  <a:pt x="4639" y="114196"/>
                  <a:pt x="10381" y="114196"/>
                </a:cubicBezTo>
                <a:lnTo>
                  <a:pt x="12977" y="114196"/>
                </a:lnTo>
                <a:lnTo>
                  <a:pt x="12977" y="96029"/>
                </a:lnTo>
                <a:cubicBezTo>
                  <a:pt x="12977" y="83117"/>
                  <a:pt x="23423" y="72670"/>
                  <a:pt x="36335" y="72670"/>
                </a:cubicBezTo>
                <a:lnTo>
                  <a:pt x="75266" y="72670"/>
                </a:lnTo>
                <a:lnTo>
                  <a:pt x="75266" y="51907"/>
                </a:lnTo>
                <a:lnTo>
                  <a:pt x="72670" y="51907"/>
                </a:lnTo>
                <a:cubicBezTo>
                  <a:pt x="66928" y="51907"/>
                  <a:pt x="62289" y="47268"/>
                  <a:pt x="62289" y="41526"/>
                </a:cubicBezTo>
                <a:lnTo>
                  <a:pt x="62289" y="20763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14245" y="1436796"/>
            <a:ext cx="5223956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Deal Motion Reality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3226" y="3042420"/>
            <a:ext cx="5331924" cy="664414"/>
          </a:xfrm>
          <a:custGeom>
            <a:avLst/>
            <a:gdLst/>
            <a:ahLst/>
            <a:cxnLst/>
            <a:rect l="l" t="t" r="r" b="b"/>
            <a:pathLst>
              <a:path w="5331924" h="664414">
                <a:moveTo>
                  <a:pt x="33221" y="0"/>
                </a:moveTo>
                <a:lnTo>
                  <a:pt x="5265482" y="0"/>
                </a:lnTo>
                <a:cubicBezTo>
                  <a:pt x="5302177" y="0"/>
                  <a:pt x="5331924" y="29747"/>
                  <a:pt x="5331924" y="66441"/>
                </a:cubicBezTo>
                <a:lnTo>
                  <a:pt x="5331924" y="597973"/>
                </a:lnTo>
                <a:cubicBezTo>
                  <a:pt x="5331924" y="634667"/>
                  <a:pt x="5302177" y="664414"/>
                  <a:pt x="526548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23226" y="3042420"/>
            <a:ext cx="33221" cy="664414"/>
          </a:xfrm>
          <a:custGeom>
            <a:avLst/>
            <a:gdLst/>
            <a:ahLst/>
            <a:cxnLst/>
            <a:rect l="l" t="t" r="r" b="b"/>
            <a:pathLst>
              <a:path w="33221" h="664414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39499" y="3142082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16322" y="3216829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58136" y="0"/>
                </a:moveTo>
                <a:cubicBezTo>
                  <a:pt x="59181" y="0"/>
                  <a:pt x="60226" y="227"/>
                  <a:pt x="61179" y="659"/>
                </a:cubicBezTo>
                <a:lnTo>
                  <a:pt x="103964" y="18803"/>
                </a:lnTo>
                <a:cubicBezTo>
                  <a:pt x="108960" y="20915"/>
                  <a:pt x="112684" y="25843"/>
                  <a:pt x="112662" y="31793"/>
                </a:cubicBezTo>
                <a:cubicBezTo>
                  <a:pt x="112548" y="54321"/>
                  <a:pt x="103283" y="95539"/>
                  <a:pt x="64154" y="114274"/>
                </a:cubicBezTo>
                <a:cubicBezTo>
                  <a:pt x="60362" y="116091"/>
                  <a:pt x="55956" y="116091"/>
                  <a:pt x="52164" y="114274"/>
                </a:cubicBezTo>
                <a:cubicBezTo>
                  <a:pt x="13013" y="95539"/>
                  <a:pt x="3770" y="54321"/>
                  <a:pt x="3656" y="31793"/>
                </a:cubicBezTo>
                <a:cubicBezTo>
                  <a:pt x="3634" y="25843"/>
                  <a:pt x="7358" y="20915"/>
                  <a:pt x="12354" y="18803"/>
                </a:cubicBezTo>
                <a:lnTo>
                  <a:pt x="55116" y="659"/>
                </a:lnTo>
                <a:cubicBezTo>
                  <a:pt x="56070" y="227"/>
                  <a:pt x="57092" y="0"/>
                  <a:pt x="58136" y="0"/>
                </a:cubicBezTo>
                <a:close/>
                <a:moveTo>
                  <a:pt x="58136" y="15170"/>
                </a:moveTo>
                <a:lnTo>
                  <a:pt x="58136" y="101034"/>
                </a:lnTo>
                <a:cubicBezTo>
                  <a:pt x="89475" y="85865"/>
                  <a:pt x="97901" y="52254"/>
                  <a:pt x="98105" y="32134"/>
                </a:cubicBezTo>
                <a:lnTo>
                  <a:pt x="58136" y="15193"/>
                </a:lnTo>
                <a:lnTo>
                  <a:pt x="58136" y="15193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04926" y="3175303"/>
            <a:ext cx="204307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Architecture + 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4926" y="3441068"/>
            <a:ext cx="4808698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guardrails and standards for cloud, data, and integration platforms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3226" y="3773276"/>
            <a:ext cx="5331924" cy="664414"/>
          </a:xfrm>
          <a:custGeom>
            <a:avLst/>
            <a:gdLst/>
            <a:ahLst/>
            <a:cxnLst/>
            <a:rect l="l" t="t" r="r" b="b"/>
            <a:pathLst>
              <a:path w="5331924" h="664414">
                <a:moveTo>
                  <a:pt x="33221" y="0"/>
                </a:moveTo>
                <a:lnTo>
                  <a:pt x="5265482" y="0"/>
                </a:lnTo>
                <a:cubicBezTo>
                  <a:pt x="5302177" y="0"/>
                  <a:pt x="5331924" y="29747"/>
                  <a:pt x="5331924" y="66441"/>
                </a:cubicBezTo>
                <a:lnTo>
                  <a:pt x="5331924" y="597973"/>
                </a:lnTo>
                <a:cubicBezTo>
                  <a:pt x="5331924" y="634667"/>
                  <a:pt x="5302177" y="664414"/>
                  <a:pt x="526548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23226" y="3773276"/>
            <a:ext cx="33221" cy="664414"/>
          </a:xfrm>
          <a:custGeom>
            <a:avLst/>
            <a:gdLst/>
            <a:ahLst/>
            <a:cxnLst/>
            <a:rect l="l" t="t" r="r" b="b"/>
            <a:pathLst>
              <a:path w="33221" h="664414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39499" y="3872938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01787" y="3947684"/>
            <a:ext cx="145341" cy="116272"/>
          </a:xfrm>
          <a:custGeom>
            <a:avLst/>
            <a:gdLst/>
            <a:ahLst/>
            <a:cxnLst/>
            <a:rect l="l" t="t" r="r" b="b"/>
            <a:pathLst>
              <a:path w="145341" h="116272">
                <a:moveTo>
                  <a:pt x="94449" y="47803"/>
                </a:moveTo>
                <a:cubicBezTo>
                  <a:pt x="97219" y="47054"/>
                  <a:pt x="100126" y="48371"/>
                  <a:pt x="101375" y="50937"/>
                </a:cubicBezTo>
                <a:lnTo>
                  <a:pt x="105599" y="59476"/>
                </a:lnTo>
                <a:cubicBezTo>
                  <a:pt x="107938" y="59794"/>
                  <a:pt x="110232" y="60430"/>
                  <a:pt x="112389" y="61316"/>
                </a:cubicBezTo>
                <a:lnTo>
                  <a:pt x="120337" y="56024"/>
                </a:lnTo>
                <a:cubicBezTo>
                  <a:pt x="122722" y="54435"/>
                  <a:pt x="125879" y="54753"/>
                  <a:pt x="127900" y="56774"/>
                </a:cubicBezTo>
                <a:lnTo>
                  <a:pt x="132260" y="61134"/>
                </a:lnTo>
                <a:cubicBezTo>
                  <a:pt x="134281" y="63155"/>
                  <a:pt x="134599" y="66334"/>
                  <a:pt x="133009" y="68696"/>
                </a:cubicBezTo>
                <a:lnTo>
                  <a:pt x="127718" y="76622"/>
                </a:lnTo>
                <a:cubicBezTo>
                  <a:pt x="128150" y="77689"/>
                  <a:pt x="128536" y="78802"/>
                  <a:pt x="128854" y="79960"/>
                </a:cubicBezTo>
                <a:cubicBezTo>
                  <a:pt x="129171" y="81118"/>
                  <a:pt x="129376" y="82254"/>
                  <a:pt x="129535" y="83412"/>
                </a:cubicBezTo>
                <a:lnTo>
                  <a:pt x="138096" y="87636"/>
                </a:lnTo>
                <a:cubicBezTo>
                  <a:pt x="140662" y="88908"/>
                  <a:pt x="141980" y="91814"/>
                  <a:pt x="141230" y="94562"/>
                </a:cubicBezTo>
                <a:lnTo>
                  <a:pt x="139641" y="100512"/>
                </a:lnTo>
                <a:cubicBezTo>
                  <a:pt x="138891" y="103260"/>
                  <a:pt x="136325" y="105122"/>
                  <a:pt x="133464" y="104940"/>
                </a:cubicBezTo>
                <a:lnTo>
                  <a:pt x="123926" y="104327"/>
                </a:lnTo>
                <a:cubicBezTo>
                  <a:pt x="122495" y="106167"/>
                  <a:pt x="120837" y="107870"/>
                  <a:pt x="118952" y="109323"/>
                </a:cubicBezTo>
                <a:lnTo>
                  <a:pt x="119565" y="118839"/>
                </a:lnTo>
                <a:cubicBezTo>
                  <a:pt x="119747" y="121700"/>
                  <a:pt x="117885" y="124289"/>
                  <a:pt x="115137" y="125016"/>
                </a:cubicBezTo>
                <a:lnTo>
                  <a:pt x="109187" y="126605"/>
                </a:lnTo>
                <a:cubicBezTo>
                  <a:pt x="106417" y="127355"/>
                  <a:pt x="103532" y="126038"/>
                  <a:pt x="102261" y="123471"/>
                </a:cubicBezTo>
                <a:lnTo>
                  <a:pt x="98037" y="114933"/>
                </a:lnTo>
                <a:cubicBezTo>
                  <a:pt x="95698" y="114615"/>
                  <a:pt x="93404" y="113979"/>
                  <a:pt x="91247" y="113093"/>
                </a:cubicBezTo>
                <a:lnTo>
                  <a:pt x="83298" y="118384"/>
                </a:lnTo>
                <a:cubicBezTo>
                  <a:pt x="80914" y="119974"/>
                  <a:pt x="77757" y="119656"/>
                  <a:pt x="75736" y="117635"/>
                </a:cubicBezTo>
                <a:lnTo>
                  <a:pt x="71376" y="113275"/>
                </a:lnTo>
                <a:cubicBezTo>
                  <a:pt x="69355" y="111254"/>
                  <a:pt x="69037" y="108097"/>
                  <a:pt x="70626" y="105713"/>
                </a:cubicBezTo>
                <a:lnTo>
                  <a:pt x="75918" y="97764"/>
                </a:lnTo>
                <a:cubicBezTo>
                  <a:pt x="75486" y="96697"/>
                  <a:pt x="75100" y="95584"/>
                  <a:pt x="74782" y="94426"/>
                </a:cubicBezTo>
                <a:cubicBezTo>
                  <a:pt x="74464" y="93268"/>
                  <a:pt x="74260" y="92110"/>
                  <a:pt x="74101" y="90974"/>
                </a:cubicBezTo>
                <a:lnTo>
                  <a:pt x="65540" y="86750"/>
                </a:lnTo>
                <a:cubicBezTo>
                  <a:pt x="62973" y="85478"/>
                  <a:pt x="61679" y="82572"/>
                  <a:pt x="62406" y="79824"/>
                </a:cubicBezTo>
                <a:lnTo>
                  <a:pt x="63995" y="73874"/>
                </a:lnTo>
                <a:cubicBezTo>
                  <a:pt x="64745" y="71126"/>
                  <a:pt x="67311" y="69264"/>
                  <a:pt x="70172" y="69446"/>
                </a:cubicBezTo>
                <a:lnTo>
                  <a:pt x="79688" y="70059"/>
                </a:lnTo>
                <a:cubicBezTo>
                  <a:pt x="81118" y="68219"/>
                  <a:pt x="82776" y="66516"/>
                  <a:pt x="84661" y="65063"/>
                </a:cubicBezTo>
                <a:lnTo>
                  <a:pt x="84048" y="55570"/>
                </a:lnTo>
                <a:cubicBezTo>
                  <a:pt x="83866" y="52709"/>
                  <a:pt x="85728" y="50120"/>
                  <a:pt x="88476" y="49393"/>
                </a:cubicBezTo>
                <a:lnTo>
                  <a:pt x="94426" y="47803"/>
                </a:lnTo>
                <a:close/>
                <a:moveTo>
                  <a:pt x="101829" y="77212"/>
                </a:moveTo>
                <a:cubicBezTo>
                  <a:pt x="96314" y="77218"/>
                  <a:pt x="91842" y="81701"/>
                  <a:pt x="91848" y="87216"/>
                </a:cubicBezTo>
                <a:cubicBezTo>
                  <a:pt x="91855" y="92731"/>
                  <a:pt x="96337" y="97203"/>
                  <a:pt x="101852" y="97197"/>
                </a:cubicBezTo>
                <a:cubicBezTo>
                  <a:pt x="107367" y="97190"/>
                  <a:pt x="111839" y="92708"/>
                  <a:pt x="111833" y="87193"/>
                </a:cubicBezTo>
                <a:cubicBezTo>
                  <a:pt x="111827" y="81678"/>
                  <a:pt x="107344" y="77206"/>
                  <a:pt x="101829" y="77212"/>
                </a:cubicBezTo>
                <a:close/>
                <a:moveTo>
                  <a:pt x="51074" y="-10333"/>
                </a:moveTo>
                <a:lnTo>
                  <a:pt x="57023" y="-8743"/>
                </a:lnTo>
                <a:cubicBezTo>
                  <a:pt x="59771" y="-7994"/>
                  <a:pt x="61633" y="-5405"/>
                  <a:pt x="61452" y="-2566"/>
                </a:cubicBezTo>
                <a:lnTo>
                  <a:pt x="60839" y="6926"/>
                </a:lnTo>
                <a:cubicBezTo>
                  <a:pt x="62724" y="8380"/>
                  <a:pt x="64381" y="10060"/>
                  <a:pt x="65812" y="11922"/>
                </a:cubicBezTo>
                <a:lnTo>
                  <a:pt x="75350" y="11309"/>
                </a:lnTo>
                <a:cubicBezTo>
                  <a:pt x="78189" y="11128"/>
                  <a:pt x="80778" y="12990"/>
                  <a:pt x="81527" y="15738"/>
                </a:cubicBezTo>
                <a:lnTo>
                  <a:pt x="83117" y="21688"/>
                </a:lnTo>
                <a:cubicBezTo>
                  <a:pt x="83843" y="24435"/>
                  <a:pt x="82549" y="27342"/>
                  <a:pt x="79983" y="28614"/>
                </a:cubicBezTo>
                <a:lnTo>
                  <a:pt x="71421" y="32838"/>
                </a:lnTo>
                <a:cubicBezTo>
                  <a:pt x="71262" y="33996"/>
                  <a:pt x="71035" y="35154"/>
                  <a:pt x="70740" y="36290"/>
                </a:cubicBezTo>
                <a:cubicBezTo>
                  <a:pt x="70445" y="37425"/>
                  <a:pt x="70036" y="38561"/>
                  <a:pt x="69605" y="39628"/>
                </a:cubicBezTo>
                <a:lnTo>
                  <a:pt x="74896" y="47576"/>
                </a:lnTo>
                <a:cubicBezTo>
                  <a:pt x="76485" y="49961"/>
                  <a:pt x="76168" y="53117"/>
                  <a:pt x="74146" y="55139"/>
                </a:cubicBezTo>
                <a:lnTo>
                  <a:pt x="69786" y="59499"/>
                </a:lnTo>
                <a:cubicBezTo>
                  <a:pt x="67765" y="61520"/>
                  <a:pt x="64608" y="61838"/>
                  <a:pt x="62224" y="60248"/>
                </a:cubicBezTo>
                <a:lnTo>
                  <a:pt x="54276" y="54957"/>
                </a:lnTo>
                <a:cubicBezTo>
                  <a:pt x="52118" y="55843"/>
                  <a:pt x="49825" y="56478"/>
                  <a:pt x="47485" y="56796"/>
                </a:cubicBezTo>
                <a:lnTo>
                  <a:pt x="43262" y="65335"/>
                </a:lnTo>
                <a:cubicBezTo>
                  <a:pt x="41990" y="67901"/>
                  <a:pt x="39083" y="69196"/>
                  <a:pt x="36335" y="68469"/>
                </a:cubicBezTo>
                <a:lnTo>
                  <a:pt x="30385" y="66879"/>
                </a:lnTo>
                <a:cubicBezTo>
                  <a:pt x="27615" y="66130"/>
                  <a:pt x="25775" y="63541"/>
                  <a:pt x="25957" y="60702"/>
                </a:cubicBezTo>
                <a:lnTo>
                  <a:pt x="26570" y="51187"/>
                </a:lnTo>
                <a:cubicBezTo>
                  <a:pt x="24685" y="49734"/>
                  <a:pt x="23027" y="48053"/>
                  <a:pt x="21597" y="46191"/>
                </a:cubicBezTo>
                <a:lnTo>
                  <a:pt x="12059" y="46804"/>
                </a:lnTo>
                <a:cubicBezTo>
                  <a:pt x="9220" y="46986"/>
                  <a:pt x="6631" y="45124"/>
                  <a:pt x="5882" y="42376"/>
                </a:cubicBezTo>
                <a:lnTo>
                  <a:pt x="4292" y="36426"/>
                </a:lnTo>
                <a:cubicBezTo>
                  <a:pt x="3565" y="33678"/>
                  <a:pt x="4860" y="30771"/>
                  <a:pt x="7426" y="29500"/>
                </a:cubicBezTo>
                <a:lnTo>
                  <a:pt x="15987" y="25276"/>
                </a:lnTo>
                <a:cubicBezTo>
                  <a:pt x="16146" y="24117"/>
                  <a:pt x="16374" y="22982"/>
                  <a:pt x="16669" y="21824"/>
                </a:cubicBezTo>
                <a:cubicBezTo>
                  <a:pt x="16987" y="20666"/>
                  <a:pt x="17350" y="19553"/>
                  <a:pt x="17804" y="18486"/>
                </a:cubicBezTo>
                <a:lnTo>
                  <a:pt x="12513" y="10560"/>
                </a:lnTo>
                <a:cubicBezTo>
                  <a:pt x="10923" y="8175"/>
                  <a:pt x="11241" y="5019"/>
                  <a:pt x="13262" y="2998"/>
                </a:cubicBezTo>
                <a:lnTo>
                  <a:pt x="17623" y="-1363"/>
                </a:lnTo>
                <a:cubicBezTo>
                  <a:pt x="19644" y="-3384"/>
                  <a:pt x="22800" y="-3702"/>
                  <a:pt x="25185" y="-2112"/>
                </a:cubicBezTo>
                <a:lnTo>
                  <a:pt x="33133" y="3179"/>
                </a:lnTo>
                <a:cubicBezTo>
                  <a:pt x="35291" y="2294"/>
                  <a:pt x="37584" y="1658"/>
                  <a:pt x="39923" y="1340"/>
                </a:cubicBezTo>
                <a:lnTo>
                  <a:pt x="44147" y="-7199"/>
                </a:lnTo>
                <a:cubicBezTo>
                  <a:pt x="45419" y="-9765"/>
                  <a:pt x="48303" y="-11060"/>
                  <a:pt x="51074" y="-10333"/>
                </a:cubicBezTo>
                <a:close/>
                <a:moveTo>
                  <a:pt x="43693" y="19076"/>
                </a:moveTo>
                <a:cubicBezTo>
                  <a:pt x="38178" y="19076"/>
                  <a:pt x="33701" y="23553"/>
                  <a:pt x="33701" y="29068"/>
                </a:cubicBezTo>
                <a:cubicBezTo>
                  <a:pt x="33701" y="34583"/>
                  <a:pt x="38178" y="39060"/>
                  <a:pt x="43693" y="39060"/>
                </a:cubicBezTo>
                <a:cubicBezTo>
                  <a:pt x="49208" y="39060"/>
                  <a:pt x="53685" y="34583"/>
                  <a:pt x="53685" y="29068"/>
                </a:cubicBezTo>
                <a:cubicBezTo>
                  <a:pt x="53685" y="23553"/>
                  <a:pt x="49208" y="19076"/>
                  <a:pt x="43693" y="19076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04926" y="3906158"/>
            <a:ext cx="2009853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Owners Drive Standards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4926" y="4171924"/>
            <a:ext cx="4808698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Cloud, data, integration, workflow platform decisions and technical evaluation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3226" y="4504131"/>
            <a:ext cx="5331924" cy="664414"/>
          </a:xfrm>
          <a:custGeom>
            <a:avLst/>
            <a:gdLst/>
            <a:ahLst/>
            <a:cxnLst/>
            <a:rect l="l" t="t" r="r" b="b"/>
            <a:pathLst>
              <a:path w="5331924" h="664414">
                <a:moveTo>
                  <a:pt x="33221" y="0"/>
                </a:moveTo>
                <a:lnTo>
                  <a:pt x="5265482" y="0"/>
                </a:lnTo>
                <a:cubicBezTo>
                  <a:pt x="5302177" y="0"/>
                  <a:pt x="5331924" y="29747"/>
                  <a:pt x="5331924" y="66441"/>
                </a:cubicBezTo>
                <a:lnTo>
                  <a:pt x="5331924" y="597973"/>
                </a:lnTo>
                <a:cubicBezTo>
                  <a:pt x="5331924" y="634667"/>
                  <a:pt x="5302177" y="664414"/>
                  <a:pt x="526548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23226" y="4504131"/>
            <a:ext cx="33221" cy="664414"/>
          </a:xfrm>
          <a:custGeom>
            <a:avLst/>
            <a:gdLst/>
            <a:ahLst/>
            <a:cxnLst/>
            <a:rect l="l" t="t" r="r" b="b"/>
            <a:pathLst>
              <a:path w="33221" h="664414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39499" y="4603793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30856" y="4678540"/>
            <a:ext cx="87204" cy="116272"/>
          </a:xfrm>
          <a:custGeom>
            <a:avLst/>
            <a:gdLst/>
            <a:ahLst/>
            <a:cxnLst/>
            <a:rect l="l" t="t" r="r" b="b"/>
            <a:pathLst>
              <a:path w="87204" h="116272">
                <a:moveTo>
                  <a:pt x="0" y="14534"/>
                </a:moveTo>
                <a:cubicBezTo>
                  <a:pt x="0" y="6518"/>
                  <a:pt x="6518" y="0"/>
                  <a:pt x="14534" y="0"/>
                </a:cubicBezTo>
                <a:lnTo>
                  <a:pt x="48485" y="0"/>
                </a:lnTo>
                <a:cubicBezTo>
                  <a:pt x="52345" y="0"/>
                  <a:pt x="56047" y="1522"/>
                  <a:pt x="58772" y="4247"/>
                </a:cubicBezTo>
                <a:lnTo>
                  <a:pt x="82958" y="28455"/>
                </a:lnTo>
                <a:cubicBezTo>
                  <a:pt x="85683" y="31180"/>
                  <a:pt x="87204" y="34882"/>
                  <a:pt x="87204" y="38742"/>
                </a:cubicBezTo>
                <a:lnTo>
                  <a:pt x="87204" y="101738"/>
                </a:lnTo>
                <a:cubicBezTo>
                  <a:pt x="87204" y="109755"/>
                  <a:pt x="80687" y="116272"/>
                  <a:pt x="72670" y="116272"/>
                </a:cubicBezTo>
                <a:lnTo>
                  <a:pt x="14534" y="116272"/>
                </a:lnTo>
                <a:cubicBezTo>
                  <a:pt x="6518" y="116272"/>
                  <a:pt x="0" y="109755"/>
                  <a:pt x="0" y="101738"/>
                </a:cubicBezTo>
                <a:lnTo>
                  <a:pt x="0" y="14534"/>
                </a:lnTo>
                <a:close/>
                <a:moveTo>
                  <a:pt x="47236" y="13285"/>
                </a:moveTo>
                <a:lnTo>
                  <a:pt x="47236" y="34518"/>
                </a:lnTo>
                <a:cubicBezTo>
                  <a:pt x="47236" y="37539"/>
                  <a:pt x="49666" y="39969"/>
                  <a:pt x="52686" y="39969"/>
                </a:cubicBezTo>
                <a:lnTo>
                  <a:pt x="73919" y="39969"/>
                </a:lnTo>
                <a:lnTo>
                  <a:pt x="47236" y="13285"/>
                </a:lnTo>
                <a:close/>
                <a:moveTo>
                  <a:pt x="19984" y="14534"/>
                </a:moveTo>
                <a:cubicBezTo>
                  <a:pt x="16964" y="14534"/>
                  <a:pt x="14534" y="16964"/>
                  <a:pt x="14534" y="19984"/>
                </a:cubicBezTo>
                <a:cubicBezTo>
                  <a:pt x="14534" y="23005"/>
                  <a:pt x="16964" y="25435"/>
                  <a:pt x="19984" y="25435"/>
                </a:cubicBezTo>
                <a:lnTo>
                  <a:pt x="30885" y="25435"/>
                </a:lnTo>
                <a:cubicBezTo>
                  <a:pt x="33905" y="25435"/>
                  <a:pt x="36335" y="23005"/>
                  <a:pt x="36335" y="19984"/>
                </a:cubicBezTo>
                <a:cubicBezTo>
                  <a:pt x="36335" y="16964"/>
                  <a:pt x="33905" y="14534"/>
                  <a:pt x="30885" y="14534"/>
                </a:cubicBezTo>
                <a:lnTo>
                  <a:pt x="19984" y="14534"/>
                </a:lnTo>
                <a:close/>
                <a:moveTo>
                  <a:pt x="19984" y="36335"/>
                </a:moveTo>
                <a:cubicBezTo>
                  <a:pt x="16964" y="36335"/>
                  <a:pt x="14534" y="38765"/>
                  <a:pt x="14534" y="41785"/>
                </a:cubicBezTo>
                <a:cubicBezTo>
                  <a:pt x="14534" y="44806"/>
                  <a:pt x="16964" y="47236"/>
                  <a:pt x="19984" y="47236"/>
                </a:cubicBezTo>
                <a:lnTo>
                  <a:pt x="30885" y="47236"/>
                </a:lnTo>
                <a:cubicBezTo>
                  <a:pt x="33905" y="47236"/>
                  <a:pt x="36335" y="44806"/>
                  <a:pt x="36335" y="41785"/>
                </a:cubicBezTo>
                <a:cubicBezTo>
                  <a:pt x="36335" y="38765"/>
                  <a:pt x="33905" y="36335"/>
                  <a:pt x="30885" y="36335"/>
                </a:cubicBezTo>
                <a:lnTo>
                  <a:pt x="19984" y="36335"/>
                </a:lnTo>
                <a:close/>
                <a:moveTo>
                  <a:pt x="35949" y="72670"/>
                </a:moveTo>
                <a:cubicBezTo>
                  <a:pt x="33383" y="72670"/>
                  <a:pt x="30976" y="73828"/>
                  <a:pt x="29386" y="75827"/>
                </a:cubicBezTo>
                <a:lnTo>
                  <a:pt x="15738" y="92882"/>
                </a:lnTo>
                <a:cubicBezTo>
                  <a:pt x="13853" y="95221"/>
                  <a:pt x="14239" y="98673"/>
                  <a:pt x="16578" y="100535"/>
                </a:cubicBezTo>
                <a:cubicBezTo>
                  <a:pt x="18917" y="102397"/>
                  <a:pt x="22369" y="102034"/>
                  <a:pt x="24231" y="99672"/>
                </a:cubicBezTo>
                <a:lnTo>
                  <a:pt x="34927" y="86319"/>
                </a:lnTo>
                <a:lnTo>
                  <a:pt x="38379" y="97832"/>
                </a:lnTo>
                <a:cubicBezTo>
                  <a:pt x="39060" y="100149"/>
                  <a:pt x="41195" y="101716"/>
                  <a:pt x="43602" y="101716"/>
                </a:cubicBezTo>
                <a:lnTo>
                  <a:pt x="67220" y="101716"/>
                </a:lnTo>
                <a:cubicBezTo>
                  <a:pt x="70240" y="101716"/>
                  <a:pt x="72670" y="99286"/>
                  <a:pt x="72670" y="96265"/>
                </a:cubicBezTo>
                <a:cubicBezTo>
                  <a:pt x="72670" y="93245"/>
                  <a:pt x="70240" y="90815"/>
                  <a:pt x="67220" y="90815"/>
                </a:cubicBezTo>
                <a:lnTo>
                  <a:pt x="47667" y="90815"/>
                </a:lnTo>
                <a:lnTo>
                  <a:pt x="44011" y="78643"/>
                </a:lnTo>
                <a:cubicBezTo>
                  <a:pt x="42944" y="75078"/>
                  <a:pt x="39673" y="72648"/>
                  <a:pt x="35949" y="72648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004926" y="4637014"/>
            <a:ext cx="1644425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 Runs Process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4926" y="4902780"/>
            <a:ext cx="4808698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Ariba-style onboarding, vendor management, and contract negotiation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3226" y="5234987"/>
            <a:ext cx="5331924" cy="664414"/>
          </a:xfrm>
          <a:custGeom>
            <a:avLst/>
            <a:gdLst/>
            <a:ahLst/>
            <a:cxnLst/>
            <a:rect l="l" t="t" r="r" b="b"/>
            <a:pathLst>
              <a:path w="5331924" h="664414">
                <a:moveTo>
                  <a:pt x="33221" y="0"/>
                </a:moveTo>
                <a:lnTo>
                  <a:pt x="5265482" y="0"/>
                </a:lnTo>
                <a:cubicBezTo>
                  <a:pt x="5302177" y="0"/>
                  <a:pt x="5331924" y="29747"/>
                  <a:pt x="5331924" y="66441"/>
                </a:cubicBezTo>
                <a:lnTo>
                  <a:pt x="5331924" y="597973"/>
                </a:lnTo>
                <a:cubicBezTo>
                  <a:pt x="5331924" y="634667"/>
                  <a:pt x="5302177" y="664414"/>
                  <a:pt x="5265482" y="664414"/>
                </a:cubicBez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23226" y="5234987"/>
            <a:ext cx="33221" cy="664414"/>
          </a:xfrm>
          <a:custGeom>
            <a:avLst/>
            <a:gdLst/>
            <a:ahLst/>
            <a:cxnLst/>
            <a:rect l="l" t="t" r="r" b="b"/>
            <a:pathLst>
              <a:path w="33221" h="664414">
                <a:moveTo>
                  <a:pt x="33221" y="0"/>
                </a:moveTo>
                <a:lnTo>
                  <a:pt x="33221" y="0"/>
                </a:lnTo>
                <a:lnTo>
                  <a:pt x="33221" y="664414"/>
                </a:lnTo>
                <a:lnTo>
                  <a:pt x="33221" y="664414"/>
                </a:lnTo>
                <a:cubicBezTo>
                  <a:pt x="14873" y="664414"/>
                  <a:pt x="0" y="649541"/>
                  <a:pt x="0" y="63119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7"/>
          <p:cNvSpPr/>
          <p:nvPr/>
        </p:nvSpPr>
        <p:spPr>
          <a:xfrm>
            <a:off x="639499" y="5334649"/>
            <a:ext cx="265766" cy="265766"/>
          </a:xfrm>
          <a:custGeom>
            <a:avLst/>
            <a:gdLst/>
            <a:ahLst/>
            <a:cxnLst/>
            <a:rect l="l" t="t" r="r" b="b"/>
            <a:pathLst>
              <a:path w="265766" h="265766">
                <a:moveTo>
                  <a:pt x="132883" y="0"/>
                </a:moveTo>
                <a:lnTo>
                  <a:pt x="132883" y="0"/>
                </a:lnTo>
                <a:cubicBezTo>
                  <a:pt x="206223" y="0"/>
                  <a:pt x="265766" y="59543"/>
                  <a:pt x="265766" y="132883"/>
                </a:cubicBezTo>
                <a:lnTo>
                  <a:pt x="265766" y="132883"/>
                </a:lnTo>
                <a:cubicBezTo>
                  <a:pt x="265766" y="206223"/>
                  <a:pt x="206223" y="265766"/>
                  <a:pt x="132883" y="265766"/>
                </a:cubicBezTo>
                <a:lnTo>
                  <a:pt x="132883" y="265766"/>
                </a:lnTo>
                <a:cubicBezTo>
                  <a:pt x="59543" y="265766"/>
                  <a:pt x="0" y="206223"/>
                  <a:pt x="0" y="132883"/>
                </a:cubicBezTo>
                <a:lnTo>
                  <a:pt x="0" y="132883"/>
                </a:lnTo>
                <a:cubicBezTo>
                  <a:pt x="0" y="59543"/>
                  <a:pt x="59543" y="0"/>
                  <a:pt x="132883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09054" y="5409395"/>
            <a:ext cx="130807" cy="116272"/>
          </a:xfrm>
          <a:custGeom>
            <a:avLst/>
            <a:gdLst/>
            <a:ahLst/>
            <a:cxnLst/>
            <a:rect l="l" t="t" r="r" b="b"/>
            <a:pathLst>
              <a:path w="130807" h="116272">
                <a:moveTo>
                  <a:pt x="61066" y="19348"/>
                </a:moveTo>
                <a:lnTo>
                  <a:pt x="34587" y="48780"/>
                </a:lnTo>
                <a:cubicBezTo>
                  <a:pt x="33542" y="49938"/>
                  <a:pt x="33587" y="51732"/>
                  <a:pt x="34700" y="52845"/>
                </a:cubicBezTo>
                <a:cubicBezTo>
                  <a:pt x="41626" y="59771"/>
                  <a:pt x="52868" y="59771"/>
                  <a:pt x="59794" y="52845"/>
                </a:cubicBezTo>
                <a:lnTo>
                  <a:pt x="67016" y="45623"/>
                </a:lnTo>
                <a:cubicBezTo>
                  <a:pt x="67969" y="44670"/>
                  <a:pt x="69173" y="44147"/>
                  <a:pt x="70399" y="44056"/>
                </a:cubicBezTo>
                <a:cubicBezTo>
                  <a:pt x="71944" y="43920"/>
                  <a:pt x="73533" y="44442"/>
                  <a:pt x="74714" y="45623"/>
                </a:cubicBezTo>
                <a:lnTo>
                  <a:pt x="114819" y="85388"/>
                </a:lnTo>
                <a:lnTo>
                  <a:pt x="130807" y="72670"/>
                </a:lnTo>
                <a:lnTo>
                  <a:pt x="130807" y="7267"/>
                </a:lnTo>
                <a:lnTo>
                  <a:pt x="105372" y="21801"/>
                </a:lnTo>
                <a:lnTo>
                  <a:pt x="99967" y="18190"/>
                </a:lnTo>
                <a:cubicBezTo>
                  <a:pt x="96379" y="15806"/>
                  <a:pt x="92178" y="14534"/>
                  <a:pt x="87863" y="14534"/>
                </a:cubicBezTo>
                <a:lnTo>
                  <a:pt x="71875" y="14534"/>
                </a:lnTo>
                <a:cubicBezTo>
                  <a:pt x="71626" y="14534"/>
                  <a:pt x="71353" y="14534"/>
                  <a:pt x="71103" y="14557"/>
                </a:cubicBezTo>
                <a:cubicBezTo>
                  <a:pt x="67265" y="14761"/>
                  <a:pt x="63655" y="16487"/>
                  <a:pt x="61066" y="19348"/>
                </a:cubicBezTo>
                <a:close/>
                <a:moveTo>
                  <a:pt x="26479" y="41490"/>
                </a:moveTo>
                <a:lnTo>
                  <a:pt x="50733" y="14534"/>
                </a:lnTo>
                <a:lnTo>
                  <a:pt x="41740" y="14534"/>
                </a:lnTo>
                <a:cubicBezTo>
                  <a:pt x="35949" y="14534"/>
                  <a:pt x="30408" y="16828"/>
                  <a:pt x="26320" y="20915"/>
                </a:cubicBezTo>
                <a:lnTo>
                  <a:pt x="25435" y="21801"/>
                </a:lnTo>
                <a:lnTo>
                  <a:pt x="0" y="7267"/>
                </a:lnTo>
                <a:lnTo>
                  <a:pt x="0" y="72670"/>
                </a:lnTo>
                <a:lnTo>
                  <a:pt x="35518" y="102261"/>
                </a:lnTo>
                <a:cubicBezTo>
                  <a:pt x="40741" y="106621"/>
                  <a:pt x="47327" y="109005"/>
                  <a:pt x="54117" y="109005"/>
                </a:cubicBezTo>
                <a:lnTo>
                  <a:pt x="57682" y="109005"/>
                </a:lnTo>
                <a:lnTo>
                  <a:pt x="56092" y="107416"/>
                </a:lnTo>
                <a:cubicBezTo>
                  <a:pt x="53958" y="105281"/>
                  <a:pt x="53958" y="101829"/>
                  <a:pt x="56092" y="99717"/>
                </a:cubicBezTo>
                <a:cubicBezTo>
                  <a:pt x="58227" y="97605"/>
                  <a:pt x="61679" y="97583"/>
                  <a:pt x="63791" y="99717"/>
                </a:cubicBezTo>
                <a:lnTo>
                  <a:pt x="73102" y="109028"/>
                </a:lnTo>
                <a:lnTo>
                  <a:pt x="75146" y="109028"/>
                </a:lnTo>
                <a:cubicBezTo>
                  <a:pt x="79483" y="109028"/>
                  <a:pt x="83730" y="108052"/>
                  <a:pt x="87590" y="106235"/>
                </a:cubicBezTo>
                <a:lnTo>
                  <a:pt x="81527" y="100149"/>
                </a:lnTo>
                <a:cubicBezTo>
                  <a:pt x="79392" y="98014"/>
                  <a:pt x="79392" y="94562"/>
                  <a:pt x="81527" y="92450"/>
                </a:cubicBezTo>
                <a:cubicBezTo>
                  <a:pt x="83662" y="90338"/>
                  <a:pt x="87114" y="90316"/>
                  <a:pt x="89226" y="92450"/>
                </a:cubicBezTo>
                <a:lnTo>
                  <a:pt x="96493" y="99717"/>
                </a:lnTo>
                <a:lnTo>
                  <a:pt x="100467" y="95743"/>
                </a:lnTo>
                <a:cubicBezTo>
                  <a:pt x="102488" y="93722"/>
                  <a:pt x="103078" y="90792"/>
                  <a:pt x="102193" y="88226"/>
                </a:cubicBezTo>
                <a:lnTo>
                  <a:pt x="70876" y="57160"/>
                </a:lnTo>
                <a:lnTo>
                  <a:pt x="67493" y="60543"/>
                </a:lnTo>
                <a:cubicBezTo>
                  <a:pt x="56297" y="71739"/>
                  <a:pt x="38175" y="71739"/>
                  <a:pt x="26979" y="60543"/>
                </a:cubicBezTo>
                <a:cubicBezTo>
                  <a:pt x="21756" y="55320"/>
                  <a:pt x="21551" y="46940"/>
                  <a:pt x="26479" y="4146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1004926" y="5367870"/>
            <a:ext cx="139527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SIs Influence Selection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04926" y="5633635"/>
            <a:ext cx="4808698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TCS shapes decisions in AI + ops contexts; partner co-sell essential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68411" y="1266540"/>
            <a:ext cx="5689046" cy="3636240"/>
          </a:xfrm>
          <a:custGeom>
            <a:avLst/>
            <a:gdLst/>
            <a:ahLst/>
            <a:cxnLst/>
            <a:rect l="l" t="t" r="r" b="b"/>
            <a:pathLst>
              <a:path w="5689046" h="4335302">
                <a:moveTo>
                  <a:pt x="99669" y="0"/>
                </a:moveTo>
                <a:lnTo>
                  <a:pt x="5589378" y="0"/>
                </a:lnTo>
                <a:cubicBezTo>
                  <a:pt x="5644423" y="0"/>
                  <a:pt x="5689046" y="44623"/>
                  <a:pt x="5689046" y="99669"/>
                </a:cubicBezTo>
                <a:lnTo>
                  <a:pt x="5689046" y="4235634"/>
                </a:lnTo>
                <a:cubicBezTo>
                  <a:pt x="5689046" y="4290679"/>
                  <a:pt x="5644423" y="4335302"/>
                  <a:pt x="5589378" y="4335302"/>
                </a:cubicBezTo>
                <a:lnTo>
                  <a:pt x="99669" y="4335302"/>
                </a:lnTo>
                <a:cubicBezTo>
                  <a:pt x="44623" y="4335302"/>
                  <a:pt x="0" y="4290679"/>
                  <a:pt x="0" y="4235634"/>
                </a:cubicBezTo>
                <a:lnTo>
                  <a:pt x="0" y="99669"/>
                </a:lnTo>
                <a:cubicBezTo>
                  <a:pt x="0" y="44660"/>
                  <a:pt x="44660" y="0"/>
                  <a:pt x="99669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359430" y="1470016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41526" y="103815"/>
                </a:moveTo>
                <a:lnTo>
                  <a:pt x="7948" y="103815"/>
                </a:lnTo>
                <a:cubicBezTo>
                  <a:pt x="-130" y="103815"/>
                  <a:pt x="-5093" y="95023"/>
                  <a:pt x="-941" y="88080"/>
                </a:cubicBezTo>
                <a:lnTo>
                  <a:pt x="16221" y="59466"/>
                </a:lnTo>
                <a:cubicBezTo>
                  <a:pt x="19044" y="54762"/>
                  <a:pt x="24104" y="51907"/>
                  <a:pt x="29587" y="51907"/>
                </a:cubicBezTo>
                <a:lnTo>
                  <a:pt x="60407" y="51907"/>
                </a:lnTo>
                <a:cubicBezTo>
                  <a:pt x="85096" y="10089"/>
                  <a:pt x="121917" y="7981"/>
                  <a:pt x="146541" y="11582"/>
                </a:cubicBezTo>
                <a:cubicBezTo>
                  <a:pt x="150694" y="12198"/>
                  <a:pt x="153938" y="15442"/>
                  <a:pt x="154522" y="19563"/>
                </a:cubicBezTo>
                <a:cubicBezTo>
                  <a:pt x="158123" y="44186"/>
                  <a:pt x="156014" y="81008"/>
                  <a:pt x="114196" y="105696"/>
                </a:cubicBezTo>
                <a:lnTo>
                  <a:pt x="114196" y="136516"/>
                </a:lnTo>
                <a:cubicBezTo>
                  <a:pt x="114196" y="141999"/>
                  <a:pt x="111341" y="147060"/>
                  <a:pt x="106637" y="149882"/>
                </a:cubicBezTo>
                <a:lnTo>
                  <a:pt x="78023" y="167044"/>
                </a:lnTo>
                <a:cubicBezTo>
                  <a:pt x="71113" y="171197"/>
                  <a:pt x="62289" y="166201"/>
                  <a:pt x="62289" y="158155"/>
                </a:cubicBezTo>
                <a:lnTo>
                  <a:pt x="62289" y="124578"/>
                </a:lnTo>
                <a:cubicBezTo>
                  <a:pt x="62289" y="113126"/>
                  <a:pt x="52978" y="103815"/>
                  <a:pt x="41526" y="103815"/>
                </a:cubicBezTo>
                <a:lnTo>
                  <a:pt x="41493" y="103815"/>
                </a:lnTo>
                <a:close/>
                <a:moveTo>
                  <a:pt x="129768" y="51907"/>
                </a:moveTo>
                <a:cubicBezTo>
                  <a:pt x="129768" y="43313"/>
                  <a:pt x="122791" y="36335"/>
                  <a:pt x="114196" y="36335"/>
                </a:cubicBezTo>
                <a:cubicBezTo>
                  <a:pt x="105602" y="36335"/>
                  <a:pt x="98624" y="43313"/>
                  <a:pt x="98624" y="51907"/>
                </a:cubicBezTo>
                <a:cubicBezTo>
                  <a:pt x="98624" y="60502"/>
                  <a:pt x="105602" y="67480"/>
                  <a:pt x="114196" y="67480"/>
                </a:cubicBezTo>
                <a:cubicBezTo>
                  <a:pt x="122791" y="67480"/>
                  <a:pt x="129768" y="60502"/>
                  <a:pt x="129768" y="51907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546296" y="1436796"/>
            <a:ext cx="5223956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Suggested First Plays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6230" y="1793139"/>
            <a:ext cx="5340229" cy="838823"/>
          </a:xfrm>
          <a:custGeom>
            <a:avLst/>
            <a:gdLst/>
            <a:ahLst/>
            <a:cxnLst/>
            <a:rect l="l" t="t" r="r" b="b"/>
            <a:pathLst>
              <a:path w="5340229" h="838823">
                <a:moveTo>
                  <a:pt x="66443" y="0"/>
                </a:moveTo>
                <a:lnTo>
                  <a:pt x="5273786" y="0"/>
                </a:lnTo>
                <a:cubicBezTo>
                  <a:pt x="5310481" y="0"/>
                  <a:pt x="5340229" y="29748"/>
                  <a:pt x="5340229" y="66443"/>
                </a:cubicBezTo>
                <a:lnTo>
                  <a:pt x="5340229" y="772380"/>
                </a:lnTo>
                <a:cubicBezTo>
                  <a:pt x="5340229" y="809075"/>
                  <a:pt x="5310481" y="838823"/>
                  <a:pt x="5273786" y="838823"/>
                </a:cubicBezTo>
                <a:lnTo>
                  <a:pt x="66443" y="838823"/>
                </a:lnTo>
                <a:cubicBezTo>
                  <a:pt x="29772" y="838823"/>
                  <a:pt x="0" y="809051"/>
                  <a:pt x="0" y="772380"/>
                </a:cubicBezTo>
                <a:lnTo>
                  <a:pt x="0" y="66443"/>
                </a:lnTo>
                <a:cubicBezTo>
                  <a:pt x="0" y="29772"/>
                  <a:pt x="29772" y="0"/>
                  <a:pt x="6644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6440045" y="1896954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66441" y="0"/>
                </a:moveTo>
                <a:lnTo>
                  <a:pt x="265766" y="0"/>
                </a:lnTo>
                <a:cubicBezTo>
                  <a:pt x="302436" y="0"/>
                  <a:pt x="332207" y="29771"/>
                  <a:pt x="332207" y="66441"/>
                </a:cubicBezTo>
                <a:lnTo>
                  <a:pt x="332207" y="265766"/>
                </a:lnTo>
                <a:cubicBezTo>
                  <a:pt x="332207" y="302436"/>
                  <a:pt x="302436" y="332207"/>
                  <a:pt x="265766" y="332207"/>
                </a:cubicBezTo>
                <a:lnTo>
                  <a:pt x="66441" y="332207"/>
                </a:lnTo>
                <a:cubicBezTo>
                  <a:pt x="29771" y="332207"/>
                  <a:pt x="0" y="302436"/>
                  <a:pt x="0" y="265766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579546" y="1963395"/>
            <a:ext cx="116272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71914" y="1896954"/>
            <a:ext cx="4733951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 Automation Discovery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71914" y="2129499"/>
            <a:ext cx="4725646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"Claims + Service" automation assessment framed around measurable cycle-time reduction.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871914" y="2362044"/>
            <a:ext cx="705940" cy="166104"/>
          </a:xfrm>
          <a:custGeom>
            <a:avLst/>
            <a:gdLst/>
            <a:ahLst/>
            <a:cxnLst/>
            <a:rect l="l" t="t" r="r" b="b"/>
            <a:pathLst>
              <a:path w="705940" h="166104">
                <a:moveTo>
                  <a:pt x="33221" y="0"/>
                </a:moveTo>
                <a:lnTo>
                  <a:pt x="672719" y="0"/>
                </a:lnTo>
                <a:cubicBezTo>
                  <a:pt x="691067" y="0"/>
                  <a:pt x="705940" y="14873"/>
                  <a:pt x="705940" y="33221"/>
                </a:cubicBezTo>
                <a:lnTo>
                  <a:pt x="705940" y="132883"/>
                </a:lnTo>
                <a:cubicBezTo>
                  <a:pt x="705940" y="151230"/>
                  <a:pt x="691067" y="166104"/>
                  <a:pt x="672719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6871914" y="2362044"/>
            <a:ext cx="755771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Claims triage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645853" y="2362044"/>
            <a:ext cx="788992" cy="166104"/>
          </a:xfrm>
          <a:custGeom>
            <a:avLst/>
            <a:gdLst/>
            <a:ahLst/>
            <a:cxnLst/>
            <a:rect l="l" t="t" r="r" b="b"/>
            <a:pathLst>
              <a:path w="788992" h="166104">
                <a:moveTo>
                  <a:pt x="33221" y="0"/>
                </a:moveTo>
                <a:lnTo>
                  <a:pt x="755771" y="0"/>
                </a:lnTo>
                <a:cubicBezTo>
                  <a:pt x="774118" y="0"/>
                  <a:pt x="788992" y="14873"/>
                  <a:pt x="788992" y="33221"/>
                </a:cubicBezTo>
                <a:lnTo>
                  <a:pt x="788992" y="132883"/>
                </a:lnTo>
                <a:cubicBezTo>
                  <a:pt x="788992" y="151230"/>
                  <a:pt x="774118" y="166104"/>
                  <a:pt x="755771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7645853" y="2362044"/>
            <a:ext cx="838823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centre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97912" y="2362044"/>
            <a:ext cx="822213" cy="166104"/>
          </a:xfrm>
          <a:custGeom>
            <a:avLst/>
            <a:gdLst/>
            <a:ahLst/>
            <a:cxnLst/>
            <a:rect l="l" t="t" r="r" b="b"/>
            <a:pathLst>
              <a:path w="822213" h="166104">
                <a:moveTo>
                  <a:pt x="33221" y="0"/>
                </a:moveTo>
                <a:lnTo>
                  <a:pt x="788992" y="0"/>
                </a:lnTo>
                <a:cubicBezTo>
                  <a:pt x="807339" y="0"/>
                  <a:pt x="822213" y="14873"/>
                  <a:pt x="822213" y="33221"/>
                </a:cubicBezTo>
                <a:lnTo>
                  <a:pt x="822213" y="132883"/>
                </a:lnTo>
                <a:cubicBezTo>
                  <a:pt x="822213" y="151230"/>
                  <a:pt x="807339" y="166104"/>
                  <a:pt x="788992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8497912" y="2362044"/>
            <a:ext cx="872044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servicing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36230" y="2706709"/>
            <a:ext cx="5340229" cy="1004926"/>
          </a:xfrm>
          <a:custGeom>
            <a:avLst/>
            <a:gdLst/>
            <a:ahLst/>
            <a:cxnLst/>
            <a:rect l="l" t="t" r="r" b="b"/>
            <a:pathLst>
              <a:path w="5340229" h="1004926">
                <a:moveTo>
                  <a:pt x="66446" y="0"/>
                </a:moveTo>
                <a:lnTo>
                  <a:pt x="5273783" y="0"/>
                </a:lnTo>
                <a:cubicBezTo>
                  <a:pt x="5310480" y="0"/>
                  <a:pt x="5340229" y="29749"/>
                  <a:pt x="5340229" y="66446"/>
                </a:cubicBezTo>
                <a:lnTo>
                  <a:pt x="5340229" y="938481"/>
                </a:lnTo>
                <a:cubicBezTo>
                  <a:pt x="5340229" y="975178"/>
                  <a:pt x="5310480" y="1004926"/>
                  <a:pt x="5273783" y="1004926"/>
                </a:cubicBezTo>
                <a:lnTo>
                  <a:pt x="66446" y="1004926"/>
                </a:lnTo>
                <a:cubicBezTo>
                  <a:pt x="29749" y="1004926"/>
                  <a:pt x="0" y="975178"/>
                  <a:pt x="0" y="938481"/>
                </a:cubicBezTo>
                <a:lnTo>
                  <a:pt x="0" y="66446"/>
                </a:lnTo>
                <a:cubicBezTo>
                  <a:pt x="0" y="29773"/>
                  <a:pt x="29773" y="0"/>
                  <a:pt x="66446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0" scaled="1"/>
          </a:gra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6440045" y="2810524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66441" y="0"/>
                </a:moveTo>
                <a:lnTo>
                  <a:pt x="265766" y="0"/>
                </a:lnTo>
                <a:cubicBezTo>
                  <a:pt x="302436" y="0"/>
                  <a:pt x="332207" y="29771"/>
                  <a:pt x="332207" y="66441"/>
                </a:cubicBezTo>
                <a:lnTo>
                  <a:pt x="332207" y="265766"/>
                </a:lnTo>
                <a:cubicBezTo>
                  <a:pt x="332207" y="302436"/>
                  <a:pt x="302436" y="332207"/>
                  <a:pt x="265766" y="332207"/>
                </a:cubicBezTo>
                <a:lnTo>
                  <a:pt x="66441" y="332207"/>
                </a:lnTo>
                <a:cubicBezTo>
                  <a:pt x="29771" y="332207"/>
                  <a:pt x="0" y="302436"/>
                  <a:pt x="0" y="265766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567478" y="2876965"/>
            <a:ext cx="141188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1914" y="2810524"/>
            <a:ext cx="4767172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Connectivity Blueprint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71914" y="3043069"/>
            <a:ext cx="4758866" cy="33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workshop aligned to Azure/AWS multi-cloud posture and legacy migration timeline.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871914" y="3441717"/>
            <a:ext cx="772381" cy="166104"/>
          </a:xfrm>
          <a:custGeom>
            <a:avLst/>
            <a:gdLst/>
            <a:ahLst/>
            <a:cxnLst/>
            <a:rect l="l" t="t" r="r" b="b"/>
            <a:pathLst>
              <a:path w="772381" h="166104">
                <a:moveTo>
                  <a:pt x="33221" y="0"/>
                </a:moveTo>
                <a:lnTo>
                  <a:pt x="739161" y="0"/>
                </a:lnTo>
                <a:cubicBezTo>
                  <a:pt x="757508" y="0"/>
                  <a:pt x="772381" y="14873"/>
                  <a:pt x="772381" y="33221"/>
                </a:cubicBezTo>
                <a:lnTo>
                  <a:pt x="772381" y="132883"/>
                </a:lnTo>
                <a:cubicBezTo>
                  <a:pt x="772381" y="151230"/>
                  <a:pt x="757508" y="166104"/>
                  <a:pt x="739161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6871914" y="3441717"/>
            <a:ext cx="822213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connect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708791" y="3441717"/>
            <a:ext cx="822213" cy="166104"/>
          </a:xfrm>
          <a:custGeom>
            <a:avLst/>
            <a:gdLst/>
            <a:ahLst/>
            <a:cxnLst/>
            <a:rect l="l" t="t" r="r" b="b"/>
            <a:pathLst>
              <a:path w="822213" h="166104">
                <a:moveTo>
                  <a:pt x="33221" y="0"/>
                </a:moveTo>
                <a:lnTo>
                  <a:pt x="788992" y="0"/>
                </a:lnTo>
                <a:cubicBezTo>
                  <a:pt x="807339" y="0"/>
                  <a:pt x="822213" y="14873"/>
                  <a:pt x="822213" y="33221"/>
                </a:cubicBezTo>
                <a:lnTo>
                  <a:pt x="822213" y="132883"/>
                </a:lnTo>
                <a:cubicBezTo>
                  <a:pt x="822213" y="151230"/>
                  <a:pt x="807339" y="166104"/>
                  <a:pt x="788992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7708791" y="3441717"/>
            <a:ext cx="872044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Interconnection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601078" y="3441717"/>
            <a:ext cx="481700" cy="166104"/>
          </a:xfrm>
          <a:custGeom>
            <a:avLst/>
            <a:gdLst/>
            <a:ahLst/>
            <a:cxnLst/>
            <a:rect l="l" t="t" r="r" b="b"/>
            <a:pathLst>
              <a:path w="481700" h="166104">
                <a:moveTo>
                  <a:pt x="33221" y="0"/>
                </a:moveTo>
                <a:lnTo>
                  <a:pt x="448480" y="0"/>
                </a:lnTo>
                <a:cubicBezTo>
                  <a:pt x="466827" y="0"/>
                  <a:pt x="481700" y="14873"/>
                  <a:pt x="481700" y="33221"/>
                </a:cubicBezTo>
                <a:lnTo>
                  <a:pt x="481700" y="132883"/>
                </a:lnTo>
                <a:cubicBezTo>
                  <a:pt x="481700" y="151230"/>
                  <a:pt x="466827" y="166104"/>
                  <a:pt x="448480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8601078" y="3441717"/>
            <a:ext cx="531531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36230" y="3786382"/>
            <a:ext cx="5340229" cy="1004926"/>
          </a:xfrm>
          <a:custGeom>
            <a:avLst/>
            <a:gdLst/>
            <a:ahLst/>
            <a:cxnLst/>
            <a:rect l="l" t="t" r="r" b="b"/>
            <a:pathLst>
              <a:path w="5340229" h="1004926">
                <a:moveTo>
                  <a:pt x="66446" y="0"/>
                </a:moveTo>
                <a:lnTo>
                  <a:pt x="5273783" y="0"/>
                </a:lnTo>
                <a:cubicBezTo>
                  <a:pt x="5310480" y="0"/>
                  <a:pt x="5340229" y="29749"/>
                  <a:pt x="5340229" y="66446"/>
                </a:cubicBezTo>
                <a:lnTo>
                  <a:pt x="5340229" y="938481"/>
                </a:lnTo>
                <a:cubicBezTo>
                  <a:pt x="5340229" y="975178"/>
                  <a:pt x="5310480" y="1004926"/>
                  <a:pt x="5273783" y="1004926"/>
                </a:cubicBezTo>
                <a:lnTo>
                  <a:pt x="66446" y="1004926"/>
                </a:lnTo>
                <a:cubicBezTo>
                  <a:pt x="29749" y="1004926"/>
                  <a:pt x="0" y="975178"/>
                  <a:pt x="0" y="938481"/>
                </a:cubicBezTo>
                <a:lnTo>
                  <a:pt x="0" y="66446"/>
                </a:lnTo>
                <a:cubicBezTo>
                  <a:pt x="0" y="29773"/>
                  <a:pt x="29773" y="0"/>
                  <a:pt x="6644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10B981">
                  <a:alpha val="20000"/>
                </a:srgbClr>
              </a:gs>
            </a:gsLst>
            <a:lin ang="0" scaled="1"/>
          </a:gra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Shape 57"/>
          <p:cNvSpPr/>
          <p:nvPr/>
        </p:nvSpPr>
        <p:spPr>
          <a:xfrm>
            <a:off x="6440045" y="3890197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66441" y="0"/>
                </a:moveTo>
                <a:lnTo>
                  <a:pt x="265766" y="0"/>
                </a:lnTo>
                <a:cubicBezTo>
                  <a:pt x="302436" y="0"/>
                  <a:pt x="332207" y="29771"/>
                  <a:pt x="332207" y="66441"/>
                </a:cubicBezTo>
                <a:lnTo>
                  <a:pt x="332207" y="265766"/>
                </a:lnTo>
                <a:cubicBezTo>
                  <a:pt x="332207" y="302436"/>
                  <a:pt x="302436" y="332207"/>
                  <a:pt x="265766" y="332207"/>
                </a:cubicBezTo>
                <a:lnTo>
                  <a:pt x="66441" y="332207"/>
                </a:lnTo>
                <a:cubicBezTo>
                  <a:pt x="29771" y="332207"/>
                  <a:pt x="0" y="302436"/>
                  <a:pt x="0" y="265766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6566829" y="3956638"/>
            <a:ext cx="141188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71914" y="3890197"/>
            <a:ext cx="4767172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GenAI Governance Accelerator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871914" y="4122742"/>
            <a:ext cx="4758866" cy="33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Controls + auditability framework to reduce risk of AI scale-out and demonstrate compliance.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871914" y="4521390"/>
            <a:ext cx="456785" cy="166104"/>
          </a:xfrm>
          <a:custGeom>
            <a:avLst/>
            <a:gdLst/>
            <a:ahLst/>
            <a:cxnLst/>
            <a:rect l="l" t="t" r="r" b="b"/>
            <a:pathLst>
              <a:path w="456785" h="166104">
                <a:moveTo>
                  <a:pt x="33221" y="0"/>
                </a:moveTo>
                <a:lnTo>
                  <a:pt x="423564" y="0"/>
                </a:lnTo>
                <a:cubicBezTo>
                  <a:pt x="441911" y="0"/>
                  <a:pt x="456785" y="14873"/>
                  <a:pt x="456785" y="33221"/>
                </a:cubicBezTo>
                <a:lnTo>
                  <a:pt x="456785" y="132883"/>
                </a:lnTo>
                <a:cubicBezTo>
                  <a:pt x="456785" y="151230"/>
                  <a:pt x="441911" y="166104"/>
                  <a:pt x="423564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6871914" y="4521390"/>
            <a:ext cx="506616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MLOps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394492" y="4521390"/>
            <a:ext cx="664414" cy="166104"/>
          </a:xfrm>
          <a:custGeom>
            <a:avLst/>
            <a:gdLst/>
            <a:ahLst/>
            <a:cxnLst/>
            <a:rect l="l" t="t" r="r" b="b"/>
            <a:pathLst>
              <a:path w="664414" h="166104">
                <a:moveTo>
                  <a:pt x="33221" y="0"/>
                </a:moveTo>
                <a:lnTo>
                  <a:pt x="631193" y="0"/>
                </a:lnTo>
                <a:cubicBezTo>
                  <a:pt x="649541" y="0"/>
                  <a:pt x="664414" y="14873"/>
                  <a:pt x="664414" y="33221"/>
                </a:cubicBezTo>
                <a:lnTo>
                  <a:pt x="664414" y="132883"/>
                </a:lnTo>
                <a:cubicBezTo>
                  <a:pt x="664414" y="151230"/>
                  <a:pt x="649541" y="166104"/>
                  <a:pt x="631193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7394492" y="4521390"/>
            <a:ext cx="714245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Governance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123011" y="4521390"/>
            <a:ext cx="656109" cy="166104"/>
          </a:xfrm>
          <a:custGeom>
            <a:avLst/>
            <a:gdLst/>
            <a:ahLst/>
            <a:cxnLst/>
            <a:rect l="l" t="t" r="r" b="b"/>
            <a:pathLst>
              <a:path w="656109" h="166104">
                <a:moveTo>
                  <a:pt x="33221" y="0"/>
                </a:moveTo>
                <a:lnTo>
                  <a:pt x="622888" y="0"/>
                </a:lnTo>
                <a:cubicBezTo>
                  <a:pt x="641236" y="0"/>
                  <a:pt x="656109" y="14873"/>
                  <a:pt x="656109" y="33221"/>
                </a:cubicBezTo>
                <a:lnTo>
                  <a:pt x="656109" y="132883"/>
                </a:lnTo>
                <a:cubicBezTo>
                  <a:pt x="656109" y="151230"/>
                  <a:pt x="641236" y="166104"/>
                  <a:pt x="622888" y="166104"/>
                </a:cubicBezTo>
                <a:lnTo>
                  <a:pt x="33221" y="166104"/>
                </a:lnTo>
                <a:cubicBezTo>
                  <a:pt x="14886" y="166104"/>
                  <a:pt x="0" y="151218"/>
                  <a:pt x="0" y="132883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1E3A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8123011" y="4521390"/>
            <a:ext cx="705940" cy="166104"/>
          </a:xfrm>
          <a:prstGeom prst="rect">
            <a:avLst/>
          </a:prstGeom>
          <a:noFill/>
          <a:ln/>
        </p:spPr>
        <p:txBody>
          <a:bodyPr wrap="square" lIns="66441" tIns="16610" rIns="66441" bIns="16610" rtlCol="0" anchor="ctr"/>
          <a:lstStyle/>
          <a:p>
            <a:pPr>
              <a:lnSpc>
                <a:spcPct val="110000"/>
              </a:lnSpc>
            </a:pPr>
            <a:r>
              <a:rPr lang="en-US" sz="785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45831" y="5068884"/>
            <a:ext cx="5689046" cy="1602899"/>
          </a:xfrm>
          <a:custGeom>
            <a:avLst/>
            <a:gdLst/>
            <a:ahLst/>
            <a:cxnLst/>
            <a:rect l="l" t="t" r="r" b="b"/>
            <a:pathLst>
              <a:path w="5689046" h="1602899">
                <a:moveTo>
                  <a:pt x="99668" y="0"/>
                </a:moveTo>
                <a:lnTo>
                  <a:pt x="5589378" y="0"/>
                </a:lnTo>
                <a:cubicBezTo>
                  <a:pt x="5644423" y="0"/>
                  <a:pt x="5689046" y="44623"/>
                  <a:pt x="5689046" y="99668"/>
                </a:cubicBezTo>
                <a:lnTo>
                  <a:pt x="5689046" y="1503231"/>
                </a:lnTo>
                <a:cubicBezTo>
                  <a:pt x="5689046" y="1558276"/>
                  <a:pt x="5644423" y="1602899"/>
                  <a:pt x="5589378" y="1602899"/>
                </a:cubicBezTo>
                <a:lnTo>
                  <a:pt x="99668" y="1602899"/>
                </a:lnTo>
                <a:cubicBezTo>
                  <a:pt x="44623" y="1602899"/>
                  <a:pt x="0" y="1558276"/>
                  <a:pt x="0" y="1503231"/>
                </a:cubicBezTo>
                <a:lnTo>
                  <a:pt x="0" y="99668"/>
                </a:lnTo>
                <a:cubicBezTo>
                  <a:pt x="0" y="44660"/>
                  <a:pt x="44660" y="0"/>
                  <a:pt x="99668" y="0"/>
                </a:cubicBezTo>
                <a:close/>
              </a:path>
            </a:pathLst>
          </a:custGeom>
          <a:solidFill>
            <a:srgbClr val="1E3A5F">
              <a:alpha val="40000"/>
            </a:srgbClr>
          </a:solidFill>
          <a:ln w="12700">
            <a:solidFill>
              <a:srgbClr val="3B82F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Shape 68"/>
          <p:cNvSpPr/>
          <p:nvPr/>
        </p:nvSpPr>
        <p:spPr>
          <a:xfrm>
            <a:off x="6284942" y="5247445"/>
            <a:ext cx="186866" cy="149493"/>
          </a:xfrm>
          <a:custGeom>
            <a:avLst/>
            <a:gdLst/>
            <a:ahLst/>
            <a:cxnLst/>
            <a:rect l="l" t="t" r="r" b="b"/>
            <a:pathLst>
              <a:path w="186866" h="149493">
                <a:moveTo>
                  <a:pt x="93433" y="4672"/>
                </a:moveTo>
                <a:cubicBezTo>
                  <a:pt x="110193" y="4672"/>
                  <a:pt x="123799" y="18278"/>
                  <a:pt x="123799" y="35037"/>
                </a:cubicBezTo>
                <a:cubicBezTo>
                  <a:pt x="123799" y="51797"/>
                  <a:pt x="110193" y="65403"/>
                  <a:pt x="93433" y="65403"/>
                </a:cubicBezTo>
                <a:cubicBezTo>
                  <a:pt x="76674" y="65403"/>
                  <a:pt x="63067" y="51797"/>
                  <a:pt x="63067" y="35037"/>
                </a:cubicBezTo>
                <a:cubicBezTo>
                  <a:pt x="63067" y="18278"/>
                  <a:pt x="76674" y="4672"/>
                  <a:pt x="93433" y="4672"/>
                </a:cubicBezTo>
                <a:close/>
                <a:moveTo>
                  <a:pt x="28030" y="25694"/>
                </a:moveTo>
                <a:cubicBezTo>
                  <a:pt x="39633" y="25694"/>
                  <a:pt x="49052" y="35114"/>
                  <a:pt x="49052" y="46717"/>
                </a:cubicBezTo>
                <a:cubicBezTo>
                  <a:pt x="49052" y="58319"/>
                  <a:pt x="39633" y="67739"/>
                  <a:pt x="28030" y="67739"/>
                </a:cubicBezTo>
                <a:cubicBezTo>
                  <a:pt x="16427" y="67739"/>
                  <a:pt x="7007" y="58319"/>
                  <a:pt x="7007" y="46717"/>
                </a:cubicBezTo>
                <a:cubicBezTo>
                  <a:pt x="7007" y="35114"/>
                  <a:pt x="16427" y="25694"/>
                  <a:pt x="28030" y="25694"/>
                </a:cubicBezTo>
                <a:close/>
                <a:moveTo>
                  <a:pt x="0" y="121463"/>
                </a:moveTo>
                <a:cubicBezTo>
                  <a:pt x="0" y="100820"/>
                  <a:pt x="16730" y="84090"/>
                  <a:pt x="37373" y="84090"/>
                </a:cubicBezTo>
                <a:cubicBezTo>
                  <a:pt x="41111" y="84090"/>
                  <a:pt x="44731" y="84645"/>
                  <a:pt x="48147" y="85667"/>
                </a:cubicBezTo>
                <a:cubicBezTo>
                  <a:pt x="38541" y="96411"/>
                  <a:pt x="32702" y="110602"/>
                  <a:pt x="32702" y="126135"/>
                </a:cubicBezTo>
                <a:lnTo>
                  <a:pt x="32702" y="130807"/>
                </a:lnTo>
                <a:cubicBezTo>
                  <a:pt x="32702" y="134135"/>
                  <a:pt x="33402" y="137288"/>
                  <a:pt x="34658" y="140150"/>
                </a:cubicBezTo>
                <a:lnTo>
                  <a:pt x="9343" y="140150"/>
                </a:lnTo>
                <a:cubicBezTo>
                  <a:pt x="4175" y="140150"/>
                  <a:pt x="0" y="135975"/>
                  <a:pt x="0" y="130807"/>
                </a:cubicBezTo>
                <a:lnTo>
                  <a:pt x="0" y="121463"/>
                </a:lnTo>
                <a:close/>
                <a:moveTo>
                  <a:pt x="152209" y="140150"/>
                </a:moveTo>
                <a:cubicBezTo>
                  <a:pt x="153464" y="137288"/>
                  <a:pt x="154165" y="134135"/>
                  <a:pt x="154165" y="130807"/>
                </a:cubicBezTo>
                <a:lnTo>
                  <a:pt x="154165" y="126135"/>
                </a:lnTo>
                <a:cubicBezTo>
                  <a:pt x="154165" y="110602"/>
                  <a:pt x="148325" y="96411"/>
                  <a:pt x="138719" y="85667"/>
                </a:cubicBezTo>
                <a:cubicBezTo>
                  <a:pt x="142135" y="84645"/>
                  <a:pt x="145756" y="84090"/>
                  <a:pt x="149493" y="84090"/>
                </a:cubicBezTo>
                <a:cubicBezTo>
                  <a:pt x="170136" y="84090"/>
                  <a:pt x="186866" y="100820"/>
                  <a:pt x="186866" y="121463"/>
                </a:cubicBezTo>
                <a:lnTo>
                  <a:pt x="186866" y="130807"/>
                </a:lnTo>
                <a:cubicBezTo>
                  <a:pt x="186866" y="135975"/>
                  <a:pt x="182691" y="140150"/>
                  <a:pt x="177523" y="140150"/>
                </a:cubicBezTo>
                <a:lnTo>
                  <a:pt x="152209" y="140150"/>
                </a:lnTo>
                <a:close/>
                <a:moveTo>
                  <a:pt x="137814" y="46717"/>
                </a:moveTo>
                <a:cubicBezTo>
                  <a:pt x="137814" y="35114"/>
                  <a:pt x="147234" y="25694"/>
                  <a:pt x="158837" y="25694"/>
                </a:cubicBezTo>
                <a:cubicBezTo>
                  <a:pt x="170439" y="25694"/>
                  <a:pt x="179859" y="35114"/>
                  <a:pt x="179859" y="46717"/>
                </a:cubicBezTo>
                <a:cubicBezTo>
                  <a:pt x="179859" y="58319"/>
                  <a:pt x="170439" y="67739"/>
                  <a:pt x="158837" y="67739"/>
                </a:cubicBezTo>
                <a:cubicBezTo>
                  <a:pt x="147234" y="67739"/>
                  <a:pt x="137814" y="58319"/>
                  <a:pt x="137814" y="46717"/>
                </a:cubicBezTo>
                <a:close/>
                <a:moveTo>
                  <a:pt x="46717" y="126135"/>
                </a:moveTo>
                <a:cubicBezTo>
                  <a:pt x="46717" y="100324"/>
                  <a:pt x="67622" y="79418"/>
                  <a:pt x="93433" y="79418"/>
                </a:cubicBezTo>
                <a:cubicBezTo>
                  <a:pt x="119244" y="79418"/>
                  <a:pt x="140150" y="100324"/>
                  <a:pt x="140150" y="126135"/>
                </a:cubicBezTo>
                <a:lnTo>
                  <a:pt x="140150" y="130807"/>
                </a:lnTo>
                <a:cubicBezTo>
                  <a:pt x="140150" y="135975"/>
                  <a:pt x="135975" y="140150"/>
                  <a:pt x="130807" y="140150"/>
                </a:cubicBezTo>
                <a:lnTo>
                  <a:pt x="56060" y="140150"/>
                </a:lnTo>
                <a:cubicBezTo>
                  <a:pt x="50892" y="140150"/>
                  <a:pt x="46717" y="135975"/>
                  <a:pt x="46717" y="130807"/>
                </a:cubicBezTo>
                <a:lnTo>
                  <a:pt x="46717" y="126135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6473885" y="5205919"/>
            <a:ext cx="5298703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Stakeholder Targets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282866" y="5504906"/>
            <a:ext cx="2674267" cy="298986"/>
          </a:xfrm>
          <a:custGeom>
            <a:avLst/>
            <a:gdLst/>
            <a:ahLst/>
            <a:cxnLst/>
            <a:rect l="l" t="t" r="r" b="b"/>
            <a:pathLst>
              <a:path w="2674267" h="298986">
                <a:moveTo>
                  <a:pt x="33220" y="0"/>
                </a:moveTo>
                <a:lnTo>
                  <a:pt x="2641047" y="0"/>
                </a:lnTo>
                <a:cubicBezTo>
                  <a:pt x="2659394" y="0"/>
                  <a:pt x="2674267" y="14873"/>
                  <a:pt x="2674267" y="33220"/>
                </a:cubicBezTo>
                <a:lnTo>
                  <a:pt x="2674267" y="265766"/>
                </a:lnTo>
                <a:cubicBezTo>
                  <a:pt x="2674267" y="284113"/>
                  <a:pt x="2659394" y="298986"/>
                  <a:pt x="2641047" y="298986"/>
                </a:cubicBezTo>
                <a:lnTo>
                  <a:pt x="33220" y="298986"/>
                </a:lnTo>
                <a:cubicBezTo>
                  <a:pt x="14873" y="298986"/>
                  <a:pt x="0" y="284113"/>
                  <a:pt x="0" y="265766"/>
                </a:cubicBezTo>
                <a:lnTo>
                  <a:pt x="0" y="33220"/>
                </a:lnTo>
                <a:cubicBezTo>
                  <a:pt x="0" y="14886"/>
                  <a:pt x="14886" y="0"/>
                  <a:pt x="3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6373185" y="5596263"/>
            <a:ext cx="101738" cy="116272"/>
          </a:xfrm>
          <a:custGeom>
            <a:avLst/>
            <a:gdLst/>
            <a:ahLst/>
            <a:cxnLst/>
            <a:rect l="l" t="t" r="r" b="b"/>
            <a:pathLst>
              <a:path w="101738" h="116272">
                <a:moveTo>
                  <a:pt x="50869" y="56319"/>
                </a:moveTo>
                <a:cubicBezTo>
                  <a:pt x="35829" y="56319"/>
                  <a:pt x="23618" y="44109"/>
                  <a:pt x="23618" y="29068"/>
                </a:cubicBezTo>
                <a:cubicBezTo>
                  <a:pt x="23618" y="14028"/>
                  <a:pt x="35829" y="1817"/>
                  <a:pt x="50869" y="1817"/>
                </a:cubicBezTo>
                <a:cubicBezTo>
                  <a:pt x="65910" y="1817"/>
                  <a:pt x="78121" y="14028"/>
                  <a:pt x="78121" y="29068"/>
                </a:cubicBezTo>
                <a:cubicBezTo>
                  <a:pt x="78121" y="44109"/>
                  <a:pt x="65910" y="56319"/>
                  <a:pt x="50869" y="56319"/>
                </a:cubicBezTo>
                <a:close/>
                <a:moveTo>
                  <a:pt x="43943" y="69037"/>
                </a:moveTo>
                <a:lnTo>
                  <a:pt x="57796" y="69037"/>
                </a:lnTo>
                <a:cubicBezTo>
                  <a:pt x="59998" y="69037"/>
                  <a:pt x="61770" y="70808"/>
                  <a:pt x="61770" y="73011"/>
                </a:cubicBezTo>
                <a:cubicBezTo>
                  <a:pt x="61770" y="73965"/>
                  <a:pt x="61429" y="74873"/>
                  <a:pt x="60816" y="75600"/>
                </a:cubicBezTo>
                <a:lnTo>
                  <a:pt x="54594" y="82867"/>
                </a:lnTo>
                <a:lnTo>
                  <a:pt x="61633" y="109005"/>
                </a:lnTo>
                <a:lnTo>
                  <a:pt x="61770" y="109005"/>
                </a:lnTo>
                <a:lnTo>
                  <a:pt x="69627" y="77553"/>
                </a:lnTo>
                <a:cubicBezTo>
                  <a:pt x="70127" y="75577"/>
                  <a:pt x="72148" y="74374"/>
                  <a:pt x="74056" y="75100"/>
                </a:cubicBezTo>
                <a:cubicBezTo>
                  <a:pt x="88113" y="80460"/>
                  <a:pt x="98105" y="94085"/>
                  <a:pt x="98105" y="110027"/>
                </a:cubicBezTo>
                <a:cubicBezTo>
                  <a:pt x="98105" y="113457"/>
                  <a:pt x="95312" y="116250"/>
                  <a:pt x="91883" y="116250"/>
                </a:cubicBezTo>
                <a:lnTo>
                  <a:pt x="9856" y="116272"/>
                </a:lnTo>
                <a:cubicBezTo>
                  <a:pt x="6427" y="116272"/>
                  <a:pt x="3634" y="113479"/>
                  <a:pt x="3634" y="110050"/>
                </a:cubicBezTo>
                <a:cubicBezTo>
                  <a:pt x="3634" y="94108"/>
                  <a:pt x="13626" y="80482"/>
                  <a:pt x="27683" y="75123"/>
                </a:cubicBezTo>
                <a:cubicBezTo>
                  <a:pt x="29590" y="74396"/>
                  <a:pt x="31612" y="75600"/>
                  <a:pt x="32111" y="77576"/>
                </a:cubicBezTo>
                <a:lnTo>
                  <a:pt x="39969" y="109028"/>
                </a:lnTo>
                <a:lnTo>
                  <a:pt x="40105" y="109028"/>
                </a:lnTo>
                <a:lnTo>
                  <a:pt x="47145" y="82890"/>
                </a:lnTo>
                <a:lnTo>
                  <a:pt x="40922" y="75623"/>
                </a:lnTo>
                <a:cubicBezTo>
                  <a:pt x="40309" y="74896"/>
                  <a:pt x="39969" y="73987"/>
                  <a:pt x="39969" y="73034"/>
                </a:cubicBezTo>
                <a:cubicBezTo>
                  <a:pt x="39969" y="70831"/>
                  <a:pt x="41740" y="69059"/>
                  <a:pt x="43943" y="69059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6561090" y="5571347"/>
            <a:ext cx="581362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CIO / CTO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024483" y="5504906"/>
            <a:ext cx="2674267" cy="298986"/>
          </a:xfrm>
          <a:custGeom>
            <a:avLst/>
            <a:gdLst/>
            <a:ahLst/>
            <a:cxnLst/>
            <a:rect l="l" t="t" r="r" b="b"/>
            <a:pathLst>
              <a:path w="2674267" h="298986">
                <a:moveTo>
                  <a:pt x="33220" y="0"/>
                </a:moveTo>
                <a:lnTo>
                  <a:pt x="2641047" y="0"/>
                </a:lnTo>
                <a:cubicBezTo>
                  <a:pt x="2659394" y="0"/>
                  <a:pt x="2674267" y="14873"/>
                  <a:pt x="2674267" y="33220"/>
                </a:cubicBezTo>
                <a:lnTo>
                  <a:pt x="2674267" y="265766"/>
                </a:lnTo>
                <a:cubicBezTo>
                  <a:pt x="2674267" y="284113"/>
                  <a:pt x="2659394" y="298986"/>
                  <a:pt x="2641047" y="298986"/>
                </a:cubicBezTo>
                <a:lnTo>
                  <a:pt x="33220" y="298986"/>
                </a:lnTo>
                <a:cubicBezTo>
                  <a:pt x="14873" y="298986"/>
                  <a:pt x="0" y="284113"/>
                  <a:pt x="0" y="265766"/>
                </a:cubicBezTo>
                <a:lnTo>
                  <a:pt x="0" y="33220"/>
                </a:lnTo>
                <a:cubicBezTo>
                  <a:pt x="0" y="14886"/>
                  <a:pt x="14886" y="0"/>
                  <a:pt x="3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6" name="Shape 74"/>
          <p:cNvSpPr/>
          <p:nvPr/>
        </p:nvSpPr>
        <p:spPr>
          <a:xfrm>
            <a:off x="9100268" y="5596263"/>
            <a:ext cx="130807" cy="116272"/>
          </a:xfrm>
          <a:custGeom>
            <a:avLst/>
            <a:gdLst/>
            <a:ahLst/>
            <a:cxnLst/>
            <a:rect l="l" t="t" r="r" b="b"/>
            <a:pathLst>
              <a:path w="130807" h="116272">
                <a:moveTo>
                  <a:pt x="0" y="76304"/>
                </a:moveTo>
                <a:cubicBezTo>
                  <a:pt x="0" y="94358"/>
                  <a:pt x="14648" y="109005"/>
                  <a:pt x="32702" y="109005"/>
                </a:cubicBezTo>
                <a:lnTo>
                  <a:pt x="101738" y="109005"/>
                </a:lnTo>
                <a:cubicBezTo>
                  <a:pt x="117794" y="109005"/>
                  <a:pt x="130807" y="95993"/>
                  <a:pt x="130807" y="79937"/>
                </a:cubicBezTo>
                <a:cubicBezTo>
                  <a:pt x="130807" y="68219"/>
                  <a:pt x="123880" y="58114"/>
                  <a:pt x="113888" y="53526"/>
                </a:cubicBezTo>
                <a:cubicBezTo>
                  <a:pt x="115410" y="50551"/>
                  <a:pt x="116272" y="47168"/>
                  <a:pt x="116272" y="43602"/>
                </a:cubicBezTo>
                <a:cubicBezTo>
                  <a:pt x="116272" y="31566"/>
                  <a:pt x="106507" y="21801"/>
                  <a:pt x="94471" y="21801"/>
                </a:cubicBezTo>
                <a:cubicBezTo>
                  <a:pt x="90452" y="21801"/>
                  <a:pt x="86705" y="22891"/>
                  <a:pt x="83480" y="24776"/>
                </a:cubicBezTo>
                <a:cubicBezTo>
                  <a:pt x="78007" y="14375"/>
                  <a:pt x="67084" y="7267"/>
                  <a:pt x="54503" y="7267"/>
                </a:cubicBezTo>
                <a:cubicBezTo>
                  <a:pt x="36449" y="7267"/>
                  <a:pt x="21801" y="21915"/>
                  <a:pt x="21801" y="39969"/>
                </a:cubicBezTo>
                <a:cubicBezTo>
                  <a:pt x="21801" y="41785"/>
                  <a:pt x="21960" y="43579"/>
                  <a:pt x="22233" y="45305"/>
                </a:cubicBezTo>
                <a:cubicBezTo>
                  <a:pt x="9311" y="49666"/>
                  <a:pt x="0" y="61906"/>
                  <a:pt x="0" y="7630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9302706" y="5571347"/>
            <a:ext cx="1104589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Platform Lead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6282866" y="5870334"/>
            <a:ext cx="2674267" cy="298986"/>
          </a:xfrm>
          <a:custGeom>
            <a:avLst/>
            <a:gdLst/>
            <a:ahLst/>
            <a:cxnLst/>
            <a:rect l="l" t="t" r="r" b="b"/>
            <a:pathLst>
              <a:path w="2674267" h="298986">
                <a:moveTo>
                  <a:pt x="33220" y="0"/>
                </a:moveTo>
                <a:lnTo>
                  <a:pt x="2641047" y="0"/>
                </a:lnTo>
                <a:cubicBezTo>
                  <a:pt x="2659394" y="0"/>
                  <a:pt x="2674267" y="14873"/>
                  <a:pt x="2674267" y="33220"/>
                </a:cubicBezTo>
                <a:lnTo>
                  <a:pt x="2674267" y="265766"/>
                </a:lnTo>
                <a:cubicBezTo>
                  <a:pt x="2674267" y="284113"/>
                  <a:pt x="2659394" y="298986"/>
                  <a:pt x="2641047" y="298986"/>
                </a:cubicBezTo>
                <a:lnTo>
                  <a:pt x="33220" y="298986"/>
                </a:lnTo>
                <a:cubicBezTo>
                  <a:pt x="14873" y="298986"/>
                  <a:pt x="0" y="284113"/>
                  <a:pt x="0" y="265766"/>
                </a:cubicBezTo>
                <a:lnTo>
                  <a:pt x="0" y="33220"/>
                </a:lnTo>
                <a:cubicBezTo>
                  <a:pt x="0" y="14886"/>
                  <a:pt x="14886" y="0"/>
                  <a:pt x="3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6365918" y="5961691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27251" y="12717"/>
                </a:moveTo>
                <a:cubicBezTo>
                  <a:pt x="27251" y="5700"/>
                  <a:pt x="32951" y="0"/>
                  <a:pt x="39969" y="0"/>
                </a:cubicBezTo>
                <a:lnTo>
                  <a:pt x="45419" y="0"/>
                </a:lnTo>
                <a:cubicBezTo>
                  <a:pt x="49439" y="0"/>
                  <a:pt x="52686" y="3247"/>
                  <a:pt x="52686" y="7267"/>
                </a:cubicBezTo>
                <a:lnTo>
                  <a:pt x="52686" y="109005"/>
                </a:lnTo>
                <a:cubicBezTo>
                  <a:pt x="52686" y="113025"/>
                  <a:pt x="49439" y="116272"/>
                  <a:pt x="45419" y="116272"/>
                </a:cubicBezTo>
                <a:lnTo>
                  <a:pt x="38152" y="116272"/>
                </a:lnTo>
                <a:cubicBezTo>
                  <a:pt x="31384" y="116272"/>
                  <a:pt x="25684" y="111640"/>
                  <a:pt x="24072" y="105372"/>
                </a:cubicBezTo>
                <a:cubicBezTo>
                  <a:pt x="23913" y="105372"/>
                  <a:pt x="23777" y="105372"/>
                  <a:pt x="23618" y="105372"/>
                </a:cubicBezTo>
                <a:cubicBezTo>
                  <a:pt x="13580" y="105372"/>
                  <a:pt x="5450" y="97242"/>
                  <a:pt x="5450" y="87204"/>
                </a:cubicBezTo>
                <a:cubicBezTo>
                  <a:pt x="5450" y="83117"/>
                  <a:pt x="6813" y="79347"/>
                  <a:pt x="9084" y="76304"/>
                </a:cubicBezTo>
                <a:cubicBezTo>
                  <a:pt x="4678" y="72988"/>
                  <a:pt x="1817" y="67720"/>
                  <a:pt x="1817" y="61770"/>
                </a:cubicBezTo>
                <a:cubicBezTo>
                  <a:pt x="1817" y="54753"/>
                  <a:pt x="5814" y="48644"/>
                  <a:pt x="11627" y="45623"/>
                </a:cubicBezTo>
                <a:cubicBezTo>
                  <a:pt x="10015" y="42898"/>
                  <a:pt x="9084" y="39719"/>
                  <a:pt x="9084" y="36335"/>
                </a:cubicBezTo>
                <a:cubicBezTo>
                  <a:pt x="9084" y="26298"/>
                  <a:pt x="17214" y="18168"/>
                  <a:pt x="27251" y="18168"/>
                </a:cubicBezTo>
                <a:lnTo>
                  <a:pt x="27251" y="12717"/>
                </a:lnTo>
                <a:close/>
                <a:moveTo>
                  <a:pt x="89021" y="12717"/>
                </a:moveTo>
                <a:lnTo>
                  <a:pt x="89021" y="18168"/>
                </a:lnTo>
                <a:cubicBezTo>
                  <a:pt x="99059" y="18168"/>
                  <a:pt x="107189" y="26298"/>
                  <a:pt x="107189" y="36335"/>
                </a:cubicBezTo>
                <a:cubicBezTo>
                  <a:pt x="107189" y="39742"/>
                  <a:pt x="106258" y="42921"/>
                  <a:pt x="104645" y="45623"/>
                </a:cubicBezTo>
                <a:cubicBezTo>
                  <a:pt x="110482" y="48644"/>
                  <a:pt x="114456" y="54730"/>
                  <a:pt x="114456" y="61770"/>
                </a:cubicBezTo>
                <a:cubicBezTo>
                  <a:pt x="114456" y="67720"/>
                  <a:pt x="111594" y="72988"/>
                  <a:pt x="107189" y="76304"/>
                </a:cubicBezTo>
                <a:cubicBezTo>
                  <a:pt x="109460" y="79347"/>
                  <a:pt x="110822" y="83117"/>
                  <a:pt x="110822" y="87204"/>
                </a:cubicBezTo>
                <a:cubicBezTo>
                  <a:pt x="110822" y="97242"/>
                  <a:pt x="102692" y="105372"/>
                  <a:pt x="92655" y="105372"/>
                </a:cubicBezTo>
                <a:cubicBezTo>
                  <a:pt x="92496" y="105372"/>
                  <a:pt x="92359" y="105372"/>
                  <a:pt x="92200" y="105372"/>
                </a:cubicBezTo>
                <a:cubicBezTo>
                  <a:pt x="90588" y="111640"/>
                  <a:pt x="84888" y="116272"/>
                  <a:pt x="78121" y="116272"/>
                </a:cubicBezTo>
                <a:lnTo>
                  <a:pt x="70854" y="116272"/>
                </a:lnTo>
                <a:cubicBezTo>
                  <a:pt x="66834" y="116272"/>
                  <a:pt x="63587" y="113025"/>
                  <a:pt x="63587" y="109005"/>
                </a:cubicBezTo>
                <a:lnTo>
                  <a:pt x="63587" y="7267"/>
                </a:lnTo>
                <a:cubicBezTo>
                  <a:pt x="63587" y="3247"/>
                  <a:pt x="66834" y="0"/>
                  <a:pt x="70854" y="0"/>
                </a:cubicBezTo>
                <a:lnTo>
                  <a:pt x="76304" y="0"/>
                </a:lnTo>
                <a:cubicBezTo>
                  <a:pt x="83321" y="0"/>
                  <a:pt x="89021" y="5700"/>
                  <a:pt x="89021" y="12717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6561090" y="5936775"/>
            <a:ext cx="872044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 of Data/AI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024483" y="5870334"/>
            <a:ext cx="2674267" cy="298986"/>
          </a:xfrm>
          <a:custGeom>
            <a:avLst/>
            <a:gdLst/>
            <a:ahLst/>
            <a:cxnLst/>
            <a:rect l="l" t="t" r="r" b="b"/>
            <a:pathLst>
              <a:path w="2674267" h="298986">
                <a:moveTo>
                  <a:pt x="33220" y="0"/>
                </a:moveTo>
                <a:lnTo>
                  <a:pt x="2641047" y="0"/>
                </a:lnTo>
                <a:cubicBezTo>
                  <a:pt x="2659394" y="0"/>
                  <a:pt x="2674267" y="14873"/>
                  <a:pt x="2674267" y="33220"/>
                </a:cubicBezTo>
                <a:lnTo>
                  <a:pt x="2674267" y="265766"/>
                </a:lnTo>
                <a:cubicBezTo>
                  <a:pt x="2674267" y="284113"/>
                  <a:pt x="2659394" y="298986"/>
                  <a:pt x="2641047" y="298986"/>
                </a:cubicBezTo>
                <a:lnTo>
                  <a:pt x="33220" y="298986"/>
                </a:lnTo>
                <a:cubicBezTo>
                  <a:pt x="14873" y="298986"/>
                  <a:pt x="0" y="284113"/>
                  <a:pt x="0" y="265766"/>
                </a:cubicBezTo>
                <a:lnTo>
                  <a:pt x="0" y="33220"/>
                </a:lnTo>
                <a:cubicBezTo>
                  <a:pt x="0" y="14886"/>
                  <a:pt x="14886" y="0"/>
                  <a:pt x="3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9107535" y="5961691"/>
            <a:ext cx="116272" cy="116272"/>
          </a:xfrm>
          <a:custGeom>
            <a:avLst/>
            <a:gdLst/>
            <a:ahLst/>
            <a:cxnLst/>
            <a:rect l="l" t="t" r="r" b="b"/>
            <a:pathLst>
              <a:path w="116272" h="116272">
                <a:moveTo>
                  <a:pt x="58136" y="0"/>
                </a:moveTo>
                <a:cubicBezTo>
                  <a:pt x="59181" y="0"/>
                  <a:pt x="60226" y="227"/>
                  <a:pt x="61179" y="659"/>
                </a:cubicBezTo>
                <a:lnTo>
                  <a:pt x="103964" y="18803"/>
                </a:lnTo>
                <a:cubicBezTo>
                  <a:pt x="108960" y="20915"/>
                  <a:pt x="112684" y="25843"/>
                  <a:pt x="112662" y="31793"/>
                </a:cubicBezTo>
                <a:cubicBezTo>
                  <a:pt x="112548" y="54321"/>
                  <a:pt x="103283" y="95539"/>
                  <a:pt x="64154" y="114274"/>
                </a:cubicBezTo>
                <a:cubicBezTo>
                  <a:pt x="60362" y="116091"/>
                  <a:pt x="55956" y="116091"/>
                  <a:pt x="52164" y="114274"/>
                </a:cubicBezTo>
                <a:cubicBezTo>
                  <a:pt x="13013" y="95539"/>
                  <a:pt x="3770" y="54321"/>
                  <a:pt x="3656" y="31793"/>
                </a:cubicBezTo>
                <a:cubicBezTo>
                  <a:pt x="3634" y="25843"/>
                  <a:pt x="7358" y="20915"/>
                  <a:pt x="12354" y="18803"/>
                </a:cubicBezTo>
                <a:lnTo>
                  <a:pt x="55116" y="659"/>
                </a:lnTo>
                <a:cubicBezTo>
                  <a:pt x="56070" y="227"/>
                  <a:pt x="57092" y="0"/>
                  <a:pt x="58136" y="0"/>
                </a:cubicBezTo>
                <a:close/>
                <a:moveTo>
                  <a:pt x="58136" y="15170"/>
                </a:moveTo>
                <a:lnTo>
                  <a:pt x="58136" y="101034"/>
                </a:lnTo>
                <a:cubicBezTo>
                  <a:pt x="89475" y="85865"/>
                  <a:pt x="97901" y="52254"/>
                  <a:pt x="98105" y="32134"/>
                </a:cubicBezTo>
                <a:lnTo>
                  <a:pt x="58136" y="15193"/>
                </a:lnTo>
                <a:lnTo>
                  <a:pt x="58136" y="15193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3" name="Text 81"/>
          <p:cNvSpPr/>
          <p:nvPr/>
        </p:nvSpPr>
        <p:spPr>
          <a:xfrm>
            <a:off x="9302706" y="5936775"/>
            <a:ext cx="323902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CISO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282866" y="6235761"/>
            <a:ext cx="2674267" cy="298986"/>
          </a:xfrm>
          <a:custGeom>
            <a:avLst/>
            <a:gdLst/>
            <a:ahLst/>
            <a:cxnLst/>
            <a:rect l="l" t="t" r="r" b="b"/>
            <a:pathLst>
              <a:path w="2674267" h="298986">
                <a:moveTo>
                  <a:pt x="33220" y="0"/>
                </a:moveTo>
                <a:lnTo>
                  <a:pt x="2641047" y="0"/>
                </a:lnTo>
                <a:cubicBezTo>
                  <a:pt x="2659394" y="0"/>
                  <a:pt x="2674267" y="14873"/>
                  <a:pt x="2674267" y="33220"/>
                </a:cubicBezTo>
                <a:lnTo>
                  <a:pt x="2674267" y="265766"/>
                </a:lnTo>
                <a:cubicBezTo>
                  <a:pt x="2674267" y="284113"/>
                  <a:pt x="2659394" y="298986"/>
                  <a:pt x="2641047" y="298986"/>
                </a:cubicBezTo>
                <a:lnTo>
                  <a:pt x="33220" y="298986"/>
                </a:lnTo>
                <a:cubicBezTo>
                  <a:pt x="14873" y="298986"/>
                  <a:pt x="0" y="284113"/>
                  <a:pt x="0" y="265766"/>
                </a:cubicBezTo>
                <a:lnTo>
                  <a:pt x="0" y="33220"/>
                </a:lnTo>
                <a:cubicBezTo>
                  <a:pt x="0" y="14886"/>
                  <a:pt x="14886" y="0"/>
                  <a:pt x="3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5" name="Shape 83"/>
          <p:cNvSpPr/>
          <p:nvPr/>
        </p:nvSpPr>
        <p:spPr>
          <a:xfrm>
            <a:off x="6351384" y="6327118"/>
            <a:ext cx="145341" cy="116272"/>
          </a:xfrm>
          <a:custGeom>
            <a:avLst/>
            <a:gdLst/>
            <a:ahLst/>
            <a:cxnLst/>
            <a:rect l="l" t="t" r="r" b="b"/>
            <a:pathLst>
              <a:path w="145341" h="116272">
                <a:moveTo>
                  <a:pt x="94449" y="47803"/>
                </a:moveTo>
                <a:cubicBezTo>
                  <a:pt x="97219" y="47054"/>
                  <a:pt x="100126" y="48371"/>
                  <a:pt x="101375" y="50937"/>
                </a:cubicBezTo>
                <a:lnTo>
                  <a:pt x="105599" y="59476"/>
                </a:lnTo>
                <a:cubicBezTo>
                  <a:pt x="107938" y="59794"/>
                  <a:pt x="110232" y="60430"/>
                  <a:pt x="112389" y="61316"/>
                </a:cubicBezTo>
                <a:lnTo>
                  <a:pt x="120337" y="56024"/>
                </a:lnTo>
                <a:cubicBezTo>
                  <a:pt x="122722" y="54435"/>
                  <a:pt x="125879" y="54753"/>
                  <a:pt x="127900" y="56774"/>
                </a:cubicBezTo>
                <a:lnTo>
                  <a:pt x="132260" y="61134"/>
                </a:lnTo>
                <a:cubicBezTo>
                  <a:pt x="134281" y="63155"/>
                  <a:pt x="134599" y="66334"/>
                  <a:pt x="133009" y="68696"/>
                </a:cubicBezTo>
                <a:lnTo>
                  <a:pt x="127718" y="76622"/>
                </a:lnTo>
                <a:cubicBezTo>
                  <a:pt x="128150" y="77689"/>
                  <a:pt x="128536" y="78802"/>
                  <a:pt x="128854" y="79960"/>
                </a:cubicBezTo>
                <a:cubicBezTo>
                  <a:pt x="129171" y="81118"/>
                  <a:pt x="129376" y="82254"/>
                  <a:pt x="129535" y="83412"/>
                </a:cubicBezTo>
                <a:lnTo>
                  <a:pt x="138096" y="87636"/>
                </a:lnTo>
                <a:cubicBezTo>
                  <a:pt x="140662" y="88908"/>
                  <a:pt x="141980" y="91814"/>
                  <a:pt x="141230" y="94562"/>
                </a:cubicBezTo>
                <a:lnTo>
                  <a:pt x="139641" y="100512"/>
                </a:lnTo>
                <a:cubicBezTo>
                  <a:pt x="138891" y="103260"/>
                  <a:pt x="136325" y="105122"/>
                  <a:pt x="133464" y="104940"/>
                </a:cubicBezTo>
                <a:lnTo>
                  <a:pt x="123926" y="104327"/>
                </a:lnTo>
                <a:cubicBezTo>
                  <a:pt x="122495" y="106167"/>
                  <a:pt x="120837" y="107870"/>
                  <a:pt x="118952" y="109323"/>
                </a:cubicBezTo>
                <a:lnTo>
                  <a:pt x="119565" y="118839"/>
                </a:lnTo>
                <a:cubicBezTo>
                  <a:pt x="119747" y="121700"/>
                  <a:pt x="117885" y="124289"/>
                  <a:pt x="115137" y="125016"/>
                </a:cubicBezTo>
                <a:lnTo>
                  <a:pt x="109187" y="126605"/>
                </a:lnTo>
                <a:cubicBezTo>
                  <a:pt x="106417" y="127355"/>
                  <a:pt x="103532" y="126038"/>
                  <a:pt x="102261" y="123471"/>
                </a:cubicBezTo>
                <a:lnTo>
                  <a:pt x="98037" y="114933"/>
                </a:lnTo>
                <a:cubicBezTo>
                  <a:pt x="95698" y="114615"/>
                  <a:pt x="93404" y="113979"/>
                  <a:pt x="91247" y="113093"/>
                </a:cubicBezTo>
                <a:lnTo>
                  <a:pt x="83298" y="118384"/>
                </a:lnTo>
                <a:cubicBezTo>
                  <a:pt x="80914" y="119974"/>
                  <a:pt x="77757" y="119656"/>
                  <a:pt x="75736" y="117635"/>
                </a:cubicBezTo>
                <a:lnTo>
                  <a:pt x="71376" y="113275"/>
                </a:lnTo>
                <a:cubicBezTo>
                  <a:pt x="69355" y="111254"/>
                  <a:pt x="69037" y="108097"/>
                  <a:pt x="70626" y="105713"/>
                </a:cubicBezTo>
                <a:lnTo>
                  <a:pt x="75918" y="97764"/>
                </a:lnTo>
                <a:cubicBezTo>
                  <a:pt x="75486" y="96697"/>
                  <a:pt x="75100" y="95584"/>
                  <a:pt x="74782" y="94426"/>
                </a:cubicBezTo>
                <a:cubicBezTo>
                  <a:pt x="74464" y="93268"/>
                  <a:pt x="74260" y="92110"/>
                  <a:pt x="74101" y="90974"/>
                </a:cubicBezTo>
                <a:lnTo>
                  <a:pt x="65540" y="86750"/>
                </a:lnTo>
                <a:cubicBezTo>
                  <a:pt x="62973" y="85478"/>
                  <a:pt x="61679" y="82572"/>
                  <a:pt x="62406" y="79824"/>
                </a:cubicBezTo>
                <a:lnTo>
                  <a:pt x="63995" y="73874"/>
                </a:lnTo>
                <a:cubicBezTo>
                  <a:pt x="64745" y="71126"/>
                  <a:pt x="67311" y="69264"/>
                  <a:pt x="70172" y="69446"/>
                </a:cubicBezTo>
                <a:lnTo>
                  <a:pt x="79688" y="70059"/>
                </a:lnTo>
                <a:cubicBezTo>
                  <a:pt x="81118" y="68219"/>
                  <a:pt x="82776" y="66516"/>
                  <a:pt x="84661" y="65063"/>
                </a:cubicBezTo>
                <a:lnTo>
                  <a:pt x="84048" y="55570"/>
                </a:lnTo>
                <a:cubicBezTo>
                  <a:pt x="83866" y="52709"/>
                  <a:pt x="85728" y="50120"/>
                  <a:pt x="88476" y="49393"/>
                </a:cubicBezTo>
                <a:lnTo>
                  <a:pt x="94426" y="47803"/>
                </a:lnTo>
                <a:close/>
                <a:moveTo>
                  <a:pt x="101829" y="77212"/>
                </a:moveTo>
                <a:cubicBezTo>
                  <a:pt x="96314" y="77218"/>
                  <a:pt x="91842" y="81701"/>
                  <a:pt x="91848" y="87216"/>
                </a:cubicBezTo>
                <a:cubicBezTo>
                  <a:pt x="91855" y="92731"/>
                  <a:pt x="96337" y="97203"/>
                  <a:pt x="101852" y="97197"/>
                </a:cubicBezTo>
                <a:cubicBezTo>
                  <a:pt x="107367" y="97190"/>
                  <a:pt x="111839" y="92708"/>
                  <a:pt x="111833" y="87193"/>
                </a:cubicBezTo>
                <a:cubicBezTo>
                  <a:pt x="111827" y="81678"/>
                  <a:pt x="107344" y="77206"/>
                  <a:pt x="101829" y="77212"/>
                </a:cubicBezTo>
                <a:close/>
                <a:moveTo>
                  <a:pt x="51074" y="-10333"/>
                </a:moveTo>
                <a:lnTo>
                  <a:pt x="57023" y="-8743"/>
                </a:lnTo>
                <a:cubicBezTo>
                  <a:pt x="59771" y="-7994"/>
                  <a:pt x="61633" y="-5405"/>
                  <a:pt x="61452" y="-2566"/>
                </a:cubicBezTo>
                <a:lnTo>
                  <a:pt x="60839" y="6926"/>
                </a:lnTo>
                <a:cubicBezTo>
                  <a:pt x="62724" y="8380"/>
                  <a:pt x="64381" y="10060"/>
                  <a:pt x="65812" y="11922"/>
                </a:cubicBezTo>
                <a:lnTo>
                  <a:pt x="75350" y="11309"/>
                </a:lnTo>
                <a:cubicBezTo>
                  <a:pt x="78189" y="11128"/>
                  <a:pt x="80778" y="12990"/>
                  <a:pt x="81527" y="15738"/>
                </a:cubicBezTo>
                <a:lnTo>
                  <a:pt x="83117" y="21688"/>
                </a:lnTo>
                <a:cubicBezTo>
                  <a:pt x="83843" y="24435"/>
                  <a:pt x="82549" y="27342"/>
                  <a:pt x="79983" y="28614"/>
                </a:cubicBezTo>
                <a:lnTo>
                  <a:pt x="71421" y="32838"/>
                </a:lnTo>
                <a:cubicBezTo>
                  <a:pt x="71262" y="33996"/>
                  <a:pt x="71035" y="35154"/>
                  <a:pt x="70740" y="36290"/>
                </a:cubicBezTo>
                <a:cubicBezTo>
                  <a:pt x="70445" y="37425"/>
                  <a:pt x="70036" y="38561"/>
                  <a:pt x="69605" y="39628"/>
                </a:cubicBezTo>
                <a:lnTo>
                  <a:pt x="74896" y="47576"/>
                </a:lnTo>
                <a:cubicBezTo>
                  <a:pt x="76485" y="49961"/>
                  <a:pt x="76168" y="53117"/>
                  <a:pt x="74146" y="55139"/>
                </a:cubicBezTo>
                <a:lnTo>
                  <a:pt x="69786" y="59499"/>
                </a:lnTo>
                <a:cubicBezTo>
                  <a:pt x="67765" y="61520"/>
                  <a:pt x="64608" y="61838"/>
                  <a:pt x="62224" y="60248"/>
                </a:cubicBezTo>
                <a:lnTo>
                  <a:pt x="54276" y="54957"/>
                </a:lnTo>
                <a:cubicBezTo>
                  <a:pt x="52118" y="55843"/>
                  <a:pt x="49825" y="56478"/>
                  <a:pt x="47485" y="56796"/>
                </a:cubicBezTo>
                <a:lnTo>
                  <a:pt x="43262" y="65335"/>
                </a:lnTo>
                <a:cubicBezTo>
                  <a:pt x="41990" y="67901"/>
                  <a:pt x="39083" y="69196"/>
                  <a:pt x="36335" y="68469"/>
                </a:cubicBezTo>
                <a:lnTo>
                  <a:pt x="30385" y="66879"/>
                </a:lnTo>
                <a:cubicBezTo>
                  <a:pt x="27615" y="66130"/>
                  <a:pt x="25775" y="63541"/>
                  <a:pt x="25957" y="60702"/>
                </a:cubicBezTo>
                <a:lnTo>
                  <a:pt x="26570" y="51187"/>
                </a:lnTo>
                <a:cubicBezTo>
                  <a:pt x="24685" y="49734"/>
                  <a:pt x="23027" y="48053"/>
                  <a:pt x="21597" y="46191"/>
                </a:cubicBezTo>
                <a:lnTo>
                  <a:pt x="12059" y="46804"/>
                </a:lnTo>
                <a:cubicBezTo>
                  <a:pt x="9220" y="46986"/>
                  <a:pt x="6631" y="45124"/>
                  <a:pt x="5882" y="42376"/>
                </a:cubicBezTo>
                <a:lnTo>
                  <a:pt x="4292" y="36426"/>
                </a:lnTo>
                <a:cubicBezTo>
                  <a:pt x="3565" y="33678"/>
                  <a:pt x="4860" y="30771"/>
                  <a:pt x="7426" y="29500"/>
                </a:cubicBezTo>
                <a:lnTo>
                  <a:pt x="15987" y="25276"/>
                </a:lnTo>
                <a:cubicBezTo>
                  <a:pt x="16146" y="24117"/>
                  <a:pt x="16374" y="22982"/>
                  <a:pt x="16669" y="21824"/>
                </a:cubicBezTo>
                <a:cubicBezTo>
                  <a:pt x="16987" y="20666"/>
                  <a:pt x="17350" y="19553"/>
                  <a:pt x="17804" y="18486"/>
                </a:cubicBezTo>
                <a:lnTo>
                  <a:pt x="12513" y="10560"/>
                </a:lnTo>
                <a:cubicBezTo>
                  <a:pt x="10923" y="8175"/>
                  <a:pt x="11241" y="5019"/>
                  <a:pt x="13262" y="2998"/>
                </a:cubicBezTo>
                <a:lnTo>
                  <a:pt x="17623" y="-1363"/>
                </a:lnTo>
                <a:cubicBezTo>
                  <a:pt x="19644" y="-3384"/>
                  <a:pt x="22800" y="-3702"/>
                  <a:pt x="25185" y="-2112"/>
                </a:cubicBezTo>
                <a:lnTo>
                  <a:pt x="33133" y="3179"/>
                </a:lnTo>
                <a:cubicBezTo>
                  <a:pt x="35291" y="2294"/>
                  <a:pt x="37584" y="1658"/>
                  <a:pt x="39923" y="1340"/>
                </a:cubicBezTo>
                <a:lnTo>
                  <a:pt x="44147" y="-7199"/>
                </a:lnTo>
                <a:cubicBezTo>
                  <a:pt x="45419" y="-9765"/>
                  <a:pt x="48303" y="-11060"/>
                  <a:pt x="51074" y="-10333"/>
                </a:cubicBezTo>
                <a:close/>
                <a:moveTo>
                  <a:pt x="43693" y="19076"/>
                </a:moveTo>
                <a:cubicBezTo>
                  <a:pt x="38178" y="19076"/>
                  <a:pt x="33701" y="23553"/>
                  <a:pt x="33701" y="29068"/>
                </a:cubicBezTo>
                <a:cubicBezTo>
                  <a:pt x="33701" y="34583"/>
                  <a:pt x="38178" y="39060"/>
                  <a:pt x="43693" y="39060"/>
                </a:cubicBezTo>
                <a:cubicBezTo>
                  <a:pt x="49208" y="39060"/>
                  <a:pt x="53685" y="34583"/>
                  <a:pt x="53685" y="29068"/>
                </a:cubicBezTo>
                <a:cubicBezTo>
                  <a:pt x="53685" y="23553"/>
                  <a:pt x="49208" y="19076"/>
                  <a:pt x="43693" y="19076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6" name="Text 84"/>
          <p:cNvSpPr/>
          <p:nvPr/>
        </p:nvSpPr>
        <p:spPr>
          <a:xfrm>
            <a:off x="6561090" y="6302203"/>
            <a:ext cx="1063063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 Director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9024483" y="6235761"/>
            <a:ext cx="2674267" cy="298986"/>
          </a:xfrm>
          <a:custGeom>
            <a:avLst/>
            <a:gdLst/>
            <a:ahLst/>
            <a:cxnLst/>
            <a:rect l="l" t="t" r="r" b="b"/>
            <a:pathLst>
              <a:path w="2674267" h="298986">
                <a:moveTo>
                  <a:pt x="33220" y="0"/>
                </a:moveTo>
                <a:lnTo>
                  <a:pt x="2641047" y="0"/>
                </a:lnTo>
                <a:cubicBezTo>
                  <a:pt x="2659394" y="0"/>
                  <a:pt x="2674267" y="14873"/>
                  <a:pt x="2674267" y="33220"/>
                </a:cubicBezTo>
                <a:lnTo>
                  <a:pt x="2674267" y="265766"/>
                </a:lnTo>
                <a:cubicBezTo>
                  <a:pt x="2674267" y="284113"/>
                  <a:pt x="2659394" y="298986"/>
                  <a:pt x="2641047" y="298986"/>
                </a:cubicBezTo>
                <a:lnTo>
                  <a:pt x="33220" y="298986"/>
                </a:lnTo>
                <a:cubicBezTo>
                  <a:pt x="14873" y="298986"/>
                  <a:pt x="0" y="284113"/>
                  <a:pt x="0" y="265766"/>
                </a:cubicBezTo>
                <a:lnTo>
                  <a:pt x="0" y="33220"/>
                </a:lnTo>
                <a:cubicBezTo>
                  <a:pt x="0" y="14886"/>
                  <a:pt x="14886" y="0"/>
                  <a:pt x="3322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9122069" y="6327118"/>
            <a:ext cx="87204" cy="116272"/>
          </a:xfrm>
          <a:custGeom>
            <a:avLst/>
            <a:gdLst/>
            <a:ahLst/>
            <a:cxnLst/>
            <a:rect l="l" t="t" r="r" b="b"/>
            <a:pathLst>
              <a:path w="87204" h="116272">
                <a:moveTo>
                  <a:pt x="0" y="14534"/>
                </a:moveTo>
                <a:cubicBezTo>
                  <a:pt x="0" y="6518"/>
                  <a:pt x="6518" y="0"/>
                  <a:pt x="14534" y="0"/>
                </a:cubicBezTo>
                <a:lnTo>
                  <a:pt x="48485" y="0"/>
                </a:lnTo>
                <a:cubicBezTo>
                  <a:pt x="52345" y="0"/>
                  <a:pt x="56047" y="1522"/>
                  <a:pt x="58772" y="4247"/>
                </a:cubicBezTo>
                <a:lnTo>
                  <a:pt x="82958" y="28455"/>
                </a:lnTo>
                <a:cubicBezTo>
                  <a:pt x="85683" y="31180"/>
                  <a:pt x="87204" y="34882"/>
                  <a:pt x="87204" y="38742"/>
                </a:cubicBezTo>
                <a:lnTo>
                  <a:pt x="87204" y="101738"/>
                </a:lnTo>
                <a:cubicBezTo>
                  <a:pt x="87204" y="109755"/>
                  <a:pt x="80687" y="116272"/>
                  <a:pt x="72670" y="116272"/>
                </a:cubicBezTo>
                <a:lnTo>
                  <a:pt x="14534" y="116272"/>
                </a:lnTo>
                <a:cubicBezTo>
                  <a:pt x="6518" y="116272"/>
                  <a:pt x="0" y="109755"/>
                  <a:pt x="0" y="101738"/>
                </a:cubicBezTo>
                <a:lnTo>
                  <a:pt x="0" y="14534"/>
                </a:lnTo>
                <a:close/>
                <a:moveTo>
                  <a:pt x="47236" y="13285"/>
                </a:moveTo>
                <a:lnTo>
                  <a:pt x="47236" y="34518"/>
                </a:lnTo>
                <a:cubicBezTo>
                  <a:pt x="47236" y="37539"/>
                  <a:pt x="49666" y="39969"/>
                  <a:pt x="52686" y="39969"/>
                </a:cubicBezTo>
                <a:lnTo>
                  <a:pt x="73919" y="39969"/>
                </a:lnTo>
                <a:lnTo>
                  <a:pt x="47236" y="13285"/>
                </a:lnTo>
                <a:close/>
                <a:moveTo>
                  <a:pt x="19984" y="14534"/>
                </a:moveTo>
                <a:cubicBezTo>
                  <a:pt x="16964" y="14534"/>
                  <a:pt x="14534" y="16964"/>
                  <a:pt x="14534" y="19984"/>
                </a:cubicBezTo>
                <a:cubicBezTo>
                  <a:pt x="14534" y="23005"/>
                  <a:pt x="16964" y="25435"/>
                  <a:pt x="19984" y="25435"/>
                </a:cubicBezTo>
                <a:lnTo>
                  <a:pt x="30885" y="25435"/>
                </a:lnTo>
                <a:cubicBezTo>
                  <a:pt x="33905" y="25435"/>
                  <a:pt x="36335" y="23005"/>
                  <a:pt x="36335" y="19984"/>
                </a:cubicBezTo>
                <a:cubicBezTo>
                  <a:pt x="36335" y="16964"/>
                  <a:pt x="33905" y="14534"/>
                  <a:pt x="30885" y="14534"/>
                </a:cubicBezTo>
                <a:lnTo>
                  <a:pt x="19984" y="14534"/>
                </a:lnTo>
                <a:close/>
                <a:moveTo>
                  <a:pt x="19984" y="36335"/>
                </a:moveTo>
                <a:cubicBezTo>
                  <a:pt x="16964" y="36335"/>
                  <a:pt x="14534" y="38765"/>
                  <a:pt x="14534" y="41785"/>
                </a:cubicBezTo>
                <a:cubicBezTo>
                  <a:pt x="14534" y="44806"/>
                  <a:pt x="16964" y="47236"/>
                  <a:pt x="19984" y="47236"/>
                </a:cubicBezTo>
                <a:lnTo>
                  <a:pt x="30885" y="47236"/>
                </a:lnTo>
                <a:cubicBezTo>
                  <a:pt x="33905" y="47236"/>
                  <a:pt x="36335" y="44806"/>
                  <a:pt x="36335" y="41785"/>
                </a:cubicBezTo>
                <a:cubicBezTo>
                  <a:pt x="36335" y="38765"/>
                  <a:pt x="33905" y="36335"/>
                  <a:pt x="30885" y="36335"/>
                </a:cubicBezTo>
                <a:lnTo>
                  <a:pt x="19984" y="36335"/>
                </a:lnTo>
                <a:close/>
                <a:moveTo>
                  <a:pt x="35949" y="72670"/>
                </a:moveTo>
                <a:cubicBezTo>
                  <a:pt x="33383" y="72670"/>
                  <a:pt x="30976" y="73828"/>
                  <a:pt x="29386" y="75827"/>
                </a:cubicBezTo>
                <a:lnTo>
                  <a:pt x="15738" y="92882"/>
                </a:lnTo>
                <a:cubicBezTo>
                  <a:pt x="13853" y="95221"/>
                  <a:pt x="14239" y="98673"/>
                  <a:pt x="16578" y="100535"/>
                </a:cubicBezTo>
                <a:cubicBezTo>
                  <a:pt x="18917" y="102397"/>
                  <a:pt x="22369" y="102034"/>
                  <a:pt x="24231" y="99672"/>
                </a:cubicBezTo>
                <a:lnTo>
                  <a:pt x="34927" y="86319"/>
                </a:lnTo>
                <a:lnTo>
                  <a:pt x="38379" y="97832"/>
                </a:lnTo>
                <a:cubicBezTo>
                  <a:pt x="39060" y="100149"/>
                  <a:pt x="41195" y="101716"/>
                  <a:pt x="43602" y="101716"/>
                </a:cubicBezTo>
                <a:lnTo>
                  <a:pt x="67220" y="101716"/>
                </a:lnTo>
                <a:cubicBezTo>
                  <a:pt x="70240" y="101716"/>
                  <a:pt x="72670" y="99286"/>
                  <a:pt x="72670" y="96265"/>
                </a:cubicBezTo>
                <a:cubicBezTo>
                  <a:pt x="72670" y="93245"/>
                  <a:pt x="70240" y="90815"/>
                  <a:pt x="67220" y="90815"/>
                </a:cubicBezTo>
                <a:lnTo>
                  <a:pt x="47667" y="90815"/>
                </a:lnTo>
                <a:lnTo>
                  <a:pt x="44011" y="78643"/>
                </a:lnTo>
                <a:cubicBezTo>
                  <a:pt x="42944" y="75078"/>
                  <a:pt x="39673" y="72648"/>
                  <a:pt x="35949" y="7264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Text 87"/>
          <p:cNvSpPr/>
          <p:nvPr/>
        </p:nvSpPr>
        <p:spPr>
          <a:xfrm>
            <a:off x="9302706" y="6302203"/>
            <a:ext cx="722550" cy="16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6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Procurement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750fbf1ae6908175e7edde0c739f1b2b52d80ed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4108" r="410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48450"/>
          </a:xfrm>
          <a:custGeom>
            <a:avLst/>
            <a:gdLst/>
            <a:ahLst/>
            <a:cxnLst/>
            <a:rect l="l" t="t" r="r" b="b"/>
            <a:pathLst>
              <a:path w="12192000" h="7469188">
                <a:moveTo>
                  <a:pt x="0" y="0"/>
                </a:moveTo>
                <a:lnTo>
                  <a:pt x="12192000" y="0"/>
                </a:lnTo>
                <a:lnTo>
                  <a:pt x="12192000" y="7469188"/>
                </a:lnTo>
                <a:lnTo>
                  <a:pt x="0" y="746918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1E3A5F">
                  <a:alpha val="90000"/>
                </a:srgbClr>
              </a:gs>
              <a:gs pos="100000">
                <a:srgbClr val="0F172A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317500" y="428625"/>
            <a:ext cx="63500" cy="381000"/>
          </a:xfrm>
          <a:custGeom>
            <a:avLst/>
            <a:gdLst/>
            <a:ahLst/>
            <a:cxnLst/>
            <a:rect l="l" t="t" r="r" b="b"/>
            <a:pathLst>
              <a:path w="63500" h="381000">
                <a:moveTo>
                  <a:pt x="0" y="0"/>
                </a:moveTo>
                <a:lnTo>
                  <a:pt x="63500" y="0"/>
                </a:lnTo>
                <a:lnTo>
                  <a:pt x="635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76250" y="317500"/>
            <a:ext cx="4953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kern="0" spc="56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PRIORITIES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6250" y="539750"/>
            <a:ext cx="5072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&amp; Next Steps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1469" y="1242219"/>
            <a:ext cx="5675313" cy="2928938"/>
          </a:xfrm>
          <a:custGeom>
            <a:avLst/>
            <a:gdLst/>
            <a:ahLst/>
            <a:cxnLst/>
            <a:rect l="l" t="t" r="r" b="b"/>
            <a:pathLst>
              <a:path w="5675313" h="2928938">
                <a:moveTo>
                  <a:pt x="95249" y="0"/>
                </a:moveTo>
                <a:lnTo>
                  <a:pt x="5580063" y="0"/>
                </a:lnTo>
                <a:cubicBezTo>
                  <a:pt x="5632668" y="0"/>
                  <a:pt x="5675313" y="42644"/>
                  <a:pt x="5675313" y="95249"/>
                </a:cubicBezTo>
                <a:lnTo>
                  <a:pt x="5675313" y="2833688"/>
                </a:lnTo>
                <a:cubicBezTo>
                  <a:pt x="5675313" y="2886293"/>
                  <a:pt x="5632668" y="2928938"/>
                  <a:pt x="5580063" y="2928938"/>
                </a:cubicBezTo>
                <a:lnTo>
                  <a:pt x="95249" y="2928938"/>
                </a:lnTo>
                <a:cubicBezTo>
                  <a:pt x="42644" y="2928938"/>
                  <a:pt x="0" y="2886293"/>
                  <a:pt x="0" y="2833688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solidFill>
            <a:srgbClr val="1E3A5F">
              <a:alpha val="6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35781" y="1484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714375" y="1436688"/>
            <a:ext cx="518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Strategic Insights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5938" y="18494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20613" y="1897063"/>
            <a:ext cx="10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5188" y="1817688"/>
            <a:ext cx="500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Active Transformation Window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5188" y="2071688"/>
            <a:ext cx="5000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is in active cloud/AI transformation with proven investments—creating immediate opportunity for workflow automation and hybrid connectivity solutions.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5938" y="26114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610567" y="2659063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5188" y="2579688"/>
            <a:ext cx="500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Partner-Influenced Environment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5188" y="2833688"/>
            <a:ext cx="5000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Multi-cloud, partner-influenced buying environment requires coordinated engagement with TCS, Microsoft, and procurement.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5938" y="33734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610071" y="3421063"/>
            <a:ext cx="119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65188" y="3341688"/>
            <a:ext cx="5008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High-Value Use Case Alignment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5188" y="3595688"/>
            <a:ext cx="5000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Claims, contact centre, and policy servicing automation align directly with Aviva's stated efficiency goals and Azure migration outcomes.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95219" y="1242219"/>
            <a:ext cx="5675313" cy="3246438"/>
          </a:xfrm>
          <a:custGeom>
            <a:avLst/>
            <a:gdLst/>
            <a:ahLst/>
            <a:cxnLst/>
            <a:rect l="l" t="t" r="r" b="b"/>
            <a:pathLst>
              <a:path w="5675313" h="3246438">
                <a:moveTo>
                  <a:pt x="95250" y="0"/>
                </a:moveTo>
                <a:lnTo>
                  <a:pt x="5580062" y="0"/>
                </a:lnTo>
                <a:cubicBezTo>
                  <a:pt x="5632667" y="0"/>
                  <a:pt x="5675313" y="42645"/>
                  <a:pt x="5675313" y="95250"/>
                </a:cubicBezTo>
                <a:lnTo>
                  <a:pt x="5675313" y="3151187"/>
                </a:lnTo>
                <a:cubicBezTo>
                  <a:pt x="5675313" y="3203792"/>
                  <a:pt x="5632667" y="3246438"/>
                  <a:pt x="5580062" y="3246438"/>
                </a:cubicBezTo>
                <a:lnTo>
                  <a:pt x="95250" y="3246438"/>
                </a:lnTo>
                <a:cubicBezTo>
                  <a:pt x="42645" y="3246438"/>
                  <a:pt x="0" y="3203792"/>
                  <a:pt x="0" y="3151187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10B981">
                  <a:alpha val="30000"/>
                </a:srgbClr>
              </a:gs>
            </a:gsLst>
            <a:lin ang="2700000" scaled="1"/>
          </a:gradFill>
          <a:ln w="12700">
            <a:solidFill>
              <a:srgbClr val="3B82F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6409531" y="14843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6588125" y="1436688"/>
            <a:ext cx="5183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Next Steps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05563" y="1817688"/>
            <a:ext cx="5270500" cy="762000"/>
          </a:xfrm>
          <a:custGeom>
            <a:avLst/>
            <a:gdLst/>
            <a:ahLst/>
            <a:cxnLst/>
            <a:rect l="l" t="t" r="r" b="b"/>
            <a:pathLst>
              <a:path w="5270500" h="762000">
                <a:moveTo>
                  <a:pt x="31750" y="0"/>
                </a:moveTo>
                <a:lnTo>
                  <a:pt x="5207003" y="0"/>
                </a:lnTo>
                <a:cubicBezTo>
                  <a:pt x="5242071" y="0"/>
                  <a:pt x="5270500" y="28429"/>
                  <a:pt x="5270500" y="63497"/>
                </a:cubicBezTo>
                <a:lnTo>
                  <a:pt x="5270500" y="698503"/>
                </a:lnTo>
                <a:cubicBezTo>
                  <a:pt x="5270500" y="733571"/>
                  <a:pt x="5242071" y="762000"/>
                  <a:pt x="5207003" y="762000"/>
                </a:cubicBezTo>
                <a:lnTo>
                  <a:pt x="31750" y="762000"/>
                </a:lnTo>
                <a:cubicBezTo>
                  <a:pt x="14215" y="762000"/>
                  <a:pt x="0" y="747785"/>
                  <a:pt x="0" y="73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6405563" y="1817688"/>
            <a:ext cx="31750" cy="762000"/>
          </a:xfrm>
          <a:custGeom>
            <a:avLst/>
            <a:gdLst/>
            <a:ahLst/>
            <a:cxnLst/>
            <a:rect l="l" t="t" r="r" b="b"/>
            <a:pathLst>
              <a:path w="31750" h="762000">
                <a:moveTo>
                  <a:pt x="31750" y="0"/>
                </a:moveTo>
                <a:lnTo>
                  <a:pt x="31750" y="0"/>
                </a:lnTo>
                <a:lnTo>
                  <a:pt x="31750" y="762000"/>
                </a:lnTo>
                <a:lnTo>
                  <a:pt x="31750" y="762000"/>
                </a:lnTo>
                <a:cubicBezTo>
                  <a:pt x="14227" y="762000"/>
                  <a:pt x="0" y="747773"/>
                  <a:pt x="0" y="73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6548438" y="194468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6607969" y="2016125"/>
            <a:ext cx="138906" cy="111125"/>
          </a:xfrm>
          <a:custGeom>
            <a:avLst/>
            <a:gdLst/>
            <a:ahLst/>
            <a:cxnLst/>
            <a:rect l="l" t="t" r="r" b="b"/>
            <a:pathLst>
              <a:path w="138906" h="111125">
                <a:moveTo>
                  <a:pt x="69453" y="3473"/>
                </a:moveTo>
                <a:cubicBezTo>
                  <a:pt x="81911" y="3473"/>
                  <a:pt x="92025" y="13587"/>
                  <a:pt x="92025" y="26045"/>
                </a:cubicBezTo>
                <a:cubicBezTo>
                  <a:pt x="92025" y="38503"/>
                  <a:pt x="81911" y="48617"/>
                  <a:pt x="69453" y="48617"/>
                </a:cubicBezTo>
                <a:cubicBezTo>
                  <a:pt x="56995" y="48617"/>
                  <a:pt x="46881" y="38503"/>
                  <a:pt x="46881" y="26045"/>
                </a:cubicBezTo>
                <a:cubicBezTo>
                  <a:pt x="46881" y="13587"/>
                  <a:pt x="56995" y="3473"/>
                  <a:pt x="69453" y="3473"/>
                </a:cubicBezTo>
                <a:close/>
                <a:moveTo>
                  <a:pt x="20836" y="19100"/>
                </a:moveTo>
                <a:cubicBezTo>
                  <a:pt x="29461" y="19100"/>
                  <a:pt x="36463" y="26102"/>
                  <a:pt x="36463" y="34727"/>
                </a:cubicBezTo>
                <a:cubicBezTo>
                  <a:pt x="36463" y="43351"/>
                  <a:pt x="29461" y="50354"/>
                  <a:pt x="20836" y="50354"/>
                </a:cubicBezTo>
                <a:cubicBezTo>
                  <a:pt x="12211" y="50354"/>
                  <a:pt x="5209" y="43351"/>
                  <a:pt x="5209" y="34727"/>
                </a:cubicBezTo>
                <a:cubicBezTo>
                  <a:pt x="5209" y="26102"/>
                  <a:pt x="12211" y="19100"/>
                  <a:pt x="20836" y="19100"/>
                </a:cubicBezTo>
                <a:close/>
                <a:moveTo>
                  <a:pt x="0" y="90289"/>
                </a:moveTo>
                <a:cubicBezTo>
                  <a:pt x="0" y="74944"/>
                  <a:pt x="12436" y="62508"/>
                  <a:pt x="27781" y="62508"/>
                </a:cubicBezTo>
                <a:cubicBezTo>
                  <a:pt x="30559" y="62508"/>
                  <a:pt x="33251" y="62920"/>
                  <a:pt x="35790" y="63680"/>
                </a:cubicBezTo>
                <a:cubicBezTo>
                  <a:pt x="28649" y="71667"/>
                  <a:pt x="24309" y="82215"/>
                  <a:pt x="24309" y="93762"/>
                </a:cubicBezTo>
                <a:lnTo>
                  <a:pt x="24309" y="97234"/>
                </a:lnTo>
                <a:cubicBezTo>
                  <a:pt x="24309" y="99709"/>
                  <a:pt x="24829" y="102053"/>
                  <a:pt x="25763" y="104180"/>
                </a:cubicBezTo>
                <a:lnTo>
                  <a:pt x="6945" y="104180"/>
                </a:lnTo>
                <a:cubicBezTo>
                  <a:pt x="3104" y="104180"/>
                  <a:pt x="0" y="101076"/>
                  <a:pt x="0" y="97234"/>
                </a:cubicBezTo>
                <a:lnTo>
                  <a:pt x="0" y="90289"/>
                </a:lnTo>
                <a:close/>
                <a:moveTo>
                  <a:pt x="113143" y="104180"/>
                </a:moveTo>
                <a:cubicBezTo>
                  <a:pt x="114077" y="102053"/>
                  <a:pt x="114598" y="99709"/>
                  <a:pt x="114598" y="97234"/>
                </a:cubicBezTo>
                <a:lnTo>
                  <a:pt x="114598" y="93762"/>
                </a:lnTo>
                <a:cubicBezTo>
                  <a:pt x="114598" y="82215"/>
                  <a:pt x="110257" y="71667"/>
                  <a:pt x="103116" y="63680"/>
                </a:cubicBezTo>
                <a:cubicBezTo>
                  <a:pt x="105656" y="62920"/>
                  <a:pt x="108347" y="62508"/>
                  <a:pt x="111125" y="62508"/>
                </a:cubicBezTo>
                <a:cubicBezTo>
                  <a:pt x="126470" y="62508"/>
                  <a:pt x="138906" y="74944"/>
                  <a:pt x="138906" y="90289"/>
                </a:cubicBezTo>
                <a:lnTo>
                  <a:pt x="138906" y="97234"/>
                </a:lnTo>
                <a:cubicBezTo>
                  <a:pt x="138906" y="101076"/>
                  <a:pt x="135803" y="104180"/>
                  <a:pt x="131961" y="104180"/>
                </a:cubicBezTo>
                <a:lnTo>
                  <a:pt x="113143" y="104180"/>
                </a:lnTo>
                <a:close/>
                <a:moveTo>
                  <a:pt x="102443" y="34727"/>
                </a:moveTo>
                <a:cubicBezTo>
                  <a:pt x="102443" y="26102"/>
                  <a:pt x="109446" y="19100"/>
                  <a:pt x="118070" y="19100"/>
                </a:cubicBezTo>
                <a:cubicBezTo>
                  <a:pt x="126695" y="19100"/>
                  <a:pt x="133697" y="26102"/>
                  <a:pt x="133697" y="34727"/>
                </a:cubicBezTo>
                <a:cubicBezTo>
                  <a:pt x="133697" y="43351"/>
                  <a:pt x="126695" y="50354"/>
                  <a:pt x="118070" y="50354"/>
                </a:cubicBezTo>
                <a:cubicBezTo>
                  <a:pt x="109446" y="50354"/>
                  <a:pt x="102443" y="43351"/>
                  <a:pt x="102443" y="34727"/>
                </a:cubicBezTo>
                <a:close/>
                <a:moveTo>
                  <a:pt x="34727" y="93762"/>
                </a:moveTo>
                <a:cubicBezTo>
                  <a:pt x="34727" y="74575"/>
                  <a:pt x="50267" y="59035"/>
                  <a:pt x="69453" y="59035"/>
                </a:cubicBezTo>
                <a:cubicBezTo>
                  <a:pt x="88640" y="59035"/>
                  <a:pt x="104180" y="74575"/>
                  <a:pt x="104180" y="93762"/>
                </a:cubicBezTo>
                <a:lnTo>
                  <a:pt x="104180" y="97234"/>
                </a:lnTo>
                <a:cubicBezTo>
                  <a:pt x="104180" y="101076"/>
                  <a:pt x="101076" y="104180"/>
                  <a:pt x="97234" y="104180"/>
                </a:cubicBezTo>
                <a:lnTo>
                  <a:pt x="41672" y="104180"/>
                </a:lnTo>
                <a:cubicBezTo>
                  <a:pt x="37830" y="104180"/>
                  <a:pt x="34727" y="101076"/>
                  <a:pt x="34727" y="97234"/>
                </a:cubicBezTo>
                <a:lnTo>
                  <a:pt x="34727" y="9376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897688" y="1960563"/>
            <a:ext cx="142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Mapping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97688" y="2262188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and map key decision-makers across London HQ and operational hubs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405563" y="2674938"/>
            <a:ext cx="5270500" cy="762000"/>
          </a:xfrm>
          <a:custGeom>
            <a:avLst/>
            <a:gdLst/>
            <a:ahLst/>
            <a:cxnLst/>
            <a:rect l="l" t="t" r="r" b="b"/>
            <a:pathLst>
              <a:path w="5270500" h="762000">
                <a:moveTo>
                  <a:pt x="31750" y="0"/>
                </a:moveTo>
                <a:lnTo>
                  <a:pt x="5207003" y="0"/>
                </a:lnTo>
                <a:cubicBezTo>
                  <a:pt x="5242071" y="0"/>
                  <a:pt x="5270500" y="28429"/>
                  <a:pt x="5270500" y="63497"/>
                </a:cubicBezTo>
                <a:lnTo>
                  <a:pt x="5270500" y="698503"/>
                </a:lnTo>
                <a:cubicBezTo>
                  <a:pt x="5270500" y="733571"/>
                  <a:pt x="5242071" y="762000"/>
                  <a:pt x="5207003" y="762000"/>
                </a:cubicBezTo>
                <a:lnTo>
                  <a:pt x="31750" y="762000"/>
                </a:lnTo>
                <a:cubicBezTo>
                  <a:pt x="14215" y="762000"/>
                  <a:pt x="0" y="747785"/>
                  <a:pt x="0" y="73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6405563" y="2674938"/>
            <a:ext cx="31750" cy="762000"/>
          </a:xfrm>
          <a:custGeom>
            <a:avLst/>
            <a:gdLst/>
            <a:ahLst/>
            <a:cxnLst/>
            <a:rect l="l" t="t" r="r" b="b"/>
            <a:pathLst>
              <a:path w="31750" h="762000">
                <a:moveTo>
                  <a:pt x="31750" y="0"/>
                </a:moveTo>
                <a:lnTo>
                  <a:pt x="31750" y="0"/>
                </a:lnTo>
                <a:lnTo>
                  <a:pt x="31750" y="762000"/>
                </a:lnTo>
                <a:lnTo>
                  <a:pt x="31750" y="762000"/>
                </a:lnTo>
                <a:cubicBezTo>
                  <a:pt x="14227" y="762000"/>
                  <a:pt x="0" y="747773"/>
                  <a:pt x="0" y="73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Shape 30"/>
          <p:cNvSpPr/>
          <p:nvPr/>
        </p:nvSpPr>
        <p:spPr>
          <a:xfrm>
            <a:off x="6548438" y="28019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628805" y="287337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27781" y="0"/>
                </a:moveTo>
                <a:cubicBezTo>
                  <a:pt x="31623" y="0"/>
                  <a:pt x="34727" y="3104"/>
                  <a:pt x="34727" y="6945"/>
                </a:cubicBezTo>
                <a:lnTo>
                  <a:pt x="34727" y="13891"/>
                </a:lnTo>
                <a:lnTo>
                  <a:pt x="62508" y="13891"/>
                </a:lnTo>
                <a:lnTo>
                  <a:pt x="62508" y="6945"/>
                </a:lnTo>
                <a:cubicBezTo>
                  <a:pt x="62508" y="3104"/>
                  <a:pt x="65611" y="0"/>
                  <a:pt x="69453" y="0"/>
                </a:cubicBezTo>
                <a:cubicBezTo>
                  <a:pt x="73295" y="0"/>
                  <a:pt x="76398" y="3104"/>
                  <a:pt x="76398" y="6945"/>
                </a:cubicBezTo>
                <a:lnTo>
                  <a:pt x="76398" y="13891"/>
                </a:lnTo>
                <a:lnTo>
                  <a:pt x="83344" y="13891"/>
                </a:lnTo>
                <a:cubicBezTo>
                  <a:pt x="91005" y="13891"/>
                  <a:pt x="97234" y="20120"/>
                  <a:pt x="97234" y="27781"/>
                </a:cubicBezTo>
                <a:lnTo>
                  <a:pt x="97234" y="90289"/>
                </a:lnTo>
                <a:cubicBezTo>
                  <a:pt x="97234" y="97951"/>
                  <a:pt x="91005" y="104180"/>
                  <a:pt x="83344" y="104180"/>
                </a:cubicBezTo>
                <a:lnTo>
                  <a:pt x="13891" y="104180"/>
                </a:lnTo>
                <a:cubicBezTo>
                  <a:pt x="6229" y="104180"/>
                  <a:pt x="0" y="97951"/>
                  <a:pt x="0" y="90289"/>
                </a:cubicBezTo>
                <a:lnTo>
                  <a:pt x="0" y="27781"/>
                </a:lnTo>
                <a:cubicBezTo>
                  <a:pt x="0" y="20120"/>
                  <a:pt x="6229" y="13891"/>
                  <a:pt x="13891" y="13891"/>
                </a:cubicBezTo>
                <a:lnTo>
                  <a:pt x="20836" y="13891"/>
                </a:lnTo>
                <a:lnTo>
                  <a:pt x="20836" y="6945"/>
                </a:lnTo>
                <a:cubicBezTo>
                  <a:pt x="20836" y="3104"/>
                  <a:pt x="23940" y="0"/>
                  <a:pt x="27781" y="0"/>
                </a:cubicBezTo>
                <a:close/>
                <a:moveTo>
                  <a:pt x="13891" y="52090"/>
                </a:moveTo>
                <a:lnTo>
                  <a:pt x="13891" y="59035"/>
                </a:lnTo>
                <a:cubicBezTo>
                  <a:pt x="13891" y="60945"/>
                  <a:pt x="15453" y="62508"/>
                  <a:pt x="17363" y="62508"/>
                </a:cubicBezTo>
                <a:lnTo>
                  <a:pt x="24309" y="62508"/>
                </a:lnTo>
                <a:cubicBezTo>
                  <a:pt x="26219" y="62508"/>
                  <a:pt x="27781" y="60945"/>
                  <a:pt x="27781" y="59035"/>
                </a:cubicBezTo>
                <a:lnTo>
                  <a:pt x="27781" y="52090"/>
                </a:lnTo>
                <a:cubicBezTo>
                  <a:pt x="27781" y="50180"/>
                  <a:pt x="26219" y="48617"/>
                  <a:pt x="24309" y="48617"/>
                </a:cubicBezTo>
                <a:lnTo>
                  <a:pt x="17363" y="48617"/>
                </a:lnTo>
                <a:cubicBezTo>
                  <a:pt x="15453" y="48617"/>
                  <a:pt x="13891" y="50180"/>
                  <a:pt x="13891" y="52090"/>
                </a:cubicBezTo>
                <a:close/>
                <a:moveTo>
                  <a:pt x="41672" y="52090"/>
                </a:moveTo>
                <a:lnTo>
                  <a:pt x="41672" y="59035"/>
                </a:lnTo>
                <a:cubicBezTo>
                  <a:pt x="41672" y="60945"/>
                  <a:pt x="43235" y="62508"/>
                  <a:pt x="45145" y="62508"/>
                </a:cubicBezTo>
                <a:lnTo>
                  <a:pt x="52090" y="62508"/>
                </a:lnTo>
                <a:cubicBezTo>
                  <a:pt x="54000" y="62508"/>
                  <a:pt x="55563" y="60945"/>
                  <a:pt x="55563" y="59035"/>
                </a:cubicBezTo>
                <a:lnTo>
                  <a:pt x="55563" y="52090"/>
                </a:lnTo>
                <a:cubicBezTo>
                  <a:pt x="55563" y="50180"/>
                  <a:pt x="54000" y="48617"/>
                  <a:pt x="52090" y="48617"/>
                </a:cubicBezTo>
                <a:lnTo>
                  <a:pt x="45145" y="48617"/>
                </a:lnTo>
                <a:cubicBezTo>
                  <a:pt x="43235" y="48617"/>
                  <a:pt x="41672" y="50180"/>
                  <a:pt x="41672" y="52090"/>
                </a:cubicBezTo>
                <a:close/>
                <a:moveTo>
                  <a:pt x="72926" y="48617"/>
                </a:moveTo>
                <a:cubicBezTo>
                  <a:pt x="71016" y="48617"/>
                  <a:pt x="69453" y="50180"/>
                  <a:pt x="69453" y="52090"/>
                </a:cubicBezTo>
                <a:lnTo>
                  <a:pt x="69453" y="59035"/>
                </a:lnTo>
                <a:cubicBezTo>
                  <a:pt x="69453" y="60945"/>
                  <a:pt x="71016" y="62508"/>
                  <a:pt x="72926" y="62508"/>
                </a:cubicBezTo>
                <a:lnTo>
                  <a:pt x="79871" y="62508"/>
                </a:lnTo>
                <a:cubicBezTo>
                  <a:pt x="81781" y="62508"/>
                  <a:pt x="83344" y="60945"/>
                  <a:pt x="83344" y="59035"/>
                </a:cubicBezTo>
                <a:lnTo>
                  <a:pt x="83344" y="52090"/>
                </a:lnTo>
                <a:cubicBezTo>
                  <a:pt x="83344" y="50180"/>
                  <a:pt x="81781" y="48617"/>
                  <a:pt x="79871" y="48617"/>
                </a:cubicBezTo>
                <a:lnTo>
                  <a:pt x="72926" y="48617"/>
                </a:lnTo>
                <a:close/>
                <a:moveTo>
                  <a:pt x="13891" y="79871"/>
                </a:moveTo>
                <a:lnTo>
                  <a:pt x="13891" y="86816"/>
                </a:lnTo>
                <a:cubicBezTo>
                  <a:pt x="13891" y="88726"/>
                  <a:pt x="15453" y="90289"/>
                  <a:pt x="17363" y="90289"/>
                </a:cubicBezTo>
                <a:lnTo>
                  <a:pt x="24309" y="90289"/>
                </a:lnTo>
                <a:cubicBezTo>
                  <a:pt x="26219" y="90289"/>
                  <a:pt x="27781" y="88726"/>
                  <a:pt x="27781" y="86816"/>
                </a:cubicBezTo>
                <a:lnTo>
                  <a:pt x="27781" y="79871"/>
                </a:lnTo>
                <a:cubicBezTo>
                  <a:pt x="27781" y="77961"/>
                  <a:pt x="26219" y="76398"/>
                  <a:pt x="24309" y="76398"/>
                </a:cubicBezTo>
                <a:lnTo>
                  <a:pt x="17363" y="76398"/>
                </a:lnTo>
                <a:cubicBezTo>
                  <a:pt x="15453" y="76398"/>
                  <a:pt x="13891" y="77961"/>
                  <a:pt x="13891" y="79871"/>
                </a:cubicBezTo>
                <a:close/>
                <a:moveTo>
                  <a:pt x="45145" y="76398"/>
                </a:moveTo>
                <a:cubicBezTo>
                  <a:pt x="43235" y="76398"/>
                  <a:pt x="41672" y="77961"/>
                  <a:pt x="41672" y="79871"/>
                </a:cubicBezTo>
                <a:lnTo>
                  <a:pt x="41672" y="86816"/>
                </a:lnTo>
                <a:cubicBezTo>
                  <a:pt x="41672" y="88726"/>
                  <a:pt x="43235" y="90289"/>
                  <a:pt x="45145" y="90289"/>
                </a:cubicBezTo>
                <a:lnTo>
                  <a:pt x="52090" y="90289"/>
                </a:lnTo>
                <a:cubicBezTo>
                  <a:pt x="54000" y="90289"/>
                  <a:pt x="55563" y="88726"/>
                  <a:pt x="55563" y="86816"/>
                </a:cubicBezTo>
                <a:lnTo>
                  <a:pt x="55563" y="79871"/>
                </a:lnTo>
                <a:cubicBezTo>
                  <a:pt x="55563" y="77961"/>
                  <a:pt x="54000" y="76398"/>
                  <a:pt x="52090" y="76398"/>
                </a:cubicBezTo>
                <a:lnTo>
                  <a:pt x="45145" y="76398"/>
                </a:lnTo>
                <a:close/>
                <a:moveTo>
                  <a:pt x="69453" y="79871"/>
                </a:moveTo>
                <a:lnTo>
                  <a:pt x="69453" y="86816"/>
                </a:lnTo>
                <a:cubicBezTo>
                  <a:pt x="69453" y="88726"/>
                  <a:pt x="71016" y="90289"/>
                  <a:pt x="72926" y="90289"/>
                </a:cubicBezTo>
                <a:lnTo>
                  <a:pt x="79871" y="90289"/>
                </a:lnTo>
                <a:cubicBezTo>
                  <a:pt x="81781" y="90289"/>
                  <a:pt x="83344" y="88726"/>
                  <a:pt x="83344" y="86816"/>
                </a:cubicBezTo>
                <a:lnTo>
                  <a:pt x="83344" y="79871"/>
                </a:lnTo>
                <a:cubicBezTo>
                  <a:pt x="83344" y="77961"/>
                  <a:pt x="81781" y="76398"/>
                  <a:pt x="79871" y="76398"/>
                </a:cubicBezTo>
                <a:lnTo>
                  <a:pt x="72926" y="76398"/>
                </a:lnTo>
                <a:cubicBezTo>
                  <a:pt x="71016" y="76398"/>
                  <a:pt x="69453" y="77961"/>
                  <a:pt x="69453" y="7987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6897688" y="2817813"/>
            <a:ext cx="146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Workshop Scheduling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897688" y="3119438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discovery workshops for workflow automation and hybrid connectivity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05563" y="3532188"/>
            <a:ext cx="5270500" cy="762000"/>
          </a:xfrm>
          <a:custGeom>
            <a:avLst/>
            <a:gdLst/>
            <a:ahLst/>
            <a:cxnLst/>
            <a:rect l="l" t="t" r="r" b="b"/>
            <a:pathLst>
              <a:path w="5270500" h="762000">
                <a:moveTo>
                  <a:pt x="31750" y="0"/>
                </a:moveTo>
                <a:lnTo>
                  <a:pt x="5207003" y="0"/>
                </a:lnTo>
                <a:cubicBezTo>
                  <a:pt x="5242071" y="0"/>
                  <a:pt x="5270500" y="28429"/>
                  <a:pt x="5270500" y="63497"/>
                </a:cubicBezTo>
                <a:lnTo>
                  <a:pt x="5270500" y="698503"/>
                </a:lnTo>
                <a:cubicBezTo>
                  <a:pt x="5270500" y="733571"/>
                  <a:pt x="5242071" y="762000"/>
                  <a:pt x="5207003" y="762000"/>
                </a:cubicBezTo>
                <a:lnTo>
                  <a:pt x="31750" y="762000"/>
                </a:lnTo>
                <a:cubicBezTo>
                  <a:pt x="14215" y="762000"/>
                  <a:pt x="0" y="747785"/>
                  <a:pt x="0" y="73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>
            <a:off x="6405563" y="3532188"/>
            <a:ext cx="31750" cy="762000"/>
          </a:xfrm>
          <a:custGeom>
            <a:avLst/>
            <a:gdLst/>
            <a:ahLst/>
            <a:cxnLst/>
            <a:rect l="l" t="t" r="r" b="b"/>
            <a:pathLst>
              <a:path w="31750" h="762000">
                <a:moveTo>
                  <a:pt x="31750" y="0"/>
                </a:moveTo>
                <a:lnTo>
                  <a:pt x="31750" y="0"/>
                </a:lnTo>
                <a:lnTo>
                  <a:pt x="31750" y="762000"/>
                </a:lnTo>
                <a:lnTo>
                  <a:pt x="31750" y="762000"/>
                </a:lnTo>
                <a:cubicBezTo>
                  <a:pt x="14227" y="762000"/>
                  <a:pt x="0" y="747773"/>
                  <a:pt x="0" y="730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Shape 36"/>
          <p:cNvSpPr/>
          <p:nvPr/>
        </p:nvSpPr>
        <p:spPr>
          <a:xfrm>
            <a:off x="6548438" y="365918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0"/>
                </a:moveTo>
                <a:lnTo>
                  <a:pt x="222250" y="0"/>
                </a:lnTo>
                <a:cubicBezTo>
                  <a:pt x="239773" y="0"/>
                  <a:pt x="254000" y="14227"/>
                  <a:pt x="254000" y="31750"/>
                </a:cubicBezTo>
                <a:lnTo>
                  <a:pt x="254000" y="222250"/>
                </a:lnTo>
                <a:cubicBezTo>
                  <a:pt x="254000" y="239773"/>
                  <a:pt x="239773" y="254000"/>
                  <a:pt x="222250" y="254000"/>
                </a:cubicBezTo>
                <a:lnTo>
                  <a:pt x="31750" y="254000"/>
                </a:lnTo>
                <a:cubicBezTo>
                  <a:pt x="14227" y="254000"/>
                  <a:pt x="0" y="239773"/>
                  <a:pt x="0" y="222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Shape 37"/>
          <p:cNvSpPr/>
          <p:nvPr/>
        </p:nvSpPr>
        <p:spPr>
          <a:xfrm>
            <a:off x="6628805" y="373062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62508" y="0"/>
                </a:moveTo>
                <a:lnTo>
                  <a:pt x="27781" y="0"/>
                </a:lnTo>
                <a:cubicBezTo>
                  <a:pt x="23940" y="0"/>
                  <a:pt x="20836" y="3104"/>
                  <a:pt x="20836" y="6945"/>
                </a:cubicBezTo>
                <a:cubicBezTo>
                  <a:pt x="20836" y="10787"/>
                  <a:pt x="23940" y="13891"/>
                  <a:pt x="27781" y="13891"/>
                </a:cubicBezTo>
                <a:lnTo>
                  <a:pt x="27781" y="46772"/>
                </a:lnTo>
                <a:lnTo>
                  <a:pt x="1628" y="92525"/>
                </a:lnTo>
                <a:cubicBezTo>
                  <a:pt x="564" y="94413"/>
                  <a:pt x="0" y="96518"/>
                  <a:pt x="0" y="98689"/>
                </a:cubicBezTo>
                <a:cubicBezTo>
                  <a:pt x="0" y="105569"/>
                  <a:pt x="5556" y="111125"/>
                  <a:pt x="12436" y="111125"/>
                </a:cubicBezTo>
                <a:lnTo>
                  <a:pt x="84798" y="111125"/>
                </a:lnTo>
                <a:cubicBezTo>
                  <a:pt x="91656" y="111125"/>
                  <a:pt x="97234" y="105569"/>
                  <a:pt x="97234" y="98689"/>
                </a:cubicBezTo>
                <a:cubicBezTo>
                  <a:pt x="97234" y="96518"/>
                  <a:pt x="96670" y="94391"/>
                  <a:pt x="95607" y="92525"/>
                </a:cubicBezTo>
                <a:lnTo>
                  <a:pt x="69453" y="46772"/>
                </a:lnTo>
                <a:lnTo>
                  <a:pt x="69453" y="13891"/>
                </a:lnTo>
                <a:cubicBezTo>
                  <a:pt x="73295" y="13891"/>
                  <a:pt x="76398" y="10787"/>
                  <a:pt x="76398" y="6945"/>
                </a:cubicBezTo>
                <a:cubicBezTo>
                  <a:pt x="76398" y="3104"/>
                  <a:pt x="73295" y="0"/>
                  <a:pt x="69453" y="0"/>
                </a:cubicBezTo>
                <a:lnTo>
                  <a:pt x="62508" y="0"/>
                </a:lnTo>
                <a:close/>
                <a:moveTo>
                  <a:pt x="41672" y="46772"/>
                </a:moveTo>
                <a:lnTo>
                  <a:pt x="41672" y="13891"/>
                </a:lnTo>
                <a:lnTo>
                  <a:pt x="55563" y="13891"/>
                </a:lnTo>
                <a:lnTo>
                  <a:pt x="55563" y="46772"/>
                </a:lnTo>
                <a:cubicBezTo>
                  <a:pt x="55563" y="49181"/>
                  <a:pt x="56192" y="51569"/>
                  <a:pt x="57386" y="53674"/>
                </a:cubicBezTo>
                <a:lnTo>
                  <a:pt x="66415" y="69453"/>
                </a:lnTo>
                <a:lnTo>
                  <a:pt x="30820" y="69453"/>
                </a:lnTo>
                <a:lnTo>
                  <a:pt x="39849" y="53674"/>
                </a:lnTo>
                <a:cubicBezTo>
                  <a:pt x="41042" y="51569"/>
                  <a:pt x="41672" y="49203"/>
                  <a:pt x="41672" y="467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6897688" y="3675063"/>
            <a:ext cx="88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PoC Scoping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897688" y="3976687"/>
            <a:ext cx="471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proof-of-concept scope for claims automation or connectivity blueprint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195219" y="4655344"/>
            <a:ext cx="5675313" cy="960438"/>
          </a:xfrm>
          <a:custGeom>
            <a:avLst/>
            <a:gdLst/>
            <a:ahLst/>
            <a:cxnLst/>
            <a:rect l="l" t="t" r="r" b="b"/>
            <a:pathLst>
              <a:path w="5675313" h="960438">
                <a:moveTo>
                  <a:pt x="95247" y="0"/>
                </a:moveTo>
                <a:lnTo>
                  <a:pt x="5580066" y="0"/>
                </a:lnTo>
                <a:cubicBezTo>
                  <a:pt x="5632669" y="0"/>
                  <a:pt x="5675313" y="42643"/>
                  <a:pt x="5675313" y="95247"/>
                </a:cubicBezTo>
                <a:lnTo>
                  <a:pt x="5675313" y="865191"/>
                </a:lnTo>
                <a:cubicBezTo>
                  <a:pt x="5675313" y="917794"/>
                  <a:pt x="5632669" y="960438"/>
                  <a:pt x="5580066" y="960438"/>
                </a:cubicBezTo>
                <a:lnTo>
                  <a:pt x="95247" y="960438"/>
                </a:lnTo>
                <a:cubicBezTo>
                  <a:pt x="42643" y="960438"/>
                  <a:pt x="0" y="917794"/>
                  <a:pt x="0" y="865191"/>
                </a:cubicBezTo>
                <a:lnTo>
                  <a:pt x="0" y="95247"/>
                </a:lnTo>
                <a:cubicBezTo>
                  <a:pt x="0" y="42679"/>
                  <a:pt x="42679" y="0"/>
                  <a:pt x="95247" y="0"/>
                </a:cubicBezTo>
                <a:close/>
              </a:path>
            </a:pathLst>
          </a:custGeom>
          <a:solidFill>
            <a:srgbClr val="1E3A5F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1"/>
          <p:cNvSpPr/>
          <p:nvPr/>
        </p:nvSpPr>
        <p:spPr>
          <a:xfrm>
            <a:off x="6357938" y="491331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222250" y="0"/>
                </a:moveTo>
                <a:lnTo>
                  <a:pt x="222250" y="0"/>
                </a:lnTo>
                <a:cubicBezTo>
                  <a:pt x="344913" y="0"/>
                  <a:pt x="444500" y="99587"/>
                  <a:pt x="444500" y="222250"/>
                </a:cubicBezTo>
                <a:lnTo>
                  <a:pt x="444500" y="222250"/>
                </a:lnTo>
                <a:cubicBezTo>
                  <a:pt x="444500" y="344913"/>
                  <a:pt x="344913" y="444500"/>
                  <a:pt x="222250" y="444500"/>
                </a:cubicBezTo>
                <a:lnTo>
                  <a:pt x="222250" y="444500"/>
                </a:lnTo>
                <a:cubicBezTo>
                  <a:pt x="99587" y="444500"/>
                  <a:pt x="0" y="344913"/>
                  <a:pt x="0" y="222250"/>
                </a:cubicBezTo>
                <a:lnTo>
                  <a:pt x="0" y="222250"/>
                </a:lnTo>
                <a:cubicBezTo>
                  <a:pt x="0" y="99587"/>
                  <a:pt x="99587" y="0"/>
                  <a:pt x="22225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6484938" y="50403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/>
          <p:nvPr/>
        </p:nvSpPr>
        <p:spPr>
          <a:xfrm>
            <a:off x="6929438" y="4818063"/>
            <a:ext cx="4857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8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Positioning Summary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6929438" y="5072063"/>
            <a:ext cx="4841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Aviva's "industrialise AI" ambition while ensuring </a:t>
            </a:r>
            <a:r>
              <a:rPr lang="en-US" sz="10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resilient hybrid infrastructure</a:t>
            </a:r>
            <a:r>
              <a:rPr lang="en-US" sz="10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—making the hybrid estate "boringly reliable" as they scale.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17500" y="6510735"/>
            <a:ext cx="242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Aviva Account Planning Strategy | FY2025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9932293" y="6399610"/>
            <a:ext cx="1944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2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CONFIDENTIAL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940230" y="6621860"/>
            <a:ext cx="193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Sales &amp; GTM Playbook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1942</Words>
  <Application>Microsoft Office PowerPoint</Application>
  <PresentationFormat>Widescreen</PresentationFormat>
  <Paragraphs>398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Aviva Account Planning Strategy</dc:title>
  <dc:subject>Aviva Account Planning Strategy</dc:subject>
  <dc:creator>Kimi</dc:creator>
  <cp:lastModifiedBy>Andrew McCreath</cp:lastModifiedBy>
  <cp:revision>2</cp:revision>
  <dcterms:created xsi:type="dcterms:W3CDTF">2026-01-29T02:14:34Z</dcterms:created>
  <dcterms:modified xsi:type="dcterms:W3CDTF">2026-01-29T02:16:37Z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{"Label":"Aviva Account Planning Strategy","ContentProducer":"001191110108MACG2KBH8F10000","ProduceID":"19c0783f-5992-8ad5-8000-00005cb638b7","ReservedCode1":"","ContentPropagator":"001191110108MACG2KBH8F20000","PropagateID":"19c0783f-5992-8ad5-8000-00005cb638b7","ReservedCode2":""}</vt:lpwstr>
  </property>
</Properties>
</file>