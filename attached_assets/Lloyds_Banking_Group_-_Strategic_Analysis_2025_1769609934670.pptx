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Liter" panose="020B0604020202020204" charset="0"/>
      <p:regular r:id="rId15"/>
    </p:embeddedFont>
    <p:embeddedFont>
      <p:font typeface="Quattrocento Sans" panose="020B0502050000020003" pitchFamily="3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138"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McCreath" userId="fdec15952e1fd74d" providerId="LiveId" clId="{0C0AAE25-83B5-440A-972E-152ACEA1852A}"/>
    <pc:docChg chg="undo custSel modSld">
      <pc:chgData name="Andrew McCreath" userId="fdec15952e1fd74d" providerId="LiveId" clId="{0C0AAE25-83B5-440A-972E-152ACEA1852A}" dt="2026-01-28T12:31:01.253" v="26" actId="1076"/>
      <pc:docMkLst>
        <pc:docMk/>
      </pc:docMkLst>
      <pc:sldChg chg="delSp modSp mod">
        <pc:chgData name="Andrew McCreath" userId="fdec15952e1fd74d" providerId="LiveId" clId="{0C0AAE25-83B5-440A-972E-152ACEA1852A}" dt="2026-01-28T12:31:01.253" v="26" actId="1076"/>
        <pc:sldMkLst>
          <pc:docMk/>
          <pc:sldMk cId="0" sldId="256"/>
        </pc:sldMkLst>
        <pc:spChg chg="mod">
          <ac:chgData name="Andrew McCreath" userId="fdec15952e1fd74d" providerId="LiveId" clId="{0C0AAE25-83B5-440A-972E-152ACEA1852A}" dt="2026-01-28T12:31:01.253" v="26" actId="1076"/>
          <ac:spMkLst>
            <pc:docMk/>
            <pc:sldMk cId="0" sldId="256"/>
            <ac:spMk id="3" creationId="{00000000-0000-0000-0000-000000000000}"/>
          </ac:spMkLst>
        </pc:spChg>
        <pc:picChg chg="del">
          <ac:chgData name="Andrew McCreath" userId="fdec15952e1fd74d" providerId="LiveId" clId="{0C0AAE25-83B5-440A-972E-152ACEA1852A}" dt="2026-01-28T12:30:57.474" v="25" actId="478"/>
          <ac:picMkLst>
            <pc:docMk/>
            <pc:sldMk cId="0" sldId="256"/>
            <ac:picMk id="2" creationId="{00000000-0000-0000-0000-000000000000}"/>
          </ac:picMkLst>
        </pc:picChg>
      </pc:sldChg>
      <pc:sldChg chg="modSp mod">
        <pc:chgData name="Andrew McCreath" userId="fdec15952e1fd74d" providerId="LiveId" clId="{0C0AAE25-83B5-440A-972E-152ACEA1852A}" dt="2026-01-28T12:30:35.302" v="23" actId="1035"/>
        <pc:sldMkLst>
          <pc:docMk/>
          <pc:sldMk cId="0" sldId="263"/>
        </pc:sldMkLst>
        <pc:spChg chg="mod">
          <ac:chgData name="Andrew McCreath" userId="fdec15952e1fd74d" providerId="LiveId" clId="{0C0AAE25-83B5-440A-972E-152ACEA1852A}" dt="2026-01-28T12:30:11.378" v="12" actId="14100"/>
          <ac:spMkLst>
            <pc:docMk/>
            <pc:sldMk cId="0" sldId="263"/>
            <ac:spMk id="24" creationId="{00000000-0000-0000-0000-000000000000}"/>
          </ac:spMkLst>
        </pc:spChg>
        <pc:spChg chg="mod">
          <ac:chgData name="Andrew McCreath" userId="fdec15952e1fd74d" providerId="LiveId" clId="{0C0AAE25-83B5-440A-972E-152ACEA1852A}" dt="2026-01-28T12:30:11.378" v="12" actId="14100"/>
          <ac:spMkLst>
            <pc:docMk/>
            <pc:sldMk cId="0" sldId="263"/>
            <ac:spMk id="28" creationId="{00000000-0000-0000-0000-000000000000}"/>
          </ac:spMkLst>
        </pc:spChg>
        <pc:spChg chg="mod">
          <ac:chgData name="Andrew McCreath" userId="fdec15952e1fd74d" providerId="LiveId" clId="{0C0AAE25-83B5-440A-972E-152ACEA1852A}" dt="2026-01-28T12:30:18.258" v="13" actId="1076"/>
          <ac:spMkLst>
            <pc:docMk/>
            <pc:sldMk cId="0" sldId="263"/>
            <ac:spMk id="32" creationId="{00000000-0000-0000-0000-000000000000}"/>
          </ac:spMkLst>
        </pc:spChg>
        <pc:spChg chg="mod">
          <ac:chgData name="Andrew McCreath" userId="fdec15952e1fd74d" providerId="LiveId" clId="{0C0AAE25-83B5-440A-972E-152ACEA1852A}" dt="2026-01-28T12:30:18.258" v="13" actId="1076"/>
          <ac:spMkLst>
            <pc:docMk/>
            <pc:sldMk cId="0" sldId="263"/>
            <ac:spMk id="33" creationId="{00000000-0000-0000-0000-000000000000}"/>
          </ac:spMkLst>
        </pc:spChg>
        <pc:spChg chg="mod">
          <ac:chgData name="Andrew McCreath" userId="fdec15952e1fd74d" providerId="LiveId" clId="{0C0AAE25-83B5-440A-972E-152ACEA1852A}" dt="2026-01-28T12:30:18.258" v="13" actId="1076"/>
          <ac:spMkLst>
            <pc:docMk/>
            <pc:sldMk cId="0" sldId="263"/>
            <ac:spMk id="34" creationId="{00000000-0000-0000-0000-000000000000}"/>
          </ac:spMkLst>
        </pc:spChg>
        <pc:spChg chg="mod">
          <ac:chgData name="Andrew McCreath" userId="fdec15952e1fd74d" providerId="LiveId" clId="{0C0AAE25-83B5-440A-972E-152ACEA1852A}" dt="2026-01-28T12:30:18.258" v="13" actId="1076"/>
          <ac:spMkLst>
            <pc:docMk/>
            <pc:sldMk cId="0" sldId="263"/>
            <ac:spMk id="35" creationId="{00000000-0000-0000-0000-000000000000}"/>
          </ac:spMkLst>
        </pc:spChg>
        <pc:spChg chg="mod">
          <ac:chgData name="Andrew McCreath" userId="fdec15952e1fd74d" providerId="LiveId" clId="{0C0AAE25-83B5-440A-972E-152ACEA1852A}" dt="2026-01-28T12:30:18.258" v="13" actId="1076"/>
          <ac:spMkLst>
            <pc:docMk/>
            <pc:sldMk cId="0" sldId="263"/>
            <ac:spMk id="36" creationId="{00000000-0000-0000-0000-000000000000}"/>
          </ac:spMkLst>
        </pc:spChg>
        <pc:spChg chg="mod">
          <ac:chgData name="Andrew McCreath" userId="fdec15952e1fd74d" providerId="LiveId" clId="{0C0AAE25-83B5-440A-972E-152ACEA1852A}" dt="2026-01-28T12:30:18.258" v="13" actId="1076"/>
          <ac:spMkLst>
            <pc:docMk/>
            <pc:sldMk cId="0" sldId="263"/>
            <ac:spMk id="37" creationId="{00000000-0000-0000-0000-000000000000}"/>
          </ac:spMkLst>
        </pc:spChg>
        <pc:spChg chg="mod">
          <ac:chgData name="Andrew McCreath" userId="fdec15952e1fd74d" providerId="LiveId" clId="{0C0AAE25-83B5-440A-972E-152ACEA1852A}" dt="2026-01-28T12:30:18.258" v="13" actId="1076"/>
          <ac:spMkLst>
            <pc:docMk/>
            <pc:sldMk cId="0" sldId="263"/>
            <ac:spMk id="38" creationId="{00000000-0000-0000-0000-000000000000}"/>
          </ac:spMkLst>
        </pc:spChg>
        <pc:spChg chg="mod">
          <ac:chgData name="Andrew McCreath" userId="fdec15952e1fd74d" providerId="LiveId" clId="{0C0AAE25-83B5-440A-972E-152ACEA1852A}" dt="2026-01-28T12:30:18.258" v="13" actId="1076"/>
          <ac:spMkLst>
            <pc:docMk/>
            <pc:sldMk cId="0" sldId="263"/>
            <ac:spMk id="39" creationId="{00000000-0000-0000-0000-000000000000}"/>
          </ac:spMkLst>
        </pc:spChg>
        <pc:spChg chg="mod">
          <ac:chgData name="Andrew McCreath" userId="fdec15952e1fd74d" providerId="LiveId" clId="{0C0AAE25-83B5-440A-972E-152ACEA1852A}" dt="2026-01-28T12:30:24.800" v="16" actId="1076"/>
          <ac:spMkLst>
            <pc:docMk/>
            <pc:sldMk cId="0" sldId="263"/>
            <ac:spMk id="57" creationId="{00000000-0000-0000-0000-000000000000}"/>
          </ac:spMkLst>
        </pc:spChg>
        <pc:spChg chg="mod">
          <ac:chgData name="Andrew McCreath" userId="fdec15952e1fd74d" providerId="LiveId" clId="{0C0AAE25-83B5-440A-972E-152ACEA1852A}" dt="2026-01-28T12:30:35.302" v="23" actId="1035"/>
          <ac:spMkLst>
            <pc:docMk/>
            <pc:sldMk cId="0" sldId="263"/>
            <ac:spMk id="58" creationId="{00000000-0000-0000-0000-000000000000}"/>
          </ac:spMkLst>
        </pc:spChg>
        <pc:spChg chg="mod">
          <ac:chgData name="Andrew McCreath" userId="fdec15952e1fd74d" providerId="LiveId" clId="{0C0AAE25-83B5-440A-972E-152ACEA1852A}" dt="2026-01-28T12:30:35.302" v="23" actId="1035"/>
          <ac:spMkLst>
            <pc:docMk/>
            <pc:sldMk cId="0" sldId="263"/>
            <ac:spMk id="59" creationId="{00000000-0000-0000-0000-000000000000}"/>
          </ac:spMkLst>
        </pc:spChg>
      </pc:sldChg>
      <pc:sldChg chg="delSp modSp mod">
        <pc:chgData name="Andrew McCreath" userId="fdec15952e1fd74d" providerId="LiveId" clId="{0C0AAE25-83B5-440A-972E-152ACEA1852A}" dt="2026-01-28T12:29:29.313" v="11" actId="1076"/>
        <pc:sldMkLst>
          <pc:docMk/>
          <pc:sldMk cId="0" sldId="267"/>
        </pc:sldMkLst>
        <pc:spChg chg="mod">
          <ac:chgData name="Andrew McCreath" userId="fdec15952e1fd74d" providerId="LiveId" clId="{0C0AAE25-83B5-440A-972E-152ACEA1852A}" dt="2026-01-28T12:27:46.786" v="1" actId="1076"/>
          <ac:spMkLst>
            <pc:docMk/>
            <pc:sldMk cId="0" sldId="267"/>
            <ac:spMk id="3" creationId="{00000000-0000-0000-0000-000000000000}"/>
          </ac:spMkLst>
        </pc:spChg>
        <pc:spChg chg="mod modVis">
          <ac:chgData name="Andrew McCreath" userId="fdec15952e1fd74d" providerId="LiveId" clId="{0C0AAE25-83B5-440A-972E-152ACEA1852A}" dt="2026-01-28T12:29:10.146" v="7" actId="33935"/>
          <ac:spMkLst>
            <pc:docMk/>
            <pc:sldMk cId="0" sldId="267"/>
            <ac:spMk id="7" creationId="{00000000-0000-0000-0000-000000000000}"/>
          </ac:spMkLst>
        </pc:spChg>
        <pc:spChg chg="mod modVis">
          <ac:chgData name="Andrew McCreath" userId="fdec15952e1fd74d" providerId="LiveId" clId="{0C0AAE25-83B5-440A-972E-152ACEA1852A}" dt="2026-01-28T12:29:10.146" v="7" actId="33935"/>
          <ac:spMkLst>
            <pc:docMk/>
            <pc:sldMk cId="0" sldId="267"/>
            <ac:spMk id="27" creationId="{00000000-0000-0000-0000-000000000000}"/>
          </ac:spMkLst>
        </pc:spChg>
        <pc:spChg chg="mod modVis">
          <ac:chgData name="Andrew McCreath" userId="fdec15952e1fd74d" providerId="LiveId" clId="{0C0AAE25-83B5-440A-972E-152ACEA1852A}" dt="2026-01-28T12:29:10.146" v="7" actId="33935"/>
          <ac:spMkLst>
            <pc:docMk/>
            <pc:sldMk cId="0" sldId="267"/>
            <ac:spMk id="29" creationId="{00000000-0000-0000-0000-000000000000}"/>
          </ac:spMkLst>
        </pc:spChg>
        <pc:spChg chg="mod modVis">
          <ac:chgData name="Andrew McCreath" userId="fdec15952e1fd74d" providerId="LiveId" clId="{0C0AAE25-83B5-440A-972E-152ACEA1852A}" dt="2026-01-28T12:29:10.146" v="7" actId="33935"/>
          <ac:spMkLst>
            <pc:docMk/>
            <pc:sldMk cId="0" sldId="267"/>
            <ac:spMk id="30" creationId="{00000000-0000-0000-0000-000000000000}"/>
          </ac:spMkLst>
        </pc:spChg>
        <pc:spChg chg="mod modVis">
          <ac:chgData name="Andrew McCreath" userId="fdec15952e1fd74d" providerId="LiveId" clId="{0C0AAE25-83B5-440A-972E-152ACEA1852A}" dt="2026-01-28T12:29:10.146" v="7" actId="33935"/>
          <ac:spMkLst>
            <pc:docMk/>
            <pc:sldMk cId="0" sldId="267"/>
            <ac:spMk id="33" creationId="{00000000-0000-0000-0000-000000000000}"/>
          </ac:spMkLst>
        </pc:spChg>
        <pc:spChg chg="mod modVis">
          <ac:chgData name="Andrew McCreath" userId="fdec15952e1fd74d" providerId="LiveId" clId="{0C0AAE25-83B5-440A-972E-152ACEA1852A}" dt="2026-01-28T12:29:10.146" v="7" actId="33935"/>
          <ac:spMkLst>
            <pc:docMk/>
            <pc:sldMk cId="0" sldId="267"/>
            <ac:spMk id="36" creationId="{00000000-0000-0000-0000-000000000000}"/>
          </ac:spMkLst>
        </pc:spChg>
        <pc:spChg chg="mod modVis">
          <ac:chgData name="Andrew McCreath" userId="fdec15952e1fd74d" providerId="LiveId" clId="{0C0AAE25-83B5-440A-972E-152ACEA1852A}" dt="2026-01-28T12:29:10.146" v="7" actId="33935"/>
          <ac:spMkLst>
            <pc:docMk/>
            <pc:sldMk cId="0" sldId="267"/>
            <ac:spMk id="38" creationId="{00000000-0000-0000-0000-000000000000}"/>
          </ac:spMkLst>
        </pc:spChg>
        <pc:spChg chg="mod modVis">
          <ac:chgData name="Andrew McCreath" userId="fdec15952e1fd74d" providerId="LiveId" clId="{0C0AAE25-83B5-440A-972E-152ACEA1852A}" dt="2026-01-28T12:29:10.146" v="7" actId="33935"/>
          <ac:spMkLst>
            <pc:docMk/>
            <pc:sldMk cId="0" sldId="267"/>
            <ac:spMk id="39" creationId="{00000000-0000-0000-0000-000000000000}"/>
          </ac:spMkLst>
        </pc:spChg>
        <pc:spChg chg="mod modVis">
          <ac:chgData name="Andrew McCreath" userId="fdec15952e1fd74d" providerId="LiveId" clId="{0C0AAE25-83B5-440A-972E-152ACEA1852A}" dt="2026-01-28T12:29:10.146" v="7" actId="33935"/>
          <ac:spMkLst>
            <pc:docMk/>
            <pc:sldMk cId="0" sldId="267"/>
            <ac:spMk id="40" creationId="{00000000-0000-0000-0000-000000000000}"/>
          </ac:spMkLst>
        </pc:spChg>
        <pc:spChg chg="mod modVis">
          <ac:chgData name="Andrew McCreath" userId="fdec15952e1fd74d" providerId="LiveId" clId="{0C0AAE25-83B5-440A-972E-152ACEA1852A}" dt="2026-01-28T12:29:10.146" v="7" actId="33935"/>
          <ac:spMkLst>
            <pc:docMk/>
            <pc:sldMk cId="0" sldId="267"/>
            <ac:spMk id="42" creationId="{00000000-0000-0000-0000-000000000000}"/>
          </ac:spMkLst>
        </pc:spChg>
        <pc:spChg chg="mod">
          <ac:chgData name="Andrew McCreath" userId="fdec15952e1fd74d" providerId="LiveId" clId="{0C0AAE25-83B5-440A-972E-152ACEA1852A}" dt="2026-01-28T12:29:27.005" v="10" actId="1076"/>
          <ac:spMkLst>
            <pc:docMk/>
            <pc:sldMk cId="0" sldId="267"/>
            <ac:spMk id="45" creationId="{00000000-0000-0000-0000-000000000000}"/>
          </ac:spMkLst>
        </pc:spChg>
        <pc:spChg chg="mod modVis">
          <ac:chgData name="Andrew McCreath" userId="fdec15952e1fd74d" providerId="LiveId" clId="{0C0AAE25-83B5-440A-972E-152ACEA1852A}" dt="2026-01-28T12:29:29.313" v="11" actId="1076"/>
          <ac:spMkLst>
            <pc:docMk/>
            <pc:sldMk cId="0" sldId="267"/>
            <ac:spMk id="46" creationId="{00000000-0000-0000-0000-000000000000}"/>
          </ac:spMkLst>
        </pc:spChg>
        <pc:picChg chg="del mod modVis">
          <ac:chgData name="Andrew McCreath" userId="fdec15952e1fd74d" providerId="LiveId" clId="{0C0AAE25-83B5-440A-972E-152ACEA1852A}" dt="2026-01-28T12:29:05.113" v="6" actId="478"/>
          <ac:picMkLst>
            <pc:docMk/>
            <pc:sldMk cId="0" sldId="267"/>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269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006A4A">
                  <a:alpha val="90000"/>
                </a:srgbClr>
              </a:gs>
              <a:gs pos="50000">
                <a:srgbClr val="1A1D21">
                  <a:alpha val="85000"/>
                </a:srgbClr>
              </a:gs>
              <a:gs pos="100000">
                <a:srgbClr val="1A1D21">
                  <a:alpha val="95000"/>
                </a:srgbClr>
              </a:gs>
            </a:gsLst>
            <a:lin ang="2700000" scaled="1"/>
          </a:gradFill>
          <a:ln/>
        </p:spPr>
        <p:txBody>
          <a:bodyPr/>
          <a:lstStyle/>
          <a:p>
            <a:endParaRPr lang="en-GB"/>
          </a:p>
        </p:txBody>
      </p:sp>
      <p:sp>
        <p:nvSpPr>
          <p:cNvPr id="4" name="Shape 1"/>
          <p:cNvSpPr/>
          <p:nvPr/>
        </p:nvSpPr>
        <p:spPr>
          <a:xfrm>
            <a:off x="381000" y="38100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006A4A"/>
          </a:solidFill>
          <a:ln/>
        </p:spPr>
        <p:txBody>
          <a:bodyPr/>
          <a:lstStyle/>
          <a:p>
            <a:endParaRPr lang="en-GB"/>
          </a:p>
        </p:txBody>
      </p:sp>
      <p:sp>
        <p:nvSpPr>
          <p:cNvPr id="5" name="Shape 2"/>
          <p:cNvSpPr/>
          <p:nvPr/>
        </p:nvSpPr>
        <p:spPr>
          <a:xfrm>
            <a:off x="545306" y="542925"/>
            <a:ext cx="285750" cy="285750"/>
          </a:xfrm>
          <a:custGeom>
            <a:avLst/>
            <a:gdLst/>
            <a:ahLst/>
            <a:cxnLst/>
            <a:rect l="l" t="t" r="r" b="b"/>
            <a:pathLst>
              <a:path w="285750" h="285750">
                <a:moveTo>
                  <a:pt x="151749" y="11274"/>
                </a:moveTo>
                <a:cubicBezTo>
                  <a:pt x="146279" y="8148"/>
                  <a:pt x="139526" y="8148"/>
                  <a:pt x="134001" y="11274"/>
                </a:cubicBezTo>
                <a:lnTo>
                  <a:pt x="8985" y="82711"/>
                </a:lnTo>
                <a:cubicBezTo>
                  <a:pt x="1953" y="86730"/>
                  <a:pt x="-1507" y="94990"/>
                  <a:pt x="558" y="102803"/>
                </a:cubicBezTo>
                <a:cubicBezTo>
                  <a:pt x="2623" y="110617"/>
                  <a:pt x="9767" y="116086"/>
                  <a:pt x="17859" y="116086"/>
                </a:cubicBezTo>
                <a:lnTo>
                  <a:pt x="35719" y="116086"/>
                </a:lnTo>
                <a:lnTo>
                  <a:pt x="35719" y="232172"/>
                </a:lnTo>
                <a:lnTo>
                  <a:pt x="35719" y="232172"/>
                </a:lnTo>
                <a:lnTo>
                  <a:pt x="7144" y="253603"/>
                </a:lnTo>
                <a:cubicBezTo>
                  <a:pt x="2623" y="256952"/>
                  <a:pt x="0" y="262254"/>
                  <a:pt x="0" y="267891"/>
                </a:cubicBezTo>
                <a:cubicBezTo>
                  <a:pt x="0" y="277769"/>
                  <a:pt x="7981" y="285750"/>
                  <a:pt x="17859" y="285750"/>
                </a:cubicBezTo>
                <a:lnTo>
                  <a:pt x="267891" y="285750"/>
                </a:lnTo>
                <a:cubicBezTo>
                  <a:pt x="277769" y="285750"/>
                  <a:pt x="285750" y="277769"/>
                  <a:pt x="285750" y="267891"/>
                </a:cubicBezTo>
                <a:cubicBezTo>
                  <a:pt x="285750" y="262254"/>
                  <a:pt x="283127" y="256952"/>
                  <a:pt x="278606" y="253603"/>
                </a:cubicBezTo>
                <a:lnTo>
                  <a:pt x="250031" y="232172"/>
                </a:lnTo>
                <a:lnTo>
                  <a:pt x="250031" y="116086"/>
                </a:lnTo>
                <a:lnTo>
                  <a:pt x="267891" y="116086"/>
                </a:lnTo>
                <a:cubicBezTo>
                  <a:pt x="275983" y="116086"/>
                  <a:pt x="283071" y="110617"/>
                  <a:pt x="285136" y="102803"/>
                </a:cubicBezTo>
                <a:cubicBezTo>
                  <a:pt x="287201" y="94990"/>
                  <a:pt x="283741" y="86730"/>
                  <a:pt x="276709" y="82711"/>
                </a:cubicBezTo>
                <a:lnTo>
                  <a:pt x="151693" y="11274"/>
                </a:lnTo>
                <a:close/>
                <a:moveTo>
                  <a:pt x="223242" y="116086"/>
                </a:moveTo>
                <a:lnTo>
                  <a:pt x="223242" y="232172"/>
                </a:lnTo>
                <a:lnTo>
                  <a:pt x="187523" y="232172"/>
                </a:lnTo>
                <a:lnTo>
                  <a:pt x="187523" y="116086"/>
                </a:lnTo>
                <a:lnTo>
                  <a:pt x="223242" y="116086"/>
                </a:lnTo>
                <a:close/>
                <a:moveTo>
                  <a:pt x="160734" y="116086"/>
                </a:moveTo>
                <a:lnTo>
                  <a:pt x="160734" y="232172"/>
                </a:lnTo>
                <a:lnTo>
                  <a:pt x="125016" y="232172"/>
                </a:lnTo>
                <a:lnTo>
                  <a:pt x="125016" y="116086"/>
                </a:lnTo>
                <a:lnTo>
                  <a:pt x="160734" y="116086"/>
                </a:lnTo>
                <a:close/>
                <a:moveTo>
                  <a:pt x="98227" y="116086"/>
                </a:moveTo>
                <a:lnTo>
                  <a:pt x="98227" y="232172"/>
                </a:lnTo>
                <a:lnTo>
                  <a:pt x="62508" y="232172"/>
                </a:lnTo>
                <a:lnTo>
                  <a:pt x="62508" y="116086"/>
                </a:lnTo>
                <a:lnTo>
                  <a:pt x="98227" y="116086"/>
                </a:lnTo>
                <a:close/>
                <a:moveTo>
                  <a:pt x="142875" y="53578"/>
                </a:moveTo>
                <a:cubicBezTo>
                  <a:pt x="152732" y="53578"/>
                  <a:pt x="160734" y="61581"/>
                  <a:pt x="160734" y="71438"/>
                </a:cubicBezTo>
                <a:cubicBezTo>
                  <a:pt x="160734" y="81294"/>
                  <a:pt x="152732" y="89297"/>
                  <a:pt x="142875" y="89297"/>
                </a:cubicBezTo>
                <a:cubicBezTo>
                  <a:pt x="133018" y="89297"/>
                  <a:pt x="125016" y="81294"/>
                  <a:pt x="125016" y="71438"/>
                </a:cubicBezTo>
                <a:cubicBezTo>
                  <a:pt x="125016" y="61581"/>
                  <a:pt x="133018" y="53578"/>
                  <a:pt x="142875" y="53578"/>
                </a:cubicBezTo>
                <a:close/>
              </a:path>
            </a:pathLst>
          </a:custGeom>
          <a:solidFill>
            <a:srgbClr val="FFFFFF"/>
          </a:solidFill>
          <a:ln/>
        </p:spPr>
        <p:txBody>
          <a:bodyPr/>
          <a:lstStyle/>
          <a:p>
            <a:endParaRPr lang="en-GB"/>
          </a:p>
        </p:txBody>
      </p:sp>
      <p:sp>
        <p:nvSpPr>
          <p:cNvPr id="6" name="Text 3"/>
          <p:cNvSpPr/>
          <p:nvPr/>
        </p:nvSpPr>
        <p:spPr>
          <a:xfrm>
            <a:off x="1143000" y="514350"/>
            <a:ext cx="19240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Deep Research Deck</a:t>
            </a:r>
            <a:endParaRPr lang="en-US" sz="1600" dirty="0"/>
          </a:p>
        </p:txBody>
      </p:sp>
      <p:sp>
        <p:nvSpPr>
          <p:cNvPr id="7" name="Text 4"/>
          <p:cNvSpPr/>
          <p:nvPr/>
        </p:nvSpPr>
        <p:spPr>
          <a:xfrm>
            <a:off x="1143000" y="666750"/>
            <a:ext cx="19335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Strategic Business Analysis 2025</a:t>
            </a:r>
            <a:endParaRPr lang="en-US" sz="1600" dirty="0"/>
          </a:p>
        </p:txBody>
      </p:sp>
      <p:sp>
        <p:nvSpPr>
          <p:cNvPr id="8" name="Text 5"/>
          <p:cNvSpPr/>
          <p:nvPr/>
        </p:nvSpPr>
        <p:spPr>
          <a:xfrm>
            <a:off x="11104215" y="381000"/>
            <a:ext cx="704850" cy="152400"/>
          </a:xfrm>
          <a:prstGeom prst="rect">
            <a:avLst/>
          </a:prstGeom>
          <a:noFill/>
          <a:ln/>
        </p:spPr>
        <p:txBody>
          <a:bodyPr wrap="square" lIns="0" tIns="0" rIns="0" bIns="0" rtlCol="0" anchor="ctr"/>
          <a:lstStyle/>
          <a:p>
            <a:pPr algn="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January 2025</a:t>
            </a:r>
            <a:endParaRPr lang="en-US" sz="1600" dirty="0"/>
          </a:p>
        </p:txBody>
      </p:sp>
      <p:sp>
        <p:nvSpPr>
          <p:cNvPr id="9" name="Text 6"/>
          <p:cNvSpPr/>
          <p:nvPr/>
        </p:nvSpPr>
        <p:spPr>
          <a:xfrm>
            <a:off x="11094690" y="533400"/>
            <a:ext cx="714375" cy="190500"/>
          </a:xfrm>
          <a:prstGeom prst="rect">
            <a:avLst/>
          </a:prstGeom>
          <a:noFill/>
          <a:ln/>
        </p:spPr>
        <p:txBody>
          <a:bodyPr wrap="square" lIns="0" tIns="0" rIns="0" bIns="0" rtlCol="0" anchor="ctr"/>
          <a:lstStyle/>
          <a:p>
            <a:pPr algn="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LSE: LLOY</a:t>
            </a:r>
            <a:endParaRPr lang="en-US" sz="1600" dirty="0"/>
          </a:p>
        </p:txBody>
      </p:sp>
      <p:sp>
        <p:nvSpPr>
          <p:cNvPr id="10" name="Text 7"/>
          <p:cNvSpPr/>
          <p:nvPr/>
        </p:nvSpPr>
        <p:spPr>
          <a:xfrm>
            <a:off x="381000" y="2152650"/>
            <a:ext cx="11772900" cy="1714500"/>
          </a:xfrm>
          <a:prstGeom prst="rect">
            <a:avLst/>
          </a:prstGeom>
          <a:noFill/>
          <a:ln/>
        </p:spPr>
        <p:txBody>
          <a:bodyPr wrap="square" lIns="0" tIns="0" rIns="0" bIns="0" rtlCol="0" anchor="ctr"/>
          <a:lstStyle/>
          <a:p>
            <a:pPr>
              <a:lnSpc>
                <a:spcPct val="100000"/>
              </a:lnSpc>
            </a:pPr>
            <a:r>
              <a:rPr lang="en-US" sz="5400" b="1" dirty="0">
                <a:solidFill>
                  <a:srgbClr val="E0E2E5"/>
                </a:solidFill>
                <a:latin typeface="Liter" pitchFamily="34" charset="0"/>
                <a:ea typeface="Liter" pitchFamily="34" charset="-122"/>
                <a:cs typeface="Liter" pitchFamily="34" charset="-120"/>
              </a:rPr>
              <a:t>Lloyds Banking</a:t>
            </a:r>
            <a:endParaRPr lang="en-US" sz="1600" dirty="0"/>
          </a:p>
          <a:p>
            <a:pPr>
              <a:lnSpc>
                <a:spcPct val="100000"/>
              </a:lnSpc>
            </a:pPr>
            <a:r>
              <a:rPr lang="en-US" sz="5400" b="1" dirty="0">
                <a:solidFill>
                  <a:srgbClr val="C0A062"/>
                </a:solidFill>
                <a:latin typeface="Liter" pitchFamily="34" charset="0"/>
                <a:ea typeface="Liter" pitchFamily="34" charset="-122"/>
                <a:cs typeface="Liter" pitchFamily="34" charset="-120"/>
              </a:rPr>
              <a:t>Group plc</a:t>
            </a:r>
            <a:endParaRPr lang="en-US" sz="1600" dirty="0"/>
          </a:p>
        </p:txBody>
      </p:sp>
      <p:sp>
        <p:nvSpPr>
          <p:cNvPr id="11" name="Shape 8"/>
          <p:cNvSpPr/>
          <p:nvPr/>
        </p:nvSpPr>
        <p:spPr>
          <a:xfrm>
            <a:off x="381000" y="401955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0A062"/>
          </a:solidFill>
          <a:ln/>
        </p:spPr>
        <p:txBody>
          <a:bodyPr/>
          <a:lstStyle/>
          <a:p>
            <a:endParaRPr lang="en-GB"/>
          </a:p>
        </p:txBody>
      </p:sp>
      <p:sp>
        <p:nvSpPr>
          <p:cNvPr id="12" name="Text 9"/>
          <p:cNvSpPr/>
          <p:nvPr/>
        </p:nvSpPr>
        <p:spPr>
          <a:xfrm>
            <a:off x="381000" y="4286250"/>
            <a:ext cx="6515100" cy="304800"/>
          </a:xfrm>
          <a:prstGeom prst="rect">
            <a:avLst/>
          </a:prstGeom>
          <a:noFill/>
          <a:ln/>
        </p:spPr>
        <p:txBody>
          <a:bodyPr wrap="square" lIns="0" tIns="0" rIns="0" bIns="0" rtlCol="0" anchor="ctr"/>
          <a:lstStyle/>
          <a:p>
            <a:pPr>
              <a:lnSpc>
                <a:spcPct val="110000"/>
              </a:lnSpc>
            </a:pPr>
            <a:r>
              <a:rPr lang="en-US" sz="1800" dirty="0">
                <a:solidFill>
                  <a:srgbClr val="E0E2E5">
                    <a:alpha val="80000"/>
                  </a:srgbClr>
                </a:solidFill>
                <a:latin typeface="Quattrocento Sans" pitchFamily="34" charset="0"/>
                <a:ea typeface="Quattrocento Sans" pitchFamily="34" charset="-122"/>
                <a:cs typeface="Quattrocento Sans" pitchFamily="34" charset="-120"/>
              </a:rPr>
              <a:t>UK's Largest Digital Bank • £900bn Assets • 27M Customers</a:t>
            </a:r>
            <a:endParaRPr lang="en-US" sz="1600" dirty="0"/>
          </a:p>
        </p:txBody>
      </p:sp>
      <p:sp>
        <p:nvSpPr>
          <p:cNvPr id="13" name="Shape 10"/>
          <p:cNvSpPr/>
          <p:nvPr/>
        </p:nvSpPr>
        <p:spPr>
          <a:xfrm>
            <a:off x="400050" y="4933950"/>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006A4A"/>
          </a:solidFill>
          <a:ln/>
        </p:spPr>
        <p:txBody>
          <a:bodyPr/>
          <a:lstStyle/>
          <a:p>
            <a:endParaRPr lang="en-GB"/>
          </a:p>
        </p:txBody>
      </p:sp>
      <p:sp>
        <p:nvSpPr>
          <p:cNvPr id="14" name="Text 11"/>
          <p:cNvSpPr/>
          <p:nvPr/>
        </p:nvSpPr>
        <p:spPr>
          <a:xfrm>
            <a:off x="647700" y="4895850"/>
            <a:ext cx="1495425" cy="228600"/>
          </a:xfrm>
          <a:prstGeom prst="rect">
            <a:avLst/>
          </a:prstGeom>
          <a:noFill/>
          <a:ln/>
        </p:spPr>
        <p:txBody>
          <a:bodyPr wrap="square" lIns="0" tIns="0" rIns="0" bIns="0" rtlCol="0" anchor="ctr"/>
          <a:lstStyle/>
          <a:p>
            <a:pPr>
              <a:lnSpc>
                <a:spcPct val="130000"/>
              </a:lnSpc>
            </a:pPr>
            <a:r>
              <a:rPr lang="en-US" sz="1200" dirty="0">
                <a:solidFill>
                  <a:srgbClr val="E0E2E5">
                    <a:alpha val="70000"/>
                  </a:srgbClr>
                </a:solidFill>
                <a:latin typeface="Quattrocento Sans" pitchFamily="34" charset="0"/>
                <a:ea typeface="Quattrocento Sans" pitchFamily="34" charset="-122"/>
                <a:cs typeface="Quattrocento Sans" pitchFamily="34" charset="-120"/>
              </a:rPr>
              <a:t>FTSE 100 Component</a:t>
            </a:r>
            <a:endParaRPr lang="en-US" sz="1600" dirty="0"/>
          </a:p>
        </p:txBody>
      </p:sp>
      <p:sp>
        <p:nvSpPr>
          <p:cNvPr id="15" name="Shape 12"/>
          <p:cNvSpPr/>
          <p:nvPr/>
        </p:nvSpPr>
        <p:spPr>
          <a:xfrm>
            <a:off x="2409379" y="4933950"/>
            <a:ext cx="114300" cy="152400"/>
          </a:xfrm>
          <a:custGeom>
            <a:avLst/>
            <a:gdLst/>
            <a:ahLst/>
            <a:cxnLst/>
            <a:rect l="l" t="t" r="r" b="b"/>
            <a:pathLst>
              <a:path w="114300" h="152400">
                <a:moveTo>
                  <a:pt x="27176" y="85725"/>
                </a:moveTo>
                <a:lnTo>
                  <a:pt x="16818" y="85725"/>
                </a:lnTo>
                <a:cubicBezTo>
                  <a:pt x="12859" y="85725"/>
                  <a:pt x="9674" y="82540"/>
                  <a:pt x="9674" y="78581"/>
                </a:cubicBezTo>
                <a:cubicBezTo>
                  <a:pt x="9674" y="74622"/>
                  <a:pt x="12859" y="71438"/>
                  <a:pt x="16818" y="71438"/>
                </a:cubicBezTo>
                <a:lnTo>
                  <a:pt x="23187" y="71438"/>
                </a:lnTo>
                <a:cubicBezTo>
                  <a:pt x="11103" y="43845"/>
                  <a:pt x="31284" y="12502"/>
                  <a:pt x="61793" y="12502"/>
                </a:cubicBezTo>
                <a:lnTo>
                  <a:pt x="64234" y="12502"/>
                </a:lnTo>
                <a:cubicBezTo>
                  <a:pt x="74235" y="12502"/>
                  <a:pt x="83939" y="15865"/>
                  <a:pt x="91767" y="22086"/>
                </a:cubicBezTo>
                <a:lnTo>
                  <a:pt x="96560" y="25866"/>
                </a:lnTo>
                <a:cubicBezTo>
                  <a:pt x="100697" y="29141"/>
                  <a:pt x="101382" y="35123"/>
                  <a:pt x="98108" y="39261"/>
                </a:cubicBezTo>
                <a:cubicBezTo>
                  <a:pt x="94833" y="43398"/>
                  <a:pt x="88850" y="44083"/>
                  <a:pt x="84713" y="40809"/>
                </a:cubicBezTo>
                <a:lnTo>
                  <a:pt x="79921" y="37028"/>
                </a:lnTo>
                <a:cubicBezTo>
                  <a:pt x="75456" y="33486"/>
                  <a:pt x="69919" y="31552"/>
                  <a:pt x="64204" y="31552"/>
                </a:cubicBezTo>
                <a:lnTo>
                  <a:pt x="61764" y="31552"/>
                </a:lnTo>
                <a:cubicBezTo>
                  <a:pt x="44708" y="31552"/>
                  <a:pt x="33576" y="49381"/>
                  <a:pt x="41017" y="64710"/>
                </a:cubicBezTo>
                <a:cubicBezTo>
                  <a:pt x="42089" y="66913"/>
                  <a:pt x="42982" y="69146"/>
                  <a:pt x="43726" y="71438"/>
                </a:cubicBezTo>
                <a:lnTo>
                  <a:pt x="88225" y="71438"/>
                </a:lnTo>
                <a:cubicBezTo>
                  <a:pt x="92184" y="71438"/>
                  <a:pt x="95369" y="74622"/>
                  <a:pt x="95369" y="78581"/>
                </a:cubicBezTo>
                <a:cubicBezTo>
                  <a:pt x="95369" y="82540"/>
                  <a:pt x="92184" y="85725"/>
                  <a:pt x="88225" y="85725"/>
                </a:cubicBezTo>
                <a:lnTo>
                  <a:pt x="46196" y="85725"/>
                </a:lnTo>
                <a:cubicBezTo>
                  <a:pt x="46494" y="96232"/>
                  <a:pt x="43607" y="106740"/>
                  <a:pt x="37594" y="115759"/>
                </a:cubicBezTo>
                <a:lnTo>
                  <a:pt x="32206" y="123825"/>
                </a:lnTo>
                <a:lnTo>
                  <a:pt x="95369" y="123825"/>
                </a:lnTo>
                <a:cubicBezTo>
                  <a:pt x="100638" y="123825"/>
                  <a:pt x="104894" y="128081"/>
                  <a:pt x="104894" y="133350"/>
                </a:cubicBezTo>
                <a:cubicBezTo>
                  <a:pt x="104894" y="138619"/>
                  <a:pt x="100638" y="142875"/>
                  <a:pt x="95369" y="142875"/>
                </a:cubicBezTo>
                <a:lnTo>
                  <a:pt x="14407" y="142875"/>
                </a:lnTo>
                <a:cubicBezTo>
                  <a:pt x="10894" y="142875"/>
                  <a:pt x="7680" y="140940"/>
                  <a:pt x="6013" y="137845"/>
                </a:cubicBezTo>
                <a:cubicBezTo>
                  <a:pt x="4346" y="134749"/>
                  <a:pt x="4524" y="130999"/>
                  <a:pt x="6489" y="128052"/>
                </a:cubicBezTo>
                <a:lnTo>
                  <a:pt x="21729" y="105192"/>
                </a:lnTo>
                <a:cubicBezTo>
                  <a:pt x="25628" y="99358"/>
                  <a:pt x="27444" y="92512"/>
                  <a:pt x="27146" y="85725"/>
                </a:cubicBezTo>
                <a:close/>
              </a:path>
            </a:pathLst>
          </a:custGeom>
          <a:solidFill>
            <a:srgbClr val="006A4A"/>
          </a:solidFill>
          <a:ln/>
        </p:spPr>
        <p:txBody>
          <a:bodyPr/>
          <a:lstStyle/>
          <a:p>
            <a:endParaRPr lang="en-GB"/>
          </a:p>
        </p:txBody>
      </p:sp>
      <p:sp>
        <p:nvSpPr>
          <p:cNvPr id="16" name="Text 13"/>
          <p:cNvSpPr/>
          <p:nvPr/>
        </p:nvSpPr>
        <p:spPr>
          <a:xfrm>
            <a:off x="2637979" y="4895850"/>
            <a:ext cx="1400175" cy="228600"/>
          </a:xfrm>
          <a:prstGeom prst="rect">
            <a:avLst/>
          </a:prstGeom>
          <a:noFill/>
          <a:ln/>
        </p:spPr>
        <p:txBody>
          <a:bodyPr wrap="square" lIns="0" tIns="0" rIns="0" bIns="0" rtlCol="0" anchor="ctr"/>
          <a:lstStyle/>
          <a:p>
            <a:pPr>
              <a:lnSpc>
                <a:spcPct val="130000"/>
              </a:lnSpc>
            </a:pPr>
            <a:r>
              <a:rPr lang="en-US" sz="1200" dirty="0">
                <a:solidFill>
                  <a:srgbClr val="E0E2E5">
                    <a:alpha val="70000"/>
                  </a:srgbClr>
                </a:solidFill>
                <a:latin typeface="Quattrocento Sans" pitchFamily="34" charset="0"/>
                <a:ea typeface="Quattrocento Sans" pitchFamily="34" charset="-122"/>
                <a:cs typeface="Quattrocento Sans" pitchFamily="34" charset="-120"/>
              </a:rPr>
              <a:t>£32.4bn Market Cap</a:t>
            </a:r>
            <a:endParaRPr lang="en-US" sz="1600" dirty="0"/>
          </a:p>
        </p:txBody>
      </p:sp>
      <p:sp>
        <p:nvSpPr>
          <p:cNvPr id="17" name="Text 14"/>
          <p:cNvSpPr/>
          <p:nvPr/>
        </p:nvSpPr>
        <p:spPr>
          <a:xfrm>
            <a:off x="381000" y="6286500"/>
            <a:ext cx="1381125" cy="190500"/>
          </a:xfrm>
          <a:prstGeom prst="rect">
            <a:avLst/>
          </a:prstGeom>
          <a:noFill/>
          <a:ln/>
        </p:spPr>
        <p:txBody>
          <a:bodyPr wrap="square" lIns="0" tIns="0" rIns="0" bIns="0" rtlCol="0" anchor="ctr"/>
          <a:lstStyle/>
          <a:p>
            <a:pPr>
              <a:lnSpc>
                <a:spcPct val="120000"/>
              </a:lnSpc>
            </a:pPr>
            <a:r>
              <a:rPr lang="en-US" sz="1050" dirty="0">
                <a:solidFill>
                  <a:srgbClr val="E0E2E5">
                    <a:alpha val="50000"/>
                  </a:srgbClr>
                </a:solidFill>
                <a:latin typeface="Quattrocento Sans" pitchFamily="34" charset="0"/>
                <a:ea typeface="Quattrocento Sans" pitchFamily="34" charset="-122"/>
                <a:cs typeface="Quattrocento Sans" pitchFamily="34" charset="-120"/>
              </a:rPr>
              <a:t>Helping Britain Prosper</a:t>
            </a:r>
            <a:endParaRPr lang="en-US" sz="1600" dirty="0"/>
          </a:p>
        </p:txBody>
      </p:sp>
      <p:sp>
        <p:nvSpPr>
          <p:cNvPr id="18" name="Text 15"/>
          <p:cNvSpPr/>
          <p:nvPr/>
        </p:nvSpPr>
        <p:spPr>
          <a:xfrm>
            <a:off x="10010031" y="6324600"/>
            <a:ext cx="647700" cy="152400"/>
          </a:xfrm>
          <a:prstGeom prst="rect">
            <a:avLst/>
          </a:prstGeom>
          <a:noFill/>
          <a:ln/>
        </p:spPr>
        <p:txBody>
          <a:bodyPr wrap="square" lIns="0" tIns="0" rIns="0" bIns="0" rtlCol="0" anchor="ctr"/>
          <a:lstStyle/>
          <a:p>
            <a:pPr>
              <a:lnSpc>
                <a:spcPct val="110000"/>
              </a:lnSpc>
            </a:pPr>
            <a:r>
              <a:rPr lang="en-US" sz="900" dirty="0">
                <a:solidFill>
                  <a:srgbClr val="E0E2E5">
                    <a:alpha val="40000"/>
                  </a:srgbClr>
                </a:solidFill>
                <a:latin typeface="Quattrocento Sans" pitchFamily="34" charset="0"/>
                <a:ea typeface="Quattrocento Sans" pitchFamily="34" charset="-122"/>
                <a:cs typeface="Quattrocento Sans" pitchFamily="34" charset="-120"/>
              </a:rPr>
              <a:t>Confidential</a:t>
            </a:r>
            <a:endParaRPr lang="en-US" sz="1600" dirty="0"/>
          </a:p>
        </p:txBody>
      </p:sp>
      <p:sp>
        <p:nvSpPr>
          <p:cNvPr id="19" name="Text 16"/>
          <p:cNvSpPr/>
          <p:nvPr/>
        </p:nvSpPr>
        <p:spPr>
          <a:xfrm>
            <a:off x="10754916" y="6324600"/>
            <a:ext cx="95250" cy="152400"/>
          </a:xfrm>
          <a:prstGeom prst="rect">
            <a:avLst/>
          </a:prstGeom>
          <a:noFill/>
          <a:ln/>
        </p:spPr>
        <p:txBody>
          <a:bodyPr wrap="square" lIns="0" tIns="0" rIns="0" bIns="0" rtlCol="0" anchor="ctr"/>
          <a:lstStyle/>
          <a:p>
            <a:pPr>
              <a:lnSpc>
                <a:spcPct val="110000"/>
              </a:lnSpc>
            </a:pPr>
            <a:r>
              <a:rPr lang="en-US" sz="900" dirty="0">
                <a:solidFill>
                  <a:srgbClr val="E0E2E5">
                    <a:alpha val="40000"/>
                  </a:srgbClr>
                </a:solidFill>
                <a:latin typeface="Quattrocento Sans" pitchFamily="34" charset="0"/>
                <a:ea typeface="Quattrocento Sans" pitchFamily="34" charset="-122"/>
                <a:cs typeface="Quattrocento Sans" pitchFamily="34" charset="-120"/>
              </a:rPr>
              <a:t>•</a:t>
            </a:r>
            <a:endParaRPr lang="en-US" sz="1600" dirty="0"/>
          </a:p>
        </p:txBody>
      </p:sp>
      <p:sp>
        <p:nvSpPr>
          <p:cNvPr id="20" name="Text 17"/>
          <p:cNvSpPr/>
          <p:nvPr/>
        </p:nvSpPr>
        <p:spPr>
          <a:xfrm>
            <a:off x="10944820" y="6324600"/>
            <a:ext cx="923925" cy="152400"/>
          </a:xfrm>
          <a:prstGeom prst="rect">
            <a:avLst/>
          </a:prstGeom>
          <a:noFill/>
          <a:ln/>
        </p:spPr>
        <p:txBody>
          <a:bodyPr wrap="square" lIns="0" tIns="0" rIns="0" bIns="0" rtlCol="0" anchor="ctr"/>
          <a:lstStyle/>
          <a:p>
            <a:pPr>
              <a:lnSpc>
                <a:spcPct val="110000"/>
              </a:lnSpc>
            </a:pPr>
            <a:r>
              <a:rPr lang="en-US" sz="900" dirty="0">
                <a:solidFill>
                  <a:srgbClr val="E0E2E5">
                    <a:alpha val="40000"/>
                  </a:srgbClr>
                </a:solidFill>
                <a:latin typeface="Quattrocento Sans" pitchFamily="34" charset="0"/>
                <a:ea typeface="Quattrocento Sans" pitchFamily="34" charset="-122"/>
                <a:cs typeface="Quattrocento Sans" pitchFamily="34" charset="-120"/>
              </a:rPr>
              <a:t>Strategic Analysis</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Strategic Overview</a:t>
            </a:r>
            <a:endParaRPr lang="en-US" sz="1600" dirty="0"/>
          </a:p>
        </p:txBody>
      </p:sp>
      <p:sp>
        <p:nvSpPr>
          <p:cNvPr id="3" name="Text 1"/>
          <p:cNvSpPr/>
          <p:nvPr/>
        </p:nvSpPr>
        <p:spPr>
          <a:xfrm>
            <a:off x="381000" y="5715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Executive Summary</a:t>
            </a:r>
            <a:endParaRPr lang="en-US" sz="1600" dirty="0"/>
          </a:p>
        </p:txBody>
      </p:sp>
      <p:sp>
        <p:nvSpPr>
          <p:cNvPr id="4" name="Shape 2"/>
          <p:cNvSpPr/>
          <p:nvPr/>
        </p:nvSpPr>
        <p:spPr>
          <a:xfrm>
            <a:off x="381000" y="10287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5" name="Shape 3"/>
          <p:cNvSpPr/>
          <p:nvPr/>
        </p:nvSpPr>
        <p:spPr>
          <a:xfrm>
            <a:off x="400050" y="1200150"/>
            <a:ext cx="7553325" cy="1295400"/>
          </a:xfrm>
          <a:custGeom>
            <a:avLst/>
            <a:gdLst/>
            <a:ahLst/>
            <a:cxnLst/>
            <a:rect l="l" t="t" r="r" b="b"/>
            <a:pathLst>
              <a:path w="7553325" h="1295400">
                <a:moveTo>
                  <a:pt x="38100" y="0"/>
                </a:moveTo>
                <a:lnTo>
                  <a:pt x="7477130" y="0"/>
                </a:lnTo>
                <a:cubicBezTo>
                  <a:pt x="7519183" y="0"/>
                  <a:pt x="7553325" y="34142"/>
                  <a:pt x="7553325" y="76195"/>
                </a:cubicBezTo>
                <a:lnTo>
                  <a:pt x="7553325" y="1219205"/>
                </a:lnTo>
                <a:cubicBezTo>
                  <a:pt x="7553325" y="1261286"/>
                  <a:pt x="7519211" y="1295400"/>
                  <a:pt x="7477130" y="1295400"/>
                </a:cubicBezTo>
                <a:lnTo>
                  <a:pt x="38100" y="1295400"/>
                </a:lnTo>
                <a:cubicBezTo>
                  <a:pt x="17072" y="1295400"/>
                  <a:pt x="0" y="1278328"/>
                  <a:pt x="0" y="12573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6" name="Shape 4"/>
          <p:cNvSpPr/>
          <p:nvPr/>
        </p:nvSpPr>
        <p:spPr>
          <a:xfrm>
            <a:off x="400050" y="1200150"/>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006A4A"/>
          </a:solidFill>
          <a:ln/>
        </p:spPr>
        <p:txBody>
          <a:bodyPr/>
          <a:lstStyle/>
          <a:p>
            <a:endParaRPr lang="en-GB"/>
          </a:p>
        </p:txBody>
      </p:sp>
      <p:sp>
        <p:nvSpPr>
          <p:cNvPr id="7" name="Shape 5"/>
          <p:cNvSpPr/>
          <p:nvPr/>
        </p:nvSpPr>
        <p:spPr>
          <a:xfrm>
            <a:off x="600075" y="1409700"/>
            <a:ext cx="133350" cy="152400"/>
          </a:xfrm>
          <a:custGeom>
            <a:avLst/>
            <a:gdLst/>
            <a:ahLst/>
            <a:cxnLst/>
            <a:rect l="l" t="t" r="r" b="b"/>
            <a:pathLst>
              <a:path w="133350" h="152400">
                <a:moveTo>
                  <a:pt x="66675" y="-9525"/>
                </a:moveTo>
                <a:cubicBezTo>
                  <a:pt x="71944" y="-9525"/>
                  <a:pt x="76200" y="-5269"/>
                  <a:pt x="76200" y="0"/>
                </a:cubicBezTo>
                <a:lnTo>
                  <a:pt x="76200" y="9525"/>
                </a:lnTo>
                <a:lnTo>
                  <a:pt x="85725" y="9525"/>
                </a:lnTo>
                <a:cubicBezTo>
                  <a:pt x="90994" y="9525"/>
                  <a:pt x="95250" y="13781"/>
                  <a:pt x="95250" y="19050"/>
                </a:cubicBezTo>
                <a:cubicBezTo>
                  <a:pt x="95250" y="24319"/>
                  <a:pt x="90994" y="28575"/>
                  <a:pt x="85725" y="28575"/>
                </a:cubicBezTo>
                <a:lnTo>
                  <a:pt x="76200" y="28575"/>
                </a:lnTo>
                <a:lnTo>
                  <a:pt x="76200" y="47625"/>
                </a:lnTo>
                <a:lnTo>
                  <a:pt x="121980" y="47625"/>
                </a:lnTo>
                <a:cubicBezTo>
                  <a:pt x="128260" y="47625"/>
                  <a:pt x="133350" y="52715"/>
                  <a:pt x="133350" y="58995"/>
                </a:cubicBezTo>
                <a:cubicBezTo>
                  <a:pt x="133350" y="60900"/>
                  <a:pt x="132874" y="62776"/>
                  <a:pt x="131951" y="64443"/>
                </a:cubicBezTo>
                <a:lnTo>
                  <a:pt x="104775" y="114300"/>
                </a:lnTo>
                <a:lnTo>
                  <a:pt x="121503" y="135225"/>
                </a:lnTo>
                <a:cubicBezTo>
                  <a:pt x="122992" y="137100"/>
                  <a:pt x="123825" y="139422"/>
                  <a:pt x="123825" y="141833"/>
                </a:cubicBezTo>
                <a:cubicBezTo>
                  <a:pt x="123825" y="147667"/>
                  <a:pt x="119092" y="152400"/>
                  <a:pt x="113258" y="152400"/>
                </a:cubicBezTo>
                <a:lnTo>
                  <a:pt x="20092" y="152400"/>
                </a:lnTo>
                <a:cubicBezTo>
                  <a:pt x="14258" y="152400"/>
                  <a:pt x="9525" y="147667"/>
                  <a:pt x="9525" y="141833"/>
                </a:cubicBezTo>
                <a:cubicBezTo>
                  <a:pt x="9525" y="139422"/>
                  <a:pt x="10329" y="137100"/>
                  <a:pt x="11847" y="135225"/>
                </a:cubicBezTo>
                <a:lnTo>
                  <a:pt x="28575" y="114300"/>
                </a:lnTo>
                <a:lnTo>
                  <a:pt x="1399" y="64472"/>
                </a:lnTo>
                <a:cubicBezTo>
                  <a:pt x="476" y="62776"/>
                  <a:pt x="0" y="60900"/>
                  <a:pt x="0" y="58995"/>
                </a:cubicBezTo>
                <a:cubicBezTo>
                  <a:pt x="0" y="52715"/>
                  <a:pt x="5090" y="47625"/>
                  <a:pt x="11370" y="47625"/>
                </a:cubicBezTo>
                <a:lnTo>
                  <a:pt x="57150" y="47625"/>
                </a:lnTo>
                <a:lnTo>
                  <a:pt x="57150" y="28575"/>
                </a:lnTo>
                <a:lnTo>
                  <a:pt x="47625" y="28575"/>
                </a:lnTo>
                <a:cubicBezTo>
                  <a:pt x="42356" y="28575"/>
                  <a:pt x="38100" y="24319"/>
                  <a:pt x="38100" y="19050"/>
                </a:cubicBezTo>
                <a:cubicBezTo>
                  <a:pt x="38100" y="13781"/>
                  <a:pt x="42356" y="9525"/>
                  <a:pt x="47625" y="9525"/>
                </a:cubicBezTo>
                <a:lnTo>
                  <a:pt x="57150" y="9525"/>
                </a:lnTo>
                <a:lnTo>
                  <a:pt x="57150" y="0"/>
                </a:lnTo>
                <a:cubicBezTo>
                  <a:pt x="57150" y="-5269"/>
                  <a:pt x="61406" y="-9525"/>
                  <a:pt x="66675" y="-9525"/>
                </a:cubicBezTo>
                <a:close/>
              </a:path>
            </a:pathLst>
          </a:custGeom>
          <a:solidFill>
            <a:srgbClr val="006A4A"/>
          </a:solidFill>
          <a:ln/>
        </p:spPr>
        <p:txBody>
          <a:bodyPr/>
          <a:lstStyle/>
          <a:p>
            <a:endParaRPr lang="en-GB"/>
          </a:p>
        </p:txBody>
      </p:sp>
      <p:sp>
        <p:nvSpPr>
          <p:cNvPr id="8" name="Text 6"/>
          <p:cNvSpPr/>
          <p:nvPr/>
        </p:nvSpPr>
        <p:spPr>
          <a:xfrm>
            <a:off x="838200" y="1352550"/>
            <a:ext cx="14287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Strategic Position</a:t>
            </a:r>
            <a:endParaRPr lang="en-US" sz="1600" dirty="0"/>
          </a:p>
        </p:txBody>
      </p:sp>
      <p:sp>
        <p:nvSpPr>
          <p:cNvPr id="9" name="Text 7"/>
          <p:cNvSpPr/>
          <p:nvPr/>
        </p:nvSpPr>
        <p:spPr>
          <a:xfrm>
            <a:off x="571500" y="1695450"/>
            <a:ext cx="7296150" cy="647700"/>
          </a:xfrm>
          <a:prstGeom prst="rect">
            <a:avLst/>
          </a:prstGeom>
          <a:noFill/>
          <a:ln/>
        </p:spPr>
        <p:txBody>
          <a:bodyPr wrap="square" lIns="0" tIns="0" rIns="0" bIns="0" rtlCol="0" anchor="ctr"/>
          <a:lstStyle/>
          <a:p>
            <a:pPr>
              <a:lnSpc>
                <a:spcPct val="14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Lloyds Banking Group maintains its position as the UK's largest digital bank and mortgage lender, serving </a:t>
            </a:r>
            <a:r>
              <a:rPr lang="en-US" sz="1050" b="1" dirty="0">
                <a:solidFill>
                  <a:srgbClr val="C0A062"/>
                </a:solidFill>
                <a:latin typeface="Quattrocento Sans" pitchFamily="34" charset="0"/>
                <a:ea typeface="Quattrocento Sans" pitchFamily="34" charset="-122"/>
                <a:cs typeface="Quattrocento Sans" pitchFamily="34" charset="-120"/>
              </a:rPr>
              <a:t>27 million customers</a:t>
            </a:r>
            <a:r>
              <a:rPr lang="en-US" sz="1050" dirty="0">
                <a:solidFill>
                  <a:srgbClr val="E0E2E5">
                    <a:alpha val="80000"/>
                  </a:srgbClr>
                </a:solidFill>
                <a:latin typeface="Quattrocento Sans" pitchFamily="34" charset="0"/>
                <a:ea typeface="Quattrocento Sans" pitchFamily="34" charset="-122"/>
                <a:cs typeface="Quattrocento Sans" pitchFamily="34" charset="-120"/>
              </a:rPr>
              <a:t> with £900bn in assets. The Group has successfully completed Phase 1 of its transformation strategy, exceeding revenue targets with </a:t>
            </a:r>
            <a:r>
              <a:rPr lang="en-US" sz="1050" b="1" dirty="0">
                <a:solidFill>
                  <a:srgbClr val="C0A062"/>
                </a:solidFill>
                <a:latin typeface="Quattrocento Sans" pitchFamily="34" charset="0"/>
                <a:ea typeface="Quattrocento Sans" pitchFamily="34" charset="-122"/>
                <a:cs typeface="Quattrocento Sans" pitchFamily="34" charset="-120"/>
              </a:rPr>
              <a:t>£0.8bn in additional strategic revenues</a:t>
            </a:r>
            <a:r>
              <a:rPr lang="en-US" sz="1050" dirty="0">
                <a:solidFill>
                  <a:srgbClr val="E0E2E5">
                    <a:alpha val="80000"/>
                  </a:srgbClr>
                </a:solidFill>
                <a:latin typeface="Quattrocento Sans" pitchFamily="34" charset="0"/>
                <a:ea typeface="Quattrocento Sans" pitchFamily="34" charset="-122"/>
                <a:cs typeface="Quattrocento Sans" pitchFamily="34" charset="-120"/>
              </a:rPr>
              <a:t> against a £0.7bn target.</a:t>
            </a:r>
            <a:endParaRPr lang="en-US" sz="1600" dirty="0"/>
          </a:p>
        </p:txBody>
      </p:sp>
      <p:sp>
        <p:nvSpPr>
          <p:cNvPr id="10" name="Shape 8"/>
          <p:cNvSpPr/>
          <p:nvPr/>
        </p:nvSpPr>
        <p:spPr>
          <a:xfrm>
            <a:off x="400050" y="2612231"/>
            <a:ext cx="7553325" cy="1295400"/>
          </a:xfrm>
          <a:custGeom>
            <a:avLst/>
            <a:gdLst/>
            <a:ahLst/>
            <a:cxnLst/>
            <a:rect l="l" t="t" r="r" b="b"/>
            <a:pathLst>
              <a:path w="7553325" h="1295400">
                <a:moveTo>
                  <a:pt x="38100" y="0"/>
                </a:moveTo>
                <a:lnTo>
                  <a:pt x="7477130" y="0"/>
                </a:lnTo>
                <a:cubicBezTo>
                  <a:pt x="7519183" y="0"/>
                  <a:pt x="7553325" y="34142"/>
                  <a:pt x="7553325" y="76195"/>
                </a:cubicBezTo>
                <a:lnTo>
                  <a:pt x="7553325" y="1219205"/>
                </a:lnTo>
                <a:cubicBezTo>
                  <a:pt x="7553325" y="1261286"/>
                  <a:pt x="7519211" y="1295400"/>
                  <a:pt x="7477130" y="1295400"/>
                </a:cubicBezTo>
                <a:lnTo>
                  <a:pt x="38100" y="1295400"/>
                </a:lnTo>
                <a:cubicBezTo>
                  <a:pt x="17072" y="1295400"/>
                  <a:pt x="0" y="1278328"/>
                  <a:pt x="0" y="12573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11" name="Shape 9"/>
          <p:cNvSpPr/>
          <p:nvPr/>
        </p:nvSpPr>
        <p:spPr>
          <a:xfrm>
            <a:off x="400050" y="2612231"/>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C0A062"/>
          </a:solidFill>
          <a:ln/>
        </p:spPr>
        <p:txBody>
          <a:bodyPr/>
          <a:lstStyle/>
          <a:p>
            <a:endParaRPr lang="en-GB"/>
          </a:p>
        </p:txBody>
      </p:sp>
      <p:sp>
        <p:nvSpPr>
          <p:cNvPr id="12" name="Shape 10"/>
          <p:cNvSpPr/>
          <p:nvPr/>
        </p:nvSpPr>
        <p:spPr>
          <a:xfrm>
            <a:off x="590550" y="2821781"/>
            <a:ext cx="152400" cy="152400"/>
          </a:xfrm>
          <a:custGeom>
            <a:avLst/>
            <a:gdLst/>
            <a:ahLst/>
            <a:cxnLst/>
            <a:rect l="l" t="t" r="r" b="b"/>
            <a:pathLst>
              <a:path w="152400" h="152400">
                <a:moveTo>
                  <a:pt x="9525" y="9525"/>
                </a:moveTo>
                <a:cubicBezTo>
                  <a:pt x="14794" y="9525"/>
                  <a:pt x="19050" y="13781"/>
                  <a:pt x="19050" y="19050"/>
                </a:cubicBezTo>
                <a:lnTo>
                  <a:pt x="19050" y="119062"/>
                </a:lnTo>
                <a:cubicBezTo>
                  <a:pt x="19050" y="121682"/>
                  <a:pt x="21193" y="123825"/>
                  <a:pt x="23813" y="123825"/>
                </a:cubicBezTo>
                <a:lnTo>
                  <a:pt x="142875" y="123825"/>
                </a:lnTo>
                <a:cubicBezTo>
                  <a:pt x="148144" y="123825"/>
                  <a:pt x="152400" y="128081"/>
                  <a:pt x="152400" y="133350"/>
                </a:cubicBezTo>
                <a:cubicBezTo>
                  <a:pt x="152400" y="138619"/>
                  <a:pt x="148144" y="142875"/>
                  <a:pt x="142875" y="142875"/>
                </a:cubicBezTo>
                <a:lnTo>
                  <a:pt x="23813" y="142875"/>
                </a:lnTo>
                <a:cubicBezTo>
                  <a:pt x="10656" y="142875"/>
                  <a:pt x="0" y="132219"/>
                  <a:pt x="0" y="119062"/>
                </a:cubicBezTo>
                <a:lnTo>
                  <a:pt x="0" y="19050"/>
                </a:lnTo>
                <a:cubicBezTo>
                  <a:pt x="0" y="13781"/>
                  <a:pt x="4256" y="9525"/>
                  <a:pt x="9525" y="9525"/>
                </a:cubicBezTo>
                <a:close/>
                <a:moveTo>
                  <a:pt x="38100" y="28575"/>
                </a:moveTo>
                <a:cubicBezTo>
                  <a:pt x="38100" y="23306"/>
                  <a:pt x="42356" y="19050"/>
                  <a:pt x="47625" y="19050"/>
                </a:cubicBezTo>
                <a:lnTo>
                  <a:pt x="104775" y="19050"/>
                </a:lnTo>
                <a:cubicBezTo>
                  <a:pt x="110044" y="19050"/>
                  <a:pt x="114300" y="23306"/>
                  <a:pt x="114300" y="28575"/>
                </a:cubicBezTo>
                <a:cubicBezTo>
                  <a:pt x="114300" y="33844"/>
                  <a:pt x="110044" y="38100"/>
                  <a:pt x="104775" y="38100"/>
                </a:cubicBezTo>
                <a:lnTo>
                  <a:pt x="47625" y="38100"/>
                </a:lnTo>
                <a:cubicBezTo>
                  <a:pt x="42356" y="38100"/>
                  <a:pt x="38100" y="33844"/>
                  <a:pt x="38100" y="28575"/>
                </a:cubicBezTo>
                <a:close/>
                <a:moveTo>
                  <a:pt x="47625" y="52388"/>
                </a:moveTo>
                <a:lnTo>
                  <a:pt x="85725" y="52388"/>
                </a:lnTo>
                <a:cubicBezTo>
                  <a:pt x="90994" y="52388"/>
                  <a:pt x="95250" y="56644"/>
                  <a:pt x="95250" y="61912"/>
                </a:cubicBezTo>
                <a:cubicBezTo>
                  <a:pt x="95250" y="67181"/>
                  <a:pt x="90994" y="71438"/>
                  <a:pt x="85725" y="71438"/>
                </a:cubicBezTo>
                <a:lnTo>
                  <a:pt x="47625" y="71438"/>
                </a:lnTo>
                <a:cubicBezTo>
                  <a:pt x="42356" y="71438"/>
                  <a:pt x="38100" y="67181"/>
                  <a:pt x="38100" y="61912"/>
                </a:cubicBezTo>
                <a:cubicBezTo>
                  <a:pt x="38100" y="56644"/>
                  <a:pt x="42356" y="52388"/>
                  <a:pt x="47625" y="52388"/>
                </a:cubicBezTo>
                <a:close/>
                <a:moveTo>
                  <a:pt x="47625" y="85725"/>
                </a:moveTo>
                <a:lnTo>
                  <a:pt x="123825" y="85725"/>
                </a:lnTo>
                <a:cubicBezTo>
                  <a:pt x="129094" y="85725"/>
                  <a:pt x="133350" y="89981"/>
                  <a:pt x="133350" y="95250"/>
                </a:cubicBezTo>
                <a:cubicBezTo>
                  <a:pt x="133350" y="100519"/>
                  <a:pt x="129094" y="104775"/>
                  <a:pt x="123825" y="104775"/>
                </a:cubicBezTo>
                <a:lnTo>
                  <a:pt x="47625" y="104775"/>
                </a:lnTo>
                <a:cubicBezTo>
                  <a:pt x="42356" y="104775"/>
                  <a:pt x="38100" y="100519"/>
                  <a:pt x="38100" y="95250"/>
                </a:cubicBezTo>
                <a:cubicBezTo>
                  <a:pt x="38100" y="89981"/>
                  <a:pt x="42356" y="85725"/>
                  <a:pt x="47625" y="85725"/>
                </a:cubicBezTo>
                <a:close/>
              </a:path>
            </a:pathLst>
          </a:custGeom>
          <a:solidFill>
            <a:srgbClr val="C0A062"/>
          </a:solidFill>
          <a:ln/>
        </p:spPr>
        <p:txBody>
          <a:bodyPr/>
          <a:lstStyle/>
          <a:p>
            <a:endParaRPr lang="en-GB"/>
          </a:p>
        </p:txBody>
      </p:sp>
      <p:sp>
        <p:nvSpPr>
          <p:cNvPr id="13" name="Text 11"/>
          <p:cNvSpPr/>
          <p:nvPr/>
        </p:nvSpPr>
        <p:spPr>
          <a:xfrm>
            <a:off x="838200" y="2764631"/>
            <a:ext cx="17716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Financial Performance</a:t>
            </a:r>
            <a:endParaRPr lang="en-US" sz="1600" dirty="0"/>
          </a:p>
        </p:txBody>
      </p:sp>
      <p:sp>
        <p:nvSpPr>
          <p:cNvPr id="14" name="Text 12"/>
          <p:cNvSpPr/>
          <p:nvPr/>
        </p:nvSpPr>
        <p:spPr>
          <a:xfrm>
            <a:off x="571500" y="3107531"/>
            <a:ext cx="7296150" cy="647700"/>
          </a:xfrm>
          <a:prstGeom prst="rect">
            <a:avLst/>
          </a:prstGeom>
          <a:noFill/>
          <a:ln/>
        </p:spPr>
        <p:txBody>
          <a:bodyPr wrap="square" lIns="0" tIns="0" rIns="0" bIns="0" rtlCol="0" anchor="ctr"/>
          <a:lstStyle/>
          <a:p>
            <a:pPr>
              <a:lnSpc>
                <a:spcPct val="14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2024 delivered robust results despite headwinds: Statutory profit of </a:t>
            </a:r>
            <a:r>
              <a:rPr lang="en-US" sz="1050" b="1" dirty="0">
                <a:solidFill>
                  <a:srgbClr val="C0A062"/>
                </a:solidFill>
                <a:latin typeface="Quattrocento Sans" pitchFamily="34" charset="0"/>
                <a:ea typeface="Quattrocento Sans" pitchFamily="34" charset="-122"/>
                <a:cs typeface="Quattrocento Sans" pitchFamily="34" charset="-120"/>
              </a:rPr>
              <a:t>£4.5bn</a:t>
            </a:r>
            <a:r>
              <a:rPr lang="en-US" sz="1050" dirty="0">
                <a:solidFill>
                  <a:srgbClr val="E0E2E5">
                    <a:alpha val="80000"/>
                  </a:srgbClr>
                </a:solidFill>
                <a:latin typeface="Quattrocento Sans" pitchFamily="34" charset="0"/>
                <a:ea typeface="Quattrocento Sans" pitchFamily="34" charset="-122"/>
                <a:cs typeface="Quattrocento Sans" pitchFamily="34" charset="-120"/>
              </a:rPr>
              <a:t>, with return on tangible equity of 12.3% (14.0% excluding motor finance provision). The Group maintains a strong capital position with CET1 ratio at </a:t>
            </a:r>
            <a:r>
              <a:rPr lang="en-US" sz="1050" b="1" dirty="0">
                <a:solidFill>
                  <a:srgbClr val="C0A062"/>
                </a:solidFill>
                <a:latin typeface="Quattrocento Sans" pitchFamily="34" charset="0"/>
                <a:ea typeface="Quattrocento Sans" pitchFamily="34" charset="-122"/>
                <a:cs typeface="Quattrocento Sans" pitchFamily="34" charset="-120"/>
              </a:rPr>
              <a:t>13.5%</a:t>
            </a:r>
            <a:r>
              <a:rPr lang="en-US" sz="1050" dirty="0">
                <a:solidFill>
                  <a:srgbClr val="E0E2E5">
                    <a:alpha val="80000"/>
                  </a:srgbClr>
                </a:solidFill>
                <a:latin typeface="Quattrocento Sans" pitchFamily="34" charset="0"/>
                <a:ea typeface="Quattrocento Sans" pitchFamily="34" charset="-122"/>
                <a:cs typeface="Quattrocento Sans" pitchFamily="34" charset="-120"/>
              </a:rPr>
              <a:t> and distributed </a:t>
            </a:r>
            <a:r>
              <a:rPr lang="en-US" sz="1050" b="1" dirty="0">
                <a:solidFill>
                  <a:srgbClr val="C0A062"/>
                </a:solidFill>
                <a:latin typeface="Quattrocento Sans" pitchFamily="34" charset="0"/>
                <a:ea typeface="Quattrocento Sans" pitchFamily="34" charset="-122"/>
                <a:cs typeface="Quattrocento Sans" pitchFamily="34" charset="-120"/>
              </a:rPr>
              <a:t>£3.6bn</a:t>
            </a:r>
            <a:r>
              <a:rPr lang="en-US" sz="1050" dirty="0">
                <a:solidFill>
                  <a:srgbClr val="E0E2E5">
                    <a:alpha val="80000"/>
                  </a:srgbClr>
                </a:solidFill>
                <a:latin typeface="Quattrocento Sans" pitchFamily="34" charset="0"/>
                <a:ea typeface="Quattrocento Sans" pitchFamily="34" charset="-122"/>
                <a:cs typeface="Quattrocento Sans" pitchFamily="34" charset="-120"/>
              </a:rPr>
              <a:t> to shareholders.</a:t>
            </a:r>
            <a:endParaRPr lang="en-US" sz="1600" dirty="0"/>
          </a:p>
        </p:txBody>
      </p:sp>
      <p:sp>
        <p:nvSpPr>
          <p:cNvPr id="15" name="Shape 13"/>
          <p:cNvSpPr/>
          <p:nvPr/>
        </p:nvSpPr>
        <p:spPr>
          <a:xfrm>
            <a:off x="400050" y="4024313"/>
            <a:ext cx="7553325" cy="1295400"/>
          </a:xfrm>
          <a:custGeom>
            <a:avLst/>
            <a:gdLst/>
            <a:ahLst/>
            <a:cxnLst/>
            <a:rect l="l" t="t" r="r" b="b"/>
            <a:pathLst>
              <a:path w="7553325" h="1295400">
                <a:moveTo>
                  <a:pt x="38100" y="0"/>
                </a:moveTo>
                <a:lnTo>
                  <a:pt x="7477130" y="0"/>
                </a:lnTo>
                <a:cubicBezTo>
                  <a:pt x="7519183" y="0"/>
                  <a:pt x="7553325" y="34142"/>
                  <a:pt x="7553325" y="76195"/>
                </a:cubicBezTo>
                <a:lnTo>
                  <a:pt x="7553325" y="1219205"/>
                </a:lnTo>
                <a:cubicBezTo>
                  <a:pt x="7553325" y="1261286"/>
                  <a:pt x="7519211" y="1295400"/>
                  <a:pt x="7477130" y="1295400"/>
                </a:cubicBezTo>
                <a:lnTo>
                  <a:pt x="38100" y="1295400"/>
                </a:lnTo>
                <a:cubicBezTo>
                  <a:pt x="17072" y="1295400"/>
                  <a:pt x="0" y="1278328"/>
                  <a:pt x="0" y="12573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16" name="Shape 14"/>
          <p:cNvSpPr/>
          <p:nvPr/>
        </p:nvSpPr>
        <p:spPr>
          <a:xfrm>
            <a:off x="400050" y="4024313"/>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006A4A"/>
          </a:solidFill>
          <a:ln/>
        </p:spPr>
        <p:txBody>
          <a:bodyPr/>
          <a:lstStyle/>
          <a:p>
            <a:endParaRPr lang="en-GB"/>
          </a:p>
        </p:txBody>
      </p:sp>
      <p:sp>
        <p:nvSpPr>
          <p:cNvPr id="17" name="Shape 15"/>
          <p:cNvSpPr/>
          <p:nvPr/>
        </p:nvSpPr>
        <p:spPr>
          <a:xfrm>
            <a:off x="590550" y="4233863"/>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006A4A"/>
          </a:solidFill>
          <a:ln/>
        </p:spPr>
        <p:txBody>
          <a:bodyPr/>
          <a:lstStyle/>
          <a:p>
            <a:endParaRPr lang="en-GB"/>
          </a:p>
        </p:txBody>
      </p:sp>
      <p:sp>
        <p:nvSpPr>
          <p:cNvPr id="18" name="Text 16"/>
          <p:cNvSpPr/>
          <p:nvPr/>
        </p:nvSpPr>
        <p:spPr>
          <a:xfrm>
            <a:off x="838200" y="4176712"/>
            <a:ext cx="17716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Digital Transformation</a:t>
            </a:r>
            <a:endParaRPr lang="en-US" sz="1600" dirty="0"/>
          </a:p>
        </p:txBody>
      </p:sp>
      <p:sp>
        <p:nvSpPr>
          <p:cNvPr id="19" name="Text 17"/>
          <p:cNvSpPr/>
          <p:nvPr/>
        </p:nvSpPr>
        <p:spPr>
          <a:xfrm>
            <a:off x="571500" y="4519613"/>
            <a:ext cx="7296150" cy="647700"/>
          </a:xfrm>
          <a:prstGeom prst="rect">
            <a:avLst/>
          </a:prstGeom>
          <a:noFill/>
          <a:ln/>
        </p:spPr>
        <p:txBody>
          <a:bodyPr wrap="square" lIns="0" tIns="0" rIns="0" bIns="0" rtlCol="0" anchor="ctr"/>
          <a:lstStyle/>
          <a:p>
            <a:pPr>
              <a:lnSpc>
                <a:spcPct val="14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Accelerating technology investment with </a:t>
            </a:r>
            <a:r>
              <a:rPr lang="en-US" sz="1050" b="1" dirty="0">
                <a:solidFill>
                  <a:srgbClr val="C0A062"/>
                </a:solidFill>
                <a:latin typeface="Quattrocento Sans" pitchFamily="34" charset="0"/>
                <a:ea typeface="Quattrocento Sans" pitchFamily="34" charset="-122"/>
                <a:cs typeface="Quattrocento Sans" pitchFamily="34" charset="-120"/>
              </a:rPr>
              <a:t>£4bn committed through 2026</a:t>
            </a:r>
            <a:r>
              <a:rPr lang="en-US" sz="1050" dirty="0">
                <a:solidFill>
                  <a:srgbClr val="E0E2E5">
                    <a:alpha val="80000"/>
                  </a:srgbClr>
                </a:solidFill>
                <a:latin typeface="Quattrocento Sans" pitchFamily="34" charset="0"/>
                <a:ea typeface="Quattrocento Sans" pitchFamily="34" charset="-122"/>
                <a:cs typeface="Quattrocento Sans" pitchFamily="34" charset="-120"/>
              </a:rPr>
              <a:t>. The Group has deployed 800+ AI models, migrated 20% of applications to cloud, and serves 22.7 million digitally active customers. AI initiatives projected to generate </a:t>
            </a:r>
            <a:r>
              <a:rPr lang="en-US" sz="1050" b="1" dirty="0">
                <a:solidFill>
                  <a:srgbClr val="C0A062"/>
                </a:solidFill>
                <a:latin typeface="Quattrocento Sans" pitchFamily="34" charset="0"/>
                <a:ea typeface="Quattrocento Sans" pitchFamily="34" charset="-122"/>
                <a:cs typeface="Quattrocento Sans" pitchFamily="34" charset="-120"/>
              </a:rPr>
              <a:t>£50m incremental value in 2025</a:t>
            </a:r>
            <a:r>
              <a:rPr lang="en-US" sz="1050" dirty="0">
                <a:solidFill>
                  <a:srgbClr val="E0E2E5">
                    <a:alpha val="80000"/>
                  </a:srgbClr>
                </a:solidFill>
                <a:latin typeface="Quattrocento Sans" pitchFamily="34" charset="0"/>
                <a:ea typeface="Quattrocento Sans" pitchFamily="34" charset="-122"/>
                <a:cs typeface="Quattrocento Sans" pitchFamily="34" charset="-120"/>
              </a:rPr>
              <a:t>, scaling to £150m.</a:t>
            </a:r>
            <a:endParaRPr lang="en-US" sz="1600" dirty="0"/>
          </a:p>
        </p:txBody>
      </p:sp>
      <p:sp>
        <p:nvSpPr>
          <p:cNvPr id="20" name="Shape 18"/>
          <p:cNvSpPr/>
          <p:nvPr/>
        </p:nvSpPr>
        <p:spPr>
          <a:xfrm>
            <a:off x="8107263" y="1204913"/>
            <a:ext cx="3695700" cy="1038225"/>
          </a:xfrm>
          <a:custGeom>
            <a:avLst/>
            <a:gdLst/>
            <a:ahLst/>
            <a:cxnLst/>
            <a:rect l="l" t="t" r="r" b="b"/>
            <a:pathLst>
              <a:path w="3695700" h="1038225">
                <a:moveTo>
                  <a:pt x="76195" y="0"/>
                </a:moveTo>
                <a:lnTo>
                  <a:pt x="3619505" y="0"/>
                </a:lnTo>
                <a:cubicBezTo>
                  <a:pt x="3661586" y="0"/>
                  <a:pt x="3695700" y="34114"/>
                  <a:pt x="3695700" y="76195"/>
                </a:cubicBezTo>
                <a:lnTo>
                  <a:pt x="3695700" y="962030"/>
                </a:lnTo>
                <a:cubicBezTo>
                  <a:pt x="3695700" y="1004111"/>
                  <a:pt x="3661586" y="1038225"/>
                  <a:pt x="3619505" y="1038225"/>
                </a:cubicBezTo>
                <a:lnTo>
                  <a:pt x="76195" y="1038225"/>
                </a:lnTo>
                <a:cubicBezTo>
                  <a:pt x="34114" y="1038225"/>
                  <a:pt x="0" y="1004111"/>
                  <a:pt x="0" y="962030"/>
                </a:cubicBezTo>
                <a:lnTo>
                  <a:pt x="0" y="76195"/>
                </a:lnTo>
                <a:cubicBezTo>
                  <a:pt x="0" y="34114"/>
                  <a:pt x="34114" y="0"/>
                  <a:pt x="76195"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21" name="Text 19"/>
          <p:cNvSpPr/>
          <p:nvPr/>
        </p:nvSpPr>
        <p:spPr>
          <a:xfrm>
            <a:off x="8264426" y="1362075"/>
            <a:ext cx="343852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Market Cap</a:t>
            </a:r>
            <a:endParaRPr lang="en-US" sz="1600" dirty="0"/>
          </a:p>
        </p:txBody>
      </p:sp>
      <p:sp>
        <p:nvSpPr>
          <p:cNvPr id="22" name="Text 20"/>
          <p:cNvSpPr/>
          <p:nvPr/>
        </p:nvSpPr>
        <p:spPr>
          <a:xfrm>
            <a:off x="8264426" y="1552575"/>
            <a:ext cx="3524250"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£32.4bn</a:t>
            </a:r>
            <a:endParaRPr lang="en-US" sz="1600" dirty="0"/>
          </a:p>
        </p:txBody>
      </p:sp>
      <p:sp>
        <p:nvSpPr>
          <p:cNvPr id="23" name="Text 21"/>
          <p:cNvSpPr/>
          <p:nvPr/>
        </p:nvSpPr>
        <p:spPr>
          <a:xfrm>
            <a:off x="8264426" y="193357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3rd largest UK bank</a:t>
            </a:r>
            <a:endParaRPr lang="en-US" sz="1600" dirty="0"/>
          </a:p>
        </p:txBody>
      </p:sp>
      <p:sp>
        <p:nvSpPr>
          <p:cNvPr id="24" name="Shape 22"/>
          <p:cNvSpPr/>
          <p:nvPr/>
        </p:nvSpPr>
        <p:spPr>
          <a:xfrm>
            <a:off x="8107263" y="2366963"/>
            <a:ext cx="3695700" cy="1038225"/>
          </a:xfrm>
          <a:custGeom>
            <a:avLst/>
            <a:gdLst/>
            <a:ahLst/>
            <a:cxnLst/>
            <a:rect l="l" t="t" r="r" b="b"/>
            <a:pathLst>
              <a:path w="3695700" h="1038225">
                <a:moveTo>
                  <a:pt x="76195" y="0"/>
                </a:moveTo>
                <a:lnTo>
                  <a:pt x="3619505" y="0"/>
                </a:lnTo>
                <a:cubicBezTo>
                  <a:pt x="3661586" y="0"/>
                  <a:pt x="3695700" y="34114"/>
                  <a:pt x="3695700" y="76195"/>
                </a:cubicBezTo>
                <a:lnTo>
                  <a:pt x="3695700" y="962030"/>
                </a:lnTo>
                <a:cubicBezTo>
                  <a:pt x="3695700" y="1004111"/>
                  <a:pt x="3661586" y="1038225"/>
                  <a:pt x="3619505" y="1038225"/>
                </a:cubicBezTo>
                <a:lnTo>
                  <a:pt x="76195" y="1038225"/>
                </a:lnTo>
                <a:cubicBezTo>
                  <a:pt x="34114" y="1038225"/>
                  <a:pt x="0" y="1004111"/>
                  <a:pt x="0" y="962030"/>
                </a:cubicBezTo>
                <a:lnTo>
                  <a:pt x="0" y="76195"/>
                </a:lnTo>
                <a:cubicBezTo>
                  <a:pt x="0" y="34114"/>
                  <a:pt x="34114" y="0"/>
                  <a:pt x="76195"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25" name="Text 23"/>
          <p:cNvSpPr/>
          <p:nvPr/>
        </p:nvSpPr>
        <p:spPr>
          <a:xfrm>
            <a:off x="8264426" y="2524125"/>
            <a:ext cx="343852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Digital Users</a:t>
            </a:r>
            <a:endParaRPr lang="en-US" sz="1600" dirty="0"/>
          </a:p>
        </p:txBody>
      </p:sp>
      <p:sp>
        <p:nvSpPr>
          <p:cNvPr id="26" name="Text 24"/>
          <p:cNvSpPr/>
          <p:nvPr/>
        </p:nvSpPr>
        <p:spPr>
          <a:xfrm>
            <a:off x="8264426" y="2714625"/>
            <a:ext cx="3524250"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22.7M</a:t>
            </a:r>
            <a:endParaRPr lang="en-US" sz="1600" dirty="0"/>
          </a:p>
        </p:txBody>
      </p:sp>
      <p:sp>
        <p:nvSpPr>
          <p:cNvPr id="27" name="Text 25"/>
          <p:cNvSpPr/>
          <p:nvPr/>
        </p:nvSpPr>
        <p:spPr>
          <a:xfrm>
            <a:off x="8264426" y="309562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+25% over 3 years</a:t>
            </a:r>
            <a:endParaRPr lang="en-US" sz="1600" dirty="0"/>
          </a:p>
        </p:txBody>
      </p:sp>
      <p:sp>
        <p:nvSpPr>
          <p:cNvPr id="28" name="Shape 26"/>
          <p:cNvSpPr/>
          <p:nvPr/>
        </p:nvSpPr>
        <p:spPr>
          <a:xfrm>
            <a:off x="8107263" y="3529013"/>
            <a:ext cx="3695700" cy="1038225"/>
          </a:xfrm>
          <a:custGeom>
            <a:avLst/>
            <a:gdLst/>
            <a:ahLst/>
            <a:cxnLst/>
            <a:rect l="l" t="t" r="r" b="b"/>
            <a:pathLst>
              <a:path w="3695700" h="1038225">
                <a:moveTo>
                  <a:pt x="76195" y="0"/>
                </a:moveTo>
                <a:lnTo>
                  <a:pt x="3619505" y="0"/>
                </a:lnTo>
                <a:cubicBezTo>
                  <a:pt x="3661586" y="0"/>
                  <a:pt x="3695700" y="34114"/>
                  <a:pt x="3695700" y="76195"/>
                </a:cubicBezTo>
                <a:lnTo>
                  <a:pt x="3695700" y="962030"/>
                </a:lnTo>
                <a:cubicBezTo>
                  <a:pt x="3695700" y="1004111"/>
                  <a:pt x="3661586" y="1038225"/>
                  <a:pt x="3619505" y="1038225"/>
                </a:cubicBezTo>
                <a:lnTo>
                  <a:pt x="76195" y="1038225"/>
                </a:lnTo>
                <a:cubicBezTo>
                  <a:pt x="34114" y="1038225"/>
                  <a:pt x="0" y="1004111"/>
                  <a:pt x="0" y="962030"/>
                </a:cubicBezTo>
                <a:lnTo>
                  <a:pt x="0" y="76195"/>
                </a:lnTo>
                <a:cubicBezTo>
                  <a:pt x="0" y="34114"/>
                  <a:pt x="34114" y="0"/>
                  <a:pt x="76195"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29" name="Text 27"/>
          <p:cNvSpPr/>
          <p:nvPr/>
        </p:nvSpPr>
        <p:spPr>
          <a:xfrm>
            <a:off x="8264426" y="3686175"/>
            <a:ext cx="343852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Mortgage Portfolio</a:t>
            </a:r>
            <a:endParaRPr lang="en-US" sz="1600" dirty="0"/>
          </a:p>
        </p:txBody>
      </p:sp>
      <p:sp>
        <p:nvSpPr>
          <p:cNvPr id="30" name="Text 28"/>
          <p:cNvSpPr/>
          <p:nvPr/>
        </p:nvSpPr>
        <p:spPr>
          <a:xfrm>
            <a:off x="8264426" y="3876675"/>
            <a:ext cx="3524250"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£300bn+</a:t>
            </a:r>
            <a:endParaRPr lang="en-US" sz="1600" dirty="0"/>
          </a:p>
        </p:txBody>
      </p:sp>
      <p:sp>
        <p:nvSpPr>
          <p:cNvPr id="31" name="Text 29"/>
          <p:cNvSpPr/>
          <p:nvPr/>
        </p:nvSpPr>
        <p:spPr>
          <a:xfrm>
            <a:off x="8264426" y="425767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UK Market Leader</a:t>
            </a:r>
            <a:endParaRPr lang="en-US" sz="1600" dirty="0"/>
          </a:p>
        </p:txBody>
      </p:sp>
      <p:sp>
        <p:nvSpPr>
          <p:cNvPr id="32" name="Shape 30"/>
          <p:cNvSpPr/>
          <p:nvPr/>
        </p:nvSpPr>
        <p:spPr>
          <a:xfrm>
            <a:off x="8107263" y="4691063"/>
            <a:ext cx="3695700" cy="1038225"/>
          </a:xfrm>
          <a:custGeom>
            <a:avLst/>
            <a:gdLst/>
            <a:ahLst/>
            <a:cxnLst/>
            <a:rect l="l" t="t" r="r" b="b"/>
            <a:pathLst>
              <a:path w="3695700" h="1038225">
                <a:moveTo>
                  <a:pt x="76195" y="0"/>
                </a:moveTo>
                <a:lnTo>
                  <a:pt x="3619505" y="0"/>
                </a:lnTo>
                <a:cubicBezTo>
                  <a:pt x="3661586" y="0"/>
                  <a:pt x="3695700" y="34114"/>
                  <a:pt x="3695700" y="76195"/>
                </a:cubicBezTo>
                <a:lnTo>
                  <a:pt x="3695700" y="962030"/>
                </a:lnTo>
                <a:cubicBezTo>
                  <a:pt x="3695700" y="1004111"/>
                  <a:pt x="3661586" y="1038225"/>
                  <a:pt x="3619505" y="1038225"/>
                </a:cubicBezTo>
                <a:lnTo>
                  <a:pt x="76195" y="1038225"/>
                </a:lnTo>
                <a:cubicBezTo>
                  <a:pt x="34114" y="1038225"/>
                  <a:pt x="0" y="1004111"/>
                  <a:pt x="0" y="962030"/>
                </a:cubicBezTo>
                <a:lnTo>
                  <a:pt x="0" y="76195"/>
                </a:lnTo>
                <a:cubicBezTo>
                  <a:pt x="0" y="34114"/>
                  <a:pt x="34114" y="0"/>
                  <a:pt x="76195"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33" name="Text 31"/>
          <p:cNvSpPr/>
          <p:nvPr/>
        </p:nvSpPr>
        <p:spPr>
          <a:xfrm>
            <a:off x="8264426" y="4848225"/>
            <a:ext cx="343852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Tech Investment</a:t>
            </a:r>
            <a:endParaRPr lang="en-US" sz="1600" dirty="0"/>
          </a:p>
        </p:txBody>
      </p:sp>
      <p:sp>
        <p:nvSpPr>
          <p:cNvPr id="34" name="Text 32"/>
          <p:cNvSpPr/>
          <p:nvPr/>
        </p:nvSpPr>
        <p:spPr>
          <a:xfrm>
            <a:off x="8264426" y="5038725"/>
            <a:ext cx="3524250"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£1.9bn</a:t>
            </a:r>
            <a:endParaRPr lang="en-US" sz="1600" dirty="0"/>
          </a:p>
        </p:txBody>
      </p:sp>
      <p:sp>
        <p:nvSpPr>
          <p:cNvPr id="35" name="Text 33"/>
          <p:cNvSpPr/>
          <p:nvPr/>
        </p:nvSpPr>
        <p:spPr>
          <a:xfrm>
            <a:off x="8264426" y="541972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Annual ICT spend</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Competitive Analysis</a:t>
            </a:r>
            <a:endParaRPr lang="en-US" sz="1600" dirty="0"/>
          </a:p>
        </p:txBody>
      </p:sp>
      <p:sp>
        <p:nvSpPr>
          <p:cNvPr id="3" name="Text 1"/>
          <p:cNvSpPr/>
          <p:nvPr/>
        </p:nvSpPr>
        <p:spPr>
          <a:xfrm>
            <a:off x="381000" y="762000"/>
            <a:ext cx="3762375"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Market Position &amp; Scale</a:t>
            </a:r>
            <a:endParaRPr lang="en-US" sz="1600" dirty="0"/>
          </a:p>
        </p:txBody>
      </p:sp>
      <p:sp>
        <p:nvSpPr>
          <p:cNvPr id="4" name="Text 2"/>
          <p:cNvSpPr/>
          <p:nvPr/>
        </p:nvSpPr>
        <p:spPr>
          <a:xfrm>
            <a:off x="10763994" y="571500"/>
            <a:ext cx="1047750" cy="381000"/>
          </a:xfrm>
          <a:prstGeom prst="rect">
            <a:avLst/>
          </a:prstGeom>
          <a:noFill/>
          <a:ln/>
        </p:spPr>
        <p:txBody>
          <a:bodyPr wrap="square" lIns="0" tIns="0" rIns="0" bIns="0" rtlCol="0" anchor="ctr"/>
          <a:lstStyle/>
          <a:p>
            <a:pPr algn="r">
              <a:lnSpc>
                <a:spcPct val="90000"/>
              </a:lnSpc>
            </a:pPr>
            <a:r>
              <a:rPr lang="en-US" sz="2700" b="1" dirty="0">
                <a:solidFill>
                  <a:srgbClr val="C0A062"/>
                </a:solidFill>
                <a:latin typeface="Quattrocento Sans" pitchFamily="34" charset="0"/>
                <a:ea typeface="Quattrocento Sans" pitchFamily="34" charset="-122"/>
                <a:cs typeface="Quattrocento Sans" pitchFamily="34" charset="-120"/>
              </a:rPr>
              <a:t>#1</a:t>
            </a:r>
            <a:endParaRPr lang="en-US" sz="1600" dirty="0"/>
          </a:p>
        </p:txBody>
      </p:sp>
      <p:sp>
        <p:nvSpPr>
          <p:cNvPr id="5" name="Text 3"/>
          <p:cNvSpPr/>
          <p:nvPr/>
        </p:nvSpPr>
        <p:spPr>
          <a:xfrm>
            <a:off x="10868769" y="952500"/>
            <a:ext cx="942975"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UK Digital Bank</a:t>
            </a:r>
            <a:endParaRPr lang="en-US" sz="1600" dirty="0"/>
          </a:p>
        </p:txBody>
      </p:sp>
      <p:sp>
        <p:nvSpPr>
          <p:cNvPr id="6" name="Shape 4"/>
          <p:cNvSpPr/>
          <p:nvPr/>
        </p:nvSpPr>
        <p:spPr>
          <a:xfrm>
            <a:off x="381000" y="12192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Text 5"/>
          <p:cNvSpPr/>
          <p:nvPr/>
        </p:nvSpPr>
        <p:spPr>
          <a:xfrm>
            <a:off x="38100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UK Banking Market Share</a:t>
            </a:r>
            <a:endParaRPr lang="en-US" sz="1600" dirty="0"/>
          </a:p>
        </p:txBody>
      </p:sp>
      <p:sp>
        <p:nvSpPr>
          <p:cNvPr id="8" name="Shape 6"/>
          <p:cNvSpPr/>
          <p:nvPr/>
        </p:nvSpPr>
        <p:spPr>
          <a:xfrm>
            <a:off x="381000" y="1771650"/>
            <a:ext cx="5619750" cy="2667000"/>
          </a:xfrm>
          <a:custGeom>
            <a:avLst/>
            <a:gdLst/>
            <a:ahLst/>
            <a:cxnLst/>
            <a:rect l="l" t="t" r="r" b="b"/>
            <a:pathLst>
              <a:path w="5619750" h="2667000">
                <a:moveTo>
                  <a:pt x="76196" y="0"/>
                </a:moveTo>
                <a:lnTo>
                  <a:pt x="5543554" y="0"/>
                </a:lnTo>
                <a:cubicBezTo>
                  <a:pt x="5585636" y="0"/>
                  <a:pt x="5619750" y="34114"/>
                  <a:pt x="5619750" y="76196"/>
                </a:cubicBezTo>
                <a:lnTo>
                  <a:pt x="5619750" y="2590804"/>
                </a:lnTo>
                <a:cubicBezTo>
                  <a:pt x="5619750" y="2632886"/>
                  <a:pt x="5585636" y="2667000"/>
                  <a:pt x="5543554" y="2667000"/>
                </a:cubicBezTo>
                <a:lnTo>
                  <a:pt x="76196" y="2667000"/>
                </a:lnTo>
                <a:cubicBezTo>
                  <a:pt x="34114" y="2667000"/>
                  <a:pt x="0" y="2632886"/>
                  <a:pt x="0" y="2590804"/>
                </a:cubicBezTo>
                <a:lnTo>
                  <a:pt x="0" y="76196"/>
                </a:lnTo>
                <a:cubicBezTo>
                  <a:pt x="0" y="34142"/>
                  <a:pt x="34142" y="0"/>
                  <a:pt x="76196" y="0"/>
                </a:cubicBezTo>
                <a:close/>
              </a:path>
            </a:pathLst>
          </a:custGeom>
          <a:solidFill>
            <a:srgbClr val="4A5C6A">
              <a:alpha val="10196"/>
            </a:srgbClr>
          </a:solidFill>
          <a:ln/>
        </p:spPr>
        <p:txBody>
          <a:bodyPr/>
          <a:lstStyle/>
          <a:p>
            <a:endParaRPr lang="en-GB"/>
          </a:p>
        </p:txBody>
      </p:sp>
      <p:pic>
        <p:nvPicPr>
          <p:cNvPr id="9" name="Image 0" descr="https://kimi-img.moonshot.cn/pub/slides/26-01-27-10:39:37-d5s2aqfk67e8pb798t70.png"/>
          <p:cNvPicPr>
            <a:picLocks noChangeAspect="1"/>
          </p:cNvPicPr>
          <p:nvPr/>
        </p:nvPicPr>
        <p:blipFill>
          <a:blip r:embed="rId3"/>
          <a:srcRect/>
          <a:stretch/>
        </p:blipFill>
        <p:spPr>
          <a:xfrm>
            <a:off x="533400" y="1924050"/>
            <a:ext cx="5314950" cy="2362200"/>
          </a:xfrm>
          <a:prstGeom prst="roundRect">
            <a:avLst>
              <a:gd name="adj" fmla="val 0"/>
            </a:avLst>
          </a:prstGeom>
        </p:spPr>
      </p:pic>
      <p:sp>
        <p:nvSpPr>
          <p:cNvPr id="10" name="Shape 7"/>
          <p:cNvSpPr/>
          <p:nvPr/>
        </p:nvSpPr>
        <p:spPr>
          <a:xfrm>
            <a:off x="381000" y="4552950"/>
            <a:ext cx="2752725" cy="762000"/>
          </a:xfrm>
          <a:custGeom>
            <a:avLst/>
            <a:gdLst/>
            <a:ahLst/>
            <a:cxnLst/>
            <a:rect l="l" t="t" r="r" b="b"/>
            <a:pathLst>
              <a:path w="2752725" h="762000">
                <a:moveTo>
                  <a:pt x="76200" y="0"/>
                </a:moveTo>
                <a:lnTo>
                  <a:pt x="2676525" y="0"/>
                </a:lnTo>
                <a:cubicBezTo>
                  <a:pt x="2718581" y="0"/>
                  <a:pt x="2752725" y="34144"/>
                  <a:pt x="2752725" y="76200"/>
                </a:cubicBezTo>
                <a:lnTo>
                  <a:pt x="2752725" y="685800"/>
                </a:lnTo>
                <a:cubicBezTo>
                  <a:pt x="2752725" y="727856"/>
                  <a:pt x="2718581" y="762000"/>
                  <a:pt x="2676525" y="762000"/>
                </a:cubicBezTo>
                <a:lnTo>
                  <a:pt x="76200" y="762000"/>
                </a:lnTo>
                <a:cubicBezTo>
                  <a:pt x="34144" y="762000"/>
                  <a:pt x="0" y="727856"/>
                  <a:pt x="0" y="685800"/>
                </a:cubicBezTo>
                <a:lnTo>
                  <a:pt x="0" y="76200"/>
                </a:lnTo>
                <a:cubicBezTo>
                  <a:pt x="0" y="34144"/>
                  <a:pt x="34144" y="0"/>
                  <a:pt x="76200" y="0"/>
                </a:cubicBezTo>
                <a:close/>
              </a:path>
            </a:pathLst>
          </a:custGeom>
          <a:solidFill>
            <a:srgbClr val="4A5C6A">
              <a:alpha val="20000"/>
            </a:srgbClr>
          </a:solidFill>
          <a:ln/>
        </p:spPr>
        <p:txBody>
          <a:bodyPr/>
          <a:lstStyle/>
          <a:p>
            <a:endParaRPr lang="en-GB"/>
          </a:p>
        </p:txBody>
      </p:sp>
      <p:sp>
        <p:nvSpPr>
          <p:cNvPr id="11" name="Text 8"/>
          <p:cNvSpPr/>
          <p:nvPr/>
        </p:nvSpPr>
        <p:spPr>
          <a:xfrm>
            <a:off x="495300" y="4667250"/>
            <a:ext cx="25908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Big Four Control</a:t>
            </a:r>
            <a:endParaRPr lang="en-US" sz="1600" dirty="0"/>
          </a:p>
        </p:txBody>
      </p:sp>
      <p:sp>
        <p:nvSpPr>
          <p:cNvPr id="12" name="Text 9"/>
          <p:cNvSpPr/>
          <p:nvPr/>
        </p:nvSpPr>
        <p:spPr>
          <a:xfrm>
            <a:off x="495300" y="4895850"/>
            <a:ext cx="2581275" cy="3048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75% of UK current accounts held by HSBC, Barclays, Lloyds &amp; NatWest</a:t>
            </a:r>
            <a:endParaRPr lang="en-US" sz="1600" dirty="0"/>
          </a:p>
        </p:txBody>
      </p:sp>
      <p:sp>
        <p:nvSpPr>
          <p:cNvPr id="13" name="Shape 10"/>
          <p:cNvSpPr/>
          <p:nvPr/>
        </p:nvSpPr>
        <p:spPr>
          <a:xfrm>
            <a:off x="3248025" y="4552950"/>
            <a:ext cx="2752725" cy="762000"/>
          </a:xfrm>
          <a:custGeom>
            <a:avLst/>
            <a:gdLst/>
            <a:ahLst/>
            <a:cxnLst/>
            <a:rect l="l" t="t" r="r" b="b"/>
            <a:pathLst>
              <a:path w="2752725" h="762000">
                <a:moveTo>
                  <a:pt x="76200" y="0"/>
                </a:moveTo>
                <a:lnTo>
                  <a:pt x="2676525" y="0"/>
                </a:lnTo>
                <a:cubicBezTo>
                  <a:pt x="2718581" y="0"/>
                  <a:pt x="2752725" y="34144"/>
                  <a:pt x="2752725" y="76200"/>
                </a:cubicBezTo>
                <a:lnTo>
                  <a:pt x="2752725" y="685800"/>
                </a:lnTo>
                <a:cubicBezTo>
                  <a:pt x="2752725" y="727856"/>
                  <a:pt x="2718581" y="762000"/>
                  <a:pt x="2676525" y="762000"/>
                </a:cubicBezTo>
                <a:lnTo>
                  <a:pt x="76200" y="762000"/>
                </a:lnTo>
                <a:cubicBezTo>
                  <a:pt x="34144" y="762000"/>
                  <a:pt x="0" y="727856"/>
                  <a:pt x="0" y="685800"/>
                </a:cubicBezTo>
                <a:lnTo>
                  <a:pt x="0" y="76200"/>
                </a:lnTo>
                <a:cubicBezTo>
                  <a:pt x="0" y="34144"/>
                  <a:pt x="34144" y="0"/>
                  <a:pt x="76200" y="0"/>
                </a:cubicBezTo>
                <a:close/>
              </a:path>
            </a:pathLst>
          </a:custGeom>
          <a:solidFill>
            <a:srgbClr val="4A5C6A">
              <a:alpha val="20000"/>
            </a:srgbClr>
          </a:solidFill>
          <a:ln/>
        </p:spPr>
        <p:txBody>
          <a:bodyPr/>
          <a:lstStyle/>
          <a:p>
            <a:endParaRPr lang="en-GB"/>
          </a:p>
        </p:txBody>
      </p:sp>
      <p:sp>
        <p:nvSpPr>
          <p:cNvPr id="14" name="Text 11"/>
          <p:cNvSpPr/>
          <p:nvPr/>
        </p:nvSpPr>
        <p:spPr>
          <a:xfrm>
            <a:off x="3362325" y="4667250"/>
            <a:ext cx="25908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Challenger Growth</a:t>
            </a:r>
            <a:endParaRPr lang="en-US" sz="1600" dirty="0"/>
          </a:p>
        </p:txBody>
      </p:sp>
      <p:sp>
        <p:nvSpPr>
          <p:cNvPr id="15" name="Text 12"/>
          <p:cNvSpPr/>
          <p:nvPr/>
        </p:nvSpPr>
        <p:spPr>
          <a:xfrm>
            <a:off x="3362325" y="4895850"/>
            <a:ext cx="2581275" cy="3048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Digital banks now serve 50% of UK adults (up from 16% in 2018)</a:t>
            </a:r>
            <a:endParaRPr lang="en-US" sz="1600" dirty="0"/>
          </a:p>
        </p:txBody>
      </p:sp>
      <p:sp>
        <p:nvSpPr>
          <p:cNvPr id="16" name="Text 13"/>
          <p:cNvSpPr/>
          <p:nvPr/>
        </p:nvSpPr>
        <p:spPr>
          <a:xfrm>
            <a:off x="619125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Operational Scale</a:t>
            </a:r>
            <a:endParaRPr lang="en-US" sz="1600" dirty="0"/>
          </a:p>
        </p:txBody>
      </p:sp>
      <p:sp>
        <p:nvSpPr>
          <p:cNvPr id="17" name="Shape 14"/>
          <p:cNvSpPr/>
          <p:nvPr/>
        </p:nvSpPr>
        <p:spPr>
          <a:xfrm>
            <a:off x="6191250" y="1771650"/>
            <a:ext cx="2752725" cy="1104900"/>
          </a:xfrm>
          <a:custGeom>
            <a:avLst/>
            <a:gdLst/>
            <a:ahLst/>
            <a:cxnLst/>
            <a:rect l="l" t="t" r="r" b="b"/>
            <a:pathLst>
              <a:path w="2752725" h="1104900">
                <a:moveTo>
                  <a:pt x="76205" y="0"/>
                </a:moveTo>
                <a:lnTo>
                  <a:pt x="2676520" y="0"/>
                </a:lnTo>
                <a:cubicBezTo>
                  <a:pt x="2718607" y="0"/>
                  <a:pt x="2752725" y="34118"/>
                  <a:pt x="2752725" y="76205"/>
                </a:cubicBezTo>
                <a:lnTo>
                  <a:pt x="2752725" y="1028695"/>
                </a:lnTo>
                <a:cubicBezTo>
                  <a:pt x="2752725" y="1070782"/>
                  <a:pt x="2718607" y="1104900"/>
                  <a:pt x="2676520" y="1104900"/>
                </a:cubicBezTo>
                <a:lnTo>
                  <a:pt x="76205" y="1104900"/>
                </a:lnTo>
                <a:cubicBezTo>
                  <a:pt x="34118" y="1104900"/>
                  <a:pt x="0" y="1070782"/>
                  <a:pt x="0" y="1028695"/>
                </a:cubicBezTo>
                <a:lnTo>
                  <a:pt x="0" y="76205"/>
                </a:lnTo>
                <a:cubicBezTo>
                  <a:pt x="0" y="34146"/>
                  <a:pt x="34146" y="0"/>
                  <a:pt x="76205" y="0"/>
                </a:cubicBezTo>
                <a:close/>
              </a:path>
            </a:pathLst>
          </a:custGeom>
          <a:gradFill flip="none" rotWithShape="1">
            <a:gsLst>
              <a:gs pos="0">
                <a:srgbClr val="006A4A"/>
              </a:gs>
              <a:gs pos="100000">
                <a:srgbClr val="006A4A">
                  <a:alpha val="70000"/>
                </a:srgbClr>
              </a:gs>
            </a:gsLst>
            <a:lin ang="2700000" scaled="1"/>
          </a:gradFill>
          <a:ln/>
        </p:spPr>
        <p:txBody>
          <a:bodyPr/>
          <a:lstStyle/>
          <a:p>
            <a:endParaRPr lang="en-GB"/>
          </a:p>
        </p:txBody>
      </p:sp>
      <p:sp>
        <p:nvSpPr>
          <p:cNvPr id="18" name="Shape 15"/>
          <p:cNvSpPr/>
          <p:nvPr/>
        </p:nvSpPr>
        <p:spPr>
          <a:xfrm>
            <a:off x="7424737" y="1924050"/>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C0A062"/>
          </a:solidFill>
          <a:ln/>
        </p:spPr>
        <p:txBody>
          <a:bodyPr/>
          <a:lstStyle/>
          <a:p>
            <a:endParaRPr lang="en-GB"/>
          </a:p>
        </p:txBody>
      </p:sp>
      <p:sp>
        <p:nvSpPr>
          <p:cNvPr id="19" name="Text 16"/>
          <p:cNvSpPr/>
          <p:nvPr/>
        </p:nvSpPr>
        <p:spPr>
          <a:xfrm>
            <a:off x="6272213" y="2228850"/>
            <a:ext cx="259080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27M</a:t>
            </a:r>
            <a:endParaRPr lang="en-US" sz="1600" dirty="0"/>
          </a:p>
        </p:txBody>
      </p:sp>
      <p:sp>
        <p:nvSpPr>
          <p:cNvPr id="20" name="Text 17"/>
          <p:cNvSpPr/>
          <p:nvPr/>
        </p:nvSpPr>
        <p:spPr>
          <a:xfrm>
            <a:off x="6315075" y="2571750"/>
            <a:ext cx="25050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Total Customers</a:t>
            </a:r>
            <a:endParaRPr lang="en-US" sz="1600" dirty="0"/>
          </a:p>
        </p:txBody>
      </p:sp>
      <p:sp>
        <p:nvSpPr>
          <p:cNvPr id="21" name="Shape 18"/>
          <p:cNvSpPr/>
          <p:nvPr/>
        </p:nvSpPr>
        <p:spPr>
          <a:xfrm>
            <a:off x="9058275" y="1771650"/>
            <a:ext cx="2752725" cy="1104900"/>
          </a:xfrm>
          <a:custGeom>
            <a:avLst/>
            <a:gdLst/>
            <a:ahLst/>
            <a:cxnLst/>
            <a:rect l="l" t="t" r="r" b="b"/>
            <a:pathLst>
              <a:path w="2752725" h="1104900">
                <a:moveTo>
                  <a:pt x="76205" y="0"/>
                </a:moveTo>
                <a:lnTo>
                  <a:pt x="2676520" y="0"/>
                </a:lnTo>
                <a:cubicBezTo>
                  <a:pt x="2718607" y="0"/>
                  <a:pt x="2752725" y="34118"/>
                  <a:pt x="2752725" y="76205"/>
                </a:cubicBezTo>
                <a:lnTo>
                  <a:pt x="2752725" y="1028695"/>
                </a:lnTo>
                <a:cubicBezTo>
                  <a:pt x="2752725" y="1070782"/>
                  <a:pt x="2718607" y="1104900"/>
                  <a:pt x="2676520" y="1104900"/>
                </a:cubicBezTo>
                <a:lnTo>
                  <a:pt x="76205" y="1104900"/>
                </a:lnTo>
                <a:cubicBezTo>
                  <a:pt x="34118" y="1104900"/>
                  <a:pt x="0" y="1070782"/>
                  <a:pt x="0" y="1028695"/>
                </a:cubicBezTo>
                <a:lnTo>
                  <a:pt x="0" y="76205"/>
                </a:lnTo>
                <a:cubicBezTo>
                  <a:pt x="0" y="34146"/>
                  <a:pt x="34146" y="0"/>
                  <a:pt x="76205" y="0"/>
                </a:cubicBezTo>
                <a:close/>
              </a:path>
            </a:pathLst>
          </a:custGeom>
          <a:gradFill flip="none" rotWithShape="1">
            <a:gsLst>
              <a:gs pos="0">
                <a:srgbClr val="4A5C6A"/>
              </a:gs>
              <a:gs pos="100000">
                <a:srgbClr val="4A5C6A">
                  <a:alpha val="70000"/>
                </a:srgbClr>
              </a:gs>
            </a:gsLst>
            <a:lin ang="2700000" scaled="1"/>
          </a:gradFill>
          <a:ln/>
        </p:spPr>
        <p:txBody>
          <a:bodyPr/>
          <a:lstStyle/>
          <a:p>
            <a:endParaRPr lang="en-GB"/>
          </a:p>
        </p:txBody>
      </p:sp>
      <p:sp>
        <p:nvSpPr>
          <p:cNvPr id="22" name="Shape 19"/>
          <p:cNvSpPr/>
          <p:nvPr/>
        </p:nvSpPr>
        <p:spPr>
          <a:xfrm>
            <a:off x="10348913" y="1924050"/>
            <a:ext cx="171450" cy="228600"/>
          </a:xfrm>
          <a:custGeom>
            <a:avLst/>
            <a:gdLst/>
            <a:ahLst/>
            <a:cxnLst/>
            <a:rect l="l" t="t" r="r" b="b"/>
            <a:pathLst>
              <a:path w="171450" h="228600">
                <a:moveTo>
                  <a:pt x="7144" y="28575"/>
                </a:moveTo>
                <a:cubicBezTo>
                  <a:pt x="7144" y="12814"/>
                  <a:pt x="19958" y="0"/>
                  <a:pt x="35719" y="0"/>
                </a:cubicBezTo>
                <a:lnTo>
                  <a:pt x="135731" y="0"/>
                </a:lnTo>
                <a:cubicBezTo>
                  <a:pt x="151492" y="0"/>
                  <a:pt x="164306" y="12814"/>
                  <a:pt x="164306" y="28575"/>
                </a:cubicBezTo>
                <a:lnTo>
                  <a:pt x="164306" y="200025"/>
                </a:lnTo>
                <a:cubicBezTo>
                  <a:pt x="164306" y="215786"/>
                  <a:pt x="151492" y="228600"/>
                  <a:pt x="135731" y="228600"/>
                </a:cubicBezTo>
                <a:lnTo>
                  <a:pt x="35719" y="228600"/>
                </a:lnTo>
                <a:cubicBezTo>
                  <a:pt x="19958" y="228600"/>
                  <a:pt x="7144" y="215786"/>
                  <a:pt x="7144" y="200025"/>
                </a:cubicBezTo>
                <a:lnTo>
                  <a:pt x="7144" y="28575"/>
                </a:lnTo>
                <a:close/>
                <a:moveTo>
                  <a:pt x="35719" y="28575"/>
                </a:moveTo>
                <a:lnTo>
                  <a:pt x="35719" y="164306"/>
                </a:lnTo>
                <a:lnTo>
                  <a:pt x="135731" y="164306"/>
                </a:lnTo>
                <a:lnTo>
                  <a:pt x="135731" y="28575"/>
                </a:lnTo>
                <a:lnTo>
                  <a:pt x="35719" y="28575"/>
                </a:lnTo>
                <a:close/>
                <a:moveTo>
                  <a:pt x="85725" y="210741"/>
                </a:moveTo>
                <a:cubicBezTo>
                  <a:pt x="93628" y="210741"/>
                  <a:pt x="100013" y="204356"/>
                  <a:pt x="100013" y="196453"/>
                </a:cubicBezTo>
                <a:cubicBezTo>
                  <a:pt x="100013" y="188550"/>
                  <a:pt x="93628" y="182166"/>
                  <a:pt x="85725" y="182166"/>
                </a:cubicBezTo>
                <a:cubicBezTo>
                  <a:pt x="77822" y="182166"/>
                  <a:pt x="71438" y="188550"/>
                  <a:pt x="71438" y="196453"/>
                </a:cubicBezTo>
                <a:cubicBezTo>
                  <a:pt x="71438" y="204356"/>
                  <a:pt x="77822" y="210741"/>
                  <a:pt x="85725" y="210741"/>
                </a:cubicBezTo>
                <a:close/>
              </a:path>
            </a:pathLst>
          </a:custGeom>
          <a:solidFill>
            <a:srgbClr val="C0A062"/>
          </a:solidFill>
          <a:ln/>
        </p:spPr>
        <p:txBody>
          <a:bodyPr/>
          <a:lstStyle/>
          <a:p>
            <a:endParaRPr lang="en-GB"/>
          </a:p>
        </p:txBody>
      </p:sp>
      <p:sp>
        <p:nvSpPr>
          <p:cNvPr id="23" name="Text 20"/>
          <p:cNvSpPr/>
          <p:nvPr/>
        </p:nvSpPr>
        <p:spPr>
          <a:xfrm>
            <a:off x="9139238" y="2228850"/>
            <a:ext cx="259080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20M+</a:t>
            </a:r>
            <a:endParaRPr lang="en-US" sz="1600" dirty="0"/>
          </a:p>
        </p:txBody>
      </p:sp>
      <p:sp>
        <p:nvSpPr>
          <p:cNvPr id="24" name="Text 21"/>
          <p:cNvSpPr/>
          <p:nvPr/>
        </p:nvSpPr>
        <p:spPr>
          <a:xfrm>
            <a:off x="9182100" y="2571750"/>
            <a:ext cx="25050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Mobile App Users</a:t>
            </a:r>
            <a:endParaRPr lang="en-US" sz="1600" dirty="0"/>
          </a:p>
        </p:txBody>
      </p:sp>
      <p:sp>
        <p:nvSpPr>
          <p:cNvPr id="25" name="Shape 22"/>
          <p:cNvSpPr/>
          <p:nvPr/>
        </p:nvSpPr>
        <p:spPr>
          <a:xfrm>
            <a:off x="6196013" y="2995613"/>
            <a:ext cx="2743200" cy="1304925"/>
          </a:xfrm>
          <a:custGeom>
            <a:avLst/>
            <a:gdLst/>
            <a:ahLst/>
            <a:cxnLst/>
            <a:rect l="l" t="t" r="r" b="b"/>
            <a:pathLst>
              <a:path w="2743200" h="1304925">
                <a:moveTo>
                  <a:pt x="76195" y="0"/>
                </a:moveTo>
                <a:lnTo>
                  <a:pt x="2667005" y="0"/>
                </a:lnTo>
                <a:cubicBezTo>
                  <a:pt x="2709058" y="0"/>
                  <a:pt x="2743200" y="34142"/>
                  <a:pt x="2743200" y="76195"/>
                </a:cubicBezTo>
                <a:lnTo>
                  <a:pt x="2743200" y="1228730"/>
                </a:lnTo>
                <a:cubicBezTo>
                  <a:pt x="2743200" y="1270783"/>
                  <a:pt x="2709058" y="1304925"/>
                  <a:pt x="2667005" y="1304925"/>
                </a:cubicBezTo>
                <a:lnTo>
                  <a:pt x="76195" y="1304925"/>
                </a:lnTo>
                <a:cubicBezTo>
                  <a:pt x="34142" y="1304925"/>
                  <a:pt x="0" y="1270783"/>
                  <a:pt x="0" y="1228730"/>
                </a:cubicBezTo>
                <a:lnTo>
                  <a:pt x="0" y="76195"/>
                </a:lnTo>
                <a:cubicBezTo>
                  <a:pt x="0" y="34142"/>
                  <a:pt x="34142" y="0"/>
                  <a:pt x="76195" y="0"/>
                </a:cubicBezTo>
                <a:close/>
              </a:path>
            </a:pathLst>
          </a:custGeom>
          <a:solidFill>
            <a:srgbClr val="4A5C6A">
              <a:alpha val="30196"/>
            </a:srgbClr>
          </a:solidFill>
          <a:ln w="12700">
            <a:solidFill>
              <a:srgbClr val="006A4A">
                <a:alpha val="40000"/>
              </a:srgbClr>
            </a:solidFill>
            <a:prstDash val="solid"/>
          </a:ln>
        </p:spPr>
        <p:txBody>
          <a:bodyPr/>
          <a:lstStyle/>
          <a:p>
            <a:endParaRPr lang="en-GB"/>
          </a:p>
        </p:txBody>
      </p:sp>
      <p:sp>
        <p:nvSpPr>
          <p:cNvPr id="26" name="Shape 23"/>
          <p:cNvSpPr/>
          <p:nvPr/>
        </p:nvSpPr>
        <p:spPr>
          <a:xfrm>
            <a:off x="7453312" y="3152775"/>
            <a:ext cx="228600" cy="228600"/>
          </a:xfrm>
          <a:custGeom>
            <a:avLst/>
            <a:gdLst/>
            <a:ahLst/>
            <a:cxn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006A4A"/>
          </a:solidFill>
          <a:ln/>
        </p:spPr>
        <p:txBody>
          <a:bodyPr/>
          <a:lstStyle/>
          <a:p>
            <a:endParaRPr lang="en-GB"/>
          </a:p>
        </p:txBody>
      </p:sp>
      <p:sp>
        <p:nvSpPr>
          <p:cNvPr id="27" name="Text 24"/>
          <p:cNvSpPr/>
          <p:nvPr/>
        </p:nvSpPr>
        <p:spPr>
          <a:xfrm>
            <a:off x="6281738" y="3457575"/>
            <a:ext cx="257175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£300bn</a:t>
            </a:r>
            <a:endParaRPr lang="en-US" sz="1600" dirty="0"/>
          </a:p>
        </p:txBody>
      </p:sp>
      <p:sp>
        <p:nvSpPr>
          <p:cNvPr id="28" name="Text 25"/>
          <p:cNvSpPr/>
          <p:nvPr/>
        </p:nvSpPr>
        <p:spPr>
          <a:xfrm>
            <a:off x="6324600" y="380047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Mortgage Lending</a:t>
            </a:r>
            <a:endParaRPr lang="en-US" sz="1600" dirty="0"/>
          </a:p>
        </p:txBody>
      </p:sp>
      <p:sp>
        <p:nvSpPr>
          <p:cNvPr id="29" name="Text 26"/>
          <p:cNvSpPr/>
          <p:nvPr/>
        </p:nvSpPr>
        <p:spPr>
          <a:xfrm>
            <a:off x="6324600" y="3990975"/>
            <a:ext cx="2486025" cy="152400"/>
          </a:xfrm>
          <a:prstGeom prst="rect">
            <a:avLst/>
          </a:prstGeom>
          <a:noFill/>
          <a:ln/>
        </p:spPr>
        <p:txBody>
          <a:bodyPr wrap="square" lIns="0" tIns="0" rIns="0" bIns="0" rtlCol="0" anchor="ctr"/>
          <a:lstStyle/>
          <a:p>
            <a:pPr algn="ct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#1 UK Position</a:t>
            </a:r>
            <a:endParaRPr lang="en-US" sz="1600" dirty="0"/>
          </a:p>
        </p:txBody>
      </p:sp>
      <p:sp>
        <p:nvSpPr>
          <p:cNvPr id="30" name="Shape 27"/>
          <p:cNvSpPr/>
          <p:nvPr/>
        </p:nvSpPr>
        <p:spPr>
          <a:xfrm>
            <a:off x="9063038" y="2995613"/>
            <a:ext cx="2743200" cy="1304925"/>
          </a:xfrm>
          <a:custGeom>
            <a:avLst/>
            <a:gdLst/>
            <a:ahLst/>
            <a:cxnLst/>
            <a:rect l="l" t="t" r="r" b="b"/>
            <a:pathLst>
              <a:path w="2743200" h="1304925">
                <a:moveTo>
                  <a:pt x="76195" y="0"/>
                </a:moveTo>
                <a:lnTo>
                  <a:pt x="2667005" y="0"/>
                </a:lnTo>
                <a:cubicBezTo>
                  <a:pt x="2709058" y="0"/>
                  <a:pt x="2743200" y="34142"/>
                  <a:pt x="2743200" y="76195"/>
                </a:cubicBezTo>
                <a:lnTo>
                  <a:pt x="2743200" y="1228730"/>
                </a:lnTo>
                <a:cubicBezTo>
                  <a:pt x="2743200" y="1270783"/>
                  <a:pt x="2709058" y="1304925"/>
                  <a:pt x="2667005" y="1304925"/>
                </a:cubicBezTo>
                <a:lnTo>
                  <a:pt x="76195" y="1304925"/>
                </a:lnTo>
                <a:cubicBezTo>
                  <a:pt x="34142" y="1304925"/>
                  <a:pt x="0" y="1270783"/>
                  <a:pt x="0" y="1228730"/>
                </a:cubicBezTo>
                <a:lnTo>
                  <a:pt x="0" y="76195"/>
                </a:lnTo>
                <a:cubicBezTo>
                  <a:pt x="0" y="34142"/>
                  <a:pt x="34142" y="0"/>
                  <a:pt x="76195" y="0"/>
                </a:cubicBezTo>
                <a:close/>
              </a:path>
            </a:pathLst>
          </a:custGeom>
          <a:solidFill>
            <a:srgbClr val="4A5C6A">
              <a:alpha val="30196"/>
            </a:srgbClr>
          </a:solidFill>
          <a:ln w="12700">
            <a:solidFill>
              <a:srgbClr val="006A4A">
                <a:alpha val="40000"/>
              </a:srgbClr>
            </a:solidFill>
            <a:prstDash val="solid"/>
          </a:ln>
        </p:spPr>
        <p:txBody>
          <a:bodyPr/>
          <a:lstStyle/>
          <a:p>
            <a:endParaRPr lang="en-GB"/>
          </a:p>
        </p:txBody>
      </p:sp>
      <p:sp>
        <p:nvSpPr>
          <p:cNvPr id="31" name="Shape 28"/>
          <p:cNvSpPr/>
          <p:nvPr/>
        </p:nvSpPr>
        <p:spPr>
          <a:xfrm>
            <a:off x="10348913" y="3152775"/>
            <a:ext cx="171450" cy="228600"/>
          </a:xfrm>
          <a:custGeom>
            <a:avLst/>
            <a:gdLst/>
            <a:ahLst/>
            <a:cxnLst/>
            <a:rect l="l" t="t" r="r" b="b"/>
            <a:pathLst>
              <a:path w="171450" h="228600">
                <a:moveTo>
                  <a:pt x="40764" y="128588"/>
                </a:moveTo>
                <a:lnTo>
                  <a:pt x="25226" y="128588"/>
                </a:lnTo>
                <a:cubicBezTo>
                  <a:pt x="19288" y="128588"/>
                  <a:pt x="14511" y="123810"/>
                  <a:pt x="14511" y="117872"/>
                </a:cubicBezTo>
                <a:cubicBezTo>
                  <a:pt x="14511" y="111934"/>
                  <a:pt x="19288" y="107156"/>
                  <a:pt x="25226" y="107156"/>
                </a:cubicBezTo>
                <a:lnTo>
                  <a:pt x="34781" y="107156"/>
                </a:lnTo>
                <a:cubicBezTo>
                  <a:pt x="16654" y="65767"/>
                  <a:pt x="46926" y="18752"/>
                  <a:pt x="92690" y="18752"/>
                </a:cubicBezTo>
                <a:lnTo>
                  <a:pt x="96351" y="18752"/>
                </a:lnTo>
                <a:cubicBezTo>
                  <a:pt x="111353" y="18752"/>
                  <a:pt x="125909" y="23798"/>
                  <a:pt x="137651" y="33129"/>
                </a:cubicBezTo>
                <a:lnTo>
                  <a:pt x="144840" y="38799"/>
                </a:lnTo>
                <a:cubicBezTo>
                  <a:pt x="151046" y="43711"/>
                  <a:pt x="152073" y="52685"/>
                  <a:pt x="147161" y="58891"/>
                </a:cubicBezTo>
                <a:cubicBezTo>
                  <a:pt x="142250" y="65097"/>
                  <a:pt x="133276" y="66124"/>
                  <a:pt x="127069" y="61213"/>
                </a:cubicBezTo>
                <a:lnTo>
                  <a:pt x="119881" y="55543"/>
                </a:lnTo>
                <a:cubicBezTo>
                  <a:pt x="113184" y="50229"/>
                  <a:pt x="104879" y="47327"/>
                  <a:pt x="96307" y="47327"/>
                </a:cubicBezTo>
                <a:lnTo>
                  <a:pt x="92646" y="47327"/>
                </a:lnTo>
                <a:cubicBezTo>
                  <a:pt x="67062" y="47327"/>
                  <a:pt x="50363" y="74072"/>
                  <a:pt x="61526" y="97066"/>
                </a:cubicBezTo>
                <a:cubicBezTo>
                  <a:pt x="63133" y="100370"/>
                  <a:pt x="64472" y="103718"/>
                  <a:pt x="65589" y="107156"/>
                </a:cubicBezTo>
                <a:lnTo>
                  <a:pt x="132338" y="107156"/>
                </a:lnTo>
                <a:cubicBezTo>
                  <a:pt x="138276" y="107156"/>
                  <a:pt x="143054" y="111934"/>
                  <a:pt x="143054" y="117872"/>
                </a:cubicBezTo>
                <a:cubicBezTo>
                  <a:pt x="143054" y="123810"/>
                  <a:pt x="138276" y="128588"/>
                  <a:pt x="132338" y="128588"/>
                </a:cubicBezTo>
                <a:lnTo>
                  <a:pt x="69294" y="128588"/>
                </a:lnTo>
                <a:cubicBezTo>
                  <a:pt x="69741" y="144348"/>
                  <a:pt x="65410" y="160109"/>
                  <a:pt x="56391" y="173638"/>
                </a:cubicBezTo>
                <a:lnTo>
                  <a:pt x="48310" y="185738"/>
                </a:lnTo>
                <a:lnTo>
                  <a:pt x="143054" y="185738"/>
                </a:lnTo>
                <a:cubicBezTo>
                  <a:pt x="150956" y="185738"/>
                  <a:pt x="157341" y="192122"/>
                  <a:pt x="157341" y="200025"/>
                </a:cubicBezTo>
                <a:cubicBezTo>
                  <a:pt x="157341" y="207928"/>
                  <a:pt x="150956" y="214313"/>
                  <a:pt x="143054" y="214313"/>
                </a:cubicBezTo>
                <a:lnTo>
                  <a:pt x="21610" y="214313"/>
                </a:lnTo>
                <a:cubicBezTo>
                  <a:pt x="16341" y="214313"/>
                  <a:pt x="11519" y="211410"/>
                  <a:pt x="9019" y="206767"/>
                </a:cubicBezTo>
                <a:cubicBezTo>
                  <a:pt x="6519" y="202123"/>
                  <a:pt x="6787" y="196498"/>
                  <a:pt x="9733" y="192078"/>
                </a:cubicBezTo>
                <a:lnTo>
                  <a:pt x="32593" y="157788"/>
                </a:lnTo>
                <a:cubicBezTo>
                  <a:pt x="38442" y="149036"/>
                  <a:pt x="41166" y="138767"/>
                  <a:pt x="40719" y="128588"/>
                </a:cubicBezTo>
                <a:close/>
              </a:path>
            </a:pathLst>
          </a:custGeom>
          <a:solidFill>
            <a:srgbClr val="006A4A"/>
          </a:solidFill>
          <a:ln/>
        </p:spPr>
        <p:txBody>
          <a:bodyPr/>
          <a:lstStyle/>
          <a:p>
            <a:endParaRPr lang="en-GB"/>
          </a:p>
        </p:txBody>
      </p:sp>
      <p:sp>
        <p:nvSpPr>
          <p:cNvPr id="32" name="Text 29"/>
          <p:cNvSpPr/>
          <p:nvPr/>
        </p:nvSpPr>
        <p:spPr>
          <a:xfrm>
            <a:off x="9148763" y="3457575"/>
            <a:ext cx="257175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£900bn</a:t>
            </a:r>
            <a:endParaRPr lang="en-US" sz="1600" dirty="0"/>
          </a:p>
        </p:txBody>
      </p:sp>
      <p:sp>
        <p:nvSpPr>
          <p:cNvPr id="33" name="Text 30"/>
          <p:cNvSpPr/>
          <p:nvPr/>
        </p:nvSpPr>
        <p:spPr>
          <a:xfrm>
            <a:off x="9191625" y="380047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Total Assets</a:t>
            </a:r>
            <a:endParaRPr lang="en-US" sz="1600" dirty="0"/>
          </a:p>
        </p:txBody>
      </p:sp>
      <p:sp>
        <p:nvSpPr>
          <p:cNvPr id="34" name="Text 31"/>
          <p:cNvSpPr/>
          <p:nvPr/>
        </p:nvSpPr>
        <p:spPr>
          <a:xfrm>
            <a:off x="9191625" y="3990975"/>
            <a:ext cx="2486025" cy="152400"/>
          </a:xfrm>
          <a:prstGeom prst="rect">
            <a:avLst/>
          </a:prstGeom>
          <a:noFill/>
          <a:ln/>
        </p:spPr>
        <p:txBody>
          <a:bodyPr wrap="square" lIns="0" tIns="0" rIns="0" bIns="0" rtlCol="0" anchor="ctr"/>
          <a:lstStyle/>
          <a:p>
            <a:pPr algn="ct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Largest UK Bank</a:t>
            </a:r>
            <a:endParaRPr lang="en-US" sz="1600" dirty="0"/>
          </a:p>
        </p:txBody>
      </p:sp>
      <p:sp>
        <p:nvSpPr>
          <p:cNvPr id="35" name="Shape 32"/>
          <p:cNvSpPr/>
          <p:nvPr/>
        </p:nvSpPr>
        <p:spPr>
          <a:xfrm>
            <a:off x="6191250" y="4419600"/>
            <a:ext cx="5619750" cy="723900"/>
          </a:xfrm>
          <a:custGeom>
            <a:avLst/>
            <a:gdLst/>
            <a:ahLst/>
            <a:cxnLst/>
            <a:rect l="l" t="t" r="r" b="b"/>
            <a:pathLst>
              <a:path w="5619750" h="723900">
                <a:moveTo>
                  <a:pt x="76198" y="0"/>
                </a:moveTo>
                <a:lnTo>
                  <a:pt x="5543552" y="0"/>
                </a:lnTo>
                <a:cubicBezTo>
                  <a:pt x="5585607" y="0"/>
                  <a:pt x="5619750" y="34143"/>
                  <a:pt x="5619750" y="76198"/>
                </a:cubicBezTo>
                <a:lnTo>
                  <a:pt x="5619750" y="647702"/>
                </a:lnTo>
                <a:cubicBezTo>
                  <a:pt x="5619750" y="689757"/>
                  <a:pt x="5585607" y="723900"/>
                  <a:pt x="5543552" y="723900"/>
                </a:cubicBezTo>
                <a:lnTo>
                  <a:pt x="76198" y="723900"/>
                </a:lnTo>
                <a:cubicBezTo>
                  <a:pt x="34143" y="723900"/>
                  <a:pt x="0" y="689757"/>
                  <a:pt x="0" y="647702"/>
                </a:cubicBezTo>
                <a:lnTo>
                  <a:pt x="0" y="76198"/>
                </a:lnTo>
                <a:cubicBezTo>
                  <a:pt x="0" y="34143"/>
                  <a:pt x="34143" y="0"/>
                  <a:pt x="76198" y="0"/>
                </a:cubicBezTo>
                <a:close/>
              </a:path>
            </a:pathLst>
          </a:custGeom>
          <a:solidFill>
            <a:srgbClr val="4A5C6A">
              <a:alpha val="20000"/>
            </a:srgbClr>
          </a:solidFill>
          <a:ln/>
        </p:spPr>
        <p:txBody>
          <a:bodyPr/>
          <a:lstStyle/>
          <a:p>
            <a:endParaRPr lang="en-GB"/>
          </a:p>
        </p:txBody>
      </p:sp>
      <p:sp>
        <p:nvSpPr>
          <p:cNvPr id="36" name="Text 33"/>
          <p:cNvSpPr/>
          <p:nvPr/>
        </p:nvSpPr>
        <p:spPr>
          <a:xfrm>
            <a:off x="6305550" y="4533900"/>
            <a:ext cx="545782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Brand Portfolio</a:t>
            </a:r>
            <a:endParaRPr lang="en-US" sz="1600" dirty="0"/>
          </a:p>
        </p:txBody>
      </p:sp>
      <p:sp>
        <p:nvSpPr>
          <p:cNvPr id="37" name="Shape 34"/>
          <p:cNvSpPr/>
          <p:nvPr/>
        </p:nvSpPr>
        <p:spPr>
          <a:xfrm>
            <a:off x="6305550" y="4800600"/>
            <a:ext cx="819150" cy="228600"/>
          </a:xfrm>
          <a:custGeom>
            <a:avLst/>
            <a:gdLst/>
            <a:ahLst/>
            <a:cxnLst/>
            <a:rect l="l" t="t" r="r" b="b"/>
            <a:pathLst>
              <a:path w="819150" h="228600">
                <a:moveTo>
                  <a:pt x="114300" y="0"/>
                </a:moveTo>
                <a:lnTo>
                  <a:pt x="704850" y="0"/>
                </a:lnTo>
                <a:cubicBezTo>
                  <a:pt x="767934" y="0"/>
                  <a:pt x="819150" y="51216"/>
                  <a:pt x="819150" y="114300"/>
                </a:cubicBezTo>
                <a:lnTo>
                  <a:pt x="819150" y="114300"/>
                </a:lnTo>
                <a:cubicBezTo>
                  <a:pt x="819150" y="177384"/>
                  <a:pt x="767934" y="228600"/>
                  <a:pt x="704850" y="228600"/>
                </a:cubicBezTo>
                <a:lnTo>
                  <a:pt x="114300" y="228600"/>
                </a:lnTo>
                <a:cubicBezTo>
                  <a:pt x="51216" y="228600"/>
                  <a:pt x="0" y="177384"/>
                  <a:pt x="0" y="114300"/>
                </a:cubicBezTo>
                <a:lnTo>
                  <a:pt x="0" y="114300"/>
                </a:lnTo>
                <a:cubicBezTo>
                  <a:pt x="0" y="51216"/>
                  <a:pt x="51216" y="0"/>
                  <a:pt x="114300" y="0"/>
                </a:cubicBezTo>
                <a:close/>
              </a:path>
            </a:pathLst>
          </a:custGeom>
          <a:solidFill>
            <a:srgbClr val="006A4A"/>
          </a:solidFill>
          <a:ln/>
        </p:spPr>
        <p:txBody>
          <a:bodyPr/>
          <a:lstStyle/>
          <a:p>
            <a:endParaRPr lang="en-GB"/>
          </a:p>
        </p:txBody>
      </p:sp>
      <p:sp>
        <p:nvSpPr>
          <p:cNvPr id="38" name="Text 35"/>
          <p:cNvSpPr/>
          <p:nvPr/>
        </p:nvSpPr>
        <p:spPr>
          <a:xfrm>
            <a:off x="6305550" y="4800600"/>
            <a:ext cx="876300" cy="228600"/>
          </a:xfrm>
          <a:prstGeom prst="rect">
            <a:avLst/>
          </a:prstGeom>
          <a:noFill/>
          <a:ln/>
        </p:spPr>
        <p:txBody>
          <a:bodyPr wrap="square" lIns="114300" tIns="38100" rIns="1143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Lloyds Bank</a:t>
            </a:r>
            <a:endParaRPr lang="en-US" sz="1600" dirty="0"/>
          </a:p>
        </p:txBody>
      </p:sp>
      <p:sp>
        <p:nvSpPr>
          <p:cNvPr id="39" name="Shape 36"/>
          <p:cNvSpPr/>
          <p:nvPr/>
        </p:nvSpPr>
        <p:spPr>
          <a:xfrm>
            <a:off x="7198072" y="4800600"/>
            <a:ext cx="571500" cy="228600"/>
          </a:xfrm>
          <a:custGeom>
            <a:avLst/>
            <a:gdLst/>
            <a:ahLst/>
            <a:cxnLst/>
            <a:rect l="l" t="t" r="r" b="b"/>
            <a:pathLst>
              <a:path w="571500" h="228600">
                <a:moveTo>
                  <a:pt x="114300" y="0"/>
                </a:moveTo>
                <a:lnTo>
                  <a:pt x="457200" y="0"/>
                </a:lnTo>
                <a:cubicBezTo>
                  <a:pt x="520284" y="0"/>
                  <a:pt x="571500" y="51216"/>
                  <a:pt x="571500" y="114300"/>
                </a:cubicBezTo>
                <a:lnTo>
                  <a:pt x="571500" y="114300"/>
                </a:lnTo>
                <a:cubicBezTo>
                  <a:pt x="571500" y="177384"/>
                  <a:pt x="520284" y="228600"/>
                  <a:pt x="457200" y="228600"/>
                </a:cubicBezTo>
                <a:lnTo>
                  <a:pt x="114300" y="228600"/>
                </a:lnTo>
                <a:cubicBezTo>
                  <a:pt x="51216" y="228600"/>
                  <a:pt x="0" y="177384"/>
                  <a:pt x="0" y="114300"/>
                </a:cubicBezTo>
                <a:lnTo>
                  <a:pt x="0" y="114300"/>
                </a:lnTo>
                <a:cubicBezTo>
                  <a:pt x="0" y="51216"/>
                  <a:pt x="51216" y="0"/>
                  <a:pt x="114300" y="0"/>
                </a:cubicBezTo>
                <a:close/>
              </a:path>
            </a:pathLst>
          </a:custGeom>
          <a:solidFill>
            <a:srgbClr val="4A5C6A"/>
          </a:solidFill>
          <a:ln/>
        </p:spPr>
        <p:txBody>
          <a:bodyPr/>
          <a:lstStyle/>
          <a:p>
            <a:endParaRPr lang="en-GB"/>
          </a:p>
        </p:txBody>
      </p:sp>
      <p:sp>
        <p:nvSpPr>
          <p:cNvPr id="40" name="Text 37"/>
          <p:cNvSpPr/>
          <p:nvPr/>
        </p:nvSpPr>
        <p:spPr>
          <a:xfrm>
            <a:off x="7198072" y="4800600"/>
            <a:ext cx="628650" cy="228600"/>
          </a:xfrm>
          <a:prstGeom prst="rect">
            <a:avLst/>
          </a:prstGeom>
          <a:noFill/>
          <a:ln/>
        </p:spPr>
        <p:txBody>
          <a:bodyPr wrap="square" lIns="114300" tIns="38100" rIns="1143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Halifax</a:t>
            </a:r>
            <a:endParaRPr lang="en-US" sz="1600" dirty="0"/>
          </a:p>
        </p:txBody>
      </p:sp>
      <p:sp>
        <p:nvSpPr>
          <p:cNvPr id="41" name="Shape 38"/>
          <p:cNvSpPr/>
          <p:nvPr/>
        </p:nvSpPr>
        <p:spPr>
          <a:xfrm>
            <a:off x="7843391" y="4800600"/>
            <a:ext cx="1047750" cy="228600"/>
          </a:xfrm>
          <a:custGeom>
            <a:avLst/>
            <a:gdLst/>
            <a:ahLst/>
            <a:cxnLst/>
            <a:rect l="l" t="t" r="r" b="b"/>
            <a:pathLst>
              <a:path w="1047750" h="228600">
                <a:moveTo>
                  <a:pt x="114300" y="0"/>
                </a:moveTo>
                <a:lnTo>
                  <a:pt x="933450" y="0"/>
                </a:lnTo>
                <a:cubicBezTo>
                  <a:pt x="996534" y="0"/>
                  <a:pt x="1047750" y="51216"/>
                  <a:pt x="1047750" y="114300"/>
                </a:cubicBezTo>
                <a:lnTo>
                  <a:pt x="1047750" y="114300"/>
                </a:lnTo>
                <a:cubicBezTo>
                  <a:pt x="1047750" y="177384"/>
                  <a:pt x="996534" y="228600"/>
                  <a:pt x="933450" y="228600"/>
                </a:cubicBezTo>
                <a:lnTo>
                  <a:pt x="114300" y="228600"/>
                </a:lnTo>
                <a:cubicBezTo>
                  <a:pt x="51216" y="228600"/>
                  <a:pt x="0" y="177384"/>
                  <a:pt x="0" y="114300"/>
                </a:cubicBezTo>
                <a:lnTo>
                  <a:pt x="0" y="114300"/>
                </a:lnTo>
                <a:cubicBezTo>
                  <a:pt x="0" y="51216"/>
                  <a:pt x="51216" y="0"/>
                  <a:pt x="114300" y="0"/>
                </a:cubicBezTo>
                <a:close/>
              </a:path>
            </a:pathLst>
          </a:custGeom>
          <a:solidFill>
            <a:srgbClr val="4A5C6A"/>
          </a:solidFill>
          <a:ln/>
        </p:spPr>
        <p:txBody>
          <a:bodyPr/>
          <a:lstStyle/>
          <a:p>
            <a:endParaRPr lang="en-GB"/>
          </a:p>
        </p:txBody>
      </p:sp>
      <p:sp>
        <p:nvSpPr>
          <p:cNvPr id="42" name="Text 39"/>
          <p:cNvSpPr/>
          <p:nvPr/>
        </p:nvSpPr>
        <p:spPr>
          <a:xfrm>
            <a:off x="7843391" y="4800600"/>
            <a:ext cx="1104900" cy="228600"/>
          </a:xfrm>
          <a:prstGeom prst="rect">
            <a:avLst/>
          </a:prstGeom>
          <a:noFill/>
          <a:ln/>
        </p:spPr>
        <p:txBody>
          <a:bodyPr wrap="square" lIns="114300" tIns="38100" rIns="1143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Bank of Scotland</a:t>
            </a:r>
            <a:endParaRPr lang="en-US" sz="1600" dirty="0"/>
          </a:p>
        </p:txBody>
      </p:sp>
      <p:sp>
        <p:nvSpPr>
          <p:cNvPr id="43" name="Shape 40"/>
          <p:cNvSpPr/>
          <p:nvPr/>
        </p:nvSpPr>
        <p:spPr>
          <a:xfrm>
            <a:off x="8971955" y="4800600"/>
            <a:ext cx="1076325" cy="228600"/>
          </a:xfrm>
          <a:custGeom>
            <a:avLst/>
            <a:gdLst/>
            <a:ahLst/>
            <a:cxnLst/>
            <a:rect l="l" t="t" r="r" b="b"/>
            <a:pathLst>
              <a:path w="1076325" h="228600">
                <a:moveTo>
                  <a:pt x="114300" y="0"/>
                </a:moveTo>
                <a:lnTo>
                  <a:pt x="962025" y="0"/>
                </a:lnTo>
                <a:cubicBezTo>
                  <a:pt x="1025109" y="0"/>
                  <a:pt x="1076325" y="51216"/>
                  <a:pt x="1076325" y="114300"/>
                </a:cubicBezTo>
                <a:lnTo>
                  <a:pt x="1076325" y="114300"/>
                </a:lnTo>
                <a:cubicBezTo>
                  <a:pt x="1076325" y="177384"/>
                  <a:pt x="1025109" y="228600"/>
                  <a:pt x="962025" y="228600"/>
                </a:cubicBezTo>
                <a:lnTo>
                  <a:pt x="114300" y="228600"/>
                </a:lnTo>
                <a:cubicBezTo>
                  <a:pt x="51216" y="228600"/>
                  <a:pt x="0" y="177384"/>
                  <a:pt x="0" y="114300"/>
                </a:cubicBezTo>
                <a:lnTo>
                  <a:pt x="0" y="114300"/>
                </a:lnTo>
                <a:cubicBezTo>
                  <a:pt x="0" y="51216"/>
                  <a:pt x="51216" y="0"/>
                  <a:pt x="114300" y="0"/>
                </a:cubicBezTo>
                <a:close/>
              </a:path>
            </a:pathLst>
          </a:custGeom>
          <a:solidFill>
            <a:srgbClr val="4A5C6A"/>
          </a:solidFill>
          <a:ln/>
        </p:spPr>
        <p:txBody>
          <a:bodyPr/>
          <a:lstStyle/>
          <a:p>
            <a:endParaRPr lang="en-GB"/>
          </a:p>
        </p:txBody>
      </p:sp>
      <p:sp>
        <p:nvSpPr>
          <p:cNvPr id="44" name="Text 41"/>
          <p:cNvSpPr/>
          <p:nvPr/>
        </p:nvSpPr>
        <p:spPr>
          <a:xfrm>
            <a:off x="8971955" y="4800600"/>
            <a:ext cx="1133475" cy="228600"/>
          </a:xfrm>
          <a:prstGeom prst="rect">
            <a:avLst/>
          </a:prstGeom>
          <a:noFill/>
          <a:ln/>
        </p:spPr>
        <p:txBody>
          <a:bodyPr wrap="square" lIns="114300" tIns="38100" rIns="1143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Scottish Widows</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FY 2024 Results</a:t>
            </a:r>
            <a:endParaRPr lang="en-US" sz="1600" dirty="0"/>
          </a:p>
        </p:txBody>
      </p:sp>
      <p:sp>
        <p:nvSpPr>
          <p:cNvPr id="3" name="Text 1"/>
          <p:cNvSpPr/>
          <p:nvPr/>
        </p:nvSpPr>
        <p:spPr>
          <a:xfrm>
            <a:off x="381000" y="762000"/>
            <a:ext cx="354330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Financial Performance</a:t>
            </a:r>
            <a:endParaRPr lang="en-US" sz="1600" dirty="0"/>
          </a:p>
        </p:txBody>
      </p:sp>
      <p:sp>
        <p:nvSpPr>
          <p:cNvPr id="4" name="Text 2"/>
          <p:cNvSpPr/>
          <p:nvPr/>
        </p:nvSpPr>
        <p:spPr>
          <a:xfrm>
            <a:off x="10217646" y="571500"/>
            <a:ext cx="1590675" cy="381000"/>
          </a:xfrm>
          <a:prstGeom prst="rect">
            <a:avLst/>
          </a:prstGeom>
          <a:noFill/>
          <a:ln/>
        </p:spPr>
        <p:txBody>
          <a:bodyPr wrap="square" lIns="0" tIns="0" rIns="0" bIns="0" rtlCol="0" anchor="ctr"/>
          <a:lstStyle/>
          <a:p>
            <a:pPr algn="r">
              <a:lnSpc>
                <a:spcPct val="90000"/>
              </a:lnSpc>
            </a:pPr>
            <a:r>
              <a:rPr lang="en-US" sz="2700" b="1" dirty="0">
                <a:solidFill>
                  <a:srgbClr val="C0A062"/>
                </a:solidFill>
                <a:latin typeface="Quattrocento Sans" pitchFamily="34" charset="0"/>
                <a:ea typeface="Quattrocento Sans" pitchFamily="34" charset="-122"/>
                <a:cs typeface="Quattrocento Sans" pitchFamily="34" charset="-120"/>
              </a:rPr>
              <a:t>£4.5bn</a:t>
            </a:r>
            <a:endParaRPr lang="en-US" sz="1600" dirty="0"/>
          </a:p>
        </p:txBody>
      </p:sp>
      <p:sp>
        <p:nvSpPr>
          <p:cNvPr id="5" name="Text 3"/>
          <p:cNvSpPr/>
          <p:nvPr/>
        </p:nvSpPr>
        <p:spPr>
          <a:xfrm>
            <a:off x="10322421" y="952500"/>
            <a:ext cx="1485900"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Statutory Profit After Tax</a:t>
            </a:r>
            <a:endParaRPr lang="en-US" sz="1600" dirty="0"/>
          </a:p>
        </p:txBody>
      </p:sp>
      <p:sp>
        <p:nvSpPr>
          <p:cNvPr id="6" name="Shape 4"/>
          <p:cNvSpPr/>
          <p:nvPr/>
        </p:nvSpPr>
        <p:spPr>
          <a:xfrm>
            <a:off x="381000" y="12192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Shape 5"/>
          <p:cNvSpPr/>
          <p:nvPr/>
        </p:nvSpPr>
        <p:spPr>
          <a:xfrm>
            <a:off x="381000" y="1352550"/>
            <a:ext cx="7572375" cy="4171950"/>
          </a:xfrm>
          <a:custGeom>
            <a:avLst/>
            <a:gdLst/>
            <a:ahLst/>
            <a:cxnLst/>
            <a:rect l="l" t="t" r="r" b="b"/>
            <a:pathLst>
              <a:path w="7572375" h="4171950">
                <a:moveTo>
                  <a:pt x="76180" y="0"/>
                </a:moveTo>
                <a:lnTo>
                  <a:pt x="7496195" y="0"/>
                </a:lnTo>
                <a:cubicBezTo>
                  <a:pt x="7538268" y="0"/>
                  <a:pt x="7572375" y="34107"/>
                  <a:pt x="7572375" y="76180"/>
                </a:cubicBezTo>
                <a:lnTo>
                  <a:pt x="7572375" y="4095770"/>
                </a:lnTo>
                <a:cubicBezTo>
                  <a:pt x="7572375" y="4137843"/>
                  <a:pt x="7538268" y="4171950"/>
                  <a:pt x="7496195" y="4171950"/>
                </a:cubicBezTo>
                <a:lnTo>
                  <a:pt x="76180" y="4171950"/>
                </a:lnTo>
                <a:cubicBezTo>
                  <a:pt x="34107" y="4171950"/>
                  <a:pt x="0" y="4137843"/>
                  <a:pt x="0" y="4095770"/>
                </a:cubicBezTo>
                <a:lnTo>
                  <a:pt x="0" y="76180"/>
                </a:lnTo>
                <a:cubicBezTo>
                  <a:pt x="0" y="34135"/>
                  <a:pt x="34135" y="0"/>
                  <a:pt x="76180" y="0"/>
                </a:cubicBezTo>
                <a:close/>
              </a:path>
            </a:pathLst>
          </a:custGeom>
          <a:solidFill>
            <a:srgbClr val="4A5C6A">
              <a:alpha val="10196"/>
            </a:srgbClr>
          </a:solidFill>
          <a:ln/>
        </p:spPr>
        <p:txBody>
          <a:bodyPr/>
          <a:lstStyle/>
          <a:p>
            <a:endParaRPr lang="en-GB"/>
          </a:p>
        </p:txBody>
      </p:sp>
      <p:sp>
        <p:nvSpPr>
          <p:cNvPr id="8" name="Text 6"/>
          <p:cNvSpPr/>
          <p:nvPr/>
        </p:nvSpPr>
        <p:spPr>
          <a:xfrm>
            <a:off x="533400" y="1504950"/>
            <a:ext cx="735330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Three-Year Financial Trend</a:t>
            </a:r>
            <a:endParaRPr lang="en-US" sz="1600" dirty="0"/>
          </a:p>
        </p:txBody>
      </p:sp>
      <p:pic>
        <p:nvPicPr>
          <p:cNvPr id="9" name="Image 0" descr="https://kimi-img.moonshot.cn/pub/slides/26-01-27-10:39:37-d5s2aqeuvalm7mhbf76g.png"/>
          <p:cNvPicPr>
            <a:picLocks noChangeAspect="1"/>
          </p:cNvPicPr>
          <p:nvPr/>
        </p:nvPicPr>
        <p:blipFill>
          <a:blip r:embed="rId3"/>
          <a:srcRect/>
          <a:stretch/>
        </p:blipFill>
        <p:spPr>
          <a:xfrm>
            <a:off x="533400" y="1847850"/>
            <a:ext cx="7267575" cy="3486150"/>
          </a:xfrm>
          <a:prstGeom prst="roundRect">
            <a:avLst>
              <a:gd name="adj" fmla="val 0"/>
            </a:avLst>
          </a:prstGeom>
        </p:spPr>
      </p:pic>
      <p:sp>
        <p:nvSpPr>
          <p:cNvPr id="10" name="Shape 7"/>
          <p:cNvSpPr/>
          <p:nvPr/>
        </p:nvSpPr>
        <p:spPr>
          <a:xfrm>
            <a:off x="8121551" y="1352550"/>
            <a:ext cx="3686175" cy="838200"/>
          </a:xfrm>
          <a:custGeom>
            <a:avLst/>
            <a:gdLst/>
            <a:ahLst/>
            <a:cxnLst/>
            <a:rect l="l" t="t" r="r" b="b"/>
            <a:pathLst>
              <a:path w="3686175" h="838200">
                <a:moveTo>
                  <a:pt x="38100" y="0"/>
                </a:moveTo>
                <a:lnTo>
                  <a:pt x="3609974" y="0"/>
                </a:lnTo>
                <a:cubicBezTo>
                  <a:pt x="3652059" y="0"/>
                  <a:pt x="3686175" y="34116"/>
                  <a:pt x="3686175" y="76201"/>
                </a:cubicBezTo>
                <a:lnTo>
                  <a:pt x="3686175" y="761999"/>
                </a:lnTo>
                <a:cubicBezTo>
                  <a:pt x="3686175" y="804084"/>
                  <a:pt x="3652059" y="838200"/>
                  <a:pt x="3609974" y="838200"/>
                </a:cubicBezTo>
                <a:lnTo>
                  <a:pt x="38100" y="838200"/>
                </a:lnTo>
                <a:cubicBezTo>
                  <a:pt x="17058" y="838200"/>
                  <a:pt x="0" y="821142"/>
                  <a:pt x="0" y="800100"/>
                </a:cubicBezTo>
                <a:lnTo>
                  <a:pt x="0" y="38100"/>
                </a:lnTo>
                <a:cubicBezTo>
                  <a:pt x="0" y="17072"/>
                  <a:pt x="17072" y="0"/>
                  <a:pt x="38100" y="0"/>
                </a:cubicBezTo>
                <a:close/>
              </a:path>
            </a:pathLst>
          </a:custGeom>
          <a:solidFill>
            <a:srgbClr val="82181A">
              <a:alpha val="30196"/>
            </a:srgbClr>
          </a:solidFill>
          <a:ln/>
        </p:spPr>
        <p:txBody>
          <a:bodyPr/>
          <a:lstStyle/>
          <a:p>
            <a:endParaRPr lang="en-GB"/>
          </a:p>
        </p:txBody>
      </p:sp>
      <p:sp>
        <p:nvSpPr>
          <p:cNvPr id="11" name="Shape 8"/>
          <p:cNvSpPr/>
          <p:nvPr/>
        </p:nvSpPr>
        <p:spPr>
          <a:xfrm>
            <a:off x="8121551" y="135255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FB2C36"/>
          </a:solidFill>
          <a:ln/>
        </p:spPr>
        <p:txBody>
          <a:bodyPr/>
          <a:lstStyle/>
          <a:p>
            <a:endParaRPr lang="en-GB"/>
          </a:p>
        </p:txBody>
      </p:sp>
      <p:sp>
        <p:nvSpPr>
          <p:cNvPr id="12" name="Text 9"/>
          <p:cNvSpPr/>
          <p:nvPr/>
        </p:nvSpPr>
        <p:spPr>
          <a:xfrm>
            <a:off x="8254901" y="14668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Statutory Profit Change</a:t>
            </a:r>
            <a:endParaRPr lang="en-US" sz="1600" dirty="0"/>
          </a:p>
        </p:txBody>
      </p:sp>
      <p:sp>
        <p:nvSpPr>
          <p:cNvPr id="13" name="Text 10"/>
          <p:cNvSpPr/>
          <p:nvPr/>
        </p:nvSpPr>
        <p:spPr>
          <a:xfrm>
            <a:off x="8254901" y="1619250"/>
            <a:ext cx="3552825" cy="304800"/>
          </a:xfrm>
          <a:prstGeom prst="rect">
            <a:avLst/>
          </a:prstGeom>
          <a:noFill/>
          <a:ln/>
        </p:spPr>
        <p:txBody>
          <a:bodyPr wrap="square" lIns="0" tIns="0" rIns="0" bIns="0" rtlCol="0" anchor="ctr"/>
          <a:lstStyle/>
          <a:p>
            <a:pPr>
              <a:lnSpc>
                <a:spcPct val="110000"/>
              </a:lnSpc>
            </a:pPr>
            <a:r>
              <a:rPr lang="en-US" sz="1800" b="1" dirty="0">
                <a:solidFill>
                  <a:srgbClr val="FF6467"/>
                </a:solidFill>
                <a:latin typeface="Quattrocento Sans" pitchFamily="34" charset="0"/>
                <a:ea typeface="Quattrocento Sans" pitchFamily="34" charset="-122"/>
                <a:cs typeface="Quattrocento Sans" pitchFamily="34" charset="-120"/>
              </a:rPr>
              <a:t>-19%</a:t>
            </a:r>
            <a:endParaRPr lang="en-US" sz="1600" dirty="0"/>
          </a:p>
        </p:txBody>
      </p:sp>
      <p:sp>
        <p:nvSpPr>
          <p:cNvPr id="14" name="Text 11"/>
          <p:cNvSpPr/>
          <p:nvPr/>
        </p:nvSpPr>
        <p:spPr>
          <a:xfrm>
            <a:off x="8254901" y="19240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vs 2023 (£5.5bn)</a:t>
            </a:r>
            <a:endParaRPr lang="en-US" sz="1600" dirty="0"/>
          </a:p>
        </p:txBody>
      </p:sp>
      <p:sp>
        <p:nvSpPr>
          <p:cNvPr id="15" name="Shape 12"/>
          <p:cNvSpPr/>
          <p:nvPr/>
        </p:nvSpPr>
        <p:spPr>
          <a:xfrm>
            <a:off x="8121551" y="2305050"/>
            <a:ext cx="3686175" cy="838200"/>
          </a:xfrm>
          <a:custGeom>
            <a:avLst/>
            <a:gdLst/>
            <a:ahLst/>
            <a:cxnLst/>
            <a:rect l="l" t="t" r="r" b="b"/>
            <a:pathLst>
              <a:path w="3686175" h="838200">
                <a:moveTo>
                  <a:pt x="38100" y="0"/>
                </a:moveTo>
                <a:lnTo>
                  <a:pt x="3609974" y="0"/>
                </a:lnTo>
                <a:cubicBezTo>
                  <a:pt x="3652059" y="0"/>
                  <a:pt x="3686175" y="34116"/>
                  <a:pt x="3686175" y="76201"/>
                </a:cubicBezTo>
                <a:lnTo>
                  <a:pt x="3686175" y="761999"/>
                </a:lnTo>
                <a:cubicBezTo>
                  <a:pt x="3686175" y="804084"/>
                  <a:pt x="3652059" y="838200"/>
                  <a:pt x="3609974" y="838200"/>
                </a:cubicBezTo>
                <a:lnTo>
                  <a:pt x="38100" y="838200"/>
                </a:lnTo>
                <a:cubicBezTo>
                  <a:pt x="17058" y="838200"/>
                  <a:pt x="0" y="821142"/>
                  <a:pt x="0" y="800100"/>
                </a:cubicBezTo>
                <a:lnTo>
                  <a:pt x="0" y="38100"/>
                </a:lnTo>
                <a:cubicBezTo>
                  <a:pt x="0" y="17072"/>
                  <a:pt x="17072" y="0"/>
                  <a:pt x="38100" y="0"/>
                </a:cubicBezTo>
                <a:close/>
              </a:path>
            </a:pathLst>
          </a:custGeom>
          <a:solidFill>
            <a:srgbClr val="006A4A">
              <a:alpha val="30196"/>
            </a:srgbClr>
          </a:solidFill>
          <a:ln/>
        </p:spPr>
        <p:txBody>
          <a:bodyPr/>
          <a:lstStyle/>
          <a:p>
            <a:endParaRPr lang="en-GB"/>
          </a:p>
        </p:txBody>
      </p:sp>
      <p:sp>
        <p:nvSpPr>
          <p:cNvPr id="16" name="Shape 13"/>
          <p:cNvSpPr/>
          <p:nvPr/>
        </p:nvSpPr>
        <p:spPr>
          <a:xfrm>
            <a:off x="8121551" y="230505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006A4A"/>
          </a:solidFill>
          <a:ln/>
        </p:spPr>
        <p:txBody>
          <a:bodyPr/>
          <a:lstStyle/>
          <a:p>
            <a:endParaRPr lang="en-GB"/>
          </a:p>
        </p:txBody>
      </p:sp>
      <p:sp>
        <p:nvSpPr>
          <p:cNvPr id="17" name="Text 14"/>
          <p:cNvSpPr/>
          <p:nvPr/>
        </p:nvSpPr>
        <p:spPr>
          <a:xfrm>
            <a:off x="8254901" y="24193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Return on Tangible Equity</a:t>
            </a:r>
            <a:endParaRPr lang="en-US" sz="1600" dirty="0"/>
          </a:p>
        </p:txBody>
      </p:sp>
      <p:sp>
        <p:nvSpPr>
          <p:cNvPr id="18" name="Text 15"/>
          <p:cNvSpPr/>
          <p:nvPr/>
        </p:nvSpPr>
        <p:spPr>
          <a:xfrm>
            <a:off x="8254901" y="2571750"/>
            <a:ext cx="3552825" cy="304800"/>
          </a:xfrm>
          <a:prstGeom prst="rect">
            <a:avLst/>
          </a:prstGeom>
          <a:noFill/>
          <a:ln/>
        </p:spPr>
        <p:txBody>
          <a:bodyPr wrap="square" lIns="0" tIns="0" rIns="0" bIns="0" rtlCol="0" anchor="ctr"/>
          <a:lstStyle/>
          <a:p>
            <a:pPr>
              <a:lnSpc>
                <a:spcPct val="110000"/>
              </a:lnSpc>
            </a:pPr>
            <a:r>
              <a:rPr lang="en-US" sz="1800" b="1" dirty="0">
                <a:solidFill>
                  <a:srgbClr val="C0A062"/>
                </a:solidFill>
                <a:latin typeface="Quattrocento Sans" pitchFamily="34" charset="0"/>
                <a:ea typeface="Quattrocento Sans" pitchFamily="34" charset="-122"/>
                <a:cs typeface="Quattrocento Sans" pitchFamily="34" charset="-120"/>
              </a:rPr>
              <a:t>12.3%</a:t>
            </a:r>
            <a:endParaRPr lang="en-US" sz="1600" dirty="0"/>
          </a:p>
        </p:txBody>
      </p:sp>
      <p:sp>
        <p:nvSpPr>
          <p:cNvPr id="19" name="Text 16"/>
          <p:cNvSpPr/>
          <p:nvPr/>
        </p:nvSpPr>
        <p:spPr>
          <a:xfrm>
            <a:off x="8254901" y="28765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14.0% ex. motor finance</a:t>
            </a:r>
            <a:endParaRPr lang="en-US" sz="1600" dirty="0"/>
          </a:p>
        </p:txBody>
      </p:sp>
      <p:sp>
        <p:nvSpPr>
          <p:cNvPr id="20" name="Shape 17"/>
          <p:cNvSpPr/>
          <p:nvPr/>
        </p:nvSpPr>
        <p:spPr>
          <a:xfrm>
            <a:off x="8121551" y="3257550"/>
            <a:ext cx="3686175" cy="838200"/>
          </a:xfrm>
          <a:custGeom>
            <a:avLst/>
            <a:gdLst/>
            <a:ahLst/>
            <a:cxnLst/>
            <a:rect l="l" t="t" r="r" b="b"/>
            <a:pathLst>
              <a:path w="3686175" h="838200">
                <a:moveTo>
                  <a:pt x="38100" y="0"/>
                </a:moveTo>
                <a:lnTo>
                  <a:pt x="3609974" y="0"/>
                </a:lnTo>
                <a:cubicBezTo>
                  <a:pt x="3652059" y="0"/>
                  <a:pt x="3686175" y="34116"/>
                  <a:pt x="3686175" y="76201"/>
                </a:cubicBezTo>
                <a:lnTo>
                  <a:pt x="3686175" y="761999"/>
                </a:lnTo>
                <a:cubicBezTo>
                  <a:pt x="3686175" y="804084"/>
                  <a:pt x="3652059" y="838200"/>
                  <a:pt x="3609974" y="838200"/>
                </a:cubicBezTo>
                <a:lnTo>
                  <a:pt x="38100" y="838200"/>
                </a:lnTo>
                <a:cubicBezTo>
                  <a:pt x="17058" y="838200"/>
                  <a:pt x="0" y="821142"/>
                  <a:pt x="0" y="800100"/>
                </a:cubicBezTo>
                <a:lnTo>
                  <a:pt x="0" y="38100"/>
                </a:lnTo>
                <a:cubicBezTo>
                  <a:pt x="0" y="17072"/>
                  <a:pt x="17072" y="0"/>
                  <a:pt x="38100" y="0"/>
                </a:cubicBezTo>
                <a:close/>
              </a:path>
            </a:pathLst>
          </a:custGeom>
          <a:solidFill>
            <a:srgbClr val="1C398E">
              <a:alpha val="30196"/>
            </a:srgbClr>
          </a:solidFill>
          <a:ln/>
        </p:spPr>
        <p:txBody>
          <a:bodyPr/>
          <a:lstStyle/>
          <a:p>
            <a:endParaRPr lang="en-GB"/>
          </a:p>
        </p:txBody>
      </p:sp>
      <p:sp>
        <p:nvSpPr>
          <p:cNvPr id="21" name="Shape 18"/>
          <p:cNvSpPr/>
          <p:nvPr/>
        </p:nvSpPr>
        <p:spPr>
          <a:xfrm>
            <a:off x="8121551" y="325755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2B7FFF"/>
          </a:solidFill>
          <a:ln/>
        </p:spPr>
        <p:txBody>
          <a:bodyPr/>
          <a:lstStyle/>
          <a:p>
            <a:endParaRPr lang="en-GB"/>
          </a:p>
        </p:txBody>
      </p:sp>
      <p:sp>
        <p:nvSpPr>
          <p:cNvPr id="22" name="Text 19"/>
          <p:cNvSpPr/>
          <p:nvPr/>
        </p:nvSpPr>
        <p:spPr>
          <a:xfrm>
            <a:off x="8254901" y="33718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CET1 Ratio</a:t>
            </a:r>
            <a:endParaRPr lang="en-US" sz="1600" dirty="0"/>
          </a:p>
        </p:txBody>
      </p:sp>
      <p:sp>
        <p:nvSpPr>
          <p:cNvPr id="23" name="Text 20"/>
          <p:cNvSpPr/>
          <p:nvPr/>
        </p:nvSpPr>
        <p:spPr>
          <a:xfrm>
            <a:off x="8254901" y="3524250"/>
            <a:ext cx="3552825" cy="304800"/>
          </a:xfrm>
          <a:prstGeom prst="rect">
            <a:avLst/>
          </a:prstGeom>
          <a:noFill/>
          <a:ln/>
        </p:spPr>
        <p:txBody>
          <a:bodyPr wrap="square" lIns="0" tIns="0" rIns="0" bIns="0" rtlCol="0" anchor="ctr"/>
          <a:lstStyle/>
          <a:p>
            <a:pPr>
              <a:lnSpc>
                <a:spcPct val="110000"/>
              </a:lnSpc>
            </a:pPr>
            <a:r>
              <a:rPr lang="en-US" sz="1800" b="1" dirty="0">
                <a:solidFill>
                  <a:srgbClr val="51A2FF"/>
                </a:solidFill>
                <a:latin typeface="Quattrocento Sans" pitchFamily="34" charset="0"/>
                <a:ea typeface="Quattrocento Sans" pitchFamily="34" charset="-122"/>
                <a:cs typeface="Quattrocento Sans" pitchFamily="34" charset="-120"/>
              </a:rPr>
              <a:t>13.5%</a:t>
            </a:r>
            <a:endParaRPr lang="en-US" sz="1600" dirty="0"/>
          </a:p>
        </p:txBody>
      </p:sp>
      <p:sp>
        <p:nvSpPr>
          <p:cNvPr id="24" name="Text 21"/>
          <p:cNvSpPr/>
          <p:nvPr/>
        </p:nvSpPr>
        <p:spPr>
          <a:xfrm>
            <a:off x="8254901" y="38290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Strong capital position</a:t>
            </a:r>
            <a:endParaRPr lang="en-US" sz="1600" dirty="0"/>
          </a:p>
        </p:txBody>
      </p:sp>
      <p:sp>
        <p:nvSpPr>
          <p:cNvPr id="25" name="Shape 22"/>
          <p:cNvSpPr/>
          <p:nvPr/>
        </p:nvSpPr>
        <p:spPr>
          <a:xfrm>
            <a:off x="8121551" y="4210050"/>
            <a:ext cx="3686175" cy="838200"/>
          </a:xfrm>
          <a:custGeom>
            <a:avLst/>
            <a:gdLst/>
            <a:ahLst/>
            <a:cxnLst/>
            <a:rect l="l" t="t" r="r" b="b"/>
            <a:pathLst>
              <a:path w="3686175" h="838200">
                <a:moveTo>
                  <a:pt x="38100" y="0"/>
                </a:moveTo>
                <a:lnTo>
                  <a:pt x="3609974" y="0"/>
                </a:lnTo>
                <a:cubicBezTo>
                  <a:pt x="3652059" y="0"/>
                  <a:pt x="3686175" y="34116"/>
                  <a:pt x="3686175" y="76201"/>
                </a:cubicBezTo>
                <a:lnTo>
                  <a:pt x="3686175" y="761999"/>
                </a:lnTo>
                <a:cubicBezTo>
                  <a:pt x="3686175" y="804084"/>
                  <a:pt x="3652059" y="838200"/>
                  <a:pt x="3609974" y="838200"/>
                </a:cubicBezTo>
                <a:lnTo>
                  <a:pt x="38100" y="838200"/>
                </a:lnTo>
                <a:cubicBezTo>
                  <a:pt x="17058" y="838200"/>
                  <a:pt x="0" y="821142"/>
                  <a:pt x="0" y="800100"/>
                </a:cubicBezTo>
                <a:lnTo>
                  <a:pt x="0" y="38100"/>
                </a:lnTo>
                <a:cubicBezTo>
                  <a:pt x="0" y="17072"/>
                  <a:pt x="17072" y="0"/>
                  <a:pt x="38100" y="0"/>
                </a:cubicBezTo>
                <a:close/>
              </a:path>
            </a:pathLst>
          </a:custGeom>
          <a:solidFill>
            <a:srgbClr val="59168B">
              <a:alpha val="30196"/>
            </a:srgbClr>
          </a:solidFill>
          <a:ln/>
        </p:spPr>
        <p:txBody>
          <a:bodyPr/>
          <a:lstStyle/>
          <a:p>
            <a:endParaRPr lang="en-GB"/>
          </a:p>
        </p:txBody>
      </p:sp>
      <p:sp>
        <p:nvSpPr>
          <p:cNvPr id="26" name="Shape 23"/>
          <p:cNvSpPr/>
          <p:nvPr/>
        </p:nvSpPr>
        <p:spPr>
          <a:xfrm>
            <a:off x="8121551" y="421005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AD46FF"/>
          </a:solidFill>
          <a:ln/>
        </p:spPr>
        <p:txBody>
          <a:bodyPr/>
          <a:lstStyle/>
          <a:p>
            <a:endParaRPr lang="en-GB"/>
          </a:p>
        </p:txBody>
      </p:sp>
      <p:sp>
        <p:nvSpPr>
          <p:cNvPr id="27" name="Text 24"/>
          <p:cNvSpPr/>
          <p:nvPr/>
        </p:nvSpPr>
        <p:spPr>
          <a:xfrm>
            <a:off x="8254901" y="43243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Cost-to-Income Ratio</a:t>
            </a:r>
            <a:endParaRPr lang="en-US" sz="1600" dirty="0"/>
          </a:p>
        </p:txBody>
      </p:sp>
      <p:sp>
        <p:nvSpPr>
          <p:cNvPr id="28" name="Text 25"/>
          <p:cNvSpPr/>
          <p:nvPr/>
        </p:nvSpPr>
        <p:spPr>
          <a:xfrm>
            <a:off x="8254901" y="4476750"/>
            <a:ext cx="3552825" cy="304800"/>
          </a:xfrm>
          <a:prstGeom prst="rect">
            <a:avLst/>
          </a:prstGeom>
          <a:noFill/>
          <a:ln/>
        </p:spPr>
        <p:txBody>
          <a:bodyPr wrap="square" lIns="0" tIns="0" rIns="0" bIns="0" rtlCol="0" anchor="ctr"/>
          <a:lstStyle/>
          <a:p>
            <a:pPr>
              <a:lnSpc>
                <a:spcPct val="110000"/>
              </a:lnSpc>
            </a:pPr>
            <a:r>
              <a:rPr lang="en-US" sz="1800" b="1" dirty="0">
                <a:solidFill>
                  <a:srgbClr val="C27AFF"/>
                </a:solidFill>
                <a:latin typeface="Quattrocento Sans" pitchFamily="34" charset="0"/>
                <a:ea typeface="Quattrocento Sans" pitchFamily="34" charset="-122"/>
                <a:cs typeface="Quattrocento Sans" pitchFamily="34" charset="-120"/>
              </a:rPr>
              <a:t>60.4%</a:t>
            </a:r>
            <a:endParaRPr lang="en-US" sz="1600" dirty="0"/>
          </a:p>
        </p:txBody>
      </p:sp>
      <p:sp>
        <p:nvSpPr>
          <p:cNvPr id="29" name="Text 26"/>
          <p:cNvSpPr/>
          <p:nvPr/>
        </p:nvSpPr>
        <p:spPr>
          <a:xfrm>
            <a:off x="8254901" y="4781550"/>
            <a:ext cx="349567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Up from 54.7% in 2023</a:t>
            </a:r>
            <a:endParaRPr lang="en-US" sz="1600" dirty="0"/>
          </a:p>
        </p:txBody>
      </p:sp>
      <p:sp>
        <p:nvSpPr>
          <p:cNvPr id="30" name="Shape 27"/>
          <p:cNvSpPr/>
          <p:nvPr/>
        </p:nvSpPr>
        <p:spPr>
          <a:xfrm>
            <a:off x="381000" y="5638800"/>
            <a:ext cx="2771775" cy="838200"/>
          </a:xfrm>
          <a:custGeom>
            <a:avLst/>
            <a:gdLst/>
            <a:ahLst/>
            <a:cxnLst/>
            <a:rect l="l" t="t" r="r" b="b"/>
            <a:pathLst>
              <a:path w="2771775" h="838200">
                <a:moveTo>
                  <a:pt x="76201" y="0"/>
                </a:moveTo>
                <a:lnTo>
                  <a:pt x="2695574" y="0"/>
                </a:lnTo>
                <a:cubicBezTo>
                  <a:pt x="2737659" y="0"/>
                  <a:pt x="2771775" y="34116"/>
                  <a:pt x="2771775" y="76201"/>
                </a:cubicBezTo>
                <a:lnTo>
                  <a:pt x="2771775" y="761999"/>
                </a:lnTo>
                <a:cubicBezTo>
                  <a:pt x="2771775" y="804084"/>
                  <a:pt x="2737659" y="838200"/>
                  <a:pt x="269557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31" name="Text 28"/>
          <p:cNvSpPr/>
          <p:nvPr/>
        </p:nvSpPr>
        <p:spPr>
          <a:xfrm>
            <a:off x="438150" y="5753100"/>
            <a:ext cx="265747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£17.1bn</a:t>
            </a:r>
            <a:endParaRPr lang="en-US" sz="1600" dirty="0"/>
          </a:p>
        </p:txBody>
      </p:sp>
      <p:sp>
        <p:nvSpPr>
          <p:cNvPr id="32" name="Text 29"/>
          <p:cNvSpPr/>
          <p:nvPr/>
        </p:nvSpPr>
        <p:spPr>
          <a:xfrm>
            <a:off x="466725" y="6057900"/>
            <a:ext cx="26003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Net Income</a:t>
            </a:r>
            <a:endParaRPr lang="en-US" sz="1600" dirty="0"/>
          </a:p>
        </p:txBody>
      </p:sp>
      <p:sp>
        <p:nvSpPr>
          <p:cNvPr id="33" name="Text 30"/>
          <p:cNvSpPr/>
          <p:nvPr/>
        </p:nvSpPr>
        <p:spPr>
          <a:xfrm>
            <a:off x="466725" y="6210300"/>
            <a:ext cx="2600325" cy="152400"/>
          </a:xfrm>
          <a:prstGeom prst="rect">
            <a:avLst/>
          </a:prstGeom>
          <a:noFill/>
          <a:ln/>
        </p:spPr>
        <p:txBody>
          <a:bodyPr wrap="square" lIns="0" tIns="0" rIns="0" bIns="0" rtlCol="0" anchor="ctr"/>
          <a:lstStyle/>
          <a:p>
            <a:pPr algn="ctr">
              <a:lnSpc>
                <a:spcPct val="110000"/>
              </a:lnSpc>
            </a:pPr>
            <a:r>
              <a:rPr lang="en-US" sz="900" dirty="0">
                <a:solidFill>
                  <a:srgbClr val="FF6467"/>
                </a:solidFill>
                <a:latin typeface="Quattrocento Sans" pitchFamily="34" charset="0"/>
                <a:ea typeface="Quattrocento Sans" pitchFamily="34" charset="-122"/>
                <a:cs typeface="Quattrocento Sans" pitchFamily="34" charset="-120"/>
              </a:rPr>
              <a:t>↓ 5% YoY</a:t>
            </a:r>
            <a:endParaRPr lang="en-US" sz="1600" dirty="0"/>
          </a:p>
        </p:txBody>
      </p:sp>
      <p:sp>
        <p:nvSpPr>
          <p:cNvPr id="34" name="Shape 31"/>
          <p:cNvSpPr/>
          <p:nvPr/>
        </p:nvSpPr>
        <p:spPr>
          <a:xfrm>
            <a:off x="3267075" y="5638800"/>
            <a:ext cx="2771775" cy="838200"/>
          </a:xfrm>
          <a:custGeom>
            <a:avLst/>
            <a:gdLst/>
            <a:ahLst/>
            <a:cxnLst/>
            <a:rect l="l" t="t" r="r" b="b"/>
            <a:pathLst>
              <a:path w="2771775" h="838200">
                <a:moveTo>
                  <a:pt x="76201" y="0"/>
                </a:moveTo>
                <a:lnTo>
                  <a:pt x="2695574" y="0"/>
                </a:lnTo>
                <a:cubicBezTo>
                  <a:pt x="2737659" y="0"/>
                  <a:pt x="2771775" y="34116"/>
                  <a:pt x="2771775" y="76201"/>
                </a:cubicBezTo>
                <a:lnTo>
                  <a:pt x="2771775" y="761999"/>
                </a:lnTo>
                <a:cubicBezTo>
                  <a:pt x="2771775" y="804084"/>
                  <a:pt x="2737659" y="838200"/>
                  <a:pt x="269557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35" name="Text 32"/>
          <p:cNvSpPr/>
          <p:nvPr/>
        </p:nvSpPr>
        <p:spPr>
          <a:xfrm>
            <a:off x="3324225" y="5753100"/>
            <a:ext cx="265747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2.95%</a:t>
            </a:r>
            <a:endParaRPr lang="en-US" sz="1600" dirty="0"/>
          </a:p>
        </p:txBody>
      </p:sp>
      <p:sp>
        <p:nvSpPr>
          <p:cNvPr id="36" name="Text 33"/>
          <p:cNvSpPr/>
          <p:nvPr/>
        </p:nvSpPr>
        <p:spPr>
          <a:xfrm>
            <a:off x="3352800" y="6057900"/>
            <a:ext cx="26003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Net Interest Margin</a:t>
            </a:r>
            <a:endParaRPr lang="en-US" sz="1600" dirty="0"/>
          </a:p>
        </p:txBody>
      </p:sp>
      <p:sp>
        <p:nvSpPr>
          <p:cNvPr id="37" name="Text 34"/>
          <p:cNvSpPr/>
          <p:nvPr/>
        </p:nvSpPr>
        <p:spPr>
          <a:xfrm>
            <a:off x="3352800" y="6210300"/>
            <a:ext cx="2600325" cy="152400"/>
          </a:xfrm>
          <a:prstGeom prst="rect">
            <a:avLst/>
          </a:prstGeom>
          <a:noFill/>
          <a:ln/>
        </p:spPr>
        <p:txBody>
          <a:bodyPr wrap="square" lIns="0" tIns="0" rIns="0" bIns="0" rtlCol="0" anchor="ctr"/>
          <a:lstStyle/>
          <a:p>
            <a:pPr algn="ctr">
              <a:lnSpc>
                <a:spcPct val="110000"/>
              </a:lnSpc>
            </a:pPr>
            <a:r>
              <a:rPr lang="en-US" sz="900" dirty="0">
                <a:solidFill>
                  <a:srgbClr val="FF6467"/>
                </a:solidFill>
                <a:latin typeface="Quattrocento Sans" pitchFamily="34" charset="0"/>
                <a:ea typeface="Quattrocento Sans" pitchFamily="34" charset="-122"/>
                <a:cs typeface="Quattrocento Sans" pitchFamily="34" charset="-120"/>
              </a:rPr>
              <a:t>↓ from 3.11%</a:t>
            </a:r>
            <a:endParaRPr lang="en-US" sz="1600" dirty="0"/>
          </a:p>
        </p:txBody>
      </p:sp>
      <p:sp>
        <p:nvSpPr>
          <p:cNvPr id="38" name="Shape 35"/>
          <p:cNvSpPr/>
          <p:nvPr/>
        </p:nvSpPr>
        <p:spPr>
          <a:xfrm>
            <a:off x="6153150" y="5638800"/>
            <a:ext cx="2771775" cy="838200"/>
          </a:xfrm>
          <a:custGeom>
            <a:avLst/>
            <a:gdLst/>
            <a:ahLst/>
            <a:cxnLst/>
            <a:rect l="l" t="t" r="r" b="b"/>
            <a:pathLst>
              <a:path w="2771775" h="838200">
                <a:moveTo>
                  <a:pt x="76201" y="0"/>
                </a:moveTo>
                <a:lnTo>
                  <a:pt x="2695574" y="0"/>
                </a:lnTo>
                <a:cubicBezTo>
                  <a:pt x="2737659" y="0"/>
                  <a:pt x="2771775" y="34116"/>
                  <a:pt x="2771775" y="76201"/>
                </a:cubicBezTo>
                <a:lnTo>
                  <a:pt x="2771775" y="761999"/>
                </a:lnTo>
                <a:cubicBezTo>
                  <a:pt x="2771775" y="804084"/>
                  <a:pt x="2737659" y="838200"/>
                  <a:pt x="269557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39" name="Text 36"/>
          <p:cNvSpPr/>
          <p:nvPr/>
        </p:nvSpPr>
        <p:spPr>
          <a:xfrm>
            <a:off x="6210300" y="5753100"/>
            <a:ext cx="265747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£3.6bn</a:t>
            </a:r>
            <a:endParaRPr lang="en-US" sz="1600" dirty="0"/>
          </a:p>
        </p:txBody>
      </p:sp>
      <p:sp>
        <p:nvSpPr>
          <p:cNvPr id="40" name="Text 37"/>
          <p:cNvSpPr/>
          <p:nvPr/>
        </p:nvSpPr>
        <p:spPr>
          <a:xfrm>
            <a:off x="6238875" y="6057900"/>
            <a:ext cx="26003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Shareholder Returns</a:t>
            </a:r>
            <a:endParaRPr lang="en-US" sz="1600" dirty="0"/>
          </a:p>
        </p:txBody>
      </p:sp>
      <p:sp>
        <p:nvSpPr>
          <p:cNvPr id="41" name="Text 38"/>
          <p:cNvSpPr/>
          <p:nvPr/>
        </p:nvSpPr>
        <p:spPr>
          <a:xfrm>
            <a:off x="6238875" y="6210300"/>
            <a:ext cx="2600325" cy="152400"/>
          </a:xfrm>
          <a:prstGeom prst="rect">
            <a:avLst/>
          </a:prstGeom>
          <a:noFill/>
          <a:ln/>
        </p:spPr>
        <p:txBody>
          <a:bodyPr wrap="square" lIns="0" tIns="0" rIns="0" bIns="0" rtlCol="0" anchor="ctr"/>
          <a:lstStyle/>
          <a:p>
            <a:pPr algn="ct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£1.7bn buyback + div</a:t>
            </a:r>
            <a:endParaRPr lang="en-US" sz="1600" dirty="0"/>
          </a:p>
        </p:txBody>
      </p:sp>
      <p:sp>
        <p:nvSpPr>
          <p:cNvPr id="42" name="Shape 39"/>
          <p:cNvSpPr/>
          <p:nvPr/>
        </p:nvSpPr>
        <p:spPr>
          <a:xfrm>
            <a:off x="9039225" y="5638800"/>
            <a:ext cx="2771775" cy="838200"/>
          </a:xfrm>
          <a:custGeom>
            <a:avLst/>
            <a:gdLst/>
            <a:ahLst/>
            <a:cxnLst/>
            <a:rect l="l" t="t" r="r" b="b"/>
            <a:pathLst>
              <a:path w="2771775" h="838200">
                <a:moveTo>
                  <a:pt x="76201" y="0"/>
                </a:moveTo>
                <a:lnTo>
                  <a:pt x="2695574" y="0"/>
                </a:lnTo>
                <a:cubicBezTo>
                  <a:pt x="2737659" y="0"/>
                  <a:pt x="2771775" y="34116"/>
                  <a:pt x="2771775" y="76201"/>
                </a:cubicBezTo>
                <a:lnTo>
                  <a:pt x="2771775" y="761999"/>
                </a:lnTo>
                <a:cubicBezTo>
                  <a:pt x="2771775" y="804084"/>
                  <a:pt x="2737659" y="838200"/>
                  <a:pt x="269557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43" name="Text 40"/>
          <p:cNvSpPr/>
          <p:nvPr/>
        </p:nvSpPr>
        <p:spPr>
          <a:xfrm>
            <a:off x="9096375" y="5753100"/>
            <a:ext cx="265747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£9.4bn</a:t>
            </a:r>
            <a:endParaRPr lang="en-US" sz="1600" dirty="0"/>
          </a:p>
        </p:txBody>
      </p:sp>
      <p:sp>
        <p:nvSpPr>
          <p:cNvPr id="44" name="Text 41"/>
          <p:cNvSpPr/>
          <p:nvPr/>
        </p:nvSpPr>
        <p:spPr>
          <a:xfrm>
            <a:off x="9124950" y="6057900"/>
            <a:ext cx="26003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Operating Costs</a:t>
            </a:r>
            <a:endParaRPr lang="en-US" sz="1600" dirty="0"/>
          </a:p>
        </p:txBody>
      </p:sp>
      <p:sp>
        <p:nvSpPr>
          <p:cNvPr id="45" name="Text 42"/>
          <p:cNvSpPr/>
          <p:nvPr/>
        </p:nvSpPr>
        <p:spPr>
          <a:xfrm>
            <a:off x="9124950" y="6210300"/>
            <a:ext cx="2600325" cy="152400"/>
          </a:xfrm>
          <a:prstGeom prst="rect">
            <a:avLst/>
          </a:prstGeom>
          <a:noFill/>
          <a:ln/>
        </p:spPr>
        <p:txBody>
          <a:bodyPr wrap="square" lIns="0" tIns="0" rIns="0" bIns="0" rtlCol="0" anchor="ctr"/>
          <a:lstStyle/>
          <a:p>
            <a:pPr algn="ctr">
              <a:lnSpc>
                <a:spcPct val="110000"/>
              </a:lnSpc>
            </a:pPr>
            <a:r>
              <a:rPr lang="en-US" sz="900" dirty="0">
                <a:solidFill>
                  <a:srgbClr val="FF6467"/>
                </a:solidFill>
                <a:latin typeface="Quattrocento Sans" pitchFamily="34" charset="0"/>
                <a:ea typeface="Quattrocento Sans" pitchFamily="34" charset="-122"/>
                <a:cs typeface="Quattrocento Sans" pitchFamily="34" charset="-120"/>
              </a:rPr>
              <a:t>↑ 3% YoY</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Technology Investment</a:t>
            </a:r>
            <a:endParaRPr lang="en-US" sz="1600" dirty="0"/>
          </a:p>
        </p:txBody>
      </p:sp>
      <p:sp>
        <p:nvSpPr>
          <p:cNvPr id="3" name="Text 1"/>
          <p:cNvSpPr/>
          <p:nvPr/>
        </p:nvSpPr>
        <p:spPr>
          <a:xfrm>
            <a:off x="381000" y="762000"/>
            <a:ext cx="4238625"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IT Spend &amp; Digital Strategy</a:t>
            </a:r>
            <a:endParaRPr lang="en-US" sz="1600" dirty="0"/>
          </a:p>
        </p:txBody>
      </p:sp>
      <p:sp>
        <p:nvSpPr>
          <p:cNvPr id="4" name="Text 2"/>
          <p:cNvSpPr/>
          <p:nvPr/>
        </p:nvSpPr>
        <p:spPr>
          <a:xfrm>
            <a:off x="10831860" y="571500"/>
            <a:ext cx="981075" cy="381000"/>
          </a:xfrm>
          <a:prstGeom prst="rect">
            <a:avLst/>
          </a:prstGeom>
          <a:noFill/>
          <a:ln/>
        </p:spPr>
        <p:txBody>
          <a:bodyPr wrap="square" lIns="0" tIns="0" rIns="0" bIns="0" rtlCol="0" anchor="ctr"/>
          <a:lstStyle/>
          <a:p>
            <a:pPr algn="r">
              <a:lnSpc>
                <a:spcPct val="90000"/>
              </a:lnSpc>
            </a:pPr>
            <a:r>
              <a:rPr lang="en-US" sz="2700" b="1" dirty="0">
                <a:solidFill>
                  <a:srgbClr val="C0A062"/>
                </a:solidFill>
                <a:latin typeface="Quattrocento Sans" pitchFamily="34" charset="0"/>
                <a:ea typeface="Quattrocento Sans" pitchFamily="34" charset="-122"/>
                <a:cs typeface="Quattrocento Sans" pitchFamily="34" charset="-120"/>
              </a:rPr>
              <a:t>£4bn</a:t>
            </a:r>
            <a:endParaRPr lang="en-US" sz="1600" dirty="0"/>
          </a:p>
        </p:txBody>
      </p:sp>
      <p:sp>
        <p:nvSpPr>
          <p:cNvPr id="5" name="Text 3"/>
          <p:cNvSpPr/>
          <p:nvPr/>
        </p:nvSpPr>
        <p:spPr>
          <a:xfrm>
            <a:off x="10936635" y="952500"/>
            <a:ext cx="876300"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Through 2026</a:t>
            </a:r>
            <a:endParaRPr lang="en-US" sz="1600" dirty="0"/>
          </a:p>
        </p:txBody>
      </p:sp>
      <p:sp>
        <p:nvSpPr>
          <p:cNvPr id="6" name="Shape 4"/>
          <p:cNvSpPr/>
          <p:nvPr/>
        </p:nvSpPr>
        <p:spPr>
          <a:xfrm>
            <a:off x="381000" y="12192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Text 5"/>
          <p:cNvSpPr/>
          <p:nvPr/>
        </p:nvSpPr>
        <p:spPr>
          <a:xfrm>
            <a:off x="38100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Technology Investment Roadmap</a:t>
            </a:r>
            <a:endParaRPr lang="en-US" sz="1600" dirty="0"/>
          </a:p>
        </p:txBody>
      </p:sp>
      <p:sp>
        <p:nvSpPr>
          <p:cNvPr id="8" name="Shape 6"/>
          <p:cNvSpPr/>
          <p:nvPr/>
        </p:nvSpPr>
        <p:spPr>
          <a:xfrm>
            <a:off x="385763" y="1893838"/>
            <a:ext cx="5610225" cy="962025"/>
          </a:xfrm>
          <a:custGeom>
            <a:avLst/>
            <a:gdLst/>
            <a:ahLst/>
            <a:cxnLst/>
            <a:rect l="l" t="t" r="r" b="b"/>
            <a:pathLst>
              <a:path w="5610225" h="962025">
                <a:moveTo>
                  <a:pt x="76202" y="0"/>
                </a:moveTo>
                <a:lnTo>
                  <a:pt x="5534023" y="0"/>
                </a:lnTo>
                <a:cubicBezTo>
                  <a:pt x="5576080" y="0"/>
                  <a:pt x="5610225" y="34145"/>
                  <a:pt x="5610225" y="76202"/>
                </a:cubicBezTo>
                <a:lnTo>
                  <a:pt x="5610225" y="885823"/>
                </a:lnTo>
                <a:cubicBezTo>
                  <a:pt x="5610225" y="927880"/>
                  <a:pt x="5576080" y="962025"/>
                  <a:pt x="5534023" y="962025"/>
                </a:cubicBezTo>
                <a:lnTo>
                  <a:pt x="76202" y="962025"/>
                </a:lnTo>
                <a:cubicBezTo>
                  <a:pt x="34145" y="962025"/>
                  <a:pt x="0" y="927880"/>
                  <a:pt x="0" y="885823"/>
                </a:cubicBezTo>
                <a:lnTo>
                  <a:pt x="0" y="76202"/>
                </a:lnTo>
                <a:cubicBezTo>
                  <a:pt x="0" y="34145"/>
                  <a:pt x="34145" y="0"/>
                  <a:pt x="76202" y="0"/>
                </a:cubicBezTo>
                <a:close/>
              </a:path>
            </a:pathLst>
          </a:custGeom>
          <a:solidFill>
            <a:srgbClr val="4A5C6A">
              <a:alpha val="20000"/>
            </a:srgbClr>
          </a:solidFill>
          <a:ln w="12700">
            <a:solidFill>
              <a:srgbClr val="006A4A">
                <a:alpha val="30196"/>
              </a:srgbClr>
            </a:solidFill>
            <a:prstDash val="solid"/>
          </a:ln>
        </p:spPr>
        <p:txBody>
          <a:bodyPr/>
          <a:lstStyle/>
          <a:p>
            <a:endParaRPr lang="en-GB"/>
          </a:p>
        </p:txBody>
      </p:sp>
      <p:sp>
        <p:nvSpPr>
          <p:cNvPr id="9" name="Shape 7"/>
          <p:cNvSpPr/>
          <p:nvPr/>
        </p:nvSpPr>
        <p:spPr>
          <a:xfrm>
            <a:off x="542925" y="210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06A4A"/>
          </a:solidFill>
          <a:ln/>
        </p:spPr>
        <p:txBody>
          <a:bodyPr/>
          <a:lstStyle/>
          <a:p>
            <a:endParaRPr lang="en-GB"/>
          </a:p>
        </p:txBody>
      </p:sp>
      <p:sp>
        <p:nvSpPr>
          <p:cNvPr id="10" name="Text 8"/>
          <p:cNvSpPr/>
          <p:nvPr/>
        </p:nvSpPr>
        <p:spPr>
          <a:xfrm>
            <a:off x="495300" y="2108150"/>
            <a:ext cx="628650" cy="5334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1" name="Text 9"/>
          <p:cNvSpPr/>
          <p:nvPr/>
        </p:nvSpPr>
        <p:spPr>
          <a:xfrm>
            <a:off x="1228725" y="2051000"/>
            <a:ext cx="311467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Digital Transformation</a:t>
            </a:r>
            <a:endParaRPr lang="en-US" sz="1600" dirty="0"/>
          </a:p>
        </p:txBody>
      </p:sp>
      <p:sp>
        <p:nvSpPr>
          <p:cNvPr id="12" name="Text 10"/>
          <p:cNvSpPr/>
          <p:nvPr/>
        </p:nvSpPr>
        <p:spPr>
          <a:xfrm>
            <a:off x="1228725" y="2317700"/>
            <a:ext cx="310515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£3bn invested (2022-2024), £4bn total through 2026</a:t>
            </a:r>
            <a:endParaRPr lang="en-US" sz="1600" dirty="0"/>
          </a:p>
        </p:txBody>
      </p:sp>
      <p:sp>
        <p:nvSpPr>
          <p:cNvPr id="13" name="Text 11"/>
          <p:cNvSpPr/>
          <p:nvPr/>
        </p:nvSpPr>
        <p:spPr>
          <a:xfrm>
            <a:off x="1228725" y="2546300"/>
            <a:ext cx="3095625" cy="152400"/>
          </a:xfrm>
          <a:prstGeom prst="rect">
            <a:avLst/>
          </a:prstGeom>
          <a:noFill/>
          <a:ln/>
        </p:spPr>
        <p:txBody>
          <a:bodyPr wrap="square" lIns="0" tIns="0" rIns="0" bIns="0" rtlCol="0" anchor="ctr"/>
          <a:lstStyle/>
          <a:p>
            <a:pP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20% apps migrated to cloud</a:t>
            </a:r>
            <a:endParaRPr lang="en-US" sz="1600" dirty="0"/>
          </a:p>
        </p:txBody>
      </p:sp>
      <p:sp>
        <p:nvSpPr>
          <p:cNvPr id="14" name="Shape 12"/>
          <p:cNvSpPr/>
          <p:nvPr/>
        </p:nvSpPr>
        <p:spPr>
          <a:xfrm>
            <a:off x="385763" y="3214688"/>
            <a:ext cx="5610225" cy="962025"/>
          </a:xfrm>
          <a:custGeom>
            <a:avLst/>
            <a:gdLst/>
            <a:ahLst/>
            <a:cxnLst/>
            <a:rect l="l" t="t" r="r" b="b"/>
            <a:pathLst>
              <a:path w="5610225" h="962025">
                <a:moveTo>
                  <a:pt x="76202" y="0"/>
                </a:moveTo>
                <a:lnTo>
                  <a:pt x="5534023" y="0"/>
                </a:lnTo>
                <a:cubicBezTo>
                  <a:pt x="5576080" y="0"/>
                  <a:pt x="5610225" y="34145"/>
                  <a:pt x="5610225" y="76202"/>
                </a:cubicBezTo>
                <a:lnTo>
                  <a:pt x="5610225" y="885823"/>
                </a:lnTo>
                <a:cubicBezTo>
                  <a:pt x="5610225" y="927880"/>
                  <a:pt x="5576080" y="962025"/>
                  <a:pt x="5534023" y="962025"/>
                </a:cubicBezTo>
                <a:lnTo>
                  <a:pt x="76202" y="962025"/>
                </a:lnTo>
                <a:cubicBezTo>
                  <a:pt x="34145" y="962025"/>
                  <a:pt x="0" y="927880"/>
                  <a:pt x="0" y="885823"/>
                </a:cubicBezTo>
                <a:lnTo>
                  <a:pt x="0" y="76202"/>
                </a:lnTo>
                <a:cubicBezTo>
                  <a:pt x="0" y="34145"/>
                  <a:pt x="34145" y="0"/>
                  <a:pt x="76202" y="0"/>
                </a:cubicBezTo>
                <a:close/>
              </a:path>
            </a:pathLst>
          </a:custGeom>
          <a:solidFill>
            <a:srgbClr val="4A5C6A">
              <a:alpha val="20000"/>
            </a:srgbClr>
          </a:solidFill>
          <a:ln w="12700">
            <a:solidFill>
              <a:srgbClr val="006A4A">
                <a:alpha val="30196"/>
              </a:srgbClr>
            </a:solidFill>
            <a:prstDash val="solid"/>
          </a:ln>
        </p:spPr>
        <p:txBody>
          <a:bodyPr/>
          <a:lstStyle/>
          <a:p>
            <a:endParaRPr lang="en-GB"/>
          </a:p>
        </p:txBody>
      </p:sp>
      <p:sp>
        <p:nvSpPr>
          <p:cNvPr id="15" name="Shape 13"/>
          <p:cNvSpPr/>
          <p:nvPr/>
        </p:nvSpPr>
        <p:spPr>
          <a:xfrm>
            <a:off x="542925" y="34290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C6A"/>
          </a:solidFill>
          <a:ln/>
        </p:spPr>
        <p:txBody>
          <a:bodyPr/>
          <a:lstStyle/>
          <a:p>
            <a:endParaRPr lang="en-GB"/>
          </a:p>
        </p:txBody>
      </p:sp>
      <p:sp>
        <p:nvSpPr>
          <p:cNvPr id="16" name="Text 14"/>
          <p:cNvSpPr/>
          <p:nvPr/>
        </p:nvSpPr>
        <p:spPr>
          <a:xfrm>
            <a:off x="495300" y="3429000"/>
            <a:ext cx="628650" cy="5334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1228725" y="3371850"/>
            <a:ext cx="180975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AI &amp; Machine Learning</a:t>
            </a:r>
            <a:endParaRPr lang="en-US" sz="1600" dirty="0"/>
          </a:p>
        </p:txBody>
      </p:sp>
      <p:sp>
        <p:nvSpPr>
          <p:cNvPr id="18" name="Text 16"/>
          <p:cNvSpPr/>
          <p:nvPr/>
        </p:nvSpPr>
        <p:spPr>
          <a:xfrm>
            <a:off x="1228725" y="3638550"/>
            <a:ext cx="18002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800+ AI models in production</a:t>
            </a:r>
            <a:endParaRPr lang="en-US" sz="1600" dirty="0"/>
          </a:p>
        </p:txBody>
      </p:sp>
      <p:sp>
        <p:nvSpPr>
          <p:cNvPr id="19" name="Text 17"/>
          <p:cNvSpPr/>
          <p:nvPr/>
        </p:nvSpPr>
        <p:spPr>
          <a:xfrm>
            <a:off x="1228725" y="3867150"/>
            <a:ext cx="1790700" cy="152400"/>
          </a:xfrm>
          <a:prstGeom prst="rect">
            <a:avLst/>
          </a:prstGeom>
          <a:noFill/>
          <a:ln/>
        </p:spPr>
        <p:txBody>
          <a:bodyPr wrap="square" lIns="0" tIns="0" rIns="0" bIns="0" rtlCol="0" anchor="ctr"/>
          <a:lstStyle/>
          <a:p>
            <a:pP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£50m value target 2025</a:t>
            </a:r>
            <a:endParaRPr lang="en-US" sz="1600" dirty="0"/>
          </a:p>
        </p:txBody>
      </p:sp>
      <p:sp>
        <p:nvSpPr>
          <p:cNvPr id="20" name="Shape 18"/>
          <p:cNvSpPr/>
          <p:nvPr/>
        </p:nvSpPr>
        <p:spPr>
          <a:xfrm>
            <a:off x="385763" y="4535388"/>
            <a:ext cx="5610225" cy="962025"/>
          </a:xfrm>
          <a:custGeom>
            <a:avLst/>
            <a:gdLst/>
            <a:ahLst/>
            <a:cxnLst/>
            <a:rect l="l" t="t" r="r" b="b"/>
            <a:pathLst>
              <a:path w="5610225" h="962025">
                <a:moveTo>
                  <a:pt x="76202" y="0"/>
                </a:moveTo>
                <a:lnTo>
                  <a:pt x="5534023" y="0"/>
                </a:lnTo>
                <a:cubicBezTo>
                  <a:pt x="5576080" y="0"/>
                  <a:pt x="5610225" y="34145"/>
                  <a:pt x="5610225" y="76202"/>
                </a:cubicBezTo>
                <a:lnTo>
                  <a:pt x="5610225" y="885823"/>
                </a:lnTo>
                <a:cubicBezTo>
                  <a:pt x="5610225" y="927880"/>
                  <a:pt x="5576080" y="962025"/>
                  <a:pt x="5534023" y="962025"/>
                </a:cubicBezTo>
                <a:lnTo>
                  <a:pt x="76202" y="962025"/>
                </a:lnTo>
                <a:cubicBezTo>
                  <a:pt x="34145" y="962025"/>
                  <a:pt x="0" y="927880"/>
                  <a:pt x="0" y="885823"/>
                </a:cubicBezTo>
                <a:lnTo>
                  <a:pt x="0" y="76202"/>
                </a:lnTo>
                <a:cubicBezTo>
                  <a:pt x="0" y="34145"/>
                  <a:pt x="34145" y="0"/>
                  <a:pt x="76202" y="0"/>
                </a:cubicBezTo>
                <a:close/>
              </a:path>
            </a:pathLst>
          </a:custGeom>
          <a:solidFill>
            <a:srgbClr val="4A5C6A">
              <a:alpha val="20000"/>
            </a:srgbClr>
          </a:solidFill>
          <a:ln w="12700">
            <a:solidFill>
              <a:srgbClr val="006A4A">
                <a:alpha val="30196"/>
              </a:srgbClr>
            </a:solidFill>
            <a:prstDash val="solid"/>
          </a:ln>
        </p:spPr>
        <p:txBody>
          <a:bodyPr/>
          <a:lstStyle/>
          <a:p>
            <a:endParaRPr lang="en-GB"/>
          </a:p>
        </p:txBody>
      </p:sp>
      <p:sp>
        <p:nvSpPr>
          <p:cNvPr id="21" name="Shape 19"/>
          <p:cNvSpPr/>
          <p:nvPr/>
        </p:nvSpPr>
        <p:spPr>
          <a:xfrm>
            <a:off x="542925" y="4749701"/>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C6A">
              <a:alpha val="70196"/>
            </a:srgbClr>
          </a:solidFill>
          <a:ln/>
        </p:spPr>
        <p:txBody>
          <a:bodyPr/>
          <a:lstStyle/>
          <a:p>
            <a:endParaRPr lang="en-GB"/>
          </a:p>
        </p:txBody>
      </p:sp>
      <p:sp>
        <p:nvSpPr>
          <p:cNvPr id="22" name="Text 20"/>
          <p:cNvSpPr/>
          <p:nvPr/>
        </p:nvSpPr>
        <p:spPr>
          <a:xfrm>
            <a:off x="495300" y="4749701"/>
            <a:ext cx="628650" cy="5334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3" name="Text 21"/>
          <p:cNvSpPr/>
          <p:nvPr/>
        </p:nvSpPr>
        <p:spPr>
          <a:xfrm>
            <a:off x="1228725" y="4692551"/>
            <a:ext cx="29337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Legacy Modernization</a:t>
            </a:r>
            <a:endParaRPr lang="en-US" sz="1600" dirty="0"/>
          </a:p>
        </p:txBody>
      </p:sp>
      <p:sp>
        <p:nvSpPr>
          <p:cNvPr id="24" name="Text 22"/>
          <p:cNvSpPr/>
          <p:nvPr/>
        </p:nvSpPr>
        <p:spPr>
          <a:xfrm>
            <a:off x="1228725" y="4959251"/>
            <a:ext cx="2924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10%+ legacy systems decommissioned since 2021</a:t>
            </a:r>
            <a:endParaRPr lang="en-US" sz="1600" dirty="0"/>
          </a:p>
        </p:txBody>
      </p:sp>
      <p:sp>
        <p:nvSpPr>
          <p:cNvPr id="25" name="Text 23"/>
          <p:cNvSpPr/>
          <p:nvPr/>
        </p:nvSpPr>
        <p:spPr>
          <a:xfrm>
            <a:off x="1228725" y="5187851"/>
            <a:ext cx="2914650" cy="152400"/>
          </a:xfrm>
          <a:prstGeom prst="rect">
            <a:avLst/>
          </a:prstGeom>
          <a:noFill/>
          <a:ln/>
        </p:spPr>
        <p:txBody>
          <a:bodyPr wrap="square" lIns="0" tIns="0" rIns="0" bIns="0" rtlCol="0" anchor="ctr"/>
          <a:lstStyle/>
          <a:p>
            <a:pPr>
              <a:lnSpc>
                <a:spcPct val="110000"/>
              </a:lnSpc>
            </a:pPr>
            <a:r>
              <a:rPr lang="en-US" sz="900" dirty="0">
                <a:solidFill>
                  <a:srgbClr val="C0A062"/>
                </a:solidFill>
                <a:latin typeface="Quattrocento Sans" pitchFamily="34" charset="0"/>
                <a:ea typeface="Quattrocento Sans" pitchFamily="34" charset="-122"/>
                <a:cs typeface="Quattrocento Sans" pitchFamily="34" charset="-120"/>
              </a:rPr>
              <a:t>60% lending decisions automated</a:t>
            </a:r>
            <a:endParaRPr lang="en-US" sz="1600" dirty="0"/>
          </a:p>
        </p:txBody>
      </p:sp>
      <p:sp>
        <p:nvSpPr>
          <p:cNvPr id="26" name="Shape 24"/>
          <p:cNvSpPr/>
          <p:nvPr/>
        </p:nvSpPr>
        <p:spPr>
          <a:xfrm>
            <a:off x="385763" y="5738813"/>
            <a:ext cx="5610225" cy="733425"/>
          </a:xfrm>
          <a:custGeom>
            <a:avLst/>
            <a:gdLst/>
            <a:ahLst/>
            <a:cxnLst/>
            <a:rect l="l" t="t" r="r" b="b"/>
            <a:pathLst>
              <a:path w="5610225" h="733425">
                <a:moveTo>
                  <a:pt x="76203" y="0"/>
                </a:moveTo>
                <a:lnTo>
                  <a:pt x="5534022" y="0"/>
                </a:lnTo>
                <a:cubicBezTo>
                  <a:pt x="5576080" y="0"/>
                  <a:pt x="5610225" y="34145"/>
                  <a:pt x="5610225" y="76203"/>
                </a:cubicBezTo>
                <a:lnTo>
                  <a:pt x="5610225" y="657222"/>
                </a:lnTo>
                <a:cubicBezTo>
                  <a:pt x="5610225" y="699280"/>
                  <a:pt x="5576080" y="733425"/>
                  <a:pt x="5534022" y="733425"/>
                </a:cubicBezTo>
                <a:lnTo>
                  <a:pt x="76203" y="733425"/>
                </a:lnTo>
                <a:cubicBezTo>
                  <a:pt x="34145" y="733425"/>
                  <a:pt x="0" y="699280"/>
                  <a:pt x="0" y="657222"/>
                </a:cubicBezTo>
                <a:lnTo>
                  <a:pt x="0" y="76203"/>
                </a:lnTo>
                <a:cubicBezTo>
                  <a:pt x="0" y="34145"/>
                  <a:pt x="34145" y="0"/>
                  <a:pt x="76203"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27" name="Text 25"/>
          <p:cNvSpPr/>
          <p:nvPr/>
        </p:nvSpPr>
        <p:spPr>
          <a:xfrm>
            <a:off x="504825" y="5857875"/>
            <a:ext cx="5438775" cy="190500"/>
          </a:xfrm>
          <a:prstGeom prst="rect">
            <a:avLst/>
          </a:prstGeom>
          <a:noFill/>
          <a:ln/>
        </p:spPr>
        <p:txBody>
          <a:bodyPr wrap="square" lIns="0" tIns="0" rIns="0" bIns="0" rtlCol="0" anchor="ctr"/>
          <a:lstStyle/>
          <a:p>
            <a:pPr>
              <a:lnSpc>
                <a:spcPct val="120000"/>
              </a:lnSpc>
            </a:pPr>
            <a:r>
              <a:rPr lang="en-US" sz="1050" b="1" dirty="0">
                <a:solidFill>
                  <a:srgbClr val="C0A062"/>
                </a:solidFill>
                <a:latin typeface="Liter" pitchFamily="34" charset="0"/>
                <a:ea typeface="Liter" pitchFamily="34" charset="-122"/>
                <a:cs typeface="Liter" pitchFamily="34" charset="-120"/>
              </a:rPr>
              <a:t>Key Technology Partners</a:t>
            </a:r>
            <a:endParaRPr lang="en-US" sz="1600" dirty="0"/>
          </a:p>
        </p:txBody>
      </p:sp>
      <p:sp>
        <p:nvSpPr>
          <p:cNvPr id="28" name="Shape 26"/>
          <p:cNvSpPr/>
          <p:nvPr/>
        </p:nvSpPr>
        <p:spPr>
          <a:xfrm>
            <a:off x="504825" y="6124575"/>
            <a:ext cx="819150" cy="228600"/>
          </a:xfrm>
          <a:custGeom>
            <a:avLst/>
            <a:gdLst/>
            <a:ahLst/>
            <a:cxnLst/>
            <a:rect l="l" t="t" r="r" b="b"/>
            <a:pathLst>
              <a:path w="819150" h="228600">
                <a:moveTo>
                  <a:pt x="38101" y="0"/>
                </a:moveTo>
                <a:lnTo>
                  <a:pt x="781049" y="0"/>
                </a:lnTo>
                <a:cubicBezTo>
                  <a:pt x="802092" y="0"/>
                  <a:pt x="819150" y="17058"/>
                  <a:pt x="819150" y="38101"/>
                </a:cubicBezTo>
                <a:lnTo>
                  <a:pt x="819150" y="190499"/>
                </a:lnTo>
                <a:cubicBezTo>
                  <a:pt x="819150" y="211542"/>
                  <a:pt x="802092" y="228600"/>
                  <a:pt x="781049" y="228600"/>
                </a:cubicBezTo>
                <a:lnTo>
                  <a:pt x="38101" y="228600"/>
                </a:lnTo>
                <a:cubicBezTo>
                  <a:pt x="17072" y="228600"/>
                  <a:pt x="0" y="211528"/>
                  <a:pt x="0" y="190499"/>
                </a:cubicBezTo>
                <a:lnTo>
                  <a:pt x="0" y="38101"/>
                </a:lnTo>
                <a:cubicBezTo>
                  <a:pt x="0" y="17072"/>
                  <a:pt x="17072" y="0"/>
                  <a:pt x="38101" y="0"/>
                </a:cubicBezTo>
                <a:close/>
              </a:path>
            </a:pathLst>
          </a:custGeom>
          <a:solidFill>
            <a:srgbClr val="4A5C6A">
              <a:alpha val="40000"/>
            </a:srgbClr>
          </a:solidFill>
          <a:ln/>
        </p:spPr>
        <p:txBody>
          <a:bodyPr/>
          <a:lstStyle/>
          <a:p>
            <a:endParaRPr lang="en-GB"/>
          </a:p>
        </p:txBody>
      </p:sp>
      <p:sp>
        <p:nvSpPr>
          <p:cNvPr id="29" name="Text 27"/>
          <p:cNvSpPr/>
          <p:nvPr/>
        </p:nvSpPr>
        <p:spPr>
          <a:xfrm>
            <a:off x="504825" y="6124575"/>
            <a:ext cx="876300" cy="228600"/>
          </a:xfrm>
          <a:prstGeom prst="rect">
            <a:avLst/>
          </a:prstGeom>
          <a:noFill/>
          <a:ln/>
        </p:spPr>
        <p:txBody>
          <a:bodyPr wrap="square" lIns="76200" tIns="38100" rIns="762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Google Cloud</a:t>
            </a:r>
            <a:endParaRPr lang="en-US" sz="1600" dirty="0"/>
          </a:p>
        </p:txBody>
      </p:sp>
      <p:sp>
        <p:nvSpPr>
          <p:cNvPr id="30" name="Shape 28"/>
          <p:cNvSpPr/>
          <p:nvPr/>
        </p:nvSpPr>
        <p:spPr>
          <a:xfrm>
            <a:off x="1403598" y="6124575"/>
            <a:ext cx="752475" cy="228600"/>
          </a:xfrm>
          <a:custGeom>
            <a:avLst/>
            <a:gdLst/>
            <a:ahLst/>
            <a:cxnLst/>
            <a:rect l="l" t="t" r="r" b="b"/>
            <a:pathLst>
              <a:path w="752475" h="228600">
                <a:moveTo>
                  <a:pt x="38101" y="0"/>
                </a:moveTo>
                <a:lnTo>
                  <a:pt x="714374" y="0"/>
                </a:lnTo>
                <a:cubicBezTo>
                  <a:pt x="735417" y="0"/>
                  <a:pt x="752475" y="17058"/>
                  <a:pt x="752475" y="38101"/>
                </a:cubicBezTo>
                <a:lnTo>
                  <a:pt x="752475" y="190499"/>
                </a:lnTo>
                <a:cubicBezTo>
                  <a:pt x="752475" y="211542"/>
                  <a:pt x="735417" y="228600"/>
                  <a:pt x="714374" y="228600"/>
                </a:cubicBezTo>
                <a:lnTo>
                  <a:pt x="38101" y="228600"/>
                </a:lnTo>
                <a:cubicBezTo>
                  <a:pt x="17072" y="228600"/>
                  <a:pt x="0" y="211528"/>
                  <a:pt x="0" y="190499"/>
                </a:cubicBezTo>
                <a:lnTo>
                  <a:pt x="0" y="38101"/>
                </a:lnTo>
                <a:cubicBezTo>
                  <a:pt x="0" y="17072"/>
                  <a:pt x="17072" y="0"/>
                  <a:pt x="38101" y="0"/>
                </a:cubicBezTo>
                <a:close/>
              </a:path>
            </a:pathLst>
          </a:custGeom>
          <a:solidFill>
            <a:srgbClr val="4A5C6A">
              <a:alpha val="40000"/>
            </a:srgbClr>
          </a:solidFill>
          <a:ln/>
        </p:spPr>
        <p:txBody>
          <a:bodyPr/>
          <a:lstStyle/>
          <a:p>
            <a:endParaRPr lang="en-GB"/>
          </a:p>
        </p:txBody>
      </p:sp>
      <p:sp>
        <p:nvSpPr>
          <p:cNvPr id="31" name="Text 29"/>
          <p:cNvSpPr/>
          <p:nvPr/>
        </p:nvSpPr>
        <p:spPr>
          <a:xfrm>
            <a:off x="1403598" y="6124575"/>
            <a:ext cx="809625" cy="228600"/>
          </a:xfrm>
          <a:prstGeom prst="rect">
            <a:avLst/>
          </a:prstGeom>
          <a:noFill/>
          <a:ln/>
        </p:spPr>
        <p:txBody>
          <a:bodyPr wrap="square" lIns="76200" tIns="38100" rIns="762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ServiceNow</a:t>
            </a:r>
            <a:endParaRPr lang="en-US" sz="1600" dirty="0"/>
          </a:p>
        </p:txBody>
      </p:sp>
      <p:sp>
        <p:nvSpPr>
          <p:cNvPr id="32" name="Shape 30"/>
          <p:cNvSpPr/>
          <p:nvPr/>
        </p:nvSpPr>
        <p:spPr>
          <a:xfrm>
            <a:off x="2235250" y="6124575"/>
            <a:ext cx="476250" cy="228600"/>
          </a:xfrm>
          <a:custGeom>
            <a:avLst/>
            <a:gdLst/>
            <a:ahLst/>
            <a:cxnLst/>
            <a:rect l="l" t="t" r="r" b="b"/>
            <a:pathLst>
              <a:path w="476250" h="228600">
                <a:moveTo>
                  <a:pt x="38101" y="0"/>
                </a:moveTo>
                <a:lnTo>
                  <a:pt x="438149" y="0"/>
                </a:lnTo>
                <a:cubicBezTo>
                  <a:pt x="459192" y="0"/>
                  <a:pt x="476250" y="17058"/>
                  <a:pt x="476250" y="38101"/>
                </a:cubicBezTo>
                <a:lnTo>
                  <a:pt x="476250" y="190499"/>
                </a:lnTo>
                <a:cubicBezTo>
                  <a:pt x="476250" y="211542"/>
                  <a:pt x="459192" y="228600"/>
                  <a:pt x="438149" y="228600"/>
                </a:cubicBezTo>
                <a:lnTo>
                  <a:pt x="38101" y="228600"/>
                </a:lnTo>
                <a:cubicBezTo>
                  <a:pt x="17072" y="228600"/>
                  <a:pt x="0" y="211528"/>
                  <a:pt x="0" y="190499"/>
                </a:cubicBezTo>
                <a:lnTo>
                  <a:pt x="0" y="38101"/>
                </a:lnTo>
                <a:cubicBezTo>
                  <a:pt x="0" y="17072"/>
                  <a:pt x="17072" y="0"/>
                  <a:pt x="38101" y="0"/>
                </a:cubicBezTo>
                <a:close/>
              </a:path>
            </a:pathLst>
          </a:custGeom>
          <a:solidFill>
            <a:srgbClr val="4A5C6A">
              <a:alpha val="40000"/>
            </a:srgbClr>
          </a:solidFill>
          <a:ln/>
        </p:spPr>
        <p:txBody>
          <a:bodyPr/>
          <a:lstStyle/>
          <a:p>
            <a:endParaRPr lang="en-GB"/>
          </a:p>
        </p:txBody>
      </p:sp>
      <p:sp>
        <p:nvSpPr>
          <p:cNvPr id="33" name="Text 31"/>
          <p:cNvSpPr/>
          <p:nvPr/>
        </p:nvSpPr>
        <p:spPr>
          <a:xfrm>
            <a:off x="2235250" y="6124575"/>
            <a:ext cx="533400" cy="228600"/>
          </a:xfrm>
          <a:prstGeom prst="rect">
            <a:avLst/>
          </a:prstGeom>
          <a:noFill/>
          <a:ln/>
        </p:spPr>
        <p:txBody>
          <a:bodyPr wrap="square" lIns="76200" tIns="38100" rIns="762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Oracle</a:t>
            </a:r>
            <a:endParaRPr lang="en-US" sz="1600" dirty="0"/>
          </a:p>
        </p:txBody>
      </p:sp>
      <p:sp>
        <p:nvSpPr>
          <p:cNvPr id="34" name="Shape 32"/>
          <p:cNvSpPr/>
          <p:nvPr/>
        </p:nvSpPr>
        <p:spPr>
          <a:xfrm>
            <a:off x="2791569" y="6124575"/>
            <a:ext cx="1009650" cy="228600"/>
          </a:xfrm>
          <a:custGeom>
            <a:avLst/>
            <a:gdLst/>
            <a:ahLst/>
            <a:cxnLst/>
            <a:rect l="l" t="t" r="r" b="b"/>
            <a:pathLst>
              <a:path w="1009650" h="228600">
                <a:moveTo>
                  <a:pt x="38101" y="0"/>
                </a:moveTo>
                <a:lnTo>
                  <a:pt x="971549" y="0"/>
                </a:lnTo>
                <a:cubicBezTo>
                  <a:pt x="992592" y="0"/>
                  <a:pt x="1009650" y="17058"/>
                  <a:pt x="1009650" y="38101"/>
                </a:cubicBezTo>
                <a:lnTo>
                  <a:pt x="1009650" y="190499"/>
                </a:lnTo>
                <a:cubicBezTo>
                  <a:pt x="1009650" y="211542"/>
                  <a:pt x="992592" y="228600"/>
                  <a:pt x="971549" y="228600"/>
                </a:cubicBezTo>
                <a:lnTo>
                  <a:pt x="38101" y="228600"/>
                </a:lnTo>
                <a:cubicBezTo>
                  <a:pt x="17072" y="228600"/>
                  <a:pt x="0" y="211528"/>
                  <a:pt x="0" y="190499"/>
                </a:cubicBezTo>
                <a:lnTo>
                  <a:pt x="0" y="38101"/>
                </a:lnTo>
                <a:cubicBezTo>
                  <a:pt x="0" y="17072"/>
                  <a:pt x="17072" y="0"/>
                  <a:pt x="38101" y="0"/>
                </a:cubicBezTo>
                <a:close/>
              </a:path>
            </a:pathLst>
          </a:custGeom>
          <a:solidFill>
            <a:srgbClr val="4A5C6A">
              <a:alpha val="40000"/>
            </a:srgbClr>
          </a:solidFill>
          <a:ln/>
        </p:spPr>
        <p:txBody>
          <a:bodyPr/>
          <a:lstStyle/>
          <a:p>
            <a:endParaRPr lang="en-GB"/>
          </a:p>
        </p:txBody>
      </p:sp>
      <p:sp>
        <p:nvSpPr>
          <p:cNvPr id="35" name="Text 33"/>
          <p:cNvSpPr/>
          <p:nvPr/>
        </p:nvSpPr>
        <p:spPr>
          <a:xfrm>
            <a:off x="2791569" y="6124575"/>
            <a:ext cx="1066800" cy="228600"/>
          </a:xfrm>
          <a:prstGeom prst="rect">
            <a:avLst/>
          </a:prstGeom>
          <a:noFill/>
          <a:ln/>
        </p:spPr>
        <p:txBody>
          <a:bodyPr wrap="square" lIns="76200" tIns="38100" rIns="762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Thought Machine</a:t>
            </a:r>
            <a:endParaRPr lang="en-US" sz="1600" dirty="0"/>
          </a:p>
        </p:txBody>
      </p:sp>
      <p:sp>
        <p:nvSpPr>
          <p:cNvPr id="36" name="Shape 34"/>
          <p:cNvSpPr/>
          <p:nvPr/>
        </p:nvSpPr>
        <p:spPr>
          <a:xfrm>
            <a:off x="3873847" y="6124575"/>
            <a:ext cx="476250" cy="228600"/>
          </a:xfrm>
          <a:custGeom>
            <a:avLst/>
            <a:gdLst/>
            <a:ahLst/>
            <a:cxnLst/>
            <a:rect l="l" t="t" r="r" b="b"/>
            <a:pathLst>
              <a:path w="476250" h="228600">
                <a:moveTo>
                  <a:pt x="38101" y="0"/>
                </a:moveTo>
                <a:lnTo>
                  <a:pt x="438149" y="0"/>
                </a:lnTo>
                <a:cubicBezTo>
                  <a:pt x="459192" y="0"/>
                  <a:pt x="476250" y="17058"/>
                  <a:pt x="476250" y="38101"/>
                </a:cubicBezTo>
                <a:lnTo>
                  <a:pt x="476250" y="190499"/>
                </a:lnTo>
                <a:cubicBezTo>
                  <a:pt x="476250" y="211542"/>
                  <a:pt x="459192" y="228600"/>
                  <a:pt x="438149" y="228600"/>
                </a:cubicBezTo>
                <a:lnTo>
                  <a:pt x="38101" y="228600"/>
                </a:lnTo>
                <a:cubicBezTo>
                  <a:pt x="17072" y="228600"/>
                  <a:pt x="0" y="211528"/>
                  <a:pt x="0" y="190499"/>
                </a:cubicBezTo>
                <a:lnTo>
                  <a:pt x="0" y="38101"/>
                </a:lnTo>
                <a:cubicBezTo>
                  <a:pt x="0" y="17072"/>
                  <a:pt x="17072" y="0"/>
                  <a:pt x="38101" y="0"/>
                </a:cubicBezTo>
                <a:close/>
              </a:path>
            </a:pathLst>
          </a:custGeom>
          <a:solidFill>
            <a:srgbClr val="4A5C6A">
              <a:alpha val="40000"/>
            </a:srgbClr>
          </a:solidFill>
          <a:ln/>
        </p:spPr>
        <p:txBody>
          <a:bodyPr/>
          <a:lstStyle/>
          <a:p>
            <a:endParaRPr lang="en-GB"/>
          </a:p>
        </p:txBody>
      </p:sp>
      <p:sp>
        <p:nvSpPr>
          <p:cNvPr id="37" name="Text 35"/>
          <p:cNvSpPr/>
          <p:nvPr/>
        </p:nvSpPr>
        <p:spPr>
          <a:xfrm>
            <a:off x="3873847" y="6124575"/>
            <a:ext cx="533400" cy="228600"/>
          </a:xfrm>
          <a:prstGeom prst="rect">
            <a:avLst/>
          </a:prstGeom>
          <a:noFill/>
          <a:ln/>
        </p:spPr>
        <p:txBody>
          <a:bodyPr wrap="square" lIns="76200" tIns="38100" rIns="76200" bIns="38100" rtlCol="0" anchor="ctr"/>
          <a:lstStyle/>
          <a:p>
            <a:pPr>
              <a:lnSpc>
                <a:spcPct val="110000"/>
              </a:lnSpc>
            </a:pPr>
            <a:r>
              <a:rPr lang="en-US" sz="900" dirty="0">
                <a:solidFill>
                  <a:srgbClr val="E0E2E5"/>
                </a:solidFill>
                <a:latin typeface="Quattrocento Sans" pitchFamily="34" charset="0"/>
                <a:ea typeface="Quattrocento Sans" pitchFamily="34" charset="-122"/>
                <a:cs typeface="Quattrocento Sans" pitchFamily="34" charset="-120"/>
              </a:rPr>
              <a:t>Form3</a:t>
            </a:r>
            <a:endParaRPr lang="en-US" sz="1600" dirty="0"/>
          </a:p>
        </p:txBody>
      </p:sp>
      <p:sp>
        <p:nvSpPr>
          <p:cNvPr id="38" name="Text 36"/>
          <p:cNvSpPr/>
          <p:nvPr/>
        </p:nvSpPr>
        <p:spPr>
          <a:xfrm>
            <a:off x="619125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ICT Budget Allocation</a:t>
            </a:r>
            <a:endParaRPr lang="en-US" sz="1600" dirty="0"/>
          </a:p>
        </p:txBody>
      </p:sp>
      <p:sp>
        <p:nvSpPr>
          <p:cNvPr id="39" name="Shape 37"/>
          <p:cNvSpPr/>
          <p:nvPr/>
        </p:nvSpPr>
        <p:spPr>
          <a:xfrm>
            <a:off x="6191250" y="1771650"/>
            <a:ext cx="5619750" cy="2381250"/>
          </a:xfrm>
          <a:custGeom>
            <a:avLst/>
            <a:gdLst/>
            <a:ahLst/>
            <a:cxnLst/>
            <a:rect l="l" t="t" r="r" b="b"/>
            <a:pathLst>
              <a:path w="5619750" h="2381250">
                <a:moveTo>
                  <a:pt x="76200" y="0"/>
                </a:moveTo>
                <a:lnTo>
                  <a:pt x="5543550" y="0"/>
                </a:lnTo>
                <a:cubicBezTo>
                  <a:pt x="5585606" y="0"/>
                  <a:pt x="5619750" y="34144"/>
                  <a:pt x="5619750" y="76200"/>
                </a:cubicBezTo>
                <a:lnTo>
                  <a:pt x="5619750" y="2305050"/>
                </a:lnTo>
                <a:cubicBezTo>
                  <a:pt x="5619750" y="2347106"/>
                  <a:pt x="5585606" y="2381250"/>
                  <a:pt x="5543550" y="2381250"/>
                </a:cubicBezTo>
                <a:lnTo>
                  <a:pt x="76200" y="2381250"/>
                </a:lnTo>
                <a:cubicBezTo>
                  <a:pt x="34144" y="2381250"/>
                  <a:pt x="0" y="2347106"/>
                  <a:pt x="0" y="2305050"/>
                </a:cubicBezTo>
                <a:lnTo>
                  <a:pt x="0" y="76200"/>
                </a:lnTo>
                <a:cubicBezTo>
                  <a:pt x="0" y="34144"/>
                  <a:pt x="34144" y="0"/>
                  <a:pt x="76200" y="0"/>
                </a:cubicBezTo>
                <a:close/>
              </a:path>
            </a:pathLst>
          </a:custGeom>
          <a:solidFill>
            <a:srgbClr val="4A5C6A">
              <a:alpha val="10196"/>
            </a:srgbClr>
          </a:solidFill>
          <a:ln/>
        </p:spPr>
        <p:txBody>
          <a:bodyPr/>
          <a:lstStyle/>
          <a:p>
            <a:endParaRPr lang="en-GB"/>
          </a:p>
        </p:txBody>
      </p:sp>
      <p:pic>
        <p:nvPicPr>
          <p:cNvPr id="40" name="Image 0" descr="https://kimi-img.moonshot.cn/pub/slides/26-01-27-10:39:37-d5s2aqemcu0ok39q36g0.png"/>
          <p:cNvPicPr>
            <a:picLocks noChangeAspect="1"/>
          </p:cNvPicPr>
          <p:nvPr/>
        </p:nvPicPr>
        <p:blipFill>
          <a:blip r:embed="rId3"/>
          <a:srcRect/>
          <a:stretch/>
        </p:blipFill>
        <p:spPr>
          <a:xfrm>
            <a:off x="6343650" y="1924050"/>
            <a:ext cx="5314950" cy="2076450"/>
          </a:xfrm>
          <a:prstGeom prst="roundRect">
            <a:avLst>
              <a:gd name="adj" fmla="val 0"/>
            </a:avLst>
          </a:prstGeom>
        </p:spPr>
      </p:pic>
      <p:sp>
        <p:nvSpPr>
          <p:cNvPr id="41" name="Shape 38"/>
          <p:cNvSpPr/>
          <p:nvPr/>
        </p:nvSpPr>
        <p:spPr>
          <a:xfrm>
            <a:off x="6196013" y="4271963"/>
            <a:ext cx="2743200" cy="1000125"/>
          </a:xfrm>
          <a:custGeom>
            <a:avLst/>
            <a:gdLst/>
            <a:ahLst/>
            <a:cxnLst/>
            <a:rect l="l" t="t" r="r" b="b"/>
            <a:pathLst>
              <a:path w="2743200" h="1000125">
                <a:moveTo>
                  <a:pt x="76200" y="0"/>
                </a:moveTo>
                <a:lnTo>
                  <a:pt x="2667000" y="0"/>
                </a:lnTo>
                <a:cubicBezTo>
                  <a:pt x="2709084" y="0"/>
                  <a:pt x="2743200" y="34116"/>
                  <a:pt x="2743200" y="76200"/>
                </a:cubicBezTo>
                <a:lnTo>
                  <a:pt x="2743200" y="923925"/>
                </a:lnTo>
                <a:cubicBezTo>
                  <a:pt x="2743200" y="966009"/>
                  <a:pt x="2709084" y="1000125"/>
                  <a:pt x="2667000" y="1000125"/>
                </a:cubicBezTo>
                <a:lnTo>
                  <a:pt x="76200" y="1000125"/>
                </a:lnTo>
                <a:cubicBezTo>
                  <a:pt x="34116" y="1000125"/>
                  <a:pt x="0" y="966009"/>
                  <a:pt x="0" y="923925"/>
                </a:cubicBezTo>
                <a:lnTo>
                  <a:pt x="0" y="76200"/>
                </a:lnTo>
                <a:cubicBezTo>
                  <a:pt x="0" y="34144"/>
                  <a:pt x="34144" y="0"/>
                  <a:pt x="76200" y="0"/>
                </a:cubicBezTo>
                <a:close/>
              </a:path>
            </a:pathLst>
          </a:custGeom>
          <a:solidFill>
            <a:srgbClr val="006A4A">
              <a:alpha val="30196"/>
            </a:srgbClr>
          </a:solidFill>
          <a:ln w="12700">
            <a:solidFill>
              <a:srgbClr val="006A4A">
                <a:alpha val="40000"/>
              </a:srgbClr>
            </a:solidFill>
            <a:prstDash val="solid"/>
          </a:ln>
        </p:spPr>
        <p:txBody>
          <a:bodyPr/>
          <a:lstStyle/>
          <a:p>
            <a:endParaRPr lang="en-GB"/>
          </a:p>
        </p:txBody>
      </p:sp>
      <p:sp>
        <p:nvSpPr>
          <p:cNvPr id="42" name="Text 39"/>
          <p:cNvSpPr/>
          <p:nvPr/>
        </p:nvSpPr>
        <p:spPr>
          <a:xfrm>
            <a:off x="6324600" y="442912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Annual ICT Spend</a:t>
            </a:r>
            <a:endParaRPr lang="en-US" sz="1600" dirty="0"/>
          </a:p>
        </p:txBody>
      </p:sp>
      <p:sp>
        <p:nvSpPr>
          <p:cNvPr id="43" name="Text 40"/>
          <p:cNvSpPr/>
          <p:nvPr/>
        </p:nvSpPr>
        <p:spPr>
          <a:xfrm>
            <a:off x="6281738" y="4619625"/>
            <a:ext cx="257175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$1.9bn</a:t>
            </a:r>
            <a:endParaRPr lang="en-US" sz="1600" dirty="0"/>
          </a:p>
        </p:txBody>
      </p:sp>
      <p:sp>
        <p:nvSpPr>
          <p:cNvPr id="44" name="Text 41"/>
          <p:cNvSpPr/>
          <p:nvPr/>
        </p:nvSpPr>
        <p:spPr>
          <a:xfrm>
            <a:off x="6324600" y="496252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(~£1.5bn)</a:t>
            </a:r>
            <a:endParaRPr lang="en-US" sz="1600" dirty="0"/>
          </a:p>
        </p:txBody>
      </p:sp>
      <p:sp>
        <p:nvSpPr>
          <p:cNvPr id="45" name="Shape 42"/>
          <p:cNvSpPr/>
          <p:nvPr/>
        </p:nvSpPr>
        <p:spPr>
          <a:xfrm>
            <a:off x="9063038" y="4271963"/>
            <a:ext cx="2743200" cy="1000125"/>
          </a:xfrm>
          <a:custGeom>
            <a:avLst/>
            <a:gdLst/>
            <a:ahLst/>
            <a:cxnLst/>
            <a:rect l="l" t="t" r="r" b="b"/>
            <a:pathLst>
              <a:path w="2743200" h="1000125">
                <a:moveTo>
                  <a:pt x="76200" y="0"/>
                </a:moveTo>
                <a:lnTo>
                  <a:pt x="2667000" y="0"/>
                </a:lnTo>
                <a:cubicBezTo>
                  <a:pt x="2709084" y="0"/>
                  <a:pt x="2743200" y="34116"/>
                  <a:pt x="2743200" y="76200"/>
                </a:cubicBezTo>
                <a:lnTo>
                  <a:pt x="2743200" y="923925"/>
                </a:lnTo>
                <a:cubicBezTo>
                  <a:pt x="2743200" y="966009"/>
                  <a:pt x="2709084" y="1000125"/>
                  <a:pt x="2667000" y="1000125"/>
                </a:cubicBezTo>
                <a:lnTo>
                  <a:pt x="76200" y="1000125"/>
                </a:lnTo>
                <a:cubicBezTo>
                  <a:pt x="34116" y="1000125"/>
                  <a:pt x="0" y="966009"/>
                  <a:pt x="0" y="923925"/>
                </a:cubicBezTo>
                <a:lnTo>
                  <a:pt x="0" y="76200"/>
                </a:lnTo>
                <a:cubicBezTo>
                  <a:pt x="0" y="34144"/>
                  <a:pt x="34144" y="0"/>
                  <a:pt x="76200" y="0"/>
                </a:cubicBezTo>
                <a:close/>
              </a:path>
            </a:pathLst>
          </a:custGeom>
          <a:solidFill>
            <a:srgbClr val="4A5C6A">
              <a:alpha val="30196"/>
            </a:srgbClr>
          </a:solidFill>
          <a:ln w="12700">
            <a:solidFill>
              <a:srgbClr val="4A5C6A">
                <a:alpha val="40000"/>
              </a:srgbClr>
            </a:solidFill>
            <a:prstDash val="solid"/>
          </a:ln>
        </p:spPr>
        <p:txBody>
          <a:bodyPr/>
          <a:lstStyle/>
          <a:p>
            <a:endParaRPr lang="en-GB"/>
          </a:p>
        </p:txBody>
      </p:sp>
      <p:sp>
        <p:nvSpPr>
          <p:cNvPr id="46" name="Text 43"/>
          <p:cNvSpPr/>
          <p:nvPr/>
        </p:nvSpPr>
        <p:spPr>
          <a:xfrm>
            <a:off x="9191625" y="442912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Tech Headcount</a:t>
            </a:r>
            <a:endParaRPr lang="en-US" sz="1600" dirty="0"/>
          </a:p>
        </p:txBody>
      </p:sp>
      <p:sp>
        <p:nvSpPr>
          <p:cNvPr id="47" name="Text 44"/>
          <p:cNvSpPr/>
          <p:nvPr/>
        </p:nvSpPr>
        <p:spPr>
          <a:xfrm>
            <a:off x="9148763" y="4619625"/>
            <a:ext cx="2571750" cy="342900"/>
          </a:xfrm>
          <a:prstGeom prst="rect">
            <a:avLst/>
          </a:prstGeom>
          <a:noFill/>
          <a:ln/>
        </p:spPr>
        <p:txBody>
          <a:bodyPr wrap="square" lIns="0" tIns="0" rIns="0" bIns="0" rtlCol="0" anchor="ctr"/>
          <a:lstStyle/>
          <a:p>
            <a:pPr algn="ctr">
              <a:lnSpc>
                <a:spcPct val="100000"/>
              </a:lnSpc>
            </a:pPr>
            <a:r>
              <a:rPr lang="en-US" sz="2250" b="1" dirty="0">
                <a:solidFill>
                  <a:srgbClr val="E0E2E5"/>
                </a:solidFill>
                <a:latin typeface="Quattrocento Sans" pitchFamily="34" charset="0"/>
                <a:ea typeface="Quattrocento Sans" pitchFamily="34" charset="-122"/>
                <a:cs typeface="Quattrocento Sans" pitchFamily="34" charset="-120"/>
              </a:rPr>
              <a:t>4,000+</a:t>
            </a:r>
            <a:endParaRPr lang="en-US" sz="1600" dirty="0"/>
          </a:p>
        </p:txBody>
      </p:sp>
      <p:sp>
        <p:nvSpPr>
          <p:cNvPr id="48" name="Text 45"/>
          <p:cNvSpPr/>
          <p:nvPr/>
        </p:nvSpPr>
        <p:spPr>
          <a:xfrm>
            <a:off x="9191625" y="4962525"/>
            <a:ext cx="2486025" cy="152400"/>
          </a:xfrm>
          <a:prstGeom prst="rect">
            <a:avLst/>
          </a:prstGeom>
          <a:noFill/>
          <a:ln/>
        </p:spPr>
        <p:txBody>
          <a:bodyPr wrap="square" lIns="0" tIns="0" rIns="0" bIns="0" rtlCol="0" anchor="ctr"/>
          <a:lstStyle/>
          <a:p>
            <a:pPr algn="ct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New hires since 2021</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Innovation Focus</a:t>
            </a:r>
            <a:endParaRPr lang="en-US" sz="1600" dirty="0"/>
          </a:p>
        </p:txBody>
      </p:sp>
      <p:sp>
        <p:nvSpPr>
          <p:cNvPr id="3" name="Text 1"/>
          <p:cNvSpPr/>
          <p:nvPr/>
        </p:nvSpPr>
        <p:spPr>
          <a:xfrm>
            <a:off x="381000" y="5715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AI &amp; Digital Transformation</a:t>
            </a:r>
            <a:endParaRPr lang="en-US" sz="1600" dirty="0"/>
          </a:p>
        </p:txBody>
      </p:sp>
      <p:sp>
        <p:nvSpPr>
          <p:cNvPr id="4" name="Shape 2"/>
          <p:cNvSpPr/>
          <p:nvPr/>
        </p:nvSpPr>
        <p:spPr>
          <a:xfrm>
            <a:off x="381000" y="10287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5" name="Shape 3"/>
          <p:cNvSpPr/>
          <p:nvPr/>
        </p:nvSpPr>
        <p:spPr>
          <a:xfrm>
            <a:off x="381000" y="1200150"/>
            <a:ext cx="3705225" cy="1447800"/>
          </a:xfrm>
          <a:custGeom>
            <a:avLst/>
            <a:gdLst/>
            <a:ahLst/>
            <a:cxnLst/>
            <a:rect l="l" t="t" r="r" b="b"/>
            <a:pathLst>
              <a:path w="3705225" h="1447800">
                <a:moveTo>
                  <a:pt x="76198" y="0"/>
                </a:moveTo>
                <a:lnTo>
                  <a:pt x="3629027" y="0"/>
                </a:lnTo>
                <a:cubicBezTo>
                  <a:pt x="3671082" y="0"/>
                  <a:pt x="3705225" y="34143"/>
                  <a:pt x="3705225" y="76198"/>
                </a:cubicBezTo>
                <a:lnTo>
                  <a:pt x="3705225" y="1371602"/>
                </a:lnTo>
                <a:cubicBezTo>
                  <a:pt x="3705225" y="1413657"/>
                  <a:pt x="3671082" y="1447800"/>
                  <a:pt x="3629027" y="1447800"/>
                </a:cubicBezTo>
                <a:lnTo>
                  <a:pt x="76198" y="1447800"/>
                </a:lnTo>
                <a:cubicBezTo>
                  <a:pt x="34143" y="1447800"/>
                  <a:pt x="0" y="1413657"/>
                  <a:pt x="0" y="1371602"/>
                </a:cubicBezTo>
                <a:lnTo>
                  <a:pt x="0" y="76198"/>
                </a:lnTo>
                <a:cubicBezTo>
                  <a:pt x="0" y="34143"/>
                  <a:pt x="34143" y="0"/>
                  <a:pt x="76198" y="0"/>
                </a:cubicBezTo>
                <a:close/>
              </a:path>
            </a:pathLst>
          </a:custGeom>
          <a:gradFill flip="none" rotWithShape="1">
            <a:gsLst>
              <a:gs pos="0">
                <a:srgbClr val="006A4A"/>
              </a:gs>
              <a:gs pos="100000">
                <a:srgbClr val="006A4A">
                  <a:alpha val="70000"/>
                </a:srgbClr>
              </a:gs>
            </a:gsLst>
            <a:lin ang="2700000" scaled="1"/>
          </a:gradFill>
          <a:ln/>
        </p:spPr>
        <p:txBody>
          <a:bodyPr/>
          <a:lstStyle/>
          <a:p>
            <a:endParaRPr lang="en-GB"/>
          </a:p>
        </p:txBody>
      </p:sp>
      <p:sp>
        <p:nvSpPr>
          <p:cNvPr id="6" name="Shape 4"/>
          <p:cNvSpPr/>
          <p:nvPr/>
        </p:nvSpPr>
        <p:spPr>
          <a:xfrm>
            <a:off x="614363" y="1390650"/>
            <a:ext cx="342900" cy="342900"/>
          </a:xfrm>
          <a:custGeom>
            <a:avLst/>
            <a:gdLst/>
            <a:ahLst/>
            <a:cxnLst/>
            <a:rect l="l" t="t" r="r" b="b"/>
            <a:pathLst>
              <a:path w="342900" h="342900">
                <a:moveTo>
                  <a:pt x="80367" y="37505"/>
                </a:moveTo>
                <a:cubicBezTo>
                  <a:pt x="80367" y="16810"/>
                  <a:pt x="97177" y="0"/>
                  <a:pt x="117872" y="0"/>
                </a:cubicBezTo>
                <a:lnTo>
                  <a:pt x="133945" y="0"/>
                </a:lnTo>
                <a:cubicBezTo>
                  <a:pt x="145799" y="0"/>
                  <a:pt x="155377" y="9577"/>
                  <a:pt x="155377" y="21431"/>
                </a:cubicBezTo>
                <a:lnTo>
                  <a:pt x="155377" y="321469"/>
                </a:lnTo>
                <a:cubicBezTo>
                  <a:pt x="155377" y="333323"/>
                  <a:pt x="145799" y="342900"/>
                  <a:pt x="133945" y="342900"/>
                </a:cubicBezTo>
                <a:lnTo>
                  <a:pt x="112514" y="342900"/>
                </a:lnTo>
                <a:cubicBezTo>
                  <a:pt x="92556" y="342900"/>
                  <a:pt x="75746" y="329238"/>
                  <a:pt x="70991" y="310753"/>
                </a:cubicBezTo>
                <a:cubicBezTo>
                  <a:pt x="70522" y="310753"/>
                  <a:pt x="70120" y="310753"/>
                  <a:pt x="69652" y="310753"/>
                </a:cubicBezTo>
                <a:cubicBezTo>
                  <a:pt x="40050" y="310753"/>
                  <a:pt x="16073" y="286777"/>
                  <a:pt x="16073" y="257175"/>
                </a:cubicBezTo>
                <a:cubicBezTo>
                  <a:pt x="16073" y="245120"/>
                  <a:pt x="20092" y="234002"/>
                  <a:pt x="26789" y="225028"/>
                </a:cubicBezTo>
                <a:cubicBezTo>
                  <a:pt x="13796" y="215250"/>
                  <a:pt x="5358" y="199712"/>
                  <a:pt x="5358" y="182166"/>
                </a:cubicBezTo>
                <a:cubicBezTo>
                  <a:pt x="5358" y="161471"/>
                  <a:pt x="17145" y="143455"/>
                  <a:pt x="34290" y="134548"/>
                </a:cubicBezTo>
                <a:cubicBezTo>
                  <a:pt x="29535" y="126511"/>
                  <a:pt x="26789" y="117135"/>
                  <a:pt x="26789" y="107156"/>
                </a:cubicBezTo>
                <a:cubicBezTo>
                  <a:pt x="26789" y="77554"/>
                  <a:pt x="50765" y="53578"/>
                  <a:pt x="80367" y="53578"/>
                </a:cubicBezTo>
                <a:lnTo>
                  <a:pt x="80367" y="37505"/>
                </a:lnTo>
                <a:close/>
                <a:moveTo>
                  <a:pt x="262533" y="37505"/>
                </a:moveTo>
                <a:lnTo>
                  <a:pt x="262533" y="53578"/>
                </a:lnTo>
                <a:cubicBezTo>
                  <a:pt x="292135" y="53578"/>
                  <a:pt x="316111" y="77554"/>
                  <a:pt x="316111" y="107156"/>
                </a:cubicBezTo>
                <a:cubicBezTo>
                  <a:pt x="316111" y="117202"/>
                  <a:pt x="313365" y="126578"/>
                  <a:pt x="308610" y="134548"/>
                </a:cubicBezTo>
                <a:cubicBezTo>
                  <a:pt x="325822" y="143455"/>
                  <a:pt x="337542" y="161404"/>
                  <a:pt x="337542" y="182166"/>
                </a:cubicBezTo>
                <a:cubicBezTo>
                  <a:pt x="337542" y="199712"/>
                  <a:pt x="329104" y="215250"/>
                  <a:pt x="316111" y="225028"/>
                </a:cubicBezTo>
                <a:cubicBezTo>
                  <a:pt x="322808" y="234002"/>
                  <a:pt x="326827" y="245120"/>
                  <a:pt x="326827" y="257175"/>
                </a:cubicBezTo>
                <a:cubicBezTo>
                  <a:pt x="326827" y="286777"/>
                  <a:pt x="302850" y="310753"/>
                  <a:pt x="273248" y="310753"/>
                </a:cubicBezTo>
                <a:cubicBezTo>
                  <a:pt x="272780" y="310753"/>
                  <a:pt x="272378" y="310753"/>
                  <a:pt x="271909" y="310753"/>
                </a:cubicBezTo>
                <a:cubicBezTo>
                  <a:pt x="267154" y="329238"/>
                  <a:pt x="250344" y="342900"/>
                  <a:pt x="230386" y="342900"/>
                </a:cubicBezTo>
                <a:lnTo>
                  <a:pt x="208955" y="342900"/>
                </a:lnTo>
                <a:cubicBezTo>
                  <a:pt x="197101" y="342900"/>
                  <a:pt x="187523" y="333323"/>
                  <a:pt x="187523" y="321469"/>
                </a:cubicBezTo>
                <a:lnTo>
                  <a:pt x="187523" y="21431"/>
                </a:lnTo>
                <a:cubicBezTo>
                  <a:pt x="187523" y="9577"/>
                  <a:pt x="197101" y="0"/>
                  <a:pt x="208955" y="0"/>
                </a:cubicBezTo>
                <a:lnTo>
                  <a:pt x="225028" y="0"/>
                </a:lnTo>
                <a:cubicBezTo>
                  <a:pt x="245723" y="0"/>
                  <a:pt x="262533" y="16810"/>
                  <a:pt x="262533" y="37505"/>
                </a:cubicBezTo>
                <a:close/>
              </a:path>
            </a:pathLst>
          </a:custGeom>
          <a:solidFill>
            <a:srgbClr val="C0A062"/>
          </a:solidFill>
          <a:ln/>
        </p:spPr>
        <p:txBody>
          <a:bodyPr/>
          <a:lstStyle/>
          <a:p>
            <a:endParaRPr lang="en-GB"/>
          </a:p>
        </p:txBody>
      </p:sp>
      <p:sp>
        <p:nvSpPr>
          <p:cNvPr id="7" name="Text 5"/>
          <p:cNvSpPr/>
          <p:nvPr/>
        </p:nvSpPr>
        <p:spPr>
          <a:xfrm>
            <a:off x="2822972" y="1390650"/>
            <a:ext cx="1304925"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Quattrocento Sans" pitchFamily="34" charset="0"/>
                <a:ea typeface="Quattrocento Sans" pitchFamily="34" charset="-122"/>
                <a:cs typeface="Quattrocento Sans" pitchFamily="34" charset="-120"/>
              </a:rPr>
              <a:t>800+</a:t>
            </a:r>
            <a:endParaRPr lang="en-US" sz="1600" dirty="0"/>
          </a:p>
        </p:txBody>
      </p:sp>
      <p:sp>
        <p:nvSpPr>
          <p:cNvPr id="8" name="Text 6"/>
          <p:cNvSpPr/>
          <p:nvPr/>
        </p:nvSpPr>
        <p:spPr>
          <a:xfrm>
            <a:off x="571500" y="1962150"/>
            <a:ext cx="34099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AI Models Deployed</a:t>
            </a:r>
            <a:endParaRPr lang="en-US" sz="1600" dirty="0"/>
          </a:p>
        </p:txBody>
      </p:sp>
      <p:sp>
        <p:nvSpPr>
          <p:cNvPr id="9" name="Text 7"/>
          <p:cNvSpPr/>
          <p:nvPr/>
        </p:nvSpPr>
        <p:spPr>
          <a:xfrm>
            <a:off x="571500" y="2266950"/>
            <a:ext cx="33909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Across operations, risk, and customer service</a:t>
            </a:r>
            <a:endParaRPr lang="en-US" sz="1600" dirty="0"/>
          </a:p>
        </p:txBody>
      </p:sp>
      <p:sp>
        <p:nvSpPr>
          <p:cNvPr id="10" name="Shape 8"/>
          <p:cNvSpPr/>
          <p:nvPr/>
        </p:nvSpPr>
        <p:spPr>
          <a:xfrm>
            <a:off x="4241750" y="1200150"/>
            <a:ext cx="3705225" cy="1447800"/>
          </a:xfrm>
          <a:custGeom>
            <a:avLst/>
            <a:gdLst/>
            <a:ahLst/>
            <a:cxnLst/>
            <a:rect l="l" t="t" r="r" b="b"/>
            <a:pathLst>
              <a:path w="3705225" h="1447800">
                <a:moveTo>
                  <a:pt x="76198" y="0"/>
                </a:moveTo>
                <a:lnTo>
                  <a:pt x="3629027" y="0"/>
                </a:lnTo>
                <a:cubicBezTo>
                  <a:pt x="3671082" y="0"/>
                  <a:pt x="3705225" y="34143"/>
                  <a:pt x="3705225" y="76198"/>
                </a:cubicBezTo>
                <a:lnTo>
                  <a:pt x="3705225" y="1371602"/>
                </a:lnTo>
                <a:cubicBezTo>
                  <a:pt x="3705225" y="1413657"/>
                  <a:pt x="3671082" y="1447800"/>
                  <a:pt x="3629027" y="1447800"/>
                </a:cubicBezTo>
                <a:lnTo>
                  <a:pt x="76198" y="1447800"/>
                </a:lnTo>
                <a:cubicBezTo>
                  <a:pt x="34143" y="1447800"/>
                  <a:pt x="0" y="1413657"/>
                  <a:pt x="0" y="1371602"/>
                </a:cubicBezTo>
                <a:lnTo>
                  <a:pt x="0" y="76198"/>
                </a:lnTo>
                <a:cubicBezTo>
                  <a:pt x="0" y="34143"/>
                  <a:pt x="34143" y="0"/>
                  <a:pt x="76198" y="0"/>
                </a:cubicBezTo>
                <a:close/>
              </a:path>
            </a:pathLst>
          </a:custGeom>
          <a:gradFill flip="none" rotWithShape="1">
            <a:gsLst>
              <a:gs pos="0">
                <a:srgbClr val="4A5C6A"/>
              </a:gs>
              <a:gs pos="100000">
                <a:srgbClr val="4A5C6A">
                  <a:alpha val="70000"/>
                </a:srgbClr>
              </a:gs>
            </a:gsLst>
            <a:lin ang="2700000" scaled="1"/>
          </a:gradFill>
          <a:ln/>
        </p:spPr>
        <p:txBody>
          <a:bodyPr/>
          <a:lstStyle/>
          <a:p>
            <a:endParaRPr lang="en-GB"/>
          </a:p>
        </p:txBody>
      </p:sp>
      <p:sp>
        <p:nvSpPr>
          <p:cNvPr id="11" name="Shape 9"/>
          <p:cNvSpPr/>
          <p:nvPr/>
        </p:nvSpPr>
        <p:spPr>
          <a:xfrm>
            <a:off x="4453682" y="1390650"/>
            <a:ext cx="385763" cy="342900"/>
          </a:xfrm>
          <a:custGeom>
            <a:avLst/>
            <a:gdLst/>
            <a:ahLst/>
            <a:cxnLst/>
            <a:rect l="l" t="t" r="r" b="b"/>
            <a:pathLst>
              <a:path w="385763" h="342900">
                <a:moveTo>
                  <a:pt x="0" y="225028"/>
                </a:moveTo>
                <a:cubicBezTo>
                  <a:pt x="0" y="278271"/>
                  <a:pt x="43197" y="321469"/>
                  <a:pt x="96441" y="321469"/>
                </a:cubicBezTo>
                <a:lnTo>
                  <a:pt x="300038" y="321469"/>
                </a:lnTo>
                <a:cubicBezTo>
                  <a:pt x="347387" y="321469"/>
                  <a:pt x="385763" y="283093"/>
                  <a:pt x="385763" y="235744"/>
                </a:cubicBezTo>
                <a:cubicBezTo>
                  <a:pt x="385763" y="201186"/>
                  <a:pt x="365336" y="171383"/>
                  <a:pt x="335868" y="157855"/>
                </a:cubicBezTo>
                <a:cubicBezTo>
                  <a:pt x="340355" y="149081"/>
                  <a:pt x="342900" y="139102"/>
                  <a:pt x="342900" y="128588"/>
                </a:cubicBezTo>
                <a:cubicBezTo>
                  <a:pt x="342900" y="93092"/>
                  <a:pt x="314102" y="64294"/>
                  <a:pt x="278606" y="64294"/>
                </a:cubicBezTo>
                <a:cubicBezTo>
                  <a:pt x="266752" y="64294"/>
                  <a:pt x="255702" y="67508"/>
                  <a:pt x="246191" y="73067"/>
                </a:cubicBezTo>
                <a:cubicBezTo>
                  <a:pt x="230051" y="42394"/>
                  <a:pt x="197837" y="21431"/>
                  <a:pt x="160734" y="21431"/>
                </a:cubicBezTo>
                <a:cubicBezTo>
                  <a:pt x="107491" y="21431"/>
                  <a:pt x="64294" y="64629"/>
                  <a:pt x="64294" y="117872"/>
                </a:cubicBezTo>
                <a:cubicBezTo>
                  <a:pt x="64294" y="123230"/>
                  <a:pt x="64763" y="128521"/>
                  <a:pt x="65566" y="133610"/>
                </a:cubicBezTo>
                <a:cubicBezTo>
                  <a:pt x="27459" y="146469"/>
                  <a:pt x="0" y="182567"/>
                  <a:pt x="0" y="225028"/>
                </a:cubicBezTo>
                <a:close/>
              </a:path>
            </a:pathLst>
          </a:custGeom>
          <a:solidFill>
            <a:srgbClr val="C0A062"/>
          </a:solidFill>
          <a:ln/>
        </p:spPr>
        <p:txBody>
          <a:bodyPr/>
          <a:lstStyle/>
          <a:p>
            <a:endParaRPr lang="en-GB"/>
          </a:p>
        </p:txBody>
      </p:sp>
      <p:sp>
        <p:nvSpPr>
          <p:cNvPr id="12" name="Text 10"/>
          <p:cNvSpPr/>
          <p:nvPr/>
        </p:nvSpPr>
        <p:spPr>
          <a:xfrm>
            <a:off x="6856065" y="1390650"/>
            <a:ext cx="1133475"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Quattrocento Sans" pitchFamily="34" charset="0"/>
                <a:ea typeface="Quattrocento Sans" pitchFamily="34" charset="-122"/>
                <a:cs typeface="Quattrocento Sans" pitchFamily="34" charset="-120"/>
              </a:rPr>
              <a:t>20%</a:t>
            </a:r>
            <a:endParaRPr lang="en-US" sz="1600" dirty="0"/>
          </a:p>
        </p:txBody>
      </p:sp>
      <p:sp>
        <p:nvSpPr>
          <p:cNvPr id="13" name="Text 11"/>
          <p:cNvSpPr/>
          <p:nvPr/>
        </p:nvSpPr>
        <p:spPr>
          <a:xfrm>
            <a:off x="4432250" y="1962150"/>
            <a:ext cx="34099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Cloud Migration</a:t>
            </a:r>
            <a:endParaRPr lang="en-US" sz="1600" dirty="0"/>
          </a:p>
        </p:txBody>
      </p:sp>
      <p:sp>
        <p:nvSpPr>
          <p:cNvPr id="14" name="Text 12"/>
          <p:cNvSpPr/>
          <p:nvPr/>
        </p:nvSpPr>
        <p:spPr>
          <a:xfrm>
            <a:off x="4432250" y="2266950"/>
            <a:ext cx="33909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Applications migrated to cloud platforms</a:t>
            </a:r>
            <a:endParaRPr lang="en-US" sz="1600" dirty="0"/>
          </a:p>
        </p:txBody>
      </p:sp>
      <p:sp>
        <p:nvSpPr>
          <p:cNvPr id="15" name="Shape 13"/>
          <p:cNvSpPr/>
          <p:nvPr/>
        </p:nvSpPr>
        <p:spPr>
          <a:xfrm>
            <a:off x="385763" y="2805113"/>
            <a:ext cx="7562850" cy="2619375"/>
          </a:xfrm>
          <a:custGeom>
            <a:avLst/>
            <a:gdLst/>
            <a:ahLst/>
            <a:cxnLst/>
            <a:rect l="l" t="t" r="r" b="b"/>
            <a:pathLst>
              <a:path w="7562850" h="2619375">
                <a:moveTo>
                  <a:pt x="76198" y="0"/>
                </a:moveTo>
                <a:lnTo>
                  <a:pt x="7486652" y="0"/>
                </a:lnTo>
                <a:cubicBezTo>
                  <a:pt x="7528735" y="0"/>
                  <a:pt x="7562850" y="34115"/>
                  <a:pt x="7562850" y="76198"/>
                </a:cubicBezTo>
                <a:lnTo>
                  <a:pt x="7562850" y="2543177"/>
                </a:lnTo>
                <a:cubicBezTo>
                  <a:pt x="7562850" y="2585260"/>
                  <a:pt x="7528735" y="2619375"/>
                  <a:pt x="7486652" y="2619375"/>
                </a:cubicBezTo>
                <a:lnTo>
                  <a:pt x="76198" y="2619375"/>
                </a:lnTo>
                <a:cubicBezTo>
                  <a:pt x="34115" y="2619375"/>
                  <a:pt x="0" y="2585260"/>
                  <a:pt x="0" y="2543177"/>
                </a:cubicBezTo>
                <a:lnTo>
                  <a:pt x="0" y="76198"/>
                </a:lnTo>
                <a:cubicBezTo>
                  <a:pt x="0" y="34115"/>
                  <a:pt x="34115" y="0"/>
                  <a:pt x="76198"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16" name="Text 14"/>
          <p:cNvSpPr/>
          <p:nvPr/>
        </p:nvSpPr>
        <p:spPr>
          <a:xfrm>
            <a:off x="581025" y="3000375"/>
            <a:ext cx="72675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AI Value Creation Roadmap</a:t>
            </a:r>
            <a:endParaRPr lang="en-US" sz="1600" dirty="0"/>
          </a:p>
        </p:txBody>
      </p:sp>
      <p:sp>
        <p:nvSpPr>
          <p:cNvPr id="17" name="Text 15"/>
          <p:cNvSpPr/>
          <p:nvPr/>
        </p:nvSpPr>
        <p:spPr>
          <a:xfrm>
            <a:off x="514350" y="3514725"/>
            <a:ext cx="828675" cy="190500"/>
          </a:xfrm>
          <a:prstGeom prst="rect">
            <a:avLst/>
          </a:prstGeom>
          <a:noFill/>
          <a:ln/>
        </p:spPr>
        <p:txBody>
          <a:bodyPr wrap="square" lIns="0" tIns="0" rIns="0" bIns="0" rtlCol="0" anchor="ctr"/>
          <a:lstStyle/>
          <a:p>
            <a:pPr algn="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2024</a:t>
            </a:r>
            <a:endParaRPr lang="en-US" sz="1600" dirty="0"/>
          </a:p>
        </p:txBody>
      </p:sp>
      <p:sp>
        <p:nvSpPr>
          <p:cNvPr id="18" name="Shape 16"/>
          <p:cNvSpPr/>
          <p:nvPr/>
        </p:nvSpPr>
        <p:spPr>
          <a:xfrm>
            <a:off x="1495425" y="3419475"/>
            <a:ext cx="6257925" cy="381000"/>
          </a:xfrm>
          <a:custGeom>
            <a:avLst/>
            <a:gdLst/>
            <a:ahLst/>
            <a:cxnLst/>
            <a:rect l="l" t="t" r="r" b="b"/>
            <a:pathLst>
              <a:path w="6257925" h="381000">
                <a:moveTo>
                  <a:pt x="190500" y="0"/>
                </a:moveTo>
                <a:lnTo>
                  <a:pt x="6067425" y="0"/>
                </a:lnTo>
                <a:cubicBezTo>
                  <a:pt x="6172565" y="0"/>
                  <a:pt x="6257925" y="85360"/>
                  <a:pt x="6257925" y="190500"/>
                </a:cubicBezTo>
                <a:lnTo>
                  <a:pt x="6257925" y="190500"/>
                </a:lnTo>
                <a:cubicBezTo>
                  <a:pt x="6257925" y="295640"/>
                  <a:pt x="6172565" y="381000"/>
                  <a:pt x="6067425" y="381000"/>
                </a:cubicBezTo>
                <a:lnTo>
                  <a:pt x="190500" y="381000"/>
                </a:lnTo>
                <a:cubicBezTo>
                  <a:pt x="85360" y="381000"/>
                  <a:pt x="0" y="295640"/>
                  <a:pt x="0" y="190500"/>
                </a:cubicBezTo>
                <a:lnTo>
                  <a:pt x="0" y="190500"/>
                </a:lnTo>
                <a:cubicBezTo>
                  <a:pt x="0" y="85360"/>
                  <a:pt x="85360" y="0"/>
                  <a:pt x="190500" y="0"/>
                </a:cubicBezTo>
                <a:close/>
              </a:path>
            </a:pathLst>
          </a:custGeom>
          <a:solidFill>
            <a:srgbClr val="4A5C6A">
              <a:alpha val="30196"/>
            </a:srgbClr>
          </a:solidFill>
          <a:ln/>
        </p:spPr>
        <p:txBody>
          <a:bodyPr/>
          <a:lstStyle/>
          <a:p>
            <a:endParaRPr lang="en-GB"/>
          </a:p>
        </p:txBody>
      </p:sp>
      <p:sp>
        <p:nvSpPr>
          <p:cNvPr id="19" name="Shape 17"/>
          <p:cNvSpPr/>
          <p:nvPr/>
        </p:nvSpPr>
        <p:spPr>
          <a:xfrm>
            <a:off x="1495425" y="3419475"/>
            <a:ext cx="1876425" cy="381000"/>
          </a:xfrm>
          <a:custGeom>
            <a:avLst/>
            <a:gdLst/>
            <a:ahLst/>
            <a:cxnLst/>
            <a:rect l="l" t="t" r="r" b="b"/>
            <a:pathLst>
              <a:path w="1876425" h="381000">
                <a:moveTo>
                  <a:pt x="190500" y="0"/>
                </a:moveTo>
                <a:lnTo>
                  <a:pt x="1685925" y="0"/>
                </a:lnTo>
                <a:cubicBezTo>
                  <a:pt x="1791065" y="0"/>
                  <a:pt x="1876425" y="85360"/>
                  <a:pt x="1876425" y="190500"/>
                </a:cubicBezTo>
                <a:lnTo>
                  <a:pt x="1876425" y="190500"/>
                </a:lnTo>
                <a:cubicBezTo>
                  <a:pt x="1876425" y="295640"/>
                  <a:pt x="1791065" y="381000"/>
                  <a:pt x="1685925" y="381000"/>
                </a:cubicBezTo>
                <a:lnTo>
                  <a:pt x="190500" y="381000"/>
                </a:lnTo>
                <a:cubicBezTo>
                  <a:pt x="85360" y="381000"/>
                  <a:pt x="0" y="295640"/>
                  <a:pt x="0" y="190500"/>
                </a:cubicBezTo>
                <a:lnTo>
                  <a:pt x="0" y="190500"/>
                </a:lnTo>
                <a:cubicBezTo>
                  <a:pt x="0" y="85360"/>
                  <a:pt x="85360" y="0"/>
                  <a:pt x="190500" y="0"/>
                </a:cubicBezTo>
                <a:close/>
              </a:path>
            </a:pathLst>
          </a:custGeom>
          <a:solidFill>
            <a:srgbClr val="006A4A"/>
          </a:solidFill>
          <a:ln/>
        </p:spPr>
        <p:txBody>
          <a:bodyPr/>
          <a:lstStyle/>
          <a:p>
            <a:endParaRPr lang="en-GB"/>
          </a:p>
        </p:txBody>
      </p:sp>
      <p:sp>
        <p:nvSpPr>
          <p:cNvPr id="20" name="Text 18"/>
          <p:cNvSpPr/>
          <p:nvPr/>
        </p:nvSpPr>
        <p:spPr>
          <a:xfrm>
            <a:off x="1428750" y="3419475"/>
            <a:ext cx="1943100" cy="381000"/>
          </a:xfrm>
          <a:prstGeom prst="rect">
            <a:avLst/>
          </a:prstGeom>
          <a:noFill/>
          <a:ln/>
        </p:spPr>
        <p:txBody>
          <a:bodyPr wrap="square" lIns="0" tIns="0" rIns="114300" bIns="0" rtlCol="0" anchor="ctr"/>
          <a:lstStyle/>
          <a:p>
            <a:pPr algn="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£1.5bn cost savings</a:t>
            </a:r>
            <a:endParaRPr lang="en-US" sz="1600" dirty="0"/>
          </a:p>
        </p:txBody>
      </p:sp>
      <p:sp>
        <p:nvSpPr>
          <p:cNvPr id="21" name="Text 19"/>
          <p:cNvSpPr/>
          <p:nvPr/>
        </p:nvSpPr>
        <p:spPr>
          <a:xfrm>
            <a:off x="514350" y="4048125"/>
            <a:ext cx="828675" cy="190500"/>
          </a:xfrm>
          <a:prstGeom prst="rect">
            <a:avLst/>
          </a:prstGeom>
          <a:noFill/>
          <a:ln/>
        </p:spPr>
        <p:txBody>
          <a:bodyPr wrap="square" lIns="0" tIns="0" rIns="0" bIns="0" rtlCol="0" anchor="ctr"/>
          <a:lstStyle/>
          <a:p>
            <a:pPr algn="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2025</a:t>
            </a:r>
            <a:endParaRPr lang="en-US" sz="1600" dirty="0"/>
          </a:p>
        </p:txBody>
      </p:sp>
      <p:sp>
        <p:nvSpPr>
          <p:cNvPr id="22" name="Shape 20"/>
          <p:cNvSpPr/>
          <p:nvPr/>
        </p:nvSpPr>
        <p:spPr>
          <a:xfrm>
            <a:off x="1495425" y="3952875"/>
            <a:ext cx="6257925" cy="381000"/>
          </a:xfrm>
          <a:custGeom>
            <a:avLst/>
            <a:gdLst/>
            <a:ahLst/>
            <a:cxnLst/>
            <a:rect l="l" t="t" r="r" b="b"/>
            <a:pathLst>
              <a:path w="6257925" h="381000">
                <a:moveTo>
                  <a:pt x="190500" y="0"/>
                </a:moveTo>
                <a:lnTo>
                  <a:pt x="6067425" y="0"/>
                </a:lnTo>
                <a:cubicBezTo>
                  <a:pt x="6172565" y="0"/>
                  <a:pt x="6257925" y="85360"/>
                  <a:pt x="6257925" y="190500"/>
                </a:cubicBezTo>
                <a:lnTo>
                  <a:pt x="6257925" y="190500"/>
                </a:lnTo>
                <a:cubicBezTo>
                  <a:pt x="6257925" y="295640"/>
                  <a:pt x="6172565" y="381000"/>
                  <a:pt x="6067425" y="381000"/>
                </a:cubicBezTo>
                <a:lnTo>
                  <a:pt x="190500" y="381000"/>
                </a:lnTo>
                <a:cubicBezTo>
                  <a:pt x="85360" y="381000"/>
                  <a:pt x="0" y="295640"/>
                  <a:pt x="0" y="190500"/>
                </a:cubicBezTo>
                <a:lnTo>
                  <a:pt x="0" y="190500"/>
                </a:lnTo>
                <a:cubicBezTo>
                  <a:pt x="0" y="85360"/>
                  <a:pt x="85360" y="0"/>
                  <a:pt x="190500" y="0"/>
                </a:cubicBezTo>
                <a:close/>
              </a:path>
            </a:pathLst>
          </a:custGeom>
          <a:solidFill>
            <a:srgbClr val="4A5C6A">
              <a:alpha val="30196"/>
            </a:srgbClr>
          </a:solidFill>
          <a:ln/>
        </p:spPr>
        <p:txBody>
          <a:bodyPr/>
          <a:lstStyle/>
          <a:p>
            <a:endParaRPr lang="en-GB"/>
          </a:p>
        </p:txBody>
      </p:sp>
      <p:sp>
        <p:nvSpPr>
          <p:cNvPr id="23" name="Shape 21"/>
          <p:cNvSpPr/>
          <p:nvPr/>
        </p:nvSpPr>
        <p:spPr>
          <a:xfrm>
            <a:off x="1495425" y="3952875"/>
            <a:ext cx="2809875" cy="381000"/>
          </a:xfrm>
          <a:custGeom>
            <a:avLst/>
            <a:gdLst/>
            <a:ahLst/>
            <a:cxnLst/>
            <a:rect l="l" t="t" r="r" b="b"/>
            <a:pathLst>
              <a:path w="2809875" h="381000">
                <a:moveTo>
                  <a:pt x="190500" y="0"/>
                </a:moveTo>
                <a:lnTo>
                  <a:pt x="2619375" y="0"/>
                </a:lnTo>
                <a:cubicBezTo>
                  <a:pt x="2724515" y="0"/>
                  <a:pt x="2809875" y="85360"/>
                  <a:pt x="2809875" y="190500"/>
                </a:cubicBezTo>
                <a:lnTo>
                  <a:pt x="2809875" y="190500"/>
                </a:lnTo>
                <a:cubicBezTo>
                  <a:pt x="2809875" y="295640"/>
                  <a:pt x="2724515" y="381000"/>
                  <a:pt x="2619375" y="381000"/>
                </a:cubicBezTo>
                <a:lnTo>
                  <a:pt x="190500" y="381000"/>
                </a:lnTo>
                <a:cubicBezTo>
                  <a:pt x="85360" y="381000"/>
                  <a:pt x="0" y="295640"/>
                  <a:pt x="0" y="190500"/>
                </a:cubicBezTo>
                <a:lnTo>
                  <a:pt x="0" y="190500"/>
                </a:lnTo>
                <a:cubicBezTo>
                  <a:pt x="0" y="85360"/>
                  <a:pt x="85360" y="0"/>
                  <a:pt x="190500" y="0"/>
                </a:cubicBezTo>
                <a:close/>
              </a:path>
            </a:pathLst>
          </a:custGeom>
          <a:solidFill>
            <a:srgbClr val="006A4A"/>
          </a:solidFill>
          <a:ln/>
        </p:spPr>
        <p:txBody>
          <a:bodyPr/>
          <a:lstStyle/>
          <a:p>
            <a:endParaRPr lang="en-GB"/>
          </a:p>
        </p:txBody>
      </p:sp>
      <p:sp>
        <p:nvSpPr>
          <p:cNvPr id="24" name="Text 22"/>
          <p:cNvSpPr/>
          <p:nvPr/>
        </p:nvSpPr>
        <p:spPr>
          <a:xfrm>
            <a:off x="1428750" y="3952875"/>
            <a:ext cx="2876550" cy="381000"/>
          </a:xfrm>
          <a:prstGeom prst="rect">
            <a:avLst/>
          </a:prstGeom>
          <a:noFill/>
          <a:ln/>
        </p:spPr>
        <p:txBody>
          <a:bodyPr wrap="square" lIns="0" tIns="0" rIns="114300" bIns="0" rtlCol="0" anchor="ctr"/>
          <a:lstStyle/>
          <a:p>
            <a:pPr algn="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£50m incremental</a:t>
            </a:r>
            <a:endParaRPr lang="en-US" sz="1600" dirty="0"/>
          </a:p>
        </p:txBody>
      </p:sp>
      <p:sp>
        <p:nvSpPr>
          <p:cNvPr id="25" name="Text 23"/>
          <p:cNvSpPr/>
          <p:nvPr/>
        </p:nvSpPr>
        <p:spPr>
          <a:xfrm>
            <a:off x="514350" y="4581525"/>
            <a:ext cx="828675" cy="190500"/>
          </a:xfrm>
          <a:prstGeom prst="rect">
            <a:avLst/>
          </a:prstGeom>
          <a:noFill/>
          <a:ln/>
        </p:spPr>
        <p:txBody>
          <a:bodyPr wrap="square" lIns="0" tIns="0" rIns="0" bIns="0" rtlCol="0" anchor="ctr"/>
          <a:lstStyle/>
          <a:p>
            <a:pPr algn="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2026</a:t>
            </a:r>
            <a:endParaRPr lang="en-US" sz="1600" dirty="0"/>
          </a:p>
        </p:txBody>
      </p:sp>
      <p:sp>
        <p:nvSpPr>
          <p:cNvPr id="26" name="Shape 24"/>
          <p:cNvSpPr/>
          <p:nvPr/>
        </p:nvSpPr>
        <p:spPr>
          <a:xfrm>
            <a:off x="1495425" y="4486275"/>
            <a:ext cx="6257925" cy="381000"/>
          </a:xfrm>
          <a:custGeom>
            <a:avLst/>
            <a:gdLst/>
            <a:ahLst/>
            <a:cxnLst/>
            <a:rect l="l" t="t" r="r" b="b"/>
            <a:pathLst>
              <a:path w="6257925" h="381000">
                <a:moveTo>
                  <a:pt x="190500" y="0"/>
                </a:moveTo>
                <a:lnTo>
                  <a:pt x="6067425" y="0"/>
                </a:lnTo>
                <a:cubicBezTo>
                  <a:pt x="6172565" y="0"/>
                  <a:pt x="6257925" y="85360"/>
                  <a:pt x="6257925" y="190500"/>
                </a:cubicBezTo>
                <a:lnTo>
                  <a:pt x="6257925" y="190500"/>
                </a:lnTo>
                <a:cubicBezTo>
                  <a:pt x="6257925" y="295640"/>
                  <a:pt x="6172565" y="381000"/>
                  <a:pt x="6067425" y="381000"/>
                </a:cubicBezTo>
                <a:lnTo>
                  <a:pt x="190500" y="381000"/>
                </a:lnTo>
                <a:cubicBezTo>
                  <a:pt x="85360" y="381000"/>
                  <a:pt x="0" y="295640"/>
                  <a:pt x="0" y="190500"/>
                </a:cubicBezTo>
                <a:lnTo>
                  <a:pt x="0" y="190500"/>
                </a:lnTo>
                <a:cubicBezTo>
                  <a:pt x="0" y="85360"/>
                  <a:pt x="85360" y="0"/>
                  <a:pt x="190500" y="0"/>
                </a:cubicBezTo>
                <a:close/>
              </a:path>
            </a:pathLst>
          </a:custGeom>
          <a:solidFill>
            <a:srgbClr val="4A5C6A">
              <a:alpha val="30196"/>
            </a:srgbClr>
          </a:solidFill>
          <a:ln/>
        </p:spPr>
        <p:txBody>
          <a:bodyPr/>
          <a:lstStyle/>
          <a:p>
            <a:endParaRPr lang="en-GB"/>
          </a:p>
        </p:txBody>
      </p:sp>
      <p:sp>
        <p:nvSpPr>
          <p:cNvPr id="27" name="Shape 25"/>
          <p:cNvSpPr/>
          <p:nvPr/>
        </p:nvSpPr>
        <p:spPr>
          <a:xfrm>
            <a:off x="1495425" y="4486275"/>
            <a:ext cx="6257925" cy="381000"/>
          </a:xfrm>
          <a:custGeom>
            <a:avLst/>
            <a:gdLst/>
            <a:ahLst/>
            <a:cxnLst/>
            <a:rect l="l" t="t" r="r" b="b"/>
            <a:pathLst>
              <a:path w="6257925" h="381000">
                <a:moveTo>
                  <a:pt x="190500" y="0"/>
                </a:moveTo>
                <a:lnTo>
                  <a:pt x="6067425" y="0"/>
                </a:lnTo>
                <a:cubicBezTo>
                  <a:pt x="6172565" y="0"/>
                  <a:pt x="6257925" y="85360"/>
                  <a:pt x="6257925" y="190500"/>
                </a:cubicBezTo>
                <a:lnTo>
                  <a:pt x="6257925" y="190500"/>
                </a:lnTo>
                <a:cubicBezTo>
                  <a:pt x="6257925" y="295640"/>
                  <a:pt x="6172565" y="381000"/>
                  <a:pt x="6067425" y="381000"/>
                </a:cubicBezTo>
                <a:lnTo>
                  <a:pt x="190500" y="381000"/>
                </a:lnTo>
                <a:cubicBezTo>
                  <a:pt x="85360" y="381000"/>
                  <a:pt x="0" y="295640"/>
                  <a:pt x="0" y="190500"/>
                </a:cubicBezTo>
                <a:lnTo>
                  <a:pt x="0" y="190500"/>
                </a:lnTo>
                <a:cubicBezTo>
                  <a:pt x="0" y="85360"/>
                  <a:pt x="85360" y="0"/>
                  <a:pt x="190500" y="0"/>
                </a:cubicBezTo>
                <a:close/>
              </a:path>
            </a:pathLst>
          </a:custGeom>
          <a:solidFill>
            <a:srgbClr val="006A4A"/>
          </a:solidFill>
          <a:ln/>
        </p:spPr>
        <p:txBody>
          <a:bodyPr/>
          <a:lstStyle/>
          <a:p>
            <a:endParaRPr lang="en-GB"/>
          </a:p>
        </p:txBody>
      </p:sp>
      <p:sp>
        <p:nvSpPr>
          <p:cNvPr id="28" name="Text 26"/>
          <p:cNvSpPr/>
          <p:nvPr/>
        </p:nvSpPr>
        <p:spPr>
          <a:xfrm>
            <a:off x="1428750" y="4486275"/>
            <a:ext cx="6324600" cy="381000"/>
          </a:xfrm>
          <a:prstGeom prst="rect">
            <a:avLst/>
          </a:prstGeom>
          <a:noFill/>
          <a:ln/>
        </p:spPr>
        <p:txBody>
          <a:bodyPr wrap="square" lIns="0" tIns="0" rIns="114300" bIns="0" rtlCol="0" anchor="ctr"/>
          <a:lstStyle/>
          <a:p>
            <a:pPr algn="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£150m target</a:t>
            </a:r>
            <a:endParaRPr lang="en-US" sz="1600" dirty="0"/>
          </a:p>
        </p:txBody>
      </p:sp>
      <p:sp>
        <p:nvSpPr>
          <p:cNvPr id="29" name="Shape 27"/>
          <p:cNvSpPr/>
          <p:nvPr/>
        </p:nvSpPr>
        <p:spPr>
          <a:xfrm>
            <a:off x="385763" y="5586413"/>
            <a:ext cx="2438400" cy="885825"/>
          </a:xfrm>
          <a:custGeom>
            <a:avLst/>
            <a:gdLst/>
            <a:ahLst/>
            <a:cxnLst/>
            <a:rect l="l" t="t" r="r" b="b"/>
            <a:pathLst>
              <a:path w="2438400" h="885825">
                <a:moveTo>
                  <a:pt x="76199" y="0"/>
                </a:moveTo>
                <a:lnTo>
                  <a:pt x="2362201" y="0"/>
                </a:lnTo>
                <a:cubicBezTo>
                  <a:pt x="2404285" y="0"/>
                  <a:pt x="2438400" y="34115"/>
                  <a:pt x="2438400" y="76199"/>
                </a:cubicBezTo>
                <a:lnTo>
                  <a:pt x="2438400" y="809626"/>
                </a:lnTo>
                <a:cubicBezTo>
                  <a:pt x="2438400" y="851710"/>
                  <a:pt x="2404285" y="885825"/>
                  <a:pt x="2362201" y="885825"/>
                </a:cubicBezTo>
                <a:lnTo>
                  <a:pt x="76199" y="885825"/>
                </a:lnTo>
                <a:cubicBezTo>
                  <a:pt x="34115" y="885825"/>
                  <a:pt x="0" y="851710"/>
                  <a:pt x="0" y="809626"/>
                </a:cubicBezTo>
                <a:lnTo>
                  <a:pt x="0" y="76199"/>
                </a:lnTo>
                <a:cubicBezTo>
                  <a:pt x="0" y="34143"/>
                  <a:pt x="34143" y="0"/>
                  <a:pt x="76199" y="0"/>
                </a:cubicBezTo>
                <a:close/>
              </a:path>
            </a:pathLst>
          </a:custGeom>
          <a:solidFill>
            <a:srgbClr val="1C398E">
              <a:alpha val="20000"/>
            </a:srgbClr>
          </a:solidFill>
          <a:ln w="12700">
            <a:solidFill>
              <a:srgbClr val="2B7FFF">
                <a:alpha val="30196"/>
              </a:srgbClr>
            </a:solidFill>
            <a:prstDash val="solid"/>
          </a:ln>
        </p:spPr>
        <p:txBody>
          <a:bodyPr/>
          <a:lstStyle/>
          <a:p>
            <a:endParaRPr lang="en-GB"/>
          </a:p>
        </p:txBody>
      </p:sp>
      <p:sp>
        <p:nvSpPr>
          <p:cNvPr id="30" name="Shape 28"/>
          <p:cNvSpPr/>
          <p:nvPr/>
        </p:nvSpPr>
        <p:spPr>
          <a:xfrm>
            <a:off x="1475780" y="5705475"/>
            <a:ext cx="257175" cy="228600"/>
          </a:xfrm>
          <a:custGeom>
            <a:avLst/>
            <a:gdLst/>
            <a:ahLst/>
            <a:cxnLst/>
            <a:rect l="l" t="t" r="r" b="b"/>
            <a:pathLst>
              <a:path w="257175" h="228600">
                <a:moveTo>
                  <a:pt x="171450" y="64294"/>
                </a:moveTo>
                <a:cubicBezTo>
                  <a:pt x="171450" y="107692"/>
                  <a:pt x="133052" y="142875"/>
                  <a:pt x="85725" y="142875"/>
                </a:cubicBezTo>
                <a:cubicBezTo>
                  <a:pt x="73804" y="142875"/>
                  <a:pt x="62463" y="140643"/>
                  <a:pt x="52149" y="136624"/>
                </a:cubicBezTo>
                <a:lnTo>
                  <a:pt x="15716" y="155912"/>
                </a:lnTo>
                <a:cubicBezTo>
                  <a:pt x="11564" y="158100"/>
                  <a:pt x="6474" y="157341"/>
                  <a:pt x="3125" y="154037"/>
                </a:cubicBezTo>
                <a:cubicBezTo>
                  <a:pt x="-223" y="150733"/>
                  <a:pt x="-982" y="145599"/>
                  <a:pt x="1250" y="141446"/>
                </a:cubicBezTo>
                <a:lnTo>
                  <a:pt x="17145" y="111443"/>
                </a:lnTo>
                <a:cubicBezTo>
                  <a:pt x="6385" y="98316"/>
                  <a:pt x="0" y="81975"/>
                  <a:pt x="0" y="64294"/>
                </a:cubicBezTo>
                <a:cubicBezTo>
                  <a:pt x="0" y="20895"/>
                  <a:pt x="38398" y="-14287"/>
                  <a:pt x="85725" y="-14287"/>
                </a:cubicBezTo>
                <a:cubicBezTo>
                  <a:pt x="133052" y="-14287"/>
                  <a:pt x="171450" y="20895"/>
                  <a:pt x="171450" y="64294"/>
                </a:cubicBezTo>
                <a:close/>
                <a:moveTo>
                  <a:pt x="171450" y="228600"/>
                </a:moveTo>
                <a:cubicBezTo>
                  <a:pt x="129436" y="228600"/>
                  <a:pt x="94476" y="200873"/>
                  <a:pt x="87154" y="164306"/>
                </a:cubicBezTo>
                <a:cubicBezTo>
                  <a:pt x="140732" y="163637"/>
                  <a:pt x="187300" y="125507"/>
                  <a:pt x="192435" y="73804"/>
                </a:cubicBezTo>
                <a:cubicBezTo>
                  <a:pt x="229627" y="82376"/>
                  <a:pt x="257175" y="113228"/>
                  <a:pt x="257175" y="150019"/>
                </a:cubicBezTo>
                <a:cubicBezTo>
                  <a:pt x="257175" y="167700"/>
                  <a:pt x="250790" y="184041"/>
                  <a:pt x="240030" y="197168"/>
                </a:cubicBezTo>
                <a:lnTo>
                  <a:pt x="255925" y="227171"/>
                </a:lnTo>
                <a:cubicBezTo>
                  <a:pt x="258113" y="231324"/>
                  <a:pt x="257354" y="236413"/>
                  <a:pt x="254050" y="239762"/>
                </a:cubicBezTo>
                <a:cubicBezTo>
                  <a:pt x="250746" y="243111"/>
                  <a:pt x="245611" y="243870"/>
                  <a:pt x="241459" y="241637"/>
                </a:cubicBezTo>
                <a:lnTo>
                  <a:pt x="205026" y="222349"/>
                </a:lnTo>
                <a:cubicBezTo>
                  <a:pt x="194712" y="226368"/>
                  <a:pt x="183371" y="228600"/>
                  <a:pt x="171450" y="228600"/>
                </a:cubicBezTo>
                <a:close/>
              </a:path>
            </a:pathLst>
          </a:custGeom>
          <a:solidFill>
            <a:srgbClr val="51A2FF"/>
          </a:solidFill>
          <a:ln/>
        </p:spPr>
        <p:txBody>
          <a:bodyPr/>
          <a:lstStyle/>
          <a:p>
            <a:endParaRPr lang="en-GB"/>
          </a:p>
        </p:txBody>
      </p:sp>
      <p:sp>
        <p:nvSpPr>
          <p:cNvPr id="31" name="Text 29"/>
          <p:cNvSpPr/>
          <p:nvPr/>
        </p:nvSpPr>
        <p:spPr>
          <a:xfrm>
            <a:off x="471488" y="6010275"/>
            <a:ext cx="2266950" cy="190500"/>
          </a:xfrm>
          <a:prstGeom prst="rect">
            <a:avLst/>
          </a:prstGeom>
          <a:noFill/>
          <a:ln/>
        </p:spPr>
        <p:txBody>
          <a:bodyPr wrap="square" lIns="0" tIns="0" rIns="0" bIns="0" rtlCol="0" anchor="ctr"/>
          <a:lstStyle/>
          <a:p>
            <a:pPr algn="ct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18 GenAI Systems</a:t>
            </a:r>
            <a:endParaRPr lang="en-US" sz="1600" dirty="0"/>
          </a:p>
        </p:txBody>
      </p:sp>
      <p:sp>
        <p:nvSpPr>
          <p:cNvPr id="32" name="Text 30"/>
          <p:cNvSpPr/>
          <p:nvPr/>
        </p:nvSpPr>
        <p:spPr>
          <a:xfrm>
            <a:off x="476250" y="6200775"/>
            <a:ext cx="2257425" cy="152400"/>
          </a:xfrm>
          <a:prstGeom prst="rect">
            <a:avLst/>
          </a:prstGeom>
          <a:noFill/>
          <a:ln/>
        </p:spPr>
        <p:txBody>
          <a:bodyPr wrap="square" lIns="0" tIns="0" rIns="0" bIns="0" rtlCol="0" anchor="ctr"/>
          <a:lstStyle/>
          <a:p>
            <a:pPr algn="ct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In production (April 2025)</a:t>
            </a:r>
            <a:endParaRPr lang="en-US" sz="1600" dirty="0"/>
          </a:p>
        </p:txBody>
      </p:sp>
      <p:sp>
        <p:nvSpPr>
          <p:cNvPr id="33" name="Shape 31"/>
          <p:cNvSpPr/>
          <p:nvPr/>
        </p:nvSpPr>
        <p:spPr>
          <a:xfrm>
            <a:off x="2946797" y="5586413"/>
            <a:ext cx="2438400" cy="885825"/>
          </a:xfrm>
          <a:custGeom>
            <a:avLst/>
            <a:gdLst/>
            <a:ahLst/>
            <a:cxnLst/>
            <a:rect l="l" t="t" r="r" b="b"/>
            <a:pathLst>
              <a:path w="2438400" h="885825">
                <a:moveTo>
                  <a:pt x="76199" y="0"/>
                </a:moveTo>
                <a:lnTo>
                  <a:pt x="2362201" y="0"/>
                </a:lnTo>
                <a:cubicBezTo>
                  <a:pt x="2404285" y="0"/>
                  <a:pt x="2438400" y="34115"/>
                  <a:pt x="2438400" y="76199"/>
                </a:cubicBezTo>
                <a:lnTo>
                  <a:pt x="2438400" y="809626"/>
                </a:lnTo>
                <a:cubicBezTo>
                  <a:pt x="2438400" y="851710"/>
                  <a:pt x="2404285" y="885825"/>
                  <a:pt x="2362201" y="885825"/>
                </a:cubicBezTo>
                <a:lnTo>
                  <a:pt x="76199" y="885825"/>
                </a:lnTo>
                <a:cubicBezTo>
                  <a:pt x="34115" y="885825"/>
                  <a:pt x="0" y="851710"/>
                  <a:pt x="0" y="809626"/>
                </a:cubicBezTo>
                <a:lnTo>
                  <a:pt x="0" y="76199"/>
                </a:lnTo>
                <a:cubicBezTo>
                  <a:pt x="0" y="34143"/>
                  <a:pt x="34143" y="0"/>
                  <a:pt x="76199" y="0"/>
                </a:cubicBezTo>
                <a:close/>
              </a:path>
            </a:pathLst>
          </a:custGeom>
          <a:solidFill>
            <a:srgbClr val="59168B">
              <a:alpha val="20000"/>
            </a:srgbClr>
          </a:solidFill>
          <a:ln w="12700">
            <a:solidFill>
              <a:srgbClr val="AD46FF">
                <a:alpha val="30196"/>
              </a:srgbClr>
            </a:solidFill>
            <a:prstDash val="solid"/>
          </a:ln>
        </p:spPr>
        <p:txBody>
          <a:bodyPr/>
          <a:lstStyle/>
          <a:p>
            <a:endParaRPr lang="en-GB"/>
          </a:p>
        </p:txBody>
      </p:sp>
      <p:sp>
        <p:nvSpPr>
          <p:cNvPr id="34" name="Shape 32"/>
          <p:cNvSpPr/>
          <p:nvPr/>
        </p:nvSpPr>
        <p:spPr>
          <a:xfrm>
            <a:off x="4022527" y="5705475"/>
            <a:ext cx="285750" cy="228600"/>
          </a:xfrm>
          <a:custGeom>
            <a:avLst/>
            <a:gdLst/>
            <a:ahLst/>
            <a:cxnLst/>
            <a:rect l="l" t="t" r="r" b="b"/>
            <a:pathLst>
              <a:path w="285750" h="228600">
                <a:moveTo>
                  <a:pt x="142875" y="100013"/>
                </a:moveTo>
                <a:cubicBezTo>
                  <a:pt x="168503" y="100013"/>
                  <a:pt x="189309" y="79206"/>
                  <a:pt x="189309" y="53578"/>
                </a:cubicBezTo>
                <a:cubicBezTo>
                  <a:pt x="189309" y="27950"/>
                  <a:pt x="168503" y="7144"/>
                  <a:pt x="142875" y="7144"/>
                </a:cubicBezTo>
                <a:cubicBezTo>
                  <a:pt x="117247" y="7144"/>
                  <a:pt x="96441" y="27950"/>
                  <a:pt x="96441" y="53578"/>
                </a:cubicBezTo>
                <a:cubicBezTo>
                  <a:pt x="96441" y="79206"/>
                  <a:pt x="117247" y="100013"/>
                  <a:pt x="142875" y="100013"/>
                </a:cubicBezTo>
                <a:close/>
                <a:moveTo>
                  <a:pt x="42863" y="103584"/>
                </a:moveTo>
                <a:cubicBezTo>
                  <a:pt x="60605" y="103584"/>
                  <a:pt x="75009" y="89180"/>
                  <a:pt x="75009" y="71438"/>
                </a:cubicBezTo>
                <a:cubicBezTo>
                  <a:pt x="75009" y="53695"/>
                  <a:pt x="60605" y="39291"/>
                  <a:pt x="42863" y="39291"/>
                </a:cubicBezTo>
                <a:cubicBezTo>
                  <a:pt x="25120" y="39291"/>
                  <a:pt x="10716" y="53695"/>
                  <a:pt x="10716" y="71438"/>
                </a:cubicBezTo>
                <a:cubicBezTo>
                  <a:pt x="10716" y="89180"/>
                  <a:pt x="25120" y="103584"/>
                  <a:pt x="42862" y="103584"/>
                </a:cubicBezTo>
                <a:close/>
                <a:moveTo>
                  <a:pt x="0" y="185738"/>
                </a:moveTo>
                <a:lnTo>
                  <a:pt x="0" y="200025"/>
                </a:lnTo>
                <a:cubicBezTo>
                  <a:pt x="0" y="207928"/>
                  <a:pt x="6385" y="214313"/>
                  <a:pt x="14288" y="214313"/>
                </a:cubicBezTo>
                <a:lnTo>
                  <a:pt x="52998" y="214313"/>
                </a:lnTo>
                <a:cubicBezTo>
                  <a:pt x="51078" y="209937"/>
                  <a:pt x="50006" y="205115"/>
                  <a:pt x="50006" y="200025"/>
                </a:cubicBezTo>
                <a:lnTo>
                  <a:pt x="50006" y="192881"/>
                </a:lnTo>
                <a:cubicBezTo>
                  <a:pt x="50006" y="169128"/>
                  <a:pt x="58936" y="147429"/>
                  <a:pt x="73625" y="130999"/>
                </a:cubicBezTo>
                <a:cubicBezTo>
                  <a:pt x="68401" y="129436"/>
                  <a:pt x="62865" y="128588"/>
                  <a:pt x="57150" y="128588"/>
                </a:cubicBezTo>
                <a:cubicBezTo>
                  <a:pt x="25584" y="128588"/>
                  <a:pt x="0" y="154171"/>
                  <a:pt x="0" y="185738"/>
                </a:cubicBezTo>
                <a:close/>
                <a:moveTo>
                  <a:pt x="275034" y="71438"/>
                </a:moveTo>
                <a:cubicBezTo>
                  <a:pt x="275034" y="53695"/>
                  <a:pt x="260630" y="39291"/>
                  <a:pt x="242888" y="39291"/>
                </a:cubicBezTo>
                <a:cubicBezTo>
                  <a:pt x="225145" y="39291"/>
                  <a:pt x="210741" y="53695"/>
                  <a:pt x="210741" y="71438"/>
                </a:cubicBezTo>
                <a:cubicBezTo>
                  <a:pt x="210741" y="89180"/>
                  <a:pt x="225145" y="103584"/>
                  <a:pt x="242888" y="103584"/>
                </a:cubicBezTo>
                <a:cubicBezTo>
                  <a:pt x="260630" y="103584"/>
                  <a:pt x="275034" y="89180"/>
                  <a:pt x="275034" y="71438"/>
                </a:cubicBezTo>
                <a:close/>
                <a:moveTo>
                  <a:pt x="71438" y="192881"/>
                </a:moveTo>
                <a:lnTo>
                  <a:pt x="71438" y="200025"/>
                </a:lnTo>
                <a:cubicBezTo>
                  <a:pt x="71438" y="207928"/>
                  <a:pt x="77822" y="214313"/>
                  <a:pt x="85725" y="214313"/>
                </a:cubicBezTo>
                <a:lnTo>
                  <a:pt x="155734" y="214313"/>
                </a:lnTo>
                <a:cubicBezTo>
                  <a:pt x="152564" y="204668"/>
                  <a:pt x="152921" y="194489"/>
                  <a:pt x="160511" y="185738"/>
                </a:cubicBezTo>
                <a:cubicBezTo>
                  <a:pt x="154260" y="178504"/>
                  <a:pt x="151358" y="168012"/>
                  <a:pt x="155421" y="157475"/>
                </a:cubicBezTo>
                <a:cubicBezTo>
                  <a:pt x="158368" y="149840"/>
                  <a:pt x="162520" y="142696"/>
                  <a:pt x="167655" y="136356"/>
                </a:cubicBezTo>
                <a:cubicBezTo>
                  <a:pt x="170066" y="133410"/>
                  <a:pt x="172834" y="131132"/>
                  <a:pt x="175826" y="129480"/>
                </a:cubicBezTo>
                <a:cubicBezTo>
                  <a:pt x="165958" y="124346"/>
                  <a:pt x="154751" y="121444"/>
                  <a:pt x="142875" y="121444"/>
                </a:cubicBezTo>
                <a:cubicBezTo>
                  <a:pt x="103406" y="121444"/>
                  <a:pt x="71438" y="153412"/>
                  <a:pt x="71438" y="192881"/>
                </a:cubicBezTo>
                <a:close/>
                <a:moveTo>
                  <a:pt x="278874" y="173191"/>
                </a:moveTo>
                <a:cubicBezTo>
                  <a:pt x="281687" y="171584"/>
                  <a:pt x="283116" y="168235"/>
                  <a:pt x="281910" y="165155"/>
                </a:cubicBezTo>
                <a:cubicBezTo>
                  <a:pt x="279767" y="159618"/>
                  <a:pt x="276776" y="154394"/>
                  <a:pt x="273025" y="149796"/>
                </a:cubicBezTo>
                <a:cubicBezTo>
                  <a:pt x="270971" y="147251"/>
                  <a:pt x="267355" y="146804"/>
                  <a:pt x="264542" y="148456"/>
                </a:cubicBezTo>
                <a:cubicBezTo>
                  <a:pt x="254809" y="154082"/>
                  <a:pt x="242843" y="147206"/>
                  <a:pt x="242843" y="135910"/>
                </a:cubicBezTo>
                <a:cubicBezTo>
                  <a:pt x="242843" y="132651"/>
                  <a:pt x="240655" y="129748"/>
                  <a:pt x="237440" y="129257"/>
                </a:cubicBezTo>
                <a:cubicBezTo>
                  <a:pt x="231681" y="128364"/>
                  <a:pt x="225475" y="128364"/>
                  <a:pt x="219715" y="129257"/>
                </a:cubicBezTo>
                <a:cubicBezTo>
                  <a:pt x="216500" y="129748"/>
                  <a:pt x="214312" y="132651"/>
                  <a:pt x="214312" y="135910"/>
                </a:cubicBezTo>
                <a:cubicBezTo>
                  <a:pt x="214312" y="147161"/>
                  <a:pt x="202347" y="154082"/>
                  <a:pt x="192613" y="148456"/>
                </a:cubicBezTo>
                <a:cubicBezTo>
                  <a:pt x="189801" y="146849"/>
                  <a:pt x="186184" y="147295"/>
                  <a:pt x="184130" y="149796"/>
                </a:cubicBezTo>
                <a:cubicBezTo>
                  <a:pt x="180380" y="154394"/>
                  <a:pt x="177388" y="159618"/>
                  <a:pt x="175245" y="165155"/>
                </a:cubicBezTo>
                <a:cubicBezTo>
                  <a:pt x="174084" y="168191"/>
                  <a:pt x="175468" y="171539"/>
                  <a:pt x="178281" y="173147"/>
                </a:cubicBezTo>
                <a:cubicBezTo>
                  <a:pt x="188059" y="178772"/>
                  <a:pt x="188059" y="192569"/>
                  <a:pt x="178281" y="198239"/>
                </a:cubicBezTo>
                <a:cubicBezTo>
                  <a:pt x="175468" y="199846"/>
                  <a:pt x="174040" y="203195"/>
                  <a:pt x="175245" y="206231"/>
                </a:cubicBezTo>
                <a:cubicBezTo>
                  <a:pt x="177388" y="211768"/>
                  <a:pt x="180380" y="216991"/>
                  <a:pt x="184130" y="221590"/>
                </a:cubicBezTo>
                <a:cubicBezTo>
                  <a:pt x="186184" y="224135"/>
                  <a:pt x="189801" y="224582"/>
                  <a:pt x="192613" y="222930"/>
                </a:cubicBezTo>
                <a:cubicBezTo>
                  <a:pt x="202347" y="217304"/>
                  <a:pt x="214312" y="224224"/>
                  <a:pt x="214312" y="235476"/>
                </a:cubicBezTo>
                <a:cubicBezTo>
                  <a:pt x="214312" y="238735"/>
                  <a:pt x="216500" y="241637"/>
                  <a:pt x="219715" y="242128"/>
                </a:cubicBezTo>
                <a:cubicBezTo>
                  <a:pt x="225475" y="243021"/>
                  <a:pt x="231681" y="243021"/>
                  <a:pt x="237440" y="242128"/>
                </a:cubicBezTo>
                <a:cubicBezTo>
                  <a:pt x="240655" y="241637"/>
                  <a:pt x="242843" y="238735"/>
                  <a:pt x="242843" y="235476"/>
                </a:cubicBezTo>
                <a:cubicBezTo>
                  <a:pt x="242843" y="224224"/>
                  <a:pt x="254809" y="217304"/>
                  <a:pt x="264542" y="222930"/>
                </a:cubicBezTo>
                <a:cubicBezTo>
                  <a:pt x="267355" y="224537"/>
                  <a:pt x="270971" y="224091"/>
                  <a:pt x="273025" y="221590"/>
                </a:cubicBezTo>
                <a:cubicBezTo>
                  <a:pt x="276776" y="216991"/>
                  <a:pt x="279767" y="211768"/>
                  <a:pt x="281910" y="206231"/>
                </a:cubicBezTo>
                <a:cubicBezTo>
                  <a:pt x="283071" y="203195"/>
                  <a:pt x="281687" y="199846"/>
                  <a:pt x="278874" y="198239"/>
                </a:cubicBezTo>
                <a:cubicBezTo>
                  <a:pt x="269096" y="192613"/>
                  <a:pt x="269096" y="178817"/>
                  <a:pt x="278874" y="173147"/>
                </a:cubicBezTo>
                <a:close/>
                <a:moveTo>
                  <a:pt x="210741" y="185738"/>
                </a:moveTo>
                <a:cubicBezTo>
                  <a:pt x="210741" y="175881"/>
                  <a:pt x="218743" y="167878"/>
                  <a:pt x="228600" y="167878"/>
                </a:cubicBezTo>
                <a:cubicBezTo>
                  <a:pt x="238457" y="167878"/>
                  <a:pt x="246459" y="175881"/>
                  <a:pt x="246459" y="185738"/>
                </a:cubicBezTo>
                <a:cubicBezTo>
                  <a:pt x="246459" y="195594"/>
                  <a:pt x="238457" y="203597"/>
                  <a:pt x="228600" y="203597"/>
                </a:cubicBezTo>
                <a:cubicBezTo>
                  <a:pt x="218743" y="203597"/>
                  <a:pt x="210741" y="195594"/>
                  <a:pt x="210741" y="185738"/>
                </a:cubicBezTo>
                <a:close/>
              </a:path>
            </a:pathLst>
          </a:custGeom>
          <a:solidFill>
            <a:srgbClr val="C27AFF"/>
          </a:solidFill>
          <a:ln/>
        </p:spPr>
        <p:txBody>
          <a:bodyPr/>
          <a:lstStyle/>
          <a:p>
            <a:endParaRPr lang="en-GB"/>
          </a:p>
        </p:txBody>
      </p:sp>
      <p:sp>
        <p:nvSpPr>
          <p:cNvPr id="35" name="Text 33"/>
          <p:cNvSpPr/>
          <p:nvPr/>
        </p:nvSpPr>
        <p:spPr>
          <a:xfrm>
            <a:off x="3032522" y="6010275"/>
            <a:ext cx="2266950" cy="190500"/>
          </a:xfrm>
          <a:prstGeom prst="rect">
            <a:avLst/>
          </a:prstGeom>
          <a:noFill/>
          <a:ln/>
        </p:spPr>
        <p:txBody>
          <a:bodyPr wrap="square" lIns="0" tIns="0" rIns="0" bIns="0" rtlCol="0" anchor="ctr"/>
          <a:lstStyle/>
          <a:p>
            <a:pPr algn="ct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200+ Specialists</a:t>
            </a:r>
            <a:endParaRPr lang="en-US" sz="1600" dirty="0"/>
          </a:p>
        </p:txBody>
      </p:sp>
      <p:sp>
        <p:nvSpPr>
          <p:cNvPr id="36" name="Text 34"/>
          <p:cNvSpPr/>
          <p:nvPr/>
        </p:nvSpPr>
        <p:spPr>
          <a:xfrm>
            <a:off x="3037284" y="6200775"/>
            <a:ext cx="2257425" cy="152400"/>
          </a:xfrm>
          <a:prstGeom prst="rect">
            <a:avLst/>
          </a:prstGeom>
          <a:noFill/>
          <a:ln/>
        </p:spPr>
        <p:txBody>
          <a:bodyPr wrap="square" lIns="0" tIns="0" rIns="0" bIns="0" rtlCol="0" anchor="ctr"/>
          <a:lstStyle/>
          <a:p>
            <a:pPr algn="ct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AI Centre of Excellence</a:t>
            </a:r>
            <a:endParaRPr lang="en-US" sz="1600" dirty="0"/>
          </a:p>
        </p:txBody>
      </p:sp>
      <p:sp>
        <p:nvSpPr>
          <p:cNvPr id="37" name="Shape 35"/>
          <p:cNvSpPr/>
          <p:nvPr/>
        </p:nvSpPr>
        <p:spPr>
          <a:xfrm>
            <a:off x="5507980" y="5586413"/>
            <a:ext cx="2438400" cy="885825"/>
          </a:xfrm>
          <a:custGeom>
            <a:avLst/>
            <a:gdLst/>
            <a:ahLst/>
            <a:cxnLst/>
            <a:rect l="l" t="t" r="r" b="b"/>
            <a:pathLst>
              <a:path w="2438400" h="885825">
                <a:moveTo>
                  <a:pt x="76199" y="0"/>
                </a:moveTo>
                <a:lnTo>
                  <a:pt x="2362201" y="0"/>
                </a:lnTo>
                <a:cubicBezTo>
                  <a:pt x="2404285" y="0"/>
                  <a:pt x="2438400" y="34115"/>
                  <a:pt x="2438400" y="76199"/>
                </a:cubicBezTo>
                <a:lnTo>
                  <a:pt x="2438400" y="809626"/>
                </a:lnTo>
                <a:cubicBezTo>
                  <a:pt x="2438400" y="851710"/>
                  <a:pt x="2404285" y="885825"/>
                  <a:pt x="2362201" y="885825"/>
                </a:cubicBezTo>
                <a:lnTo>
                  <a:pt x="76199" y="885825"/>
                </a:lnTo>
                <a:cubicBezTo>
                  <a:pt x="34115" y="885825"/>
                  <a:pt x="0" y="851710"/>
                  <a:pt x="0" y="809626"/>
                </a:cubicBezTo>
                <a:lnTo>
                  <a:pt x="0" y="76199"/>
                </a:lnTo>
                <a:cubicBezTo>
                  <a:pt x="0" y="34143"/>
                  <a:pt x="34143" y="0"/>
                  <a:pt x="76199" y="0"/>
                </a:cubicBezTo>
                <a:close/>
              </a:path>
            </a:pathLst>
          </a:custGeom>
          <a:solidFill>
            <a:srgbClr val="0D542B">
              <a:alpha val="20000"/>
            </a:srgbClr>
          </a:solidFill>
          <a:ln w="12700">
            <a:solidFill>
              <a:srgbClr val="00C950">
                <a:alpha val="30196"/>
              </a:srgbClr>
            </a:solidFill>
            <a:prstDash val="solid"/>
          </a:ln>
        </p:spPr>
        <p:txBody>
          <a:bodyPr/>
          <a:lstStyle/>
          <a:p>
            <a:endParaRPr lang="en-GB"/>
          </a:p>
        </p:txBody>
      </p:sp>
      <p:sp>
        <p:nvSpPr>
          <p:cNvPr id="38" name="Shape 36"/>
          <p:cNvSpPr/>
          <p:nvPr/>
        </p:nvSpPr>
        <p:spPr>
          <a:xfrm>
            <a:off x="6612285" y="5705475"/>
            <a:ext cx="228600" cy="228600"/>
          </a:xfrm>
          <a:custGeom>
            <a:avLst/>
            <a:gdLst/>
            <a:ahLst/>
            <a:cxnLst/>
            <a:rect l="l" t="t" r="r" b="b"/>
            <a:pathLst>
              <a:path w="228600" h="228600">
                <a:moveTo>
                  <a:pt x="210428" y="2991"/>
                </a:moveTo>
                <a:cubicBezTo>
                  <a:pt x="213286" y="268"/>
                  <a:pt x="217438" y="-714"/>
                  <a:pt x="221278" y="536"/>
                </a:cubicBezTo>
                <a:cubicBezTo>
                  <a:pt x="225653" y="2009"/>
                  <a:pt x="228600" y="6117"/>
                  <a:pt x="228600" y="10716"/>
                </a:cubicBezTo>
                <a:lnTo>
                  <a:pt x="228600" y="94164"/>
                </a:lnTo>
                <a:cubicBezTo>
                  <a:pt x="228600" y="152742"/>
                  <a:pt x="180335" y="200025"/>
                  <a:pt x="121980" y="200025"/>
                </a:cubicBezTo>
                <a:cubicBezTo>
                  <a:pt x="87600" y="200025"/>
                  <a:pt x="57954" y="177924"/>
                  <a:pt x="47193" y="147027"/>
                </a:cubicBezTo>
                <a:cubicBezTo>
                  <a:pt x="31388" y="160779"/>
                  <a:pt x="21431" y="181005"/>
                  <a:pt x="21431" y="203597"/>
                </a:cubicBezTo>
                <a:cubicBezTo>
                  <a:pt x="21431" y="209535"/>
                  <a:pt x="16654" y="214313"/>
                  <a:pt x="10716" y="214313"/>
                </a:cubicBezTo>
                <a:cubicBezTo>
                  <a:pt x="4777" y="214313"/>
                  <a:pt x="0" y="209535"/>
                  <a:pt x="0" y="203597"/>
                </a:cubicBezTo>
                <a:cubicBezTo>
                  <a:pt x="0" y="170155"/>
                  <a:pt x="17056" y="140687"/>
                  <a:pt x="42907" y="123364"/>
                </a:cubicBezTo>
                <a:cubicBezTo>
                  <a:pt x="58668" y="112827"/>
                  <a:pt x="77465" y="107156"/>
                  <a:pt x="96441" y="107156"/>
                </a:cubicBezTo>
                <a:lnTo>
                  <a:pt x="132159" y="107156"/>
                </a:lnTo>
                <a:cubicBezTo>
                  <a:pt x="138098" y="107156"/>
                  <a:pt x="142875" y="102379"/>
                  <a:pt x="142875" y="96441"/>
                </a:cubicBezTo>
                <a:cubicBezTo>
                  <a:pt x="142875" y="90502"/>
                  <a:pt x="138098" y="85725"/>
                  <a:pt x="132159" y="85725"/>
                </a:cubicBezTo>
                <a:lnTo>
                  <a:pt x="96441" y="85725"/>
                </a:lnTo>
                <a:cubicBezTo>
                  <a:pt x="78715" y="85725"/>
                  <a:pt x="61927" y="89654"/>
                  <a:pt x="46881" y="96664"/>
                </a:cubicBezTo>
                <a:cubicBezTo>
                  <a:pt x="57284" y="65410"/>
                  <a:pt x="86707" y="42863"/>
                  <a:pt x="121444" y="42863"/>
                </a:cubicBezTo>
                <a:cubicBezTo>
                  <a:pt x="151090" y="42863"/>
                  <a:pt x="173147" y="32995"/>
                  <a:pt x="187836" y="23217"/>
                </a:cubicBezTo>
                <a:cubicBezTo>
                  <a:pt x="196408" y="17502"/>
                  <a:pt x="203686" y="10671"/>
                  <a:pt x="210473" y="2991"/>
                </a:cubicBezTo>
                <a:close/>
              </a:path>
            </a:pathLst>
          </a:custGeom>
          <a:solidFill>
            <a:srgbClr val="05DF72"/>
          </a:solidFill>
          <a:ln/>
        </p:spPr>
        <p:txBody>
          <a:bodyPr/>
          <a:lstStyle/>
          <a:p>
            <a:endParaRPr lang="en-GB"/>
          </a:p>
        </p:txBody>
      </p:sp>
      <p:sp>
        <p:nvSpPr>
          <p:cNvPr id="39" name="Text 37"/>
          <p:cNvSpPr/>
          <p:nvPr/>
        </p:nvSpPr>
        <p:spPr>
          <a:xfrm>
            <a:off x="5593705" y="6010275"/>
            <a:ext cx="2266950" cy="190500"/>
          </a:xfrm>
          <a:prstGeom prst="rect">
            <a:avLst/>
          </a:prstGeom>
          <a:noFill/>
          <a:ln/>
        </p:spPr>
        <p:txBody>
          <a:bodyPr wrap="square" lIns="0" tIns="0" rIns="0" bIns="0" rtlCol="0" anchor="ctr"/>
          <a:lstStyle/>
          <a:p>
            <a:pPr algn="ct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27 Tonnes</a:t>
            </a:r>
            <a:endParaRPr lang="en-US" sz="1600" dirty="0"/>
          </a:p>
        </p:txBody>
      </p:sp>
      <p:sp>
        <p:nvSpPr>
          <p:cNvPr id="40" name="Text 38"/>
          <p:cNvSpPr/>
          <p:nvPr/>
        </p:nvSpPr>
        <p:spPr>
          <a:xfrm>
            <a:off x="5598468" y="6200775"/>
            <a:ext cx="2257425" cy="152400"/>
          </a:xfrm>
          <a:prstGeom prst="rect">
            <a:avLst/>
          </a:prstGeom>
          <a:noFill/>
          <a:ln/>
        </p:spPr>
        <p:txBody>
          <a:bodyPr wrap="square" lIns="0" tIns="0" rIns="0" bIns="0" rtlCol="0" anchor="ctr"/>
          <a:lstStyle/>
          <a:p>
            <a:pPr algn="ct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CO2 saved via ML</a:t>
            </a:r>
            <a:endParaRPr lang="en-US" sz="1600" dirty="0"/>
          </a:p>
        </p:txBody>
      </p:sp>
      <p:sp>
        <p:nvSpPr>
          <p:cNvPr id="41" name="Text 39"/>
          <p:cNvSpPr/>
          <p:nvPr/>
        </p:nvSpPr>
        <p:spPr>
          <a:xfrm>
            <a:off x="8102501" y="1200150"/>
            <a:ext cx="38004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Strategic AI Initiatives</a:t>
            </a:r>
            <a:endParaRPr lang="en-US" sz="1600" dirty="0"/>
          </a:p>
        </p:txBody>
      </p:sp>
      <p:sp>
        <p:nvSpPr>
          <p:cNvPr id="42" name="Shape 40"/>
          <p:cNvSpPr/>
          <p:nvPr/>
        </p:nvSpPr>
        <p:spPr>
          <a:xfrm>
            <a:off x="8107263" y="1585913"/>
            <a:ext cx="3695700" cy="733425"/>
          </a:xfrm>
          <a:custGeom>
            <a:avLst/>
            <a:gdLst/>
            <a:ahLst/>
            <a:cxnLst/>
            <a:rect l="l" t="t" r="r" b="b"/>
            <a:pathLst>
              <a:path w="3695700" h="733425">
                <a:moveTo>
                  <a:pt x="76203" y="0"/>
                </a:moveTo>
                <a:lnTo>
                  <a:pt x="3619497" y="0"/>
                </a:lnTo>
                <a:cubicBezTo>
                  <a:pt x="3661555" y="0"/>
                  <a:pt x="3695700" y="34145"/>
                  <a:pt x="3695700" y="76203"/>
                </a:cubicBezTo>
                <a:lnTo>
                  <a:pt x="3695700" y="657222"/>
                </a:lnTo>
                <a:cubicBezTo>
                  <a:pt x="3695700" y="699280"/>
                  <a:pt x="3661555" y="733425"/>
                  <a:pt x="3619497" y="733425"/>
                </a:cubicBezTo>
                <a:lnTo>
                  <a:pt x="76203" y="733425"/>
                </a:lnTo>
                <a:cubicBezTo>
                  <a:pt x="34145" y="733425"/>
                  <a:pt x="0" y="699280"/>
                  <a:pt x="0" y="657222"/>
                </a:cubicBezTo>
                <a:lnTo>
                  <a:pt x="0" y="76203"/>
                </a:lnTo>
                <a:cubicBezTo>
                  <a:pt x="0" y="34145"/>
                  <a:pt x="34145" y="0"/>
                  <a:pt x="76203"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3" name="Shape 41"/>
          <p:cNvSpPr/>
          <p:nvPr/>
        </p:nvSpPr>
        <p:spPr>
          <a:xfrm>
            <a:off x="8283476" y="17621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6A4A"/>
          </a:solidFill>
          <a:ln/>
        </p:spPr>
        <p:txBody>
          <a:bodyPr/>
          <a:lstStyle/>
          <a:p>
            <a:endParaRPr lang="en-GB"/>
          </a:p>
        </p:txBody>
      </p:sp>
      <p:sp>
        <p:nvSpPr>
          <p:cNvPr id="44" name="Text 42"/>
          <p:cNvSpPr/>
          <p:nvPr/>
        </p:nvSpPr>
        <p:spPr>
          <a:xfrm>
            <a:off x="8531126" y="1743075"/>
            <a:ext cx="107632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Aveni Investment</a:t>
            </a:r>
            <a:endParaRPr lang="en-US" sz="1600" dirty="0"/>
          </a:p>
        </p:txBody>
      </p:sp>
      <p:sp>
        <p:nvSpPr>
          <p:cNvPr id="45" name="Text 43"/>
          <p:cNvSpPr/>
          <p:nvPr/>
        </p:nvSpPr>
        <p:spPr>
          <a:xfrm>
            <a:off x="8264426" y="200977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Investment in FinLLM - financial services specific LLM</a:t>
            </a:r>
            <a:endParaRPr lang="en-US" sz="1600" dirty="0"/>
          </a:p>
        </p:txBody>
      </p:sp>
      <p:sp>
        <p:nvSpPr>
          <p:cNvPr id="46" name="Shape 44"/>
          <p:cNvSpPr/>
          <p:nvPr/>
        </p:nvSpPr>
        <p:spPr>
          <a:xfrm>
            <a:off x="8107263" y="2443163"/>
            <a:ext cx="3695700" cy="733425"/>
          </a:xfrm>
          <a:custGeom>
            <a:avLst/>
            <a:gdLst/>
            <a:ahLst/>
            <a:cxnLst/>
            <a:rect l="l" t="t" r="r" b="b"/>
            <a:pathLst>
              <a:path w="3695700" h="733425">
                <a:moveTo>
                  <a:pt x="76203" y="0"/>
                </a:moveTo>
                <a:lnTo>
                  <a:pt x="3619497" y="0"/>
                </a:lnTo>
                <a:cubicBezTo>
                  <a:pt x="3661555" y="0"/>
                  <a:pt x="3695700" y="34145"/>
                  <a:pt x="3695700" y="76203"/>
                </a:cubicBezTo>
                <a:lnTo>
                  <a:pt x="3695700" y="657222"/>
                </a:lnTo>
                <a:cubicBezTo>
                  <a:pt x="3695700" y="699280"/>
                  <a:pt x="3661555" y="733425"/>
                  <a:pt x="3619497" y="733425"/>
                </a:cubicBezTo>
                <a:lnTo>
                  <a:pt x="76203" y="733425"/>
                </a:lnTo>
                <a:cubicBezTo>
                  <a:pt x="34145" y="733425"/>
                  <a:pt x="0" y="699280"/>
                  <a:pt x="0" y="657222"/>
                </a:cubicBezTo>
                <a:lnTo>
                  <a:pt x="0" y="76203"/>
                </a:lnTo>
                <a:cubicBezTo>
                  <a:pt x="0" y="34145"/>
                  <a:pt x="34145" y="0"/>
                  <a:pt x="76203"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7" name="Shape 45"/>
          <p:cNvSpPr/>
          <p:nvPr/>
        </p:nvSpPr>
        <p:spPr>
          <a:xfrm>
            <a:off x="8283476" y="261937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6A4A"/>
          </a:solidFill>
          <a:ln/>
        </p:spPr>
        <p:txBody>
          <a:bodyPr/>
          <a:lstStyle/>
          <a:p>
            <a:endParaRPr lang="en-GB"/>
          </a:p>
        </p:txBody>
      </p:sp>
      <p:sp>
        <p:nvSpPr>
          <p:cNvPr id="48" name="Text 46"/>
          <p:cNvSpPr/>
          <p:nvPr/>
        </p:nvSpPr>
        <p:spPr>
          <a:xfrm>
            <a:off x="8531126" y="2600325"/>
            <a:ext cx="9144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Responsible AI</a:t>
            </a:r>
            <a:endParaRPr lang="en-US" sz="1600" dirty="0"/>
          </a:p>
        </p:txBody>
      </p:sp>
      <p:sp>
        <p:nvSpPr>
          <p:cNvPr id="49" name="Text 47"/>
          <p:cNvSpPr/>
          <p:nvPr/>
        </p:nvSpPr>
        <p:spPr>
          <a:xfrm>
            <a:off x="8264426" y="286702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Head of Responsible AI appointed Feb 2025</a:t>
            </a:r>
            <a:endParaRPr lang="en-US" sz="1600" dirty="0"/>
          </a:p>
        </p:txBody>
      </p:sp>
      <p:sp>
        <p:nvSpPr>
          <p:cNvPr id="50" name="Shape 48"/>
          <p:cNvSpPr/>
          <p:nvPr/>
        </p:nvSpPr>
        <p:spPr>
          <a:xfrm>
            <a:off x="8107263" y="3300413"/>
            <a:ext cx="3695700" cy="733425"/>
          </a:xfrm>
          <a:custGeom>
            <a:avLst/>
            <a:gdLst/>
            <a:ahLst/>
            <a:cxnLst/>
            <a:rect l="l" t="t" r="r" b="b"/>
            <a:pathLst>
              <a:path w="3695700" h="733425">
                <a:moveTo>
                  <a:pt x="76203" y="0"/>
                </a:moveTo>
                <a:lnTo>
                  <a:pt x="3619497" y="0"/>
                </a:lnTo>
                <a:cubicBezTo>
                  <a:pt x="3661555" y="0"/>
                  <a:pt x="3695700" y="34145"/>
                  <a:pt x="3695700" y="76203"/>
                </a:cubicBezTo>
                <a:lnTo>
                  <a:pt x="3695700" y="657222"/>
                </a:lnTo>
                <a:cubicBezTo>
                  <a:pt x="3695700" y="699280"/>
                  <a:pt x="3661555" y="733425"/>
                  <a:pt x="3619497" y="733425"/>
                </a:cubicBezTo>
                <a:lnTo>
                  <a:pt x="76203" y="733425"/>
                </a:lnTo>
                <a:cubicBezTo>
                  <a:pt x="34145" y="733425"/>
                  <a:pt x="0" y="699280"/>
                  <a:pt x="0" y="657222"/>
                </a:cubicBezTo>
                <a:lnTo>
                  <a:pt x="0" y="76203"/>
                </a:lnTo>
                <a:cubicBezTo>
                  <a:pt x="0" y="34145"/>
                  <a:pt x="34145" y="0"/>
                  <a:pt x="76203"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51" name="Shape 49"/>
          <p:cNvSpPr/>
          <p:nvPr/>
        </p:nvSpPr>
        <p:spPr>
          <a:xfrm>
            <a:off x="8283476" y="34766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6A4A"/>
          </a:solidFill>
          <a:ln/>
        </p:spPr>
        <p:txBody>
          <a:bodyPr/>
          <a:lstStyle/>
          <a:p>
            <a:endParaRPr lang="en-GB"/>
          </a:p>
        </p:txBody>
      </p:sp>
      <p:sp>
        <p:nvSpPr>
          <p:cNvPr id="52" name="Text 50"/>
          <p:cNvSpPr/>
          <p:nvPr/>
        </p:nvSpPr>
        <p:spPr>
          <a:xfrm>
            <a:off x="8531126" y="3457575"/>
            <a:ext cx="112395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Launch Innovation</a:t>
            </a:r>
            <a:endParaRPr lang="en-US" sz="1600" dirty="0"/>
          </a:p>
        </p:txBody>
      </p:sp>
      <p:sp>
        <p:nvSpPr>
          <p:cNvPr id="53" name="Text 51"/>
          <p:cNvSpPr/>
          <p:nvPr/>
        </p:nvSpPr>
        <p:spPr>
          <a:xfrm>
            <a:off x="8264426" y="372427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Partnership with Doshi for financial education</a:t>
            </a:r>
            <a:endParaRPr lang="en-US" sz="1600" dirty="0"/>
          </a:p>
        </p:txBody>
      </p:sp>
      <p:sp>
        <p:nvSpPr>
          <p:cNvPr id="54" name="Shape 52"/>
          <p:cNvSpPr/>
          <p:nvPr/>
        </p:nvSpPr>
        <p:spPr>
          <a:xfrm>
            <a:off x="8107263" y="4157663"/>
            <a:ext cx="3695700" cy="733425"/>
          </a:xfrm>
          <a:custGeom>
            <a:avLst/>
            <a:gdLst/>
            <a:ahLst/>
            <a:cxnLst/>
            <a:rect l="l" t="t" r="r" b="b"/>
            <a:pathLst>
              <a:path w="3695700" h="733425">
                <a:moveTo>
                  <a:pt x="76203" y="0"/>
                </a:moveTo>
                <a:lnTo>
                  <a:pt x="3619497" y="0"/>
                </a:lnTo>
                <a:cubicBezTo>
                  <a:pt x="3661555" y="0"/>
                  <a:pt x="3695700" y="34145"/>
                  <a:pt x="3695700" y="76203"/>
                </a:cubicBezTo>
                <a:lnTo>
                  <a:pt x="3695700" y="657222"/>
                </a:lnTo>
                <a:cubicBezTo>
                  <a:pt x="3695700" y="699280"/>
                  <a:pt x="3661555" y="733425"/>
                  <a:pt x="3619497" y="733425"/>
                </a:cubicBezTo>
                <a:lnTo>
                  <a:pt x="76203" y="733425"/>
                </a:lnTo>
                <a:cubicBezTo>
                  <a:pt x="34145" y="733425"/>
                  <a:pt x="0" y="699280"/>
                  <a:pt x="0" y="657222"/>
                </a:cubicBezTo>
                <a:lnTo>
                  <a:pt x="0" y="76203"/>
                </a:lnTo>
                <a:cubicBezTo>
                  <a:pt x="0" y="34145"/>
                  <a:pt x="34145" y="0"/>
                  <a:pt x="76203"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55" name="Shape 53"/>
          <p:cNvSpPr/>
          <p:nvPr/>
        </p:nvSpPr>
        <p:spPr>
          <a:xfrm>
            <a:off x="8283476" y="433387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6A4A"/>
          </a:solidFill>
          <a:ln/>
        </p:spPr>
        <p:txBody>
          <a:bodyPr/>
          <a:lstStyle/>
          <a:p>
            <a:endParaRPr lang="en-GB"/>
          </a:p>
        </p:txBody>
      </p:sp>
      <p:sp>
        <p:nvSpPr>
          <p:cNvPr id="56" name="Text 54"/>
          <p:cNvSpPr/>
          <p:nvPr/>
        </p:nvSpPr>
        <p:spPr>
          <a:xfrm>
            <a:off x="8531126" y="4314825"/>
            <a:ext cx="77152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Quattrocento Sans" pitchFamily="34" charset="0"/>
                <a:ea typeface="Quattrocento Sans" pitchFamily="34" charset="-122"/>
                <a:cs typeface="Quattrocento Sans" pitchFamily="34" charset="-120"/>
              </a:rPr>
              <a:t>Mortgage AI</a:t>
            </a:r>
            <a:endParaRPr lang="en-US" sz="1600" dirty="0"/>
          </a:p>
        </p:txBody>
      </p:sp>
      <p:sp>
        <p:nvSpPr>
          <p:cNvPr id="57" name="Text 55"/>
          <p:cNvSpPr/>
          <p:nvPr/>
        </p:nvSpPr>
        <p:spPr>
          <a:xfrm>
            <a:off x="8264426" y="4581525"/>
            <a:ext cx="3438525" cy="152400"/>
          </a:xfrm>
          <a:prstGeom prst="rect">
            <a:avLst/>
          </a:prstGeom>
          <a:noFill/>
          <a:ln/>
        </p:spPr>
        <p:txBody>
          <a:bodyPr wrap="square" lIns="0" tIns="0" rIns="0" bIns="0" rtlCol="0" anchor="ctr"/>
          <a:lstStyle/>
          <a:p>
            <a:pP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Income verification: days to seconds</a:t>
            </a:r>
            <a:endParaRPr lang="en-US" sz="1600" dirty="0"/>
          </a:p>
        </p:txBody>
      </p:sp>
      <p:sp>
        <p:nvSpPr>
          <p:cNvPr id="58" name="Shape 56"/>
          <p:cNvSpPr/>
          <p:nvPr/>
        </p:nvSpPr>
        <p:spPr>
          <a:xfrm>
            <a:off x="8107263" y="5624513"/>
            <a:ext cx="3695700" cy="847725"/>
          </a:xfrm>
          <a:custGeom>
            <a:avLst/>
            <a:gdLst/>
            <a:ahLst/>
            <a:cxnLst/>
            <a:rect l="l" t="t" r="r" b="b"/>
            <a:pathLst>
              <a:path w="3695700" h="847725">
                <a:moveTo>
                  <a:pt x="76202" y="0"/>
                </a:moveTo>
                <a:lnTo>
                  <a:pt x="3619498" y="0"/>
                </a:lnTo>
                <a:cubicBezTo>
                  <a:pt x="3661555" y="0"/>
                  <a:pt x="3695700" y="34145"/>
                  <a:pt x="3695700" y="76202"/>
                </a:cubicBezTo>
                <a:lnTo>
                  <a:pt x="3695700" y="771523"/>
                </a:lnTo>
                <a:cubicBezTo>
                  <a:pt x="3695700" y="813580"/>
                  <a:pt x="3661555" y="847725"/>
                  <a:pt x="3619498" y="847725"/>
                </a:cubicBezTo>
                <a:lnTo>
                  <a:pt x="76202" y="847725"/>
                </a:lnTo>
                <a:cubicBezTo>
                  <a:pt x="34145" y="847725"/>
                  <a:pt x="0" y="813580"/>
                  <a:pt x="0" y="771523"/>
                </a:cubicBezTo>
                <a:lnTo>
                  <a:pt x="0" y="76202"/>
                </a:lnTo>
                <a:cubicBezTo>
                  <a:pt x="0" y="34145"/>
                  <a:pt x="34145" y="0"/>
                  <a:pt x="76202"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59" name="Text 57"/>
          <p:cNvSpPr/>
          <p:nvPr/>
        </p:nvSpPr>
        <p:spPr>
          <a:xfrm>
            <a:off x="8264426" y="5781675"/>
            <a:ext cx="343852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Key Insight</a:t>
            </a:r>
            <a:endParaRPr lang="en-US" sz="1600" dirty="0"/>
          </a:p>
        </p:txBody>
      </p:sp>
      <p:sp>
        <p:nvSpPr>
          <p:cNvPr id="60" name="Text 58"/>
          <p:cNvSpPr/>
          <p:nvPr/>
        </p:nvSpPr>
        <p:spPr>
          <a:xfrm>
            <a:off x="8264426" y="6010275"/>
            <a:ext cx="3438525"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76% of UK businesses using AI report increased profitability, validating Lloyds' £4bn digital investment strategy.</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Competitive Analysis</a:t>
            </a:r>
            <a:endParaRPr lang="en-US" sz="1600" dirty="0"/>
          </a:p>
        </p:txBody>
      </p:sp>
      <p:sp>
        <p:nvSpPr>
          <p:cNvPr id="3" name="Text 1"/>
          <p:cNvSpPr/>
          <p:nvPr/>
        </p:nvSpPr>
        <p:spPr>
          <a:xfrm>
            <a:off x="381000" y="685800"/>
            <a:ext cx="37528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Competitive Landscape</a:t>
            </a:r>
            <a:endParaRPr lang="en-US" sz="1600" dirty="0"/>
          </a:p>
        </p:txBody>
      </p:sp>
      <p:sp>
        <p:nvSpPr>
          <p:cNvPr id="4" name="Text 2"/>
          <p:cNvSpPr/>
          <p:nvPr/>
        </p:nvSpPr>
        <p:spPr>
          <a:xfrm>
            <a:off x="10659666" y="571500"/>
            <a:ext cx="1152525"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UK Banking Market</a:t>
            </a:r>
            <a:endParaRPr lang="en-US" sz="1600" dirty="0"/>
          </a:p>
        </p:txBody>
      </p:sp>
      <p:sp>
        <p:nvSpPr>
          <p:cNvPr id="5" name="Text 3"/>
          <p:cNvSpPr/>
          <p:nvPr/>
        </p:nvSpPr>
        <p:spPr>
          <a:xfrm>
            <a:off x="10612041" y="762000"/>
            <a:ext cx="1200150" cy="304800"/>
          </a:xfrm>
          <a:prstGeom prst="rect">
            <a:avLst/>
          </a:prstGeom>
          <a:noFill/>
          <a:ln/>
        </p:spPr>
        <p:txBody>
          <a:bodyPr wrap="square" lIns="0" tIns="0" rIns="0" bIns="0" rtlCol="0" anchor="ctr"/>
          <a:lstStyle/>
          <a:p>
            <a:pPr algn="r">
              <a:lnSpc>
                <a:spcPct val="110000"/>
              </a:lnSpc>
            </a:pPr>
            <a:r>
              <a:rPr lang="en-US" sz="1800" b="1" dirty="0">
                <a:solidFill>
                  <a:srgbClr val="C0A062"/>
                </a:solidFill>
                <a:latin typeface="Quattrocento Sans" pitchFamily="34" charset="0"/>
                <a:ea typeface="Quattrocento Sans" pitchFamily="34" charset="-122"/>
                <a:cs typeface="Quattrocento Sans" pitchFamily="34" charset="-120"/>
              </a:rPr>
              <a:t>£180bn+</a:t>
            </a:r>
            <a:endParaRPr lang="en-US" sz="1600" dirty="0"/>
          </a:p>
        </p:txBody>
      </p:sp>
      <p:sp>
        <p:nvSpPr>
          <p:cNvPr id="6" name="Shape 4"/>
          <p:cNvSpPr/>
          <p:nvPr/>
        </p:nvSpPr>
        <p:spPr>
          <a:xfrm>
            <a:off x="381000" y="11430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Text 5"/>
          <p:cNvSpPr/>
          <p:nvPr/>
        </p:nvSpPr>
        <p:spPr>
          <a:xfrm>
            <a:off x="381000" y="13144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Market Share Comparison (Dec 2024)</a:t>
            </a:r>
            <a:endParaRPr lang="en-US" sz="1600" dirty="0"/>
          </a:p>
        </p:txBody>
      </p:sp>
      <p:sp>
        <p:nvSpPr>
          <p:cNvPr id="8" name="Shape 6"/>
          <p:cNvSpPr/>
          <p:nvPr/>
        </p:nvSpPr>
        <p:spPr>
          <a:xfrm>
            <a:off x="381000" y="1695450"/>
            <a:ext cx="5619750" cy="2667000"/>
          </a:xfrm>
          <a:custGeom>
            <a:avLst/>
            <a:gdLst/>
            <a:ahLst/>
            <a:cxnLst/>
            <a:rect l="l" t="t" r="r" b="b"/>
            <a:pathLst>
              <a:path w="5619750" h="2667000">
                <a:moveTo>
                  <a:pt x="76196" y="0"/>
                </a:moveTo>
                <a:lnTo>
                  <a:pt x="5543554" y="0"/>
                </a:lnTo>
                <a:cubicBezTo>
                  <a:pt x="5585636" y="0"/>
                  <a:pt x="5619750" y="34114"/>
                  <a:pt x="5619750" y="76196"/>
                </a:cubicBezTo>
                <a:lnTo>
                  <a:pt x="5619750" y="2590804"/>
                </a:lnTo>
                <a:cubicBezTo>
                  <a:pt x="5619750" y="2632886"/>
                  <a:pt x="5585636" y="2667000"/>
                  <a:pt x="5543554" y="2667000"/>
                </a:cubicBezTo>
                <a:lnTo>
                  <a:pt x="76196" y="2667000"/>
                </a:lnTo>
                <a:cubicBezTo>
                  <a:pt x="34114" y="2667000"/>
                  <a:pt x="0" y="2632886"/>
                  <a:pt x="0" y="2590804"/>
                </a:cubicBezTo>
                <a:lnTo>
                  <a:pt x="0" y="76196"/>
                </a:lnTo>
                <a:cubicBezTo>
                  <a:pt x="0" y="34142"/>
                  <a:pt x="34142" y="0"/>
                  <a:pt x="76196" y="0"/>
                </a:cubicBezTo>
                <a:close/>
              </a:path>
            </a:pathLst>
          </a:custGeom>
          <a:solidFill>
            <a:srgbClr val="4A5C6A">
              <a:alpha val="10196"/>
            </a:srgbClr>
          </a:solidFill>
          <a:ln/>
        </p:spPr>
        <p:txBody>
          <a:bodyPr/>
          <a:lstStyle/>
          <a:p>
            <a:endParaRPr lang="en-GB"/>
          </a:p>
        </p:txBody>
      </p:sp>
      <p:pic>
        <p:nvPicPr>
          <p:cNvPr id="9" name="Image 0" descr="https://kimi-img.moonshot.cn/pub/slides/26-01-27-10:39:38-d5s2aqnf2en9stn3att0.png"/>
          <p:cNvPicPr>
            <a:picLocks noChangeAspect="1"/>
          </p:cNvPicPr>
          <p:nvPr/>
        </p:nvPicPr>
        <p:blipFill>
          <a:blip r:embed="rId3"/>
          <a:srcRect/>
          <a:stretch/>
        </p:blipFill>
        <p:spPr>
          <a:xfrm>
            <a:off x="533400" y="1847850"/>
            <a:ext cx="5314950" cy="2362200"/>
          </a:xfrm>
          <a:prstGeom prst="roundRect">
            <a:avLst>
              <a:gd name="adj" fmla="val 0"/>
            </a:avLst>
          </a:prstGeom>
        </p:spPr>
      </p:pic>
      <p:sp>
        <p:nvSpPr>
          <p:cNvPr id="10" name="Shape 7"/>
          <p:cNvSpPr/>
          <p:nvPr/>
        </p:nvSpPr>
        <p:spPr>
          <a:xfrm>
            <a:off x="381000" y="4476750"/>
            <a:ext cx="5619750" cy="1447800"/>
          </a:xfrm>
          <a:custGeom>
            <a:avLst/>
            <a:gdLst/>
            <a:ahLst/>
            <a:cxnLst/>
            <a:rect l="l" t="t" r="r" b="b"/>
            <a:pathLst>
              <a:path w="5619750" h="1447800">
                <a:moveTo>
                  <a:pt x="76198" y="0"/>
                </a:moveTo>
                <a:lnTo>
                  <a:pt x="5543552" y="0"/>
                </a:lnTo>
                <a:cubicBezTo>
                  <a:pt x="5585607" y="0"/>
                  <a:pt x="5619750" y="34143"/>
                  <a:pt x="5619750" y="76198"/>
                </a:cubicBezTo>
                <a:lnTo>
                  <a:pt x="5619750" y="1371602"/>
                </a:lnTo>
                <a:cubicBezTo>
                  <a:pt x="5619750" y="1413657"/>
                  <a:pt x="5585607" y="1447800"/>
                  <a:pt x="5543552" y="1447800"/>
                </a:cubicBezTo>
                <a:lnTo>
                  <a:pt x="76198" y="1447800"/>
                </a:lnTo>
                <a:cubicBezTo>
                  <a:pt x="34143" y="1447800"/>
                  <a:pt x="0" y="1413657"/>
                  <a:pt x="0" y="1371602"/>
                </a:cubicBezTo>
                <a:lnTo>
                  <a:pt x="0" y="76198"/>
                </a:lnTo>
                <a:cubicBezTo>
                  <a:pt x="0" y="34143"/>
                  <a:pt x="34143" y="0"/>
                  <a:pt x="76198" y="0"/>
                </a:cubicBezTo>
                <a:close/>
              </a:path>
            </a:pathLst>
          </a:custGeom>
          <a:solidFill>
            <a:srgbClr val="4A5C6A">
              <a:alpha val="20000"/>
            </a:srgbClr>
          </a:solidFill>
          <a:ln/>
        </p:spPr>
        <p:txBody>
          <a:bodyPr/>
          <a:lstStyle/>
          <a:p>
            <a:endParaRPr lang="en-GB"/>
          </a:p>
        </p:txBody>
      </p:sp>
      <p:sp>
        <p:nvSpPr>
          <p:cNvPr id="11" name="Text 8"/>
          <p:cNvSpPr/>
          <p:nvPr/>
        </p:nvSpPr>
        <p:spPr>
          <a:xfrm>
            <a:off x="533400" y="4629150"/>
            <a:ext cx="538162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Big Four Banks</a:t>
            </a:r>
            <a:endParaRPr lang="en-US" sz="1600" dirty="0"/>
          </a:p>
        </p:txBody>
      </p:sp>
      <p:sp>
        <p:nvSpPr>
          <p:cNvPr id="12" name="Text 9"/>
          <p:cNvSpPr/>
          <p:nvPr/>
        </p:nvSpPr>
        <p:spPr>
          <a:xfrm>
            <a:off x="533400" y="4895850"/>
            <a:ext cx="390525"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HSBC</a:t>
            </a:r>
            <a:endParaRPr lang="en-US" sz="1600" dirty="0"/>
          </a:p>
        </p:txBody>
      </p:sp>
      <p:sp>
        <p:nvSpPr>
          <p:cNvPr id="13" name="Text 10"/>
          <p:cNvSpPr/>
          <p:nvPr/>
        </p:nvSpPr>
        <p:spPr>
          <a:xfrm>
            <a:off x="4361855" y="4895850"/>
            <a:ext cx="1552575"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£132.6bn (41M customers)</a:t>
            </a:r>
            <a:endParaRPr lang="en-US" sz="1600" dirty="0"/>
          </a:p>
        </p:txBody>
      </p:sp>
      <p:sp>
        <p:nvSpPr>
          <p:cNvPr id="14" name="Text 11"/>
          <p:cNvSpPr/>
          <p:nvPr/>
        </p:nvSpPr>
        <p:spPr>
          <a:xfrm>
            <a:off x="533400" y="5124450"/>
            <a:ext cx="55245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Barclays</a:t>
            </a:r>
            <a:endParaRPr lang="en-US" sz="1600" dirty="0"/>
          </a:p>
        </p:txBody>
      </p:sp>
      <p:sp>
        <p:nvSpPr>
          <p:cNvPr id="15" name="Text 12"/>
          <p:cNvSpPr/>
          <p:nvPr/>
        </p:nvSpPr>
        <p:spPr>
          <a:xfrm>
            <a:off x="4369891" y="5124450"/>
            <a:ext cx="1543050"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£55.3bn (48M customers)</a:t>
            </a:r>
            <a:endParaRPr lang="en-US" sz="1600" dirty="0"/>
          </a:p>
        </p:txBody>
      </p:sp>
      <p:sp>
        <p:nvSpPr>
          <p:cNvPr id="16" name="Text 13"/>
          <p:cNvSpPr/>
          <p:nvPr/>
        </p:nvSpPr>
        <p:spPr>
          <a:xfrm>
            <a:off x="533400" y="5353050"/>
            <a:ext cx="1314450" cy="190500"/>
          </a:xfrm>
          <a:prstGeom prst="rect">
            <a:avLst/>
          </a:prstGeom>
          <a:noFill/>
          <a:ln/>
        </p:spPr>
        <p:txBody>
          <a:bodyPr wrap="square" lIns="0" tIns="0" rIns="0" bIns="0" rtlCol="0" anchor="ctr"/>
          <a:lstStyle/>
          <a:p>
            <a:pP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Lloyds Banking Group</a:t>
            </a:r>
            <a:endParaRPr lang="en-US" sz="1600" dirty="0"/>
          </a:p>
        </p:txBody>
      </p:sp>
      <p:sp>
        <p:nvSpPr>
          <p:cNvPr id="17" name="Text 14"/>
          <p:cNvSpPr/>
          <p:nvPr/>
        </p:nvSpPr>
        <p:spPr>
          <a:xfrm>
            <a:off x="4391025" y="5353050"/>
            <a:ext cx="1524000" cy="190500"/>
          </a:xfrm>
          <a:prstGeom prst="rect">
            <a:avLst/>
          </a:prstGeom>
          <a:noFill/>
          <a:ln/>
        </p:spPr>
        <p:txBody>
          <a:bodyPr wrap="square" lIns="0" tIns="0" rIns="0" bIns="0" rtlCol="0" anchor="ctr"/>
          <a:lstStyle/>
          <a:p>
            <a:pPr>
              <a:lnSpc>
                <a:spcPct val="120000"/>
              </a:lnSpc>
            </a:pPr>
            <a:r>
              <a:rPr lang="en-US" sz="1050" b="1" dirty="0">
                <a:solidFill>
                  <a:srgbClr val="C0A062"/>
                </a:solidFill>
                <a:latin typeface="Quattrocento Sans" pitchFamily="34" charset="0"/>
                <a:ea typeface="Quattrocento Sans" pitchFamily="34" charset="-122"/>
                <a:cs typeface="Quattrocento Sans" pitchFamily="34" charset="-120"/>
              </a:rPr>
              <a:t>£32.4bn (27M customers)</a:t>
            </a:r>
            <a:endParaRPr lang="en-US" sz="1600" dirty="0"/>
          </a:p>
        </p:txBody>
      </p:sp>
      <p:sp>
        <p:nvSpPr>
          <p:cNvPr id="18" name="Text 15"/>
          <p:cNvSpPr/>
          <p:nvPr/>
        </p:nvSpPr>
        <p:spPr>
          <a:xfrm>
            <a:off x="533400" y="5581650"/>
            <a:ext cx="981075"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NatWest Group</a:t>
            </a:r>
            <a:endParaRPr lang="en-US" sz="1600" dirty="0"/>
          </a:p>
        </p:txBody>
      </p:sp>
      <p:sp>
        <p:nvSpPr>
          <p:cNvPr id="19" name="Text 16"/>
          <p:cNvSpPr/>
          <p:nvPr/>
        </p:nvSpPr>
        <p:spPr>
          <a:xfrm>
            <a:off x="4396234" y="5581650"/>
            <a:ext cx="1514475"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£46.6bn (19M customers)</a:t>
            </a:r>
            <a:endParaRPr lang="en-US" sz="1600" dirty="0"/>
          </a:p>
        </p:txBody>
      </p:sp>
      <p:sp>
        <p:nvSpPr>
          <p:cNvPr id="20" name="Text 17"/>
          <p:cNvSpPr/>
          <p:nvPr/>
        </p:nvSpPr>
        <p:spPr>
          <a:xfrm>
            <a:off x="6191250" y="13144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Competitive Threats &amp; Opportunities</a:t>
            </a:r>
            <a:endParaRPr lang="en-US" sz="1600" dirty="0"/>
          </a:p>
        </p:txBody>
      </p:sp>
      <p:sp>
        <p:nvSpPr>
          <p:cNvPr id="21" name="Shape 18"/>
          <p:cNvSpPr/>
          <p:nvPr/>
        </p:nvSpPr>
        <p:spPr>
          <a:xfrm>
            <a:off x="6210300" y="1712119"/>
            <a:ext cx="5600700" cy="838200"/>
          </a:xfrm>
          <a:custGeom>
            <a:avLst/>
            <a:gdLst/>
            <a:ahLst/>
            <a:cxnLst/>
            <a:rect l="l" t="t" r="r" b="b"/>
            <a:pathLst>
              <a:path w="5600700" h="838200">
                <a:moveTo>
                  <a:pt x="38100" y="0"/>
                </a:moveTo>
                <a:lnTo>
                  <a:pt x="5524499" y="0"/>
                </a:lnTo>
                <a:cubicBezTo>
                  <a:pt x="5566584" y="0"/>
                  <a:pt x="5600700" y="34116"/>
                  <a:pt x="5600700" y="76201"/>
                </a:cubicBezTo>
                <a:lnTo>
                  <a:pt x="5600700" y="761999"/>
                </a:lnTo>
                <a:cubicBezTo>
                  <a:pt x="5600700" y="804084"/>
                  <a:pt x="5566584" y="838200"/>
                  <a:pt x="5524499" y="838200"/>
                </a:cubicBezTo>
                <a:lnTo>
                  <a:pt x="38100" y="838200"/>
                </a:lnTo>
                <a:cubicBezTo>
                  <a:pt x="17058" y="838200"/>
                  <a:pt x="0" y="821142"/>
                  <a:pt x="0" y="800100"/>
                </a:cubicBezTo>
                <a:lnTo>
                  <a:pt x="0" y="38100"/>
                </a:lnTo>
                <a:cubicBezTo>
                  <a:pt x="0" y="17072"/>
                  <a:pt x="17072" y="0"/>
                  <a:pt x="38100" y="0"/>
                </a:cubicBezTo>
                <a:close/>
              </a:path>
            </a:pathLst>
          </a:custGeom>
          <a:solidFill>
            <a:srgbClr val="82181A">
              <a:alpha val="20000"/>
            </a:srgbClr>
          </a:solidFill>
          <a:ln/>
        </p:spPr>
        <p:txBody>
          <a:bodyPr/>
          <a:lstStyle/>
          <a:p>
            <a:endParaRPr lang="en-GB"/>
          </a:p>
        </p:txBody>
      </p:sp>
      <p:sp>
        <p:nvSpPr>
          <p:cNvPr id="22" name="Shape 19"/>
          <p:cNvSpPr/>
          <p:nvPr/>
        </p:nvSpPr>
        <p:spPr>
          <a:xfrm>
            <a:off x="6210300" y="1712119"/>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FB2C36"/>
          </a:solidFill>
          <a:ln/>
        </p:spPr>
        <p:txBody>
          <a:bodyPr/>
          <a:lstStyle/>
          <a:p>
            <a:endParaRPr lang="en-GB"/>
          </a:p>
        </p:txBody>
      </p:sp>
      <p:sp>
        <p:nvSpPr>
          <p:cNvPr id="23" name="Text 20"/>
          <p:cNvSpPr/>
          <p:nvPr/>
        </p:nvSpPr>
        <p:spPr>
          <a:xfrm>
            <a:off x="6381750" y="1864519"/>
            <a:ext cx="5343525" cy="190500"/>
          </a:xfrm>
          <a:prstGeom prst="rect">
            <a:avLst/>
          </a:prstGeom>
          <a:noFill/>
          <a:ln/>
        </p:spPr>
        <p:txBody>
          <a:bodyPr wrap="square" lIns="0" tIns="0" rIns="0" bIns="0" rtlCol="0" anchor="ctr"/>
          <a:lstStyle/>
          <a:p>
            <a:pPr>
              <a:lnSpc>
                <a:spcPct val="120000"/>
              </a:lnSpc>
            </a:pPr>
            <a:r>
              <a:rPr lang="en-US" sz="1050" b="1" dirty="0">
                <a:solidFill>
                  <a:srgbClr val="FF6467"/>
                </a:solidFill>
                <a:latin typeface="Liter" pitchFamily="34" charset="0"/>
                <a:ea typeface="Liter" pitchFamily="34" charset="-122"/>
                <a:cs typeface="Liter" pitchFamily="34" charset="-120"/>
              </a:rPr>
              <a:t>Challenger Bank Pressure</a:t>
            </a:r>
            <a:endParaRPr lang="en-US" sz="1600" dirty="0"/>
          </a:p>
        </p:txBody>
      </p:sp>
      <p:sp>
        <p:nvSpPr>
          <p:cNvPr id="24" name="Text 21"/>
          <p:cNvSpPr/>
          <p:nvPr/>
        </p:nvSpPr>
        <p:spPr>
          <a:xfrm>
            <a:off x="6381750" y="2093119"/>
            <a:ext cx="533400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Digital banks (Monzo, Starling, Revolut) now serve 50% of UK adults. Challengers account for 60% of SME lending growth.</a:t>
            </a:r>
            <a:endParaRPr lang="en-US" sz="1600" dirty="0"/>
          </a:p>
        </p:txBody>
      </p:sp>
      <p:sp>
        <p:nvSpPr>
          <p:cNvPr id="25" name="Shape 22"/>
          <p:cNvSpPr/>
          <p:nvPr/>
        </p:nvSpPr>
        <p:spPr>
          <a:xfrm>
            <a:off x="6210300" y="2697956"/>
            <a:ext cx="5600700" cy="838200"/>
          </a:xfrm>
          <a:custGeom>
            <a:avLst/>
            <a:gdLst/>
            <a:ahLst/>
            <a:cxnLst/>
            <a:rect l="l" t="t" r="r" b="b"/>
            <a:pathLst>
              <a:path w="5600700" h="838200">
                <a:moveTo>
                  <a:pt x="38100" y="0"/>
                </a:moveTo>
                <a:lnTo>
                  <a:pt x="5524499" y="0"/>
                </a:lnTo>
                <a:cubicBezTo>
                  <a:pt x="5566584" y="0"/>
                  <a:pt x="5600700" y="34116"/>
                  <a:pt x="5600700" y="76201"/>
                </a:cubicBezTo>
                <a:lnTo>
                  <a:pt x="5600700" y="761999"/>
                </a:lnTo>
                <a:cubicBezTo>
                  <a:pt x="5600700" y="804084"/>
                  <a:pt x="5566584" y="838200"/>
                  <a:pt x="5524499" y="838200"/>
                </a:cubicBezTo>
                <a:lnTo>
                  <a:pt x="38100" y="838200"/>
                </a:lnTo>
                <a:cubicBezTo>
                  <a:pt x="17058" y="838200"/>
                  <a:pt x="0" y="821142"/>
                  <a:pt x="0" y="800100"/>
                </a:cubicBezTo>
                <a:lnTo>
                  <a:pt x="0" y="38100"/>
                </a:lnTo>
                <a:cubicBezTo>
                  <a:pt x="0" y="17072"/>
                  <a:pt x="17072" y="0"/>
                  <a:pt x="38100" y="0"/>
                </a:cubicBezTo>
                <a:close/>
              </a:path>
            </a:pathLst>
          </a:custGeom>
          <a:solidFill>
            <a:srgbClr val="1C398E">
              <a:alpha val="20000"/>
            </a:srgbClr>
          </a:solidFill>
          <a:ln/>
        </p:spPr>
        <p:txBody>
          <a:bodyPr/>
          <a:lstStyle/>
          <a:p>
            <a:endParaRPr lang="en-GB"/>
          </a:p>
        </p:txBody>
      </p:sp>
      <p:sp>
        <p:nvSpPr>
          <p:cNvPr id="26" name="Shape 23"/>
          <p:cNvSpPr/>
          <p:nvPr/>
        </p:nvSpPr>
        <p:spPr>
          <a:xfrm>
            <a:off x="6210300" y="2697956"/>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2B7FFF"/>
          </a:solidFill>
          <a:ln/>
        </p:spPr>
        <p:txBody>
          <a:bodyPr/>
          <a:lstStyle/>
          <a:p>
            <a:endParaRPr lang="en-GB"/>
          </a:p>
        </p:txBody>
      </p:sp>
      <p:sp>
        <p:nvSpPr>
          <p:cNvPr id="27" name="Text 24"/>
          <p:cNvSpPr/>
          <p:nvPr/>
        </p:nvSpPr>
        <p:spPr>
          <a:xfrm>
            <a:off x="6381750" y="2850356"/>
            <a:ext cx="5343525" cy="190500"/>
          </a:xfrm>
          <a:prstGeom prst="rect">
            <a:avLst/>
          </a:prstGeom>
          <a:noFill/>
          <a:ln/>
        </p:spPr>
        <p:txBody>
          <a:bodyPr wrap="square" lIns="0" tIns="0" rIns="0" bIns="0" rtlCol="0" anchor="ctr"/>
          <a:lstStyle/>
          <a:p>
            <a:pPr>
              <a:lnSpc>
                <a:spcPct val="120000"/>
              </a:lnSpc>
            </a:pPr>
            <a:r>
              <a:rPr lang="en-US" sz="1050" b="1" dirty="0">
                <a:solidFill>
                  <a:srgbClr val="51A2FF"/>
                </a:solidFill>
                <a:latin typeface="Liter" pitchFamily="34" charset="0"/>
                <a:ea typeface="Liter" pitchFamily="34" charset="-122"/>
                <a:cs typeface="Liter" pitchFamily="34" charset="-120"/>
              </a:rPr>
              <a:t>Fintech Disruption</a:t>
            </a:r>
            <a:endParaRPr lang="en-US" sz="1600" dirty="0"/>
          </a:p>
        </p:txBody>
      </p:sp>
      <p:sp>
        <p:nvSpPr>
          <p:cNvPr id="28" name="Text 25"/>
          <p:cNvSpPr/>
          <p:nvPr/>
        </p:nvSpPr>
        <p:spPr>
          <a:xfrm>
            <a:off x="6381750" y="3078956"/>
            <a:ext cx="533400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Revolut valued at $45bn (March 2025). BNPL providers (Klarna) and tech giants (Apple) entering financial services.</a:t>
            </a:r>
            <a:endParaRPr lang="en-US" sz="1600" dirty="0"/>
          </a:p>
        </p:txBody>
      </p:sp>
      <p:sp>
        <p:nvSpPr>
          <p:cNvPr id="29" name="Shape 26"/>
          <p:cNvSpPr/>
          <p:nvPr/>
        </p:nvSpPr>
        <p:spPr>
          <a:xfrm>
            <a:off x="6210300" y="3683794"/>
            <a:ext cx="5600700" cy="838200"/>
          </a:xfrm>
          <a:custGeom>
            <a:avLst/>
            <a:gdLst/>
            <a:ahLst/>
            <a:cxnLst/>
            <a:rect l="l" t="t" r="r" b="b"/>
            <a:pathLst>
              <a:path w="5600700" h="838200">
                <a:moveTo>
                  <a:pt x="38100" y="0"/>
                </a:moveTo>
                <a:lnTo>
                  <a:pt x="5524499" y="0"/>
                </a:lnTo>
                <a:cubicBezTo>
                  <a:pt x="5566584" y="0"/>
                  <a:pt x="5600700" y="34116"/>
                  <a:pt x="5600700" y="76201"/>
                </a:cubicBezTo>
                <a:lnTo>
                  <a:pt x="5600700" y="761999"/>
                </a:lnTo>
                <a:cubicBezTo>
                  <a:pt x="5600700" y="804084"/>
                  <a:pt x="5566584" y="838200"/>
                  <a:pt x="5524499" y="838200"/>
                </a:cubicBezTo>
                <a:lnTo>
                  <a:pt x="38100" y="838200"/>
                </a:lnTo>
                <a:cubicBezTo>
                  <a:pt x="17058" y="838200"/>
                  <a:pt x="0" y="821142"/>
                  <a:pt x="0" y="800100"/>
                </a:cubicBezTo>
                <a:lnTo>
                  <a:pt x="0" y="38100"/>
                </a:lnTo>
                <a:cubicBezTo>
                  <a:pt x="0" y="17072"/>
                  <a:pt x="17072" y="0"/>
                  <a:pt x="38100" y="0"/>
                </a:cubicBezTo>
                <a:close/>
              </a:path>
            </a:pathLst>
          </a:custGeom>
          <a:solidFill>
            <a:srgbClr val="0D542B">
              <a:alpha val="20000"/>
            </a:srgbClr>
          </a:solidFill>
          <a:ln/>
        </p:spPr>
        <p:txBody>
          <a:bodyPr/>
          <a:lstStyle/>
          <a:p>
            <a:endParaRPr lang="en-GB"/>
          </a:p>
        </p:txBody>
      </p:sp>
      <p:sp>
        <p:nvSpPr>
          <p:cNvPr id="30" name="Shape 27"/>
          <p:cNvSpPr/>
          <p:nvPr/>
        </p:nvSpPr>
        <p:spPr>
          <a:xfrm>
            <a:off x="6210300" y="3683794"/>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00C950"/>
          </a:solidFill>
          <a:ln/>
        </p:spPr>
        <p:txBody>
          <a:bodyPr/>
          <a:lstStyle/>
          <a:p>
            <a:endParaRPr lang="en-GB"/>
          </a:p>
        </p:txBody>
      </p:sp>
      <p:sp>
        <p:nvSpPr>
          <p:cNvPr id="31" name="Text 28"/>
          <p:cNvSpPr/>
          <p:nvPr/>
        </p:nvSpPr>
        <p:spPr>
          <a:xfrm>
            <a:off x="6381750" y="3836194"/>
            <a:ext cx="5343525" cy="190500"/>
          </a:xfrm>
          <a:prstGeom prst="rect">
            <a:avLst/>
          </a:prstGeom>
          <a:noFill/>
          <a:ln/>
        </p:spPr>
        <p:txBody>
          <a:bodyPr wrap="square" lIns="0" tIns="0" rIns="0" bIns="0" rtlCol="0" anchor="ctr"/>
          <a:lstStyle/>
          <a:p>
            <a:pPr>
              <a:lnSpc>
                <a:spcPct val="120000"/>
              </a:lnSpc>
            </a:pPr>
            <a:r>
              <a:rPr lang="en-US" sz="1050" b="1" dirty="0">
                <a:solidFill>
                  <a:srgbClr val="05DF72"/>
                </a:solidFill>
                <a:latin typeface="Liter" pitchFamily="34" charset="0"/>
                <a:ea typeface="Liter" pitchFamily="34" charset="-122"/>
                <a:cs typeface="Liter" pitchFamily="34" charset="-120"/>
              </a:rPr>
              <a:t>Lloyds' Defensive Moat</a:t>
            </a:r>
            <a:endParaRPr lang="en-US" sz="1600" dirty="0"/>
          </a:p>
        </p:txBody>
      </p:sp>
      <p:sp>
        <p:nvSpPr>
          <p:cNvPr id="32" name="Text 29"/>
          <p:cNvSpPr/>
          <p:nvPr/>
        </p:nvSpPr>
        <p:spPr>
          <a:xfrm>
            <a:off x="6381750" y="4064794"/>
            <a:ext cx="533400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#1 mortgage lender position, 22.7M digital users, comprehensive brand portfolio, and £900bn asset scale provide defensive advantages.</a:t>
            </a:r>
            <a:endParaRPr lang="en-US" sz="1600" dirty="0"/>
          </a:p>
        </p:txBody>
      </p:sp>
      <p:sp>
        <p:nvSpPr>
          <p:cNvPr id="33" name="Shape 30"/>
          <p:cNvSpPr/>
          <p:nvPr/>
        </p:nvSpPr>
        <p:spPr>
          <a:xfrm>
            <a:off x="6210300" y="4669631"/>
            <a:ext cx="5600700" cy="838200"/>
          </a:xfrm>
          <a:custGeom>
            <a:avLst/>
            <a:gdLst/>
            <a:ahLst/>
            <a:cxnLst/>
            <a:rect l="l" t="t" r="r" b="b"/>
            <a:pathLst>
              <a:path w="5600700" h="838200">
                <a:moveTo>
                  <a:pt x="38100" y="0"/>
                </a:moveTo>
                <a:lnTo>
                  <a:pt x="5524499" y="0"/>
                </a:lnTo>
                <a:cubicBezTo>
                  <a:pt x="5566584" y="0"/>
                  <a:pt x="5600700" y="34116"/>
                  <a:pt x="5600700" y="76201"/>
                </a:cubicBezTo>
                <a:lnTo>
                  <a:pt x="5600700" y="761999"/>
                </a:lnTo>
                <a:cubicBezTo>
                  <a:pt x="5600700" y="804084"/>
                  <a:pt x="5566584" y="838200"/>
                  <a:pt x="5524499" y="838200"/>
                </a:cubicBezTo>
                <a:lnTo>
                  <a:pt x="38100" y="838200"/>
                </a:lnTo>
                <a:cubicBezTo>
                  <a:pt x="17058" y="838200"/>
                  <a:pt x="0" y="821142"/>
                  <a:pt x="0" y="800100"/>
                </a:cubicBezTo>
                <a:lnTo>
                  <a:pt x="0" y="38100"/>
                </a:lnTo>
                <a:cubicBezTo>
                  <a:pt x="0" y="17072"/>
                  <a:pt x="17072" y="0"/>
                  <a:pt x="38100" y="0"/>
                </a:cubicBezTo>
                <a:close/>
              </a:path>
            </a:pathLst>
          </a:custGeom>
          <a:solidFill>
            <a:srgbClr val="59168B">
              <a:alpha val="20000"/>
            </a:srgbClr>
          </a:solidFill>
          <a:ln/>
        </p:spPr>
        <p:txBody>
          <a:bodyPr/>
          <a:lstStyle/>
          <a:p>
            <a:endParaRPr lang="en-GB"/>
          </a:p>
        </p:txBody>
      </p:sp>
      <p:sp>
        <p:nvSpPr>
          <p:cNvPr id="34" name="Shape 31"/>
          <p:cNvSpPr/>
          <p:nvPr/>
        </p:nvSpPr>
        <p:spPr>
          <a:xfrm>
            <a:off x="6210300" y="4669631"/>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AD46FF"/>
          </a:solidFill>
          <a:ln/>
        </p:spPr>
        <p:txBody>
          <a:bodyPr/>
          <a:lstStyle/>
          <a:p>
            <a:endParaRPr lang="en-GB"/>
          </a:p>
        </p:txBody>
      </p:sp>
      <p:sp>
        <p:nvSpPr>
          <p:cNvPr id="35" name="Text 32"/>
          <p:cNvSpPr/>
          <p:nvPr/>
        </p:nvSpPr>
        <p:spPr>
          <a:xfrm>
            <a:off x="6381750" y="4822031"/>
            <a:ext cx="5343525" cy="190500"/>
          </a:xfrm>
          <a:prstGeom prst="rect">
            <a:avLst/>
          </a:prstGeom>
          <a:noFill/>
          <a:ln/>
        </p:spPr>
        <p:txBody>
          <a:bodyPr wrap="square" lIns="0" tIns="0" rIns="0" bIns="0" rtlCol="0" anchor="ctr"/>
          <a:lstStyle/>
          <a:p>
            <a:pPr>
              <a:lnSpc>
                <a:spcPct val="120000"/>
              </a:lnSpc>
            </a:pPr>
            <a:r>
              <a:rPr lang="en-US" sz="1050" b="1" dirty="0">
                <a:solidFill>
                  <a:srgbClr val="C27AFF"/>
                </a:solidFill>
                <a:latin typeface="Liter" pitchFamily="34" charset="0"/>
                <a:ea typeface="Liter" pitchFamily="34" charset="-122"/>
                <a:cs typeface="Liter" pitchFamily="34" charset="-120"/>
              </a:rPr>
              <a:t>Consolidation Activity</a:t>
            </a:r>
            <a:endParaRPr lang="en-US" sz="1600" dirty="0"/>
          </a:p>
        </p:txBody>
      </p:sp>
      <p:sp>
        <p:nvSpPr>
          <p:cNvPr id="36" name="Text 33"/>
          <p:cNvSpPr/>
          <p:nvPr/>
        </p:nvSpPr>
        <p:spPr>
          <a:xfrm>
            <a:off x="6381750" y="5050631"/>
            <a:ext cx="533400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Nationwide's acquisition of Virgin Money reshaping competitive dynamics. Regulatory pressure on banking sector concentration.</a:t>
            </a:r>
            <a:endParaRPr lang="en-US" sz="1600" dirty="0"/>
          </a:p>
        </p:txBody>
      </p:sp>
      <p:sp>
        <p:nvSpPr>
          <p:cNvPr id="37" name="Shape 34"/>
          <p:cNvSpPr/>
          <p:nvPr/>
        </p:nvSpPr>
        <p:spPr>
          <a:xfrm>
            <a:off x="6191250" y="5638800"/>
            <a:ext cx="1800225" cy="838200"/>
          </a:xfrm>
          <a:custGeom>
            <a:avLst/>
            <a:gdLst/>
            <a:ahLst/>
            <a:cxnLst/>
            <a:rect l="l" t="t" r="r" b="b"/>
            <a:pathLst>
              <a:path w="1800225" h="838200">
                <a:moveTo>
                  <a:pt x="76201" y="0"/>
                </a:moveTo>
                <a:lnTo>
                  <a:pt x="1724024" y="0"/>
                </a:lnTo>
                <a:cubicBezTo>
                  <a:pt x="1766109" y="0"/>
                  <a:pt x="1800225" y="34116"/>
                  <a:pt x="1800225" y="76201"/>
                </a:cubicBezTo>
                <a:lnTo>
                  <a:pt x="1800225" y="761999"/>
                </a:lnTo>
                <a:cubicBezTo>
                  <a:pt x="1800225" y="804084"/>
                  <a:pt x="1766109" y="838200"/>
                  <a:pt x="172402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38" name="Text 35"/>
          <p:cNvSpPr/>
          <p:nvPr/>
        </p:nvSpPr>
        <p:spPr>
          <a:xfrm>
            <a:off x="6248400" y="5753100"/>
            <a:ext cx="168592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40%</a:t>
            </a:r>
            <a:endParaRPr lang="en-US" sz="1600" dirty="0"/>
          </a:p>
        </p:txBody>
      </p:sp>
      <p:sp>
        <p:nvSpPr>
          <p:cNvPr id="39" name="Text 36"/>
          <p:cNvSpPr/>
          <p:nvPr/>
        </p:nvSpPr>
        <p:spPr>
          <a:xfrm>
            <a:off x="6276975" y="6057900"/>
            <a:ext cx="1628775" cy="3048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UK adults with digital-only accounts</a:t>
            </a:r>
            <a:endParaRPr lang="en-US" sz="1600" dirty="0"/>
          </a:p>
        </p:txBody>
      </p:sp>
      <p:sp>
        <p:nvSpPr>
          <p:cNvPr id="40" name="Shape 37"/>
          <p:cNvSpPr/>
          <p:nvPr/>
        </p:nvSpPr>
        <p:spPr>
          <a:xfrm>
            <a:off x="8102501" y="5638800"/>
            <a:ext cx="1800225" cy="838200"/>
          </a:xfrm>
          <a:custGeom>
            <a:avLst/>
            <a:gdLst/>
            <a:ahLst/>
            <a:cxnLst/>
            <a:rect l="l" t="t" r="r" b="b"/>
            <a:pathLst>
              <a:path w="1800225" h="838200">
                <a:moveTo>
                  <a:pt x="76201" y="0"/>
                </a:moveTo>
                <a:lnTo>
                  <a:pt x="1724024" y="0"/>
                </a:lnTo>
                <a:cubicBezTo>
                  <a:pt x="1766109" y="0"/>
                  <a:pt x="1800225" y="34116"/>
                  <a:pt x="1800225" y="76201"/>
                </a:cubicBezTo>
                <a:lnTo>
                  <a:pt x="1800225" y="761999"/>
                </a:lnTo>
                <a:cubicBezTo>
                  <a:pt x="1800225" y="804084"/>
                  <a:pt x="1766109" y="838200"/>
                  <a:pt x="172402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41" name="Text 38"/>
          <p:cNvSpPr/>
          <p:nvPr/>
        </p:nvSpPr>
        <p:spPr>
          <a:xfrm>
            <a:off x="8159651" y="5753100"/>
            <a:ext cx="168592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9%</a:t>
            </a:r>
            <a:endParaRPr lang="en-US" sz="1600" dirty="0"/>
          </a:p>
        </p:txBody>
      </p:sp>
      <p:sp>
        <p:nvSpPr>
          <p:cNvPr id="42" name="Text 39"/>
          <p:cNvSpPr/>
          <p:nvPr/>
        </p:nvSpPr>
        <p:spPr>
          <a:xfrm>
            <a:off x="8188226" y="6057900"/>
            <a:ext cx="1628775" cy="3048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Main debit cards held at neobanks</a:t>
            </a:r>
            <a:endParaRPr lang="en-US" sz="1600" dirty="0"/>
          </a:p>
        </p:txBody>
      </p:sp>
      <p:sp>
        <p:nvSpPr>
          <p:cNvPr id="43" name="Shape 40"/>
          <p:cNvSpPr/>
          <p:nvPr/>
        </p:nvSpPr>
        <p:spPr>
          <a:xfrm>
            <a:off x="10013900" y="5638800"/>
            <a:ext cx="1800225" cy="838200"/>
          </a:xfrm>
          <a:custGeom>
            <a:avLst/>
            <a:gdLst/>
            <a:ahLst/>
            <a:cxnLst/>
            <a:rect l="l" t="t" r="r" b="b"/>
            <a:pathLst>
              <a:path w="1800225" h="838200">
                <a:moveTo>
                  <a:pt x="76201" y="0"/>
                </a:moveTo>
                <a:lnTo>
                  <a:pt x="1724024" y="0"/>
                </a:lnTo>
                <a:cubicBezTo>
                  <a:pt x="1766109" y="0"/>
                  <a:pt x="1800225" y="34116"/>
                  <a:pt x="1800225" y="76201"/>
                </a:cubicBezTo>
                <a:lnTo>
                  <a:pt x="1800225" y="761999"/>
                </a:lnTo>
                <a:cubicBezTo>
                  <a:pt x="1800225" y="804084"/>
                  <a:pt x="1766109" y="838200"/>
                  <a:pt x="1724024" y="838200"/>
                </a:cubicBezTo>
                <a:lnTo>
                  <a:pt x="76201" y="838200"/>
                </a:lnTo>
                <a:cubicBezTo>
                  <a:pt x="34116" y="838200"/>
                  <a:pt x="0" y="804084"/>
                  <a:pt x="0" y="761999"/>
                </a:cubicBezTo>
                <a:lnTo>
                  <a:pt x="0" y="76201"/>
                </a:lnTo>
                <a:cubicBezTo>
                  <a:pt x="0" y="34144"/>
                  <a:pt x="34144" y="0"/>
                  <a:pt x="76201" y="0"/>
                </a:cubicBezTo>
                <a:close/>
              </a:path>
            </a:pathLst>
          </a:custGeom>
          <a:solidFill>
            <a:srgbClr val="4A5C6A">
              <a:alpha val="20000"/>
            </a:srgbClr>
          </a:solidFill>
          <a:ln/>
        </p:spPr>
        <p:txBody>
          <a:bodyPr/>
          <a:lstStyle/>
          <a:p>
            <a:endParaRPr lang="en-GB"/>
          </a:p>
        </p:txBody>
      </p:sp>
      <p:sp>
        <p:nvSpPr>
          <p:cNvPr id="44" name="Text 41"/>
          <p:cNvSpPr/>
          <p:nvPr/>
        </p:nvSpPr>
        <p:spPr>
          <a:xfrm>
            <a:off x="10071050" y="5753100"/>
            <a:ext cx="1685925" cy="304800"/>
          </a:xfrm>
          <a:prstGeom prst="rect">
            <a:avLst/>
          </a:prstGeom>
          <a:noFill/>
          <a:ln/>
        </p:spPr>
        <p:txBody>
          <a:bodyPr wrap="square" lIns="0" tIns="0" rIns="0" bIns="0" rtlCol="0" anchor="ctr"/>
          <a:lstStyle/>
          <a:p>
            <a:pPr algn="ctr">
              <a:lnSpc>
                <a:spcPct val="110000"/>
              </a:lnSpc>
            </a:pPr>
            <a:r>
              <a:rPr lang="en-US" sz="1800" b="1" dirty="0">
                <a:solidFill>
                  <a:srgbClr val="E0E2E5"/>
                </a:solidFill>
                <a:latin typeface="Quattrocento Sans" pitchFamily="34" charset="0"/>
                <a:ea typeface="Quattrocento Sans" pitchFamily="34" charset="-122"/>
                <a:cs typeface="Quattrocento Sans" pitchFamily="34" charset="-120"/>
              </a:rPr>
              <a:t>3-4%</a:t>
            </a:r>
            <a:endParaRPr lang="en-US" sz="1600" dirty="0"/>
          </a:p>
        </p:txBody>
      </p:sp>
      <p:sp>
        <p:nvSpPr>
          <p:cNvPr id="45" name="Text 42"/>
          <p:cNvSpPr/>
          <p:nvPr/>
        </p:nvSpPr>
        <p:spPr>
          <a:xfrm>
            <a:off x="10099625" y="6057900"/>
            <a:ext cx="1628775" cy="3048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Quattrocento Sans" pitchFamily="34" charset="0"/>
                <a:ea typeface="Quattrocento Sans" pitchFamily="34" charset="-122"/>
                <a:cs typeface="Quattrocento Sans" pitchFamily="34" charset="-120"/>
              </a:rPr>
              <a:t>UK retail banking CAGR (5-year)</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53391" y="353391"/>
            <a:ext cx="11538226" cy="141357"/>
          </a:xfrm>
          <a:prstGeom prst="rect">
            <a:avLst/>
          </a:prstGeom>
          <a:noFill/>
          <a:ln/>
        </p:spPr>
        <p:txBody>
          <a:bodyPr wrap="square" lIns="0" tIns="0" rIns="0" bIns="0" rtlCol="0" anchor="ctr"/>
          <a:lstStyle/>
          <a:p>
            <a:pPr>
              <a:lnSpc>
                <a:spcPct val="110000"/>
              </a:lnSpc>
            </a:pPr>
            <a:r>
              <a:rPr lang="en-US" sz="835" b="1" kern="0" spc="83" dirty="0">
                <a:solidFill>
                  <a:srgbClr val="C0A062"/>
                </a:solidFill>
                <a:latin typeface="Quattrocento Sans" pitchFamily="34" charset="0"/>
                <a:ea typeface="Quattrocento Sans" pitchFamily="34" charset="-122"/>
                <a:cs typeface="Quattrocento Sans" pitchFamily="34" charset="-120"/>
              </a:rPr>
              <a:t>Strategic Roadmap</a:t>
            </a:r>
            <a:endParaRPr lang="en-US" sz="1600" dirty="0"/>
          </a:p>
        </p:txBody>
      </p:sp>
      <p:sp>
        <p:nvSpPr>
          <p:cNvPr id="3" name="Text 1"/>
          <p:cNvSpPr/>
          <p:nvPr/>
        </p:nvSpPr>
        <p:spPr>
          <a:xfrm>
            <a:off x="353391" y="706783"/>
            <a:ext cx="2606261" cy="353391"/>
          </a:xfrm>
          <a:prstGeom prst="rect">
            <a:avLst/>
          </a:prstGeom>
          <a:noFill/>
          <a:ln/>
        </p:spPr>
        <p:txBody>
          <a:bodyPr wrap="square" lIns="0" tIns="0" rIns="0" bIns="0" rtlCol="0" anchor="ctr"/>
          <a:lstStyle/>
          <a:p>
            <a:pPr>
              <a:lnSpc>
                <a:spcPct val="90000"/>
              </a:lnSpc>
            </a:pPr>
            <a:r>
              <a:rPr lang="en-US" sz="2504" b="1" dirty="0">
                <a:solidFill>
                  <a:srgbClr val="E0E2E5"/>
                </a:solidFill>
                <a:latin typeface="Liter" pitchFamily="34" charset="0"/>
                <a:ea typeface="Liter" pitchFamily="34" charset="-122"/>
                <a:cs typeface="Liter" pitchFamily="34" charset="-120"/>
              </a:rPr>
              <a:t>Growth Initiatives</a:t>
            </a:r>
            <a:endParaRPr lang="en-US" sz="1600" dirty="0"/>
          </a:p>
        </p:txBody>
      </p:sp>
      <p:sp>
        <p:nvSpPr>
          <p:cNvPr id="4" name="Text 2"/>
          <p:cNvSpPr/>
          <p:nvPr/>
        </p:nvSpPr>
        <p:spPr>
          <a:xfrm>
            <a:off x="10026374" y="530087"/>
            <a:ext cx="1811130" cy="353391"/>
          </a:xfrm>
          <a:prstGeom prst="rect">
            <a:avLst/>
          </a:prstGeom>
          <a:noFill/>
          <a:ln/>
        </p:spPr>
        <p:txBody>
          <a:bodyPr wrap="square" lIns="0" tIns="0" rIns="0" bIns="0" rtlCol="0" anchor="ctr"/>
          <a:lstStyle/>
          <a:p>
            <a:pPr algn="r">
              <a:lnSpc>
                <a:spcPct val="90000"/>
              </a:lnSpc>
            </a:pPr>
            <a:r>
              <a:rPr lang="en-US" sz="2504" b="1" dirty="0">
                <a:solidFill>
                  <a:srgbClr val="C0A062"/>
                </a:solidFill>
                <a:latin typeface="Quattrocento Sans" pitchFamily="34" charset="0"/>
                <a:ea typeface="Quattrocento Sans" pitchFamily="34" charset="-122"/>
                <a:cs typeface="Quattrocento Sans" pitchFamily="34" charset="-120"/>
              </a:rPr>
              <a:t>£1.5bn+</a:t>
            </a:r>
            <a:endParaRPr lang="en-US" sz="1600" dirty="0"/>
          </a:p>
        </p:txBody>
      </p:sp>
      <p:sp>
        <p:nvSpPr>
          <p:cNvPr id="5" name="Text 3"/>
          <p:cNvSpPr/>
          <p:nvPr/>
        </p:nvSpPr>
        <p:spPr>
          <a:xfrm>
            <a:off x="10123557" y="883478"/>
            <a:ext cx="1713948" cy="176696"/>
          </a:xfrm>
          <a:prstGeom prst="rect">
            <a:avLst/>
          </a:prstGeom>
          <a:noFill/>
          <a:ln/>
        </p:spPr>
        <p:txBody>
          <a:bodyPr wrap="square" lIns="0" tIns="0" rIns="0" bIns="0" rtlCol="0" anchor="ctr"/>
          <a:lstStyle/>
          <a:p>
            <a:pPr algn="r">
              <a:lnSpc>
                <a:spcPct val="120000"/>
              </a:lnSpc>
            </a:pPr>
            <a:r>
              <a:rPr lang="en-US" sz="974" dirty="0">
                <a:solidFill>
                  <a:srgbClr val="E0E2E5">
                    <a:alpha val="70000"/>
                  </a:srgbClr>
                </a:solidFill>
                <a:latin typeface="Quattrocento Sans" pitchFamily="34" charset="0"/>
                <a:ea typeface="Quattrocento Sans" pitchFamily="34" charset="-122"/>
                <a:cs typeface="Quattrocento Sans" pitchFamily="34" charset="-120"/>
              </a:rPr>
              <a:t>Additional Income Target 2026</a:t>
            </a:r>
            <a:endParaRPr lang="en-US" sz="1600" dirty="0"/>
          </a:p>
        </p:txBody>
      </p:sp>
      <p:sp>
        <p:nvSpPr>
          <p:cNvPr id="6" name="Shape 4"/>
          <p:cNvSpPr/>
          <p:nvPr/>
        </p:nvSpPr>
        <p:spPr>
          <a:xfrm>
            <a:off x="353391" y="1130852"/>
            <a:ext cx="565426" cy="17670"/>
          </a:xfrm>
          <a:custGeom>
            <a:avLst/>
            <a:gdLst/>
            <a:ahLst/>
            <a:cxnLst/>
            <a:rect l="l" t="t" r="r" b="b"/>
            <a:pathLst>
              <a:path w="565426" h="17670">
                <a:moveTo>
                  <a:pt x="0" y="0"/>
                </a:moveTo>
                <a:lnTo>
                  <a:pt x="565426" y="0"/>
                </a:lnTo>
                <a:lnTo>
                  <a:pt x="565426" y="17670"/>
                </a:lnTo>
                <a:lnTo>
                  <a:pt x="0" y="17670"/>
                </a:lnTo>
                <a:lnTo>
                  <a:pt x="0" y="0"/>
                </a:lnTo>
                <a:close/>
              </a:path>
            </a:pathLst>
          </a:custGeom>
          <a:solidFill>
            <a:srgbClr val="006A4A"/>
          </a:solidFill>
          <a:ln/>
        </p:spPr>
        <p:txBody>
          <a:bodyPr/>
          <a:lstStyle/>
          <a:p>
            <a:endParaRPr lang="en-GB"/>
          </a:p>
        </p:txBody>
      </p:sp>
      <p:sp>
        <p:nvSpPr>
          <p:cNvPr id="7" name="Text 5"/>
          <p:cNvSpPr/>
          <p:nvPr/>
        </p:nvSpPr>
        <p:spPr>
          <a:xfrm>
            <a:off x="353391" y="1289878"/>
            <a:ext cx="7695096" cy="247374"/>
          </a:xfrm>
          <a:prstGeom prst="rect">
            <a:avLst/>
          </a:prstGeom>
          <a:noFill/>
          <a:ln/>
        </p:spPr>
        <p:txBody>
          <a:bodyPr wrap="square" lIns="0" tIns="0" rIns="0" bIns="0" rtlCol="0" anchor="ctr"/>
          <a:lstStyle/>
          <a:p>
            <a:pPr>
              <a:lnSpc>
                <a:spcPct val="120000"/>
              </a:lnSpc>
            </a:pPr>
            <a:r>
              <a:rPr lang="en-US" sz="1391" b="1" dirty="0">
                <a:solidFill>
                  <a:srgbClr val="E0E2E5"/>
                </a:solidFill>
                <a:latin typeface="Liter" pitchFamily="34" charset="0"/>
                <a:ea typeface="Liter" pitchFamily="34" charset="-122"/>
                <a:cs typeface="Liter" pitchFamily="34" charset="-120"/>
              </a:rPr>
              <a:t>Strategic Transformation Progress</a:t>
            </a:r>
            <a:endParaRPr lang="en-US" sz="1600" dirty="0"/>
          </a:p>
        </p:txBody>
      </p:sp>
      <p:sp>
        <p:nvSpPr>
          <p:cNvPr id="8" name="Shape 6"/>
          <p:cNvSpPr/>
          <p:nvPr/>
        </p:nvSpPr>
        <p:spPr>
          <a:xfrm>
            <a:off x="371061" y="1643270"/>
            <a:ext cx="7589078" cy="848139"/>
          </a:xfrm>
          <a:custGeom>
            <a:avLst/>
            <a:gdLst/>
            <a:ahLst/>
            <a:cxnLst/>
            <a:rect l="l" t="t" r="r" b="b"/>
            <a:pathLst>
              <a:path w="7589078" h="848139">
                <a:moveTo>
                  <a:pt x="35339" y="0"/>
                </a:moveTo>
                <a:lnTo>
                  <a:pt x="7518403" y="0"/>
                </a:lnTo>
                <a:cubicBezTo>
                  <a:pt x="7557436" y="0"/>
                  <a:pt x="7589078" y="31642"/>
                  <a:pt x="7589078" y="70675"/>
                </a:cubicBezTo>
                <a:lnTo>
                  <a:pt x="7589078" y="777464"/>
                </a:lnTo>
                <a:cubicBezTo>
                  <a:pt x="7589078" y="816497"/>
                  <a:pt x="7557436" y="848139"/>
                  <a:pt x="7518403" y="848139"/>
                </a:cubicBezTo>
                <a:lnTo>
                  <a:pt x="35339" y="848139"/>
                </a:lnTo>
                <a:cubicBezTo>
                  <a:pt x="15822" y="848139"/>
                  <a:pt x="0" y="832317"/>
                  <a:pt x="0" y="812800"/>
                </a:cubicBezTo>
                <a:lnTo>
                  <a:pt x="0" y="35339"/>
                </a:lnTo>
                <a:cubicBezTo>
                  <a:pt x="0" y="15822"/>
                  <a:pt x="15822" y="0"/>
                  <a:pt x="35339" y="0"/>
                </a:cubicBezTo>
                <a:close/>
              </a:path>
            </a:pathLst>
          </a:custGeom>
          <a:solidFill>
            <a:srgbClr val="4A5C6A">
              <a:alpha val="20000"/>
            </a:srgbClr>
          </a:solidFill>
          <a:ln/>
        </p:spPr>
        <p:txBody>
          <a:bodyPr/>
          <a:lstStyle/>
          <a:p>
            <a:endParaRPr lang="en-GB"/>
          </a:p>
        </p:txBody>
      </p:sp>
      <p:sp>
        <p:nvSpPr>
          <p:cNvPr id="9" name="Shape 7"/>
          <p:cNvSpPr/>
          <p:nvPr/>
        </p:nvSpPr>
        <p:spPr>
          <a:xfrm>
            <a:off x="371061" y="1643270"/>
            <a:ext cx="35339" cy="848139"/>
          </a:xfrm>
          <a:custGeom>
            <a:avLst/>
            <a:gdLst/>
            <a:ahLst/>
            <a:cxnLst/>
            <a:rect l="l" t="t" r="r" b="b"/>
            <a:pathLst>
              <a:path w="35339" h="848139">
                <a:moveTo>
                  <a:pt x="35339" y="0"/>
                </a:moveTo>
                <a:lnTo>
                  <a:pt x="35339" y="0"/>
                </a:lnTo>
                <a:lnTo>
                  <a:pt x="35339" y="848139"/>
                </a:lnTo>
                <a:lnTo>
                  <a:pt x="35339" y="848139"/>
                </a:lnTo>
                <a:cubicBezTo>
                  <a:pt x="15822" y="848139"/>
                  <a:pt x="0" y="832317"/>
                  <a:pt x="0" y="812800"/>
                </a:cubicBezTo>
                <a:lnTo>
                  <a:pt x="0" y="35339"/>
                </a:lnTo>
                <a:cubicBezTo>
                  <a:pt x="0" y="15835"/>
                  <a:pt x="15835" y="0"/>
                  <a:pt x="35339" y="0"/>
                </a:cubicBezTo>
                <a:close/>
              </a:path>
            </a:pathLst>
          </a:custGeom>
          <a:solidFill>
            <a:srgbClr val="00C950"/>
          </a:solidFill>
          <a:ln/>
        </p:spPr>
        <p:txBody>
          <a:bodyPr/>
          <a:lstStyle/>
          <a:p>
            <a:endParaRPr lang="en-GB"/>
          </a:p>
        </p:txBody>
      </p:sp>
      <p:sp>
        <p:nvSpPr>
          <p:cNvPr id="10" name="Text 8"/>
          <p:cNvSpPr/>
          <p:nvPr/>
        </p:nvSpPr>
        <p:spPr>
          <a:xfrm>
            <a:off x="530087" y="1802296"/>
            <a:ext cx="1705113"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Quattrocento Sans" pitchFamily="34" charset="0"/>
                <a:ea typeface="Quattrocento Sans" pitchFamily="34" charset="-122"/>
                <a:cs typeface="Quattrocento Sans" pitchFamily="34" charset="-120"/>
              </a:rPr>
              <a:t>Phase 1 Complete (2022-2024)</a:t>
            </a:r>
            <a:endParaRPr lang="en-US" sz="1600" dirty="0"/>
          </a:p>
        </p:txBody>
      </p:sp>
      <p:sp>
        <p:nvSpPr>
          <p:cNvPr id="11" name="Shape 9"/>
          <p:cNvSpPr/>
          <p:nvPr/>
        </p:nvSpPr>
        <p:spPr>
          <a:xfrm>
            <a:off x="7113657" y="1784626"/>
            <a:ext cx="706783" cy="212035"/>
          </a:xfrm>
          <a:custGeom>
            <a:avLst/>
            <a:gdLst/>
            <a:ahLst/>
            <a:cxnLst/>
            <a:rect l="l" t="t" r="r" b="b"/>
            <a:pathLst>
              <a:path w="706783" h="212035">
                <a:moveTo>
                  <a:pt x="106017" y="0"/>
                </a:moveTo>
                <a:lnTo>
                  <a:pt x="600765" y="0"/>
                </a:lnTo>
                <a:cubicBezTo>
                  <a:pt x="659317" y="0"/>
                  <a:pt x="706783" y="47466"/>
                  <a:pt x="706783" y="106017"/>
                </a:cubicBezTo>
                <a:lnTo>
                  <a:pt x="706783" y="106017"/>
                </a:lnTo>
                <a:cubicBezTo>
                  <a:pt x="706783" y="164569"/>
                  <a:pt x="659317" y="212035"/>
                  <a:pt x="600765" y="212035"/>
                </a:cubicBezTo>
                <a:lnTo>
                  <a:pt x="106017" y="212035"/>
                </a:lnTo>
                <a:cubicBezTo>
                  <a:pt x="47505" y="212035"/>
                  <a:pt x="0" y="164530"/>
                  <a:pt x="0" y="106017"/>
                </a:cubicBezTo>
                <a:lnTo>
                  <a:pt x="0" y="106017"/>
                </a:lnTo>
                <a:cubicBezTo>
                  <a:pt x="0" y="47505"/>
                  <a:pt x="47505" y="0"/>
                  <a:pt x="106017" y="0"/>
                </a:cubicBezTo>
                <a:close/>
              </a:path>
            </a:pathLst>
          </a:custGeom>
          <a:solidFill>
            <a:srgbClr val="00C950">
              <a:alpha val="20000"/>
            </a:srgbClr>
          </a:solidFill>
          <a:ln/>
        </p:spPr>
        <p:txBody>
          <a:bodyPr/>
          <a:lstStyle/>
          <a:p>
            <a:endParaRPr lang="en-GB"/>
          </a:p>
        </p:txBody>
      </p:sp>
      <p:sp>
        <p:nvSpPr>
          <p:cNvPr id="12" name="Text 10"/>
          <p:cNvSpPr/>
          <p:nvPr/>
        </p:nvSpPr>
        <p:spPr>
          <a:xfrm>
            <a:off x="7113657" y="1784626"/>
            <a:ext cx="759791" cy="212035"/>
          </a:xfrm>
          <a:prstGeom prst="rect">
            <a:avLst/>
          </a:prstGeom>
          <a:noFill/>
          <a:ln/>
        </p:spPr>
        <p:txBody>
          <a:bodyPr wrap="square" lIns="106017" tIns="35339" rIns="106017" bIns="35339" rtlCol="0" anchor="ctr"/>
          <a:lstStyle/>
          <a:p>
            <a:pPr>
              <a:lnSpc>
                <a:spcPct val="110000"/>
              </a:lnSpc>
            </a:pPr>
            <a:r>
              <a:rPr lang="en-US" sz="835" b="1" dirty="0">
                <a:solidFill>
                  <a:srgbClr val="05DF72"/>
                </a:solidFill>
                <a:latin typeface="Quattrocento Sans" pitchFamily="34" charset="0"/>
                <a:ea typeface="Quattrocento Sans" pitchFamily="34" charset="-122"/>
                <a:cs typeface="Quattrocento Sans" pitchFamily="34" charset="-120"/>
              </a:rPr>
              <a:t>ACHIEVED</a:t>
            </a:r>
            <a:endParaRPr lang="en-US" sz="1600" dirty="0"/>
          </a:p>
        </p:txBody>
      </p:sp>
      <p:sp>
        <p:nvSpPr>
          <p:cNvPr id="13" name="Text 11"/>
          <p:cNvSpPr/>
          <p:nvPr/>
        </p:nvSpPr>
        <p:spPr>
          <a:xfrm>
            <a:off x="530087" y="2067339"/>
            <a:ext cx="7341704" cy="141357"/>
          </a:xfrm>
          <a:prstGeom prst="rect">
            <a:avLst/>
          </a:prstGeom>
          <a:noFill/>
          <a:ln/>
        </p:spPr>
        <p:txBody>
          <a:bodyPr wrap="square" lIns="0" tIns="0" rIns="0" bIns="0" rtlCol="0" anchor="ctr"/>
          <a:lstStyle/>
          <a:p>
            <a:pPr>
              <a:lnSpc>
                <a:spcPct val="110000"/>
              </a:lnSpc>
            </a:pPr>
            <a:r>
              <a:rPr lang="en-US" sz="835" dirty="0">
                <a:solidFill>
                  <a:srgbClr val="E0E2E5">
                    <a:alpha val="70000"/>
                  </a:srgbClr>
                </a:solidFill>
                <a:latin typeface="Quattrocento Sans" pitchFamily="34" charset="0"/>
                <a:ea typeface="Quattrocento Sans" pitchFamily="34" charset="-122"/>
                <a:cs typeface="Quattrocento Sans" pitchFamily="34" charset="-120"/>
              </a:rPr>
              <a:t>Exceeded £0.7bn revenue target, delivering £0.8bn in additional strategic revenues</a:t>
            </a:r>
            <a:endParaRPr lang="en-US" sz="1600" dirty="0"/>
          </a:p>
        </p:txBody>
      </p:sp>
      <p:sp>
        <p:nvSpPr>
          <p:cNvPr id="14" name="Shape 12"/>
          <p:cNvSpPr/>
          <p:nvPr/>
        </p:nvSpPr>
        <p:spPr>
          <a:xfrm>
            <a:off x="530087" y="2279374"/>
            <a:ext cx="7288696" cy="70678"/>
          </a:xfrm>
          <a:custGeom>
            <a:avLst/>
            <a:gdLst/>
            <a:ahLst/>
            <a:cxnLst/>
            <a:rect l="l" t="t" r="r" b="b"/>
            <a:pathLst>
              <a:path w="7288696" h="70678">
                <a:moveTo>
                  <a:pt x="35339" y="0"/>
                </a:moveTo>
                <a:lnTo>
                  <a:pt x="7253357" y="0"/>
                </a:lnTo>
                <a:cubicBezTo>
                  <a:pt x="7272874" y="0"/>
                  <a:pt x="7288696" y="15822"/>
                  <a:pt x="7288696" y="35339"/>
                </a:cubicBezTo>
                <a:lnTo>
                  <a:pt x="7288696" y="35339"/>
                </a:lnTo>
                <a:cubicBezTo>
                  <a:pt x="7288696" y="54856"/>
                  <a:pt x="7272874" y="70678"/>
                  <a:pt x="7253357" y="70678"/>
                </a:cubicBezTo>
                <a:lnTo>
                  <a:pt x="35339" y="70678"/>
                </a:lnTo>
                <a:cubicBezTo>
                  <a:pt x="15835" y="70678"/>
                  <a:pt x="0" y="54843"/>
                  <a:pt x="0" y="35339"/>
                </a:cubicBezTo>
                <a:lnTo>
                  <a:pt x="0" y="35339"/>
                </a:lnTo>
                <a:cubicBezTo>
                  <a:pt x="0" y="15835"/>
                  <a:pt x="15835" y="0"/>
                  <a:pt x="35339" y="0"/>
                </a:cubicBezTo>
                <a:close/>
              </a:path>
            </a:pathLst>
          </a:custGeom>
          <a:solidFill>
            <a:srgbClr val="4A5C6A">
              <a:alpha val="30196"/>
            </a:srgbClr>
          </a:solidFill>
          <a:ln/>
        </p:spPr>
        <p:txBody>
          <a:bodyPr/>
          <a:lstStyle/>
          <a:p>
            <a:endParaRPr lang="en-GB"/>
          </a:p>
        </p:txBody>
      </p:sp>
      <p:sp>
        <p:nvSpPr>
          <p:cNvPr id="15" name="Shape 13"/>
          <p:cNvSpPr/>
          <p:nvPr/>
        </p:nvSpPr>
        <p:spPr>
          <a:xfrm>
            <a:off x="530087" y="2279374"/>
            <a:ext cx="7288696" cy="70678"/>
          </a:xfrm>
          <a:custGeom>
            <a:avLst/>
            <a:gdLst/>
            <a:ahLst/>
            <a:cxnLst/>
            <a:rect l="l" t="t" r="r" b="b"/>
            <a:pathLst>
              <a:path w="7288696" h="70678">
                <a:moveTo>
                  <a:pt x="35339" y="0"/>
                </a:moveTo>
                <a:lnTo>
                  <a:pt x="7253357" y="0"/>
                </a:lnTo>
                <a:cubicBezTo>
                  <a:pt x="7272874" y="0"/>
                  <a:pt x="7288696" y="15822"/>
                  <a:pt x="7288696" y="35339"/>
                </a:cubicBezTo>
                <a:lnTo>
                  <a:pt x="7288696" y="35339"/>
                </a:lnTo>
                <a:cubicBezTo>
                  <a:pt x="7288696" y="54856"/>
                  <a:pt x="7272874" y="70678"/>
                  <a:pt x="7253357" y="70678"/>
                </a:cubicBezTo>
                <a:lnTo>
                  <a:pt x="35339" y="70678"/>
                </a:lnTo>
                <a:cubicBezTo>
                  <a:pt x="15835" y="70678"/>
                  <a:pt x="0" y="54843"/>
                  <a:pt x="0" y="35339"/>
                </a:cubicBezTo>
                <a:lnTo>
                  <a:pt x="0" y="35339"/>
                </a:lnTo>
                <a:cubicBezTo>
                  <a:pt x="0" y="15835"/>
                  <a:pt x="15835" y="0"/>
                  <a:pt x="35339" y="0"/>
                </a:cubicBezTo>
                <a:close/>
              </a:path>
            </a:pathLst>
          </a:custGeom>
          <a:solidFill>
            <a:srgbClr val="00C950"/>
          </a:solidFill>
          <a:ln/>
        </p:spPr>
        <p:txBody>
          <a:bodyPr/>
          <a:lstStyle/>
          <a:p>
            <a:endParaRPr lang="en-GB"/>
          </a:p>
        </p:txBody>
      </p:sp>
      <p:sp>
        <p:nvSpPr>
          <p:cNvPr id="16" name="Shape 14"/>
          <p:cNvSpPr/>
          <p:nvPr/>
        </p:nvSpPr>
        <p:spPr>
          <a:xfrm>
            <a:off x="371061" y="2597426"/>
            <a:ext cx="7589078" cy="848139"/>
          </a:xfrm>
          <a:custGeom>
            <a:avLst/>
            <a:gdLst/>
            <a:ahLst/>
            <a:cxnLst/>
            <a:rect l="l" t="t" r="r" b="b"/>
            <a:pathLst>
              <a:path w="7589078" h="848139">
                <a:moveTo>
                  <a:pt x="35339" y="0"/>
                </a:moveTo>
                <a:lnTo>
                  <a:pt x="7518403" y="0"/>
                </a:lnTo>
                <a:cubicBezTo>
                  <a:pt x="7557436" y="0"/>
                  <a:pt x="7589078" y="31642"/>
                  <a:pt x="7589078" y="70675"/>
                </a:cubicBezTo>
                <a:lnTo>
                  <a:pt x="7589078" y="777464"/>
                </a:lnTo>
                <a:cubicBezTo>
                  <a:pt x="7589078" y="816497"/>
                  <a:pt x="7557436" y="848139"/>
                  <a:pt x="7518403" y="848139"/>
                </a:cubicBezTo>
                <a:lnTo>
                  <a:pt x="35339" y="848139"/>
                </a:lnTo>
                <a:cubicBezTo>
                  <a:pt x="15822" y="848139"/>
                  <a:pt x="0" y="832317"/>
                  <a:pt x="0" y="812800"/>
                </a:cubicBezTo>
                <a:lnTo>
                  <a:pt x="0" y="35339"/>
                </a:lnTo>
                <a:cubicBezTo>
                  <a:pt x="0" y="15822"/>
                  <a:pt x="15822" y="0"/>
                  <a:pt x="35339" y="0"/>
                </a:cubicBezTo>
                <a:close/>
              </a:path>
            </a:pathLst>
          </a:custGeom>
          <a:solidFill>
            <a:srgbClr val="4A5C6A">
              <a:alpha val="20000"/>
            </a:srgbClr>
          </a:solidFill>
          <a:ln/>
        </p:spPr>
        <p:txBody>
          <a:bodyPr/>
          <a:lstStyle/>
          <a:p>
            <a:endParaRPr lang="en-GB"/>
          </a:p>
        </p:txBody>
      </p:sp>
      <p:sp>
        <p:nvSpPr>
          <p:cNvPr id="17" name="Shape 15"/>
          <p:cNvSpPr/>
          <p:nvPr/>
        </p:nvSpPr>
        <p:spPr>
          <a:xfrm>
            <a:off x="371061" y="2597426"/>
            <a:ext cx="35339" cy="848139"/>
          </a:xfrm>
          <a:custGeom>
            <a:avLst/>
            <a:gdLst/>
            <a:ahLst/>
            <a:cxnLst/>
            <a:rect l="l" t="t" r="r" b="b"/>
            <a:pathLst>
              <a:path w="35339" h="848139">
                <a:moveTo>
                  <a:pt x="35339" y="0"/>
                </a:moveTo>
                <a:lnTo>
                  <a:pt x="35339" y="0"/>
                </a:lnTo>
                <a:lnTo>
                  <a:pt x="35339" y="848139"/>
                </a:lnTo>
                <a:lnTo>
                  <a:pt x="35339" y="848139"/>
                </a:lnTo>
                <a:cubicBezTo>
                  <a:pt x="15822" y="848139"/>
                  <a:pt x="0" y="832317"/>
                  <a:pt x="0" y="812800"/>
                </a:cubicBezTo>
                <a:lnTo>
                  <a:pt x="0" y="35339"/>
                </a:lnTo>
                <a:cubicBezTo>
                  <a:pt x="0" y="15835"/>
                  <a:pt x="15835" y="0"/>
                  <a:pt x="35339" y="0"/>
                </a:cubicBezTo>
                <a:close/>
              </a:path>
            </a:pathLst>
          </a:custGeom>
          <a:solidFill>
            <a:srgbClr val="2B7FFF"/>
          </a:solidFill>
          <a:ln/>
        </p:spPr>
        <p:txBody>
          <a:bodyPr/>
          <a:lstStyle/>
          <a:p>
            <a:endParaRPr lang="en-GB"/>
          </a:p>
        </p:txBody>
      </p:sp>
      <p:sp>
        <p:nvSpPr>
          <p:cNvPr id="18" name="Text 16"/>
          <p:cNvSpPr/>
          <p:nvPr/>
        </p:nvSpPr>
        <p:spPr>
          <a:xfrm>
            <a:off x="530087" y="2756452"/>
            <a:ext cx="1740452"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Quattrocento Sans" pitchFamily="34" charset="0"/>
                <a:ea typeface="Quattrocento Sans" pitchFamily="34" charset="-122"/>
                <a:cs typeface="Quattrocento Sans" pitchFamily="34" charset="-120"/>
              </a:rPr>
              <a:t>Phase 2 Execution (2025-2026)</a:t>
            </a:r>
            <a:endParaRPr lang="en-US" sz="1600" dirty="0"/>
          </a:p>
        </p:txBody>
      </p:sp>
      <p:sp>
        <p:nvSpPr>
          <p:cNvPr id="19" name="Shape 17"/>
          <p:cNvSpPr/>
          <p:nvPr/>
        </p:nvSpPr>
        <p:spPr>
          <a:xfrm>
            <a:off x="6971610" y="2738783"/>
            <a:ext cx="848139" cy="212035"/>
          </a:xfrm>
          <a:custGeom>
            <a:avLst/>
            <a:gdLst/>
            <a:ahLst/>
            <a:cxnLst/>
            <a:rect l="l" t="t" r="r" b="b"/>
            <a:pathLst>
              <a:path w="848139" h="212035">
                <a:moveTo>
                  <a:pt x="106017" y="0"/>
                </a:moveTo>
                <a:lnTo>
                  <a:pt x="742122" y="0"/>
                </a:lnTo>
                <a:cubicBezTo>
                  <a:pt x="800674" y="0"/>
                  <a:pt x="848139" y="47466"/>
                  <a:pt x="848139" y="106017"/>
                </a:cubicBezTo>
                <a:lnTo>
                  <a:pt x="848139" y="106017"/>
                </a:lnTo>
                <a:cubicBezTo>
                  <a:pt x="848139" y="164569"/>
                  <a:pt x="800674" y="212035"/>
                  <a:pt x="742122" y="212035"/>
                </a:cubicBezTo>
                <a:lnTo>
                  <a:pt x="106017" y="212035"/>
                </a:lnTo>
                <a:cubicBezTo>
                  <a:pt x="47505" y="212035"/>
                  <a:pt x="0" y="164530"/>
                  <a:pt x="0" y="106017"/>
                </a:cubicBezTo>
                <a:lnTo>
                  <a:pt x="0" y="106017"/>
                </a:lnTo>
                <a:cubicBezTo>
                  <a:pt x="0" y="47505"/>
                  <a:pt x="47505" y="0"/>
                  <a:pt x="106017" y="0"/>
                </a:cubicBezTo>
                <a:close/>
              </a:path>
            </a:pathLst>
          </a:custGeom>
          <a:solidFill>
            <a:srgbClr val="2B7FFF">
              <a:alpha val="20000"/>
            </a:srgbClr>
          </a:solidFill>
          <a:ln/>
        </p:spPr>
        <p:txBody>
          <a:bodyPr/>
          <a:lstStyle/>
          <a:p>
            <a:endParaRPr lang="en-GB"/>
          </a:p>
        </p:txBody>
      </p:sp>
      <p:sp>
        <p:nvSpPr>
          <p:cNvPr id="20" name="Text 18"/>
          <p:cNvSpPr/>
          <p:nvPr/>
        </p:nvSpPr>
        <p:spPr>
          <a:xfrm>
            <a:off x="6971610" y="2738783"/>
            <a:ext cx="901148" cy="212035"/>
          </a:xfrm>
          <a:prstGeom prst="rect">
            <a:avLst/>
          </a:prstGeom>
          <a:noFill/>
          <a:ln/>
        </p:spPr>
        <p:txBody>
          <a:bodyPr wrap="square" lIns="106017" tIns="35339" rIns="106017" bIns="35339" rtlCol="0" anchor="ctr"/>
          <a:lstStyle/>
          <a:p>
            <a:pPr>
              <a:lnSpc>
                <a:spcPct val="110000"/>
              </a:lnSpc>
            </a:pPr>
            <a:r>
              <a:rPr lang="en-US" sz="835" b="1" dirty="0">
                <a:solidFill>
                  <a:srgbClr val="51A2FF"/>
                </a:solidFill>
                <a:latin typeface="Quattrocento Sans" pitchFamily="34" charset="0"/>
                <a:ea typeface="Quattrocento Sans" pitchFamily="34" charset="-122"/>
                <a:cs typeface="Quattrocento Sans" pitchFamily="34" charset="-120"/>
              </a:rPr>
              <a:t>IN PROGRESS</a:t>
            </a:r>
            <a:endParaRPr lang="en-US" sz="1600" dirty="0"/>
          </a:p>
        </p:txBody>
      </p:sp>
      <p:sp>
        <p:nvSpPr>
          <p:cNvPr id="21" name="Text 19"/>
          <p:cNvSpPr/>
          <p:nvPr/>
        </p:nvSpPr>
        <p:spPr>
          <a:xfrm>
            <a:off x="530087" y="3021496"/>
            <a:ext cx="7341704" cy="141357"/>
          </a:xfrm>
          <a:prstGeom prst="rect">
            <a:avLst/>
          </a:prstGeom>
          <a:noFill/>
          <a:ln/>
        </p:spPr>
        <p:txBody>
          <a:bodyPr wrap="square" lIns="0" tIns="0" rIns="0" bIns="0" rtlCol="0" anchor="ctr"/>
          <a:lstStyle/>
          <a:p>
            <a:pPr>
              <a:lnSpc>
                <a:spcPct val="110000"/>
              </a:lnSpc>
            </a:pPr>
            <a:r>
              <a:rPr lang="en-US" sz="835" dirty="0">
                <a:solidFill>
                  <a:srgbClr val="E0E2E5">
                    <a:alpha val="70000"/>
                  </a:srgbClr>
                </a:solidFill>
                <a:latin typeface="Quattrocento Sans" pitchFamily="34" charset="0"/>
                <a:ea typeface="Quattrocento Sans" pitchFamily="34" charset="-122"/>
                <a:cs typeface="Quattrocento Sans" pitchFamily="34" charset="-120"/>
              </a:rPr>
              <a:t>Targeting £1.5bn additional income from strategic initiatives by 2026</a:t>
            </a:r>
            <a:endParaRPr lang="en-US" sz="1600" dirty="0"/>
          </a:p>
        </p:txBody>
      </p:sp>
      <p:sp>
        <p:nvSpPr>
          <p:cNvPr id="22" name="Shape 20"/>
          <p:cNvSpPr/>
          <p:nvPr/>
        </p:nvSpPr>
        <p:spPr>
          <a:xfrm>
            <a:off x="530087" y="3233530"/>
            <a:ext cx="7288696" cy="70678"/>
          </a:xfrm>
          <a:custGeom>
            <a:avLst/>
            <a:gdLst/>
            <a:ahLst/>
            <a:cxnLst/>
            <a:rect l="l" t="t" r="r" b="b"/>
            <a:pathLst>
              <a:path w="7288696" h="70678">
                <a:moveTo>
                  <a:pt x="35339" y="0"/>
                </a:moveTo>
                <a:lnTo>
                  <a:pt x="7253357" y="0"/>
                </a:lnTo>
                <a:cubicBezTo>
                  <a:pt x="7272874" y="0"/>
                  <a:pt x="7288696" y="15822"/>
                  <a:pt x="7288696" y="35339"/>
                </a:cubicBezTo>
                <a:lnTo>
                  <a:pt x="7288696" y="35339"/>
                </a:lnTo>
                <a:cubicBezTo>
                  <a:pt x="7288696" y="54856"/>
                  <a:pt x="7272874" y="70678"/>
                  <a:pt x="7253357" y="70678"/>
                </a:cubicBezTo>
                <a:lnTo>
                  <a:pt x="35339" y="70678"/>
                </a:lnTo>
                <a:cubicBezTo>
                  <a:pt x="15835" y="70678"/>
                  <a:pt x="0" y="54843"/>
                  <a:pt x="0" y="35339"/>
                </a:cubicBezTo>
                <a:lnTo>
                  <a:pt x="0" y="35339"/>
                </a:lnTo>
                <a:cubicBezTo>
                  <a:pt x="0" y="15835"/>
                  <a:pt x="15835" y="0"/>
                  <a:pt x="35339" y="0"/>
                </a:cubicBezTo>
                <a:close/>
              </a:path>
            </a:pathLst>
          </a:custGeom>
          <a:solidFill>
            <a:srgbClr val="4A5C6A">
              <a:alpha val="30196"/>
            </a:srgbClr>
          </a:solidFill>
          <a:ln/>
        </p:spPr>
        <p:txBody>
          <a:bodyPr/>
          <a:lstStyle/>
          <a:p>
            <a:endParaRPr lang="en-GB"/>
          </a:p>
        </p:txBody>
      </p:sp>
      <p:sp>
        <p:nvSpPr>
          <p:cNvPr id="23" name="Shape 21"/>
          <p:cNvSpPr/>
          <p:nvPr/>
        </p:nvSpPr>
        <p:spPr>
          <a:xfrm>
            <a:off x="530087" y="3233530"/>
            <a:ext cx="4373217" cy="70678"/>
          </a:xfrm>
          <a:custGeom>
            <a:avLst/>
            <a:gdLst/>
            <a:ahLst/>
            <a:cxnLst/>
            <a:rect l="l" t="t" r="r" b="b"/>
            <a:pathLst>
              <a:path w="4373217" h="70678">
                <a:moveTo>
                  <a:pt x="35339" y="0"/>
                </a:moveTo>
                <a:lnTo>
                  <a:pt x="4337878" y="0"/>
                </a:lnTo>
                <a:cubicBezTo>
                  <a:pt x="4357396" y="0"/>
                  <a:pt x="4373217" y="15822"/>
                  <a:pt x="4373217" y="35339"/>
                </a:cubicBezTo>
                <a:lnTo>
                  <a:pt x="4373217" y="35339"/>
                </a:lnTo>
                <a:cubicBezTo>
                  <a:pt x="4373217" y="54856"/>
                  <a:pt x="4357396" y="70678"/>
                  <a:pt x="4337878" y="70678"/>
                </a:cubicBezTo>
                <a:lnTo>
                  <a:pt x="35339" y="70678"/>
                </a:lnTo>
                <a:cubicBezTo>
                  <a:pt x="15835" y="70678"/>
                  <a:pt x="0" y="54843"/>
                  <a:pt x="0" y="35339"/>
                </a:cubicBezTo>
                <a:lnTo>
                  <a:pt x="0" y="35339"/>
                </a:lnTo>
                <a:cubicBezTo>
                  <a:pt x="0" y="15835"/>
                  <a:pt x="15835" y="0"/>
                  <a:pt x="35339" y="0"/>
                </a:cubicBezTo>
                <a:close/>
              </a:path>
            </a:pathLst>
          </a:custGeom>
          <a:solidFill>
            <a:srgbClr val="2B7FFF"/>
          </a:solidFill>
          <a:ln/>
        </p:spPr>
        <p:txBody>
          <a:bodyPr/>
          <a:lstStyle/>
          <a:p>
            <a:endParaRPr lang="en-GB"/>
          </a:p>
        </p:txBody>
      </p:sp>
      <p:sp>
        <p:nvSpPr>
          <p:cNvPr id="24" name="Shape 22"/>
          <p:cNvSpPr/>
          <p:nvPr/>
        </p:nvSpPr>
        <p:spPr>
          <a:xfrm>
            <a:off x="353391" y="3586922"/>
            <a:ext cx="3754783" cy="1399303"/>
          </a:xfrm>
          <a:custGeom>
            <a:avLst/>
            <a:gdLst/>
            <a:ahLst/>
            <a:cxnLst/>
            <a:rect l="l" t="t" r="r" b="b"/>
            <a:pathLst>
              <a:path w="3754783" h="1660939">
                <a:moveTo>
                  <a:pt x="70673" y="0"/>
                </a:moveTo>
                <a:lnTo>
                  <a:pt x="3684110" y="0"/>
                </a:lnTo>
                <a:cubicBezTo>
                  <a:pt x="3723141" y="0"/>
                  <a:pt x="3754783" y="31641"/>
                  <a:pt x="3754783" y="70673"/>
                </a:cubicBezTo>
                <a:lnTo>
                  <a:pt x="3754783" y="1590266"/>
                </a:lnTo>
                <a:cubicBezTo>
                  <a:pt x="3754783" y="1629298"/>
                  <a:pt x="3723141" y="1660939"/>
                  <a:pt x="3684110" y="1660939"/>
                </a:cubicBezTo>
                <a:lnTo>
                  <a:pt x="70673" y="1660939"/>
                </a:lnTo>
                <a:cubicBezTo>
                  <a:pt x="31641" y="1660939"/>
                  <a:pt x="0" y="1629298"/>
                  <a:pt x="0" y="1590266"/>
                </a:cubicBezTo>
                <a:lnTo>
                  <a:pt x="0" y="70673"/>
                </a:lnTo>
                <a:cubicBezTo>
                  <a:pt x="0" y="31667"/>
                  <a:pt x="31667" y="0"/>
                  <a:pt x="70673" y="0"/>
                </a:cubicBezTo>
                <a:close/>
              </a:path>
            </a:pathLst>
          </a:custGeom>
          <a:gradFill flip="none" rotWithShape="1">
            <a:gsLst>
              <a:gs pos="0">
                <a:srgbClr val="006A4A"/>
              </a:gs>
              <a:gs pos="100000">
                <a:srgbClr val="006A4A">
                  <a:alpha val="70000"/>
                </a:srgbClr>
              </a:gs>
            </a:gsLst>
            <a:lin ang="2700000" scaled="1"/>
          </a:gradFill>
          <a:ln/>
        </p:spPr>
        <p:txBody>
          <a:bodyPr/>
          <a:lstStyle/>
          <a:p>
            <a:endParaRPr lang="en-GB"/>
          </a:p>
        </p:txBody>
      </p:sp>
      <p:sp>
        <p:nvSpPr>
          <p:cNvPr id="25" name="Shape 23"/>
          <p:cNvSpPr/>
          <p:nvPr/>
        </p:nvSpPr>
        <p:spPr>
          <a:xfrm>
            <a:off x="521252" y="3728278"/>
            <a:ext cx="212035" cy="212035"/>
          </a:xfrm>
          <a:custGeom>
            <a:avLst/>
            <a:gdLst/>
            <a:ahLst/>
            <a:cxnLst/>
            <a:rect l="l" t="t" r="r" b="b"/>
            <a:pathLst>
              <a:path w="212035" h="212035">
                <a:moveTo>
                  <a:pt x="26504" y="26504"/>
                </a:moveTo>
                <a:cubicBezTo>
                  <a:pt x="26504" y="19174"/>
                  <a:pt x="20582" y="13252"/>
                  <a:pt x="13252" y="13252"/>
                </a:cubicBezTo>
                <a:cubicBezTo>
                  <a:pt x="5922" y="13252"/>
                  <a:pt x="0" y="19174"/>
                  <a:pt x="0" y="26504"/>
                </a:cubicBezTo>
                <a:lnTo>
                  <a:pt x="0" y="165652"/>
                </a:lnTo>
                <a:cubicBezTo>
                  <a:pt x="0" y="183957"/>
                  <a:pt x="14826" y="198783"/>
                  <a:pt x="33130" y="198783"/>
                </a:cubicBezTo>
                <a:lnTo>
                  <a:pt x="198783" y="198783"/>
                </a:lnTo>
                <a:cubicBezTo>
                  <a:pt x="206113" y="198783"/>
                  <a:pt x="212035" y="192861"/>
                  <a:pt x="212035" y="185530"/>
                </a:cubicBezTo>
                <a:cubicBezTo>
                  <a:pt x="212035" y="178200"/>
                  <a:pt x="206113" y="172278"/>
                  <a:pt x="198783" y="172278"/>
                </a:cubicBezTo>
                <a:lnTo>
                  <a:pt x="33130" y="172278"/>
                </a:lnTo>
                <a:cubicBezTo>
                  <a:pt x="29486" y="172278"/>
                  <a:pt x="26504" y="169297"/>
                  <a:pt x="26504" y="165652"/>
                </a:cubicBezTo>
                <a:lnTo>
                  <a:pt x="26504" y="26504"/>
                </a:lnTo>
                <a:close/>
                <a:moveTo>
                  <a:pt x="194890" y="62368"/>
                </a:moveTo>
                <a:cubicBezTo>
                  <a:pt x="200066" y="57191"/>
                  <a:pt x="200066" y="48785"/>
                  <a:pt x="194890" y="43608"/>
                </a:cubicBezTo>
                <a:cubicBezTo>
                  <a:pt x="189713" y="38431"/>
                  <a:pt x="181306" y="38431"/>
                  <a:pt x="176130" y="43608"/>
                </a:cubicBezTo>
                <a:lnTo>
                  <a:pt x="132522" y="87257"/>
                </a:lnTo>
                <a:lnTo>
                  <a:pt x="108751" y="63528"/>
                </a:lnTo>
                <a:cubicBezTo>
                  <a:pt x="103574" y="58351"/>
                  <a:pt x="95167" y="58351"/>
                  <a:pt x="89991" y="63528"/>
                </a:cubicBezTo>
                <a:lnTo>
                  <a:pt x="50234" y="103284"/>
                </a:lnTo>
                <a:cubicBezTo>
                  <a:pt x="45057" y="108461"/>
                  <a:pt x="45057" y="116868"/>
                  <a:pt x="50234" y="122044"/>
                </a:cubicBezTo>
                <a:cubicBezTo>
                  <a:pt x="55411" y="127221"/>
                  <a:pt x="63818" y="127221"/>
                  <a:pt x="68994" y="122044"/>
                </a:cubicBezTo>
                <a:lnTo>
                  <a:pt x="99391" y="91647"/>
                </a:lnTo>
                <a:lnTo>
                  <a:pt x="123162" y="115418"/>
                </a:lnTo>
                <a:cubicBezTo>
                  <a:pt x="128339" y="120595"/>
                  <a:pt x="136746" y="120595"/>
                  <a:pt x="141923" y="115418"/>
                </a:cubicBezTo>
                <a:lnTo>
                  <a:pt x="194931" y="62409"/>
                </a:lnTo>
                <a:close/>
              </a:path>
            </a:pathLst>
          </a:custGeom>
          <a:solidFill>
            <a:srgbClr val="C0A062"/>
          </a:solidFill>
          <a:ln/>
        </p:spPr>
        <p:txBody>
          <a:bodyPr/>
          <a:lstStyle/>
          <a:p>
            <a:endParaRPr lang="en-GB"/>
          </a:p>
        </p:txBody>
      </p:sp>
      <p:sp>
        <p:nvSpPr>
          <p:cNvPr id="26" name="Text 24"/>
          <p:cNvSpPr/>
          <p:nvPr/>
        </p:nvSpPr>
        <p:spPr>
          <a:xfrm>
            <a:off x="494748" y="4010991"/>
            <a:ext cx="3533913"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Liter" pitchFamily="34" charset="0"/>
                <a:ea typeface="Liter" pitchFamily="34" charset="-122"/>
                <a:cs typeface="Liter" pitchFamily="34" charset="-120"/>
              </a:rPr>
              <a:t>Wealth Management Expansion</a:t>
            </a:r>
            <a:endParaRPr lang="en-US" sz="1600" dirty="0"/>
          </a:p>
        </p:txBody>
      </p:sp>
      <p:sp>
        <p:nvSpPr>
          <p:cNvPr id="27" name="Text 25"/>
          <p:cNvSpPr/>
          <p:nvPr/>
        </p:nvSpPr>
        <p:spPr>
          <a:xfrm>
            <a:off x="494748" y="4223026"/>
            <a:ext cx="3525078" cy="282713"/>
          </a:xfrm>
          <a:prstGeom prst="rect">
            <a:avLst/>
          </a:prstGeom>
          <a:noFill/>
          <a:ln/>
        </p:spPr>
        <p:txBody>
          <a:bodyPr wrap="square" lIns="0" tIns="0" rIns="0" bIns="0" rtlCol="0" anchor="ctr"/>
          <a:lstStyle/>
          <a:p>
            <a:pPr>
              <a:lnSpc>
                <a:spcPct val="110000"/>
              </a:lnSpc>
            </a:pPr>
            <a:r>
              <a:rPr lang="en-US" sz="835" dirty="0">
                <a:solidFill>
                  <a:srgbClr val="E0E2E5">
                    <a:alpha val="80000"/>
                  </a:srgbClr>
                </a:solidFill>
                <a:latin typeface="Quattrocento Sans" pitchFamily="34" charset="0"/>
                <a:ea typeface="Quattrocento Sans" pitchFamily="34" charset="-122"/>
                <a:cs typeface="Quattrocento Sans" pitchFamily="34" charset="-120"/>
              </a:rPr>
              <a:t>Growing HNW segment, cross-selling investment products through Embark platform</a:t>
            </a:r>
            <a:endParaRPr lang="en-US" sz="1600" dirty="0"/>
          </a:p>
        </p:txBody>
      </p:sp>
      <p:sp>
        <p:nvSpPr>
          <p:cNvPr id="28" name="Shape 26"/>
          <p:cNvSpPr/>
          <p:nvPr/>
        </p:nvSpPr>
        <p:spPr>
          <a:xfrm>
            <a:off x="4209912" y="3586922"/>
            <a:ext cx="3754783" cy="1399303"/>
          </a:xfrm>
          <a:custGeom>
            <a:avLst/>
            <a:gdLst/>
            <a:ahLst/>
            <a:cxnLst/>
            <a:rect l="l" t="t" r="r" b="b"/>
            <a:pathLst>
              <a:path w="3754783" h="1660939">
                <a:moveTo>
                  <a:pt x="70673" y="0"/>
                </a:moveTo>
                <a:lnTo>
                  <a:pt x="3684110" y="0"/>
                </a:lnTo>
                <a:cubicBezTo>
                  <a:pt x="3723141" y="0"/>
                  <a:pt x="3754783" y="31641"/>
                  <a:pt x="3754783" y="70673"/>
                </a:cubicBezTo>
                <a:lnTo>
                  <a:pt x="3754783" y="1590266"/>
                </a:lnTo>
                <a:cubicBezTo>
                  <a:pt x="3754783" y="1629298"/>
                  <a:pt x="3723141" y="1660939"/>
                  <a:pt x="3684110" y="1660939"/>
                </a:cubicBezTo>
                <a:lnTo>
                  <a:pt x="70673" y="1660939"/>
                </a:lnTo>
                <a:cubicBezTo>
                  <a:pt x="31641" y="1660939"/>
                  <a:pt x="0" y="1629298"/>
                  <a:pt x="0" y="1590266"/>
                </a:cubicBezTo>
                <a:lnTo>
                  <a:pt x="0" y="70673"/>
                </a:lnTo>
                <a:cubicBezTo>
                  <a:pt x="0" y="31667"/>
                  <a:pt x="31667" y="0"/>
                  <a:pt x="70673" y="0"/>
                </a:cubicBezTo>
                <a:close/>
              </a:path>
            </a:pathLst>
          </a:custGeom>
          <a:gradFill flip="none" rotWithShape="1">
            <a:gsLst>
              <a:gs pos="0">
                <a:srgbClr val="4A5C6A"/>
              </a:gs>
              <a:gs pos="100000">
                <a:srgbClr val="4A5C6A">
                  <a:alpha val="70000"/>
                </a:srgbClr>
              </a:gs>
            </a:gsLst>
            <a:lin ang="2700000" scaled="1"/>
          </a:gradFill>
          <a:ln/>
        </p:spPr>
        <p:txBody>
          <a:bodyPr/>
          <a:lstStyle/>
          <a:p>
            <a:endParaRPr lang="en-GB"/>
          </a:p>
        </p:txBody>
      </p:sp>
      <p:sp>
        <p:nvSpPr>
          <p:cNvPr id="29" name="Shape 27"/>
          <p:cNvSpPr/>
          <p:nvPr/>
        </p:nvSpPr>
        <p:spPr>
          <a:xfrm>
            <a:off x="4377773" y="3728278"/>
            <a:ext cx="212035" cy="212035"/>
          </a:xfrm>
          <a:custGeom>
            <a:avLst/>
            <a:gdLst/>
            <a:ahLst/>
            <a:cxnLst/>
            <a:rect l="l" t="t" r="r" b="b"/>
            <a:pathLst>
              <a:path w="212035" h="212035">
                <a:moveTo>
                  <a:pt x="195180" y="2775"/>
                </a:moveTo>
                <a:cubicBezTo>
                  <a:pt x="197830" y="248"/>
                  <a:pt x="201682" y="-663"/>
                  <a:pt x="205243" y="497"/>
                </a:cubicBezTo>
                <a:cubicBezTo>
                  <a:pt x="209302" y="1864"/>
                  <a:pt x="212035" y="5674"/>
                  <a:pt x="212035" y="9939"/>
                </a:cubicBezTo>
                <a:lnTo>
                  <a:pt x="212035" y="87340"/>
                </a:lnTo>
                <a:cubicBezTo>
                  <a:pt x="212035" y="141674"/>
                  <a:pt x="167267" y="185530"/>
                  <a:pt x="113140" y="185530"/>
                </a:cubicBezTo>
                <a:cubicBezTo>
                  <a:pt x="81252" y="185530"/>
                  <a:pt x="53754" y="165031"/>
                  <a:pt x="43774" y="136373"/>
                </a:cubicBezTo>
                <a:cubicBezTo>
                  <a:pt x="29113" y="149128"/>
                  <a:pt x="19878" y="167888"/>
                  <a:pt x="19878" y="188843"/>
                </a:cubicBezTo>
                <a:cubicBezTo>
                  <a:pt x="19878" y="194351"/>
                  <a:pt x="15447" y="198783"/>
                  <a:pt x="9939" y="198783"/>
                </a:cubicBezTo>
                <a:cubicBezTo>
                  <a:pt x="4431" y="198783"/>
                  <a:pt x="0" y="194351"/>
                  <a:pt x="0" y="188843"/>
                </a:cubicBezTo>
                <a:cubicBezTo>
                  <a:pt x="0" y="157825"/>
                  <a:pt x="15820" y="130493"/>
                  <a:pt x="39798" y="114424"/>
                </a:cubicBezTo>
                <a:cubicBezTo>
                  <a:pt x="54417" y="104651"/>
                  <a:pt x="71852" y="99391"/>
                  <a:pt x="89452" y="99391"/>
                </a:cubicBezTo>
                <a:lnTo>
                  <a:pt x="122583" y="99391"/>
                </a:lnTo>
                <a:cubicBezTo>
                  <a:pt x="128091" y="99391"/>
                  <a:pt x="132522" y="94960"/>
                  <a:pt x="132522" y="89452"/>
                </a:cubicBezTo>
                <a:cubicBezTo>
                  <a:pt x="132522" y="83944"/>
                  <a:pt x="128091" y="79513"/>
                  <a:pt x="122583" y="79513"/>
                </a:cubicBezTo>
                <a:lnTo>
                  <a:pt x="89452" y="79513"/>
                </a:lnTo>
                <a:cubicBezTo>
                  <a:pt x="73011" y="79513"/>
                  <a:pt x="57440" y="83157"/>
                  <a:pt x="43484" y="89659"/>
                </a:cubicBezTo>
                <a:cubicBezTo>
                  <a:pt x="53133" y="60670"/>
                  <a:pt x="80424" y="39757"/>
                  <a:pt x="112643" y="39757"/>
                </a:cubicBezTo>
                <a:cubicBezTo>
                  <a:pt x="140142" y="39757"/>
                  <a:pt x="160600" y="30604"/>
                  <a:pt x="174225" y="21535"/>
                </a:cubicBezTo>
                <a:cubicBezTo>
                  <a:pt x="182176" y="16234"/>
                  <a:pt x="188926" y="9898"/>
                  <a:pt x="195221" y="2775"/>
                </a:cubicBezTo>
                <a:close/>
              </a:path>
            </a:pathLst>
          </a:custGeom>
          <a:solidFill>
            <a:srgbClr val="C0A062"/>
          </a:solidFill>
          <a:ln/>
        </p:spPr>
        <p:txBody>
          <a:bodyPr/>
          <a:lstStyle/>
          <a:p>
            <a:endParaRPr lang="en-GB"/>
          </a:p>
        </p:txBody>
      </p:sp>
      <p:sp>
        <p:nvSpPr>
          <p:cNvPr id="30" name="Text 28"/>
          <p:cNvSpPr/>
          <p:nvPr/>
        </p:nvSpPr>
        <p:spPr>
          <a:xfrm>
            <a:off x="4351268" y="4010991"/>
            <a:ext cx="3533913"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Liter" pitchFamily="34" charset="0"/>
                <a:ea typeface="Liter" pitchFamily="34" charset="-122"/>
                <a:cs typeface="Liter" pitchFamily="34" charset="-120"/>
              </a:rPr>
              <a:t>Sustainable Finance</a:t>
            </a:r>
            <a:endParaRPr lang="en-US" sz="1600" dirty="0"/>
          </a:p>
        </p:txBody>
      </p:sp>
      <p:sp>
        <p:nvSpPr>
          <p:cNvPr id="31" name="Text 29"/>
          <p:cNvSpPr/>
          <p:nvPr/>
        </p:nvSpPr>
        <p:spPr>
          <a:xfrm>
            <a:off x="4351268" y="4223026"/>
            <a:ext cx="3525078" cy="282713"/>
          </a:xfrm>
          <a:prstGeom prst="rect">
            <a:avLst/>
          </a:prstGeom>
          <a:noFill/>
          <a:ln/>
        </p:spPr>
        <p:txBody>
          <a:bodyPr wrap="square" lIns="0" tIns="0" rIns="0" bIns="0" rtlCol="0" anchor="ctr"/>
          <a:lstStyle/>
          <a:p>
            <a:pPr>
              <a:lnSpc>
                <a:spcPct val="110000"/>
              </a:lnSpc>
            </a:pPr>
            <a:r>
              <a:rPr lang="en-US" sz="835" dirty="0">
                <a:solidFill>
                  <a:srgbClr val="E0E2E5">
                    <a:alpha val="80000"/>
                  </a:srgbClr>
                </a:solidFill>
                <a:latin typeface="Quattrocento Sans" pitchFamily="34" charset="0"/>
                <a:ea typeface="Quattrocento Sans" pitchFamily="34" charset="-122"/>
                <a:cs typeface="Quattrocento Sans" pitchFamily="34" charset="-120"/>
              </a:rPr>
              <a:t>£10.7bn commercial sustainable financing (2024), £20bn social housing funding since 2018</a:t>
            </a:r>
            <a:endParaRPr lang="en-US" sz="1600" dirty="0"/>
          </a:p>
        </p:txBody>
      </p:sp>
      <p:sp>
        <p:nvSpPr>
          <p:cNvPr id="32" name="Shape 30"/>
          <p:cNvSpPr/>
          <p:nvPr/>
        </p:nvSpPr>
        <p:spPr>
          <a:xfrm>
            <a:off x="357809" y="5127581"/>
            <a:ext cx="3745948" cy="1406746"/>
          </a:xfrm>
          <a:custGeom>
            <a:avLst/>
            <a:gdLst/>
            <a:ahLst/>
            <a:cxnLst/>
            <a:rect l="l" t="t" r="r" b="b"/>
            <a:pathLst>
              <a:path w="3745948" h="1669774">
                <a:moveTo>
                  <a:pt x="70682" y="0"/>
                </a:moveTo>
                <a:lnTo>
                  <a:pt x="3675266" y="0"/>
                </a:lnTo>
                <a:cubicBezTo>
                  <a:pt x="3714303" y="0"/>
                  <a:pt x="3745948" y="31645"/>
                  <a:pt x="3745948" y="70682"/>
                </a:cubicBezTo>
                <a:lnTo>
                  <a:pt x="3745948" y="1599092"/>
                </a:lnTo>
                <a:cubicBezTo>
                  <a:pt x="3745948" y="1638129"/>
                  <a:pt x="3714303" y="1669774"/>
                  <a:pt x="3675266" y="1669774"/>
                </a:cubicBezTo>
                <a:lnTo>
                  <a:pt x="70682" y="1669774"/>
                </a:lnTo>
                <a:cubicBezTo>
                  <a:pt x="31645" y="1669774"/>
                  <a:pt x="0" y="1638129"/>
                  <a:pt x="0" y="1599092"/>
                </a:cubicBezTo>
                <a:lnTo>
                  <a:pt x="0" y="70682"/>
                </a:lnTo>
                <a:cubicBezTo>
                  <a:pt x="0" y="31671"/>
                  <a:pt x="31671" y="0"/>
                  <a:pt x="70682" y="0"/>
                </a:cubicBezTo>
                <a:close/>
              </a:path>
            </a:pathLst>
          </a:custGeom>
          <a:solidFill>
            <a:srgbClr val="4A5C6A">
              <a:alpha val="30196"/>
            </a:srgbClr>
          </a:solidFill>
          <a:ln w="12700">
            <a:solidFill>
              <a:srgbClr val="006A4A">
                <a:alpha val="40000"/>
              </a:srgbClr>
            </a:solidFill>
            <a:prstDash val="solid"/>
          </a:ln>
        </p:spPr>
        <p:txBody>
          <a:bodyPr/>
          <a:lstStyle/>
          <a:p>
            <a:endParaRPr lang="en-GB"/>
          </a:p>
        </p:txBody>
      </p:sp>
      <p:sp>
        <p:nvSpPr>
          <p:cNvPr id="33" name="Shape 31"/>
          <p:cNvSpPr/>
          <p:nvPr/>
        </p:nvSpPr>
        <p:spPr>
          <a:xfrm>
            <a:off x="556591" y="5273355"/>
            <a:ext cx="159026" cy="212035"/>
          </a:xfrm>
          <a:custGeom>
            <a:avLst/>
            <a:gdLst/>
            <a:ahLst/>
            <a:cxnLst/>
            <a:rect l="l" t="t" r="r" b="b"/>
            <a:pathLst>
              <a:path w="159026" h="212035">
                <a:moveTo>
                  <a:pt x="6626" y="26504"/>
                </a:moveTo>
                <a:cubicBezTo>
                  <a:pt x="6626" y="11886"/>
                  <a:pt x="18512" y="0"/>
                  <a:pt x="33130" y="0"/>
                </a:cubicBezTo>
                <a:lnTo>
                  <a:pt x="125896" y="0"/>
                </a:lnTo>
                <a:cubicBezTo>
                  <a:pt x="140514" y="0"/>
                  <a:pt x="152400" y="11886"/>
                  <a:pt x="152400" y="26504"/>
                </a:cubicBezTo>
                <a:lnTo>
                  <a:pt x="152400" y="185530"/>
                </a:lnTo>
                <a:cubicBezTo>
                  <a:pt x="152400" y="200149"/>
                  <a:pt x="140514" y="212035"/>
                  <a:pt x="125896" y="212035"/>
                </a:cubicBezTo>
                <a:lnTo>
                  <a:pt x="33130" y="212035"/>
                </a:lnTo>
                <a:cubicBezTo>
                  <a:pt x="18512" y="212035"/>
                  <a:pt x="6626" y="200149"/>
                  <a:pt x="6626" y="185530"/>
                </a:cubicBezTo>
                <a:lnTo>
                  <a:pt x="6626" y="26504"/>
                </a:lnTo>
                <a:close/>
                <a:moveTo>
                  <a:pt x="33130" y="26504"/>
                </a:moveTo>
                <a:lnTo>
                  <a:pt x="33130" y="152400"/>
                </a:lnTo>
                <a:lnTo>
                  <a:pt x="125896" y="152400"/>
                </a:lnTo>
                <a:lnTo>
                  <a:pt x="125896" y="26504"/>
                </a:lnTo>
                <a:lnTo>
                  <a:pt x="33130" y="26504"/>
                </a:lnTo>
                <a:close/>
                <a:moveTo>
                  <a:pt x="79513" y="195470"/>
                </a:moveTo>
                <a:cubicBezTo>
                  <a:pt x="86843" y="195470"/>
                  <a:pt x="92765" y="189548"/>
                  <a:pt x="92765" y="182217"/>
                </a:cubicBezTo>
                <a:cubicBezTo>
                  <a:pt x="92765" y="174887"/>
                  <a:pt x="86843" y="168965"/>
                  <a:pt x="79513" y="168965"/>
                </a:cubicBezTo>
                <a:cubicBezTo>
                  <a:pt x="72183" y="168965"/>
                  <a:pt x="66261" y="174887"/>
                  <a:pt x="66261" y="182217"/>
                </a:cubicBezTo>
                <a:cubicBezTo>
                  <a:pt x="66261" y="189548"/>
                  <a:pt x="72183" y="195470"/>
                  <a:pt x="79513" y="195470"/>
                </a:cubicBezTo>
                <a:close/>
              </a:path>
            </a:pathLst>
          </a:custGeom>
          <a:solidFill>
            <a:srgbClr val="006A4A"/>
          </a:solidFill>
          <a:ln/>
        </p:spPr>
        <p:txBody>
          <a:bodyPr/>
          <a:lstStyle/>
          <a:p>
            <a:endParaRPr lang="en-GB"/>
          </a:p>
        </p:txBody>
      </p:sp>
      <p:sp>
        <p:nvSpPr>
          <p:cNvPr id="34" name="Text 32"/>
          <p:cNvSpPr/>
          <p:nvPr/>
        </p:nvSpPr>
        <p:spPr>
          <a:xfrm>
            <a:off x="503583" y="5556068"/>
            <a:ext cx="3516243"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Liter" pitchFamily="34" charset="0"/>
                <a:ea typeface="Liter" pitchFamily="34" charset="-122"/>
                <a:cs typeface="Liter" pitchFamily="34" charset="-120"/>
              </a:rPr>
              <a:t>Digital Propositions</a:t>
            </a:r>
            <a:endParaRPr lang="en-US" sz="1600" dirty="0"/>
          </a:p>
        </p:txBody>
      </p:sp>
      <p:sp>
        <p:nvSpPr>
          <p:cNvPr id="35" name="Text 33"/>
          <p:cNvSpPr/>
          <p:nvPr/>
        </p:nvSpPr>
        <p:spPr>
          <a:xfrm>
            <a:off x="503583" y="5768103"/>
            <a:ext cx="3507409" cy="282713"/>
          </a:xfrm>
          <a:prstGeom prst="rect">
            <a:avLst/>
          </a:prstGeom>
          <a:noFill/>
          <a:ln/>
        </p:spPr>
        <p:txBody>
          <a:bodyPr wrap="square" lIns="0" tIns="0" rIns="0" bIns="0" rtlCol="0" anchor="ctr"/>
          <a:lstStyle/>
          <a:p>
            <a:pPr>
              <a:lnSpc>
                <a:spcPct val="110000"/>
              </a:lnSpc>
            </a:pPr>
            <a:r>
              <a:rPr lang="en-US" sz="835" dirty="0">
                <a:solidFill>
                  <a:srgbClr val="E0E2E5">
                    <a:alpha val="80000"/>
                  </a:srgbClr>
                </a:solidFill>
                <a:latin typeface="Quattrocento Sans" pitchFamily="34" charset="0"/>
                <a:ea typeface="Quattrocento Sans" pitchFamily="34" charset="-122"/>
                <a:cs typeface="Quattrocento Sans" pitchFamily="34" charset="-120"/>
              </a:rPr>
              <a:t>Your Credit Score, Ready-Made Investments, refreshed mobile app with 6bn+ logins</a:t>
            </a:r>
            <a:endParaRPr lang="en-US" sz="1600" dirty="0"/>
          </a:p>
        </p:txBody>
      </p:sp>
      <p:sp>
        <p:nvSpPr>
          <p:cNvPr id="36" name="Shape 34"/>
          <p:cNvSpPr/>
          <p:nvPr/>
        </p:nvSpPr>
        <p:spPr>
          <a:xfrm>
            <a:off x="4214329" y="5127581"/>
            <a:ext cx="3745948" cy="1406746"/>
          </a:xfrm>
          <a:custGeom>
            <a:avLst/>
            <a:gdLst/>
            <a:ahLst/>
            <a:cxnLst/>
            <a:rect l="l" t="t" r="r" b="b"/>
            <a:pathLst>
              <a:path w="3745948" h="1669774">
                <a:moveTo>
                  <a:pt x="70682" y="0"/>
                </a:moveTo>
                <a:lnTo>
                  <a:pt x="3675266" y="0"/>
                </a:lnTo>
                <a:cubicBezTo>
                  <a:pt x="3714303" y="0"/>
                  <a:pt x="3745948" y="31645"/>
                  <a:pt x="3745948" y="70682"/>
                </a:cubicBezTo>
                <a:lnTo>
                  <a:pt x="3745948" y="1599092"/>
                </a:lnTo>
                <a:cubicBezTo>
                  <a:pt x="3745948" y="1638129"/>
                  <a:pt x="3714303" y="1669774"/>
                  <a:pt x="3675266" y="1669774"/>
                </a:cubicBezTo>
                <a:lnTo>
                  <a:pt x="70682" y="1669774"/>
                </a:lnTo>
                <a:cubicBezTo>
                  <a:pt x="31645" y="1669774"/>
                  <a:pt x="0" y="1638129"/>
                  <a:pt x="0" y="1599092"/>
                </a:cubicBezTo>
                <a:lnTo>
                  <a:pt x="0" y="70682"/>
                </a:lnTo>
                <a:cubicBezTo>
                  <a:pt x="0" y="31671"/>
                  <a:pt x="31671" y="0"/>
                  <a:pt x="70682" y="0"/>
                </a:cubicBezTo>
                <a:close/>
              </a:path>
            </a:pathLst>
          </a:custGeom>
          <a:solidFill>
            <a:srgbClr val="4A5C6A">
              <a:alpha val="30196"/>
            </a:srgbClr>
          </a:solidFill>
          <a:ln w="12700">
            <a:solidFill>
              <a:srgbClr val="006A4A">
                <a:alpha val="40000"/>
              </a:srgbClr>
            </a:solidFill>
            <a:prstDash val="solid"/>
          </a:ln>
        </p:spPr>
        <p:txBody>
          <a:bodyPr/>
          <a:lstStyle/>
          <a:p>
            <a:endParaRPr lang="en-GB"/>
          </a:p>
        </p:txBody>
      </p:sp>
      <p:sp>
        <p:nvSpPr>
          <p:cNvPr id="37" name="Shape 35"/>
          <p:cNvSpPr/>
          <p:nvPr/>
        </p:nvSpPr>
        <p:spPr>
          <a:xfrm>
            <a:off x="4373355" y="5273355"/>
            <a:ext cx="238539" cy="212035"/>
          </a:xfrm>
          <a:custGeom>
            <a:avLst/>
            <a:gdLst/>
            <a:ahLst/>
            <a:cxnLst/>
            <a:rect l="l" t="t" r="r" b="b"/>
            <a:pathLst>
              <a:path w="238539" h="212035">
                <a:moveTo>
                  <a:pt x="111360" y="35284"/>
                </a:moveTo>
                <a:lnTo>
                  <a:pt x="63072" y="88955"/>
                </a:lnTo>
                <a:cubicBezTo>
                  <a:pt x="61167" y="91067"/>
                  <a:pt x="61250" y="94339"/>
                  <a:pt x="63279" y="96368"/>
                </a:cubicBezTo>
                <a:cubicBezTo>
                  <a:pt x="75910" y="108999"/>
                  <a:pt x="96410" y="108999"/>
                  <a:pt x="109041" y="96368"/>
                </a:cubicBezTo>
                <a:lnTo>
                  <a:pt x="122210" y="83199"/>
                </a:lnTo>
                <a:cubicBezTo>
                  <a:pt x="123949" y="81459"/>
                  <a:pt x="126144" y="80507"/>
                  <a:pt x="128380" y="80341"/>
                </a:cubicBezTo>
                <a:cubicBezTo>
                  <a:pt x="131197" y="80093"/>
                  <a:pt x="134095" y="81045"/>
                  <a:pt x="136249" y="83199"/>
                </a:cubicBezTo>
                <a:lnTo>
                  <a:pt x="209384" y="155713"/>
                </a:lnTo>
                <a:lnTo>
                  <a:pt x="238539" y="132522"/>
                </a:lnTo>
                <a:lnTo>
                  <a:pt x="238539" y="13252"/>
                </a:lnTo>
                <a:lnTo>
                  <a:pt x="192157" y="39757"/>
                </a:lnTo>
                <a:lnTo>
                  <a:pt x="182300" y="33172"/>
                </a:lnTo>
                <a:cubicBezTo>
                  <a:pt x="175757" y="28823"/>
                  <a:pt x="168096" y="26504"/>
                  <a:pt x="160227" y="26504"/>
                </a:cubicBezTo>
                <a:lnTo>
                  <a:pt x="131072" y="26504"/>
                </a:lnTo>
                <a:cubicBezTo>
                  <a:pt x="130617" y="26504"/>
                  <a:pt x="130120" y="26504"/>
                  <a:pt x="129664" y="26546"/>
                </a:cubicBezTo>
                <a:cubicBezTo>
                  <a:pt x="122665" y="26918"/>
                  <a:pt x="116081" y="30066"/>
                  <a:pt x="111360" y="35284"/>
                </a:cubicBezTo>
                <a:close/>
                <a:moveTo>
                  <a:pt x="48288" y="75662"/>
                </a:moveTo>
                <a:lnTo>
                  <a:pt x="92517" y="26504"/>
                </a:lnTo>
                <a:lnTo>
                  <a:pt x="76117" y="26504"/>
                </a:lnTo>
                <a:cubicBezTo>
                  <a:pt x="65557" y="26504"/>
                  <a:pt x="55452" y="30687"/>
                  <a:pt x="47998" y="38141"/>
                </a:cubicBezTo>
                <a:lnTo>
                  <a:pt x="46383" y="39757"/>
                </a:lnTo>
                <a:lnTo>
                  <a:pt x="0" y="13252"/>
                </a:lnTo>
                <a:lnTo>
                  <a:pt x="0" y="132522"/>
                </a:lnTo>
                <a:lnTo>
                  <a:pt x="64770" y="186483"/>
                </a:lnTo>
                <a:cubicBezTo>
                  <a:pt x="74295" y="194434"/>
                  <a:pt x="86305" y="198783"/>
                  <a:pt x="98687" y="198783"/>
                </a:cubicBezTo>
                <a:lnTo>
                  <a:pt x="105189" y="198783"/>
                </a:lnTo>
                <a:lnTo>
                  <a:pt x="102290" y="195884"/>
                </a:lnTo>
                <a:cubicBezTo>
                  <a:pt x="98397" y="191991"/>
                  <a:pt x="98397" y="185696"/>
                  <a:pt x="102290" y="181845"/>
                </a:cubicBezTo>
                <a:cubicBezTo>
                  <a:pt x="106183" y="177993"/>
                  <a:pt x="112478" y="177952"/>
                  <a:pt x="116329" y="181845"/>
                </a:cubicBezTo>
                <a:lnTo>
                  <a:pt x="133309" y="198824"/>
                </a:lnTo>
                <a:lnTo>
                  <a:pt x="137036" y="198824"/>
                </a:lnTo>
                <a:cubicBezTo>
                  <a:pt x="144946" y="198824"/>
                  <a:pt x="152690" y="197043"/>
                  <a:pt x="159730" y="193730"/>
                </a:cubicBezTo>
                <a:lnTo>
                  <a:pt x="148673" y="182632"/>
                </a:lnTo>
                <a:cubicBezTo>
                  <a:pt x="144780" y="178739"/>
                  <a:pt x="144780" y="172444"/>
                  <a:pt x="148673" y="168593"/>
                </a:cubicBezTo>
                <a:cubicBezTo>
                  <a:pt x="152566" y="164741"/>
                  <a:pt x="158860" y="164700"/>
                  <a:pt x="162712" y="168593"/>
                </a:cubicBezTo>
                <a:lnTo>
                  <a:pt x="175964" y="181845"/>
                </a:lnTo>
                <a:lnTo>
                  <a:pt x="183211" y="174597"/>
                </a:lnTo>
                <a:cubicBezTo>
                  <a:pt x="186897" y="170912"/>
                  <a:pt x="187974" y="165569"/>
                  <a:pt x="186359" y="160890"/>
                </a:cubicBezTo>
                <a:lnTo>
                  <a:pt x="129250" y="104237"/>
                </a:lnTo>
                <a:lnTo>
                  <a:pt x="123080" y="110407"/>
                </a:lnTo>
                <a:cubicBezTo>
                  <a:pt x="102663" y="130824"/>
                  <a:pt x="69615" y="130824"/>
                  <a:pt x="49199" y="110407"/>
                </a:cubicBezTo>
                <a:cubicBezTo>
                  <a:pt x="39674" y="100882"/>
                  <a:pt x="39301" y="85601"/>
                  <a:pt x="48288" y="75620"/>
                </a:cubicBezTo>
                <a:close/>
              </a:path>
            </a:pathLst>
          </a:custGeom>
          <a:solidFill>
            <a:srgbClr val="006A4A"/>
          </a:solidFill>
          <a:ln/>
        </p:spPr>
        <p:txBody>
          <a:bodyPr/>
          <a:lstStyle/>
          <a:p>
            <a:endParaRPr lang="en-GB"/>
          </a:p>
        </p:txBody>
      </p:sp>
      <p:sp>
        <p:nvSpPr>
          <p:cNvPr id="38" name="Text 36"/>
          <p:cNvSpPr/>
          <p:nvPr/>
        </p:nvSpPr>
        <p:spPr>
          <a:xfrm>
            <a:off x="4360103" y="5556068"/>
            <a:ext cx="3516243" cy="176696"/>
          </a:xfrm>
          <a:prstGeom prst="rect">
            <a:avLst/>
          </a:prstGeom>
          <a:noFill/>
          <a:ln/>
        </p:spPr>
        <p:txBody>
          <a:bodyPr wrap="square" lIns="0" tIns="0" rIns="0" bIns="0" rtlCol="0" anchor="ctr"/>
          <a:lstStyle/>
          <a:p>
            <a:pPr>
              <a:lnSpc>
                <a:spcPct val="120000"/>
              </a:lnSpc>
            </a:pPr>
            <a:r>
              <a:rPr lang="en-US" sz="974" b="1" dirty="0">
                <a:solidFill>
                  <a:srgbClr val="E0E2E5"/>
                </a:solidFill>
                <a:latin typeface="Liter" pitchFamily="34" charset="0"/>
                <a:ea typeface="Liter" pitchFamily="34" charset="-122"/>
                <a:cs typeface="Liter" pitchFamily="34" charset="-120"/>
              </a:rPr>
              <a:t>SME Banking Growth</a:t>
            </a:r>
            <a:endParaRPr lang="en-US" sz="1600" dirty="0"/>
          </a:p>
        </p:txBody>
      </p:sp>
      <p:sp>
        <p:nvSpPr>
          <p:cNvPr id="39" name="Text 37"/>
          <p:cNvSpPr/>
          <p:nvPr/>
        </p:nvSpPr>
        <p:spPr>
          <a:xfrm>
            <a:off x="4360103" y="5768103"/>
            <a:ext cx="3507409" cy="282713"/>
          </a:xfrm>
          <a:prstGeom prst="rect">
            <a:avLst/>
          </a:prstGeom>
          <a:noFill/>
          <a:ln/>
        </p:spPr>
        <p:txBody>
          <a:bodyPr wrap="square" lIns="0" tIns="0" rIns="0" bIns="0" rtlCol="0" anchor="ctr"/>
          <a:lstStyle/>
          <a:p>
            <a:pPr>
              <a:lnSpc>
                <a:spcPct val="110000"/>
              </a:lnSpc>
            </a:pPr>
            <a:r>
              <a:rPr lang="en-US" sz="835" dirty="0">
                <a:solidFill>
                  <a:srgbClr val="E0E2E5">
                    <a:alpha val="80000"/>
                  </a:srgbClr>
                </a:solidFill>
                <a:latin typeface="Quattrocento Sans" pitchFamily="34" charset="0"/>
                <a:ea typeface="Quattrocento Sans" pitchFamily="34" charset="-122"/>
                <a:cs typeface="Quattrocento Sans" pitchFamily="34" charset="-120"/>
              </a:rPr>
              <a:t>60% automation of new business lending decisions, Amanda Murphy appointment (ex-HSBC)</a:t>
            </a:r>
            <a:endParaRPr lang="en-US" sz="1600" dirty="0"/>
          </a:p>
        </p:txBody>
      </p:sp>
      <p:sp>
        <p:nvSpPr>
          <p:cNvPr id="40" name="Text 38"/>
          <p:cNvSpPr/>
          <p:nvPr/>
        </p:nvSpPr>
        <p:spPr>
          <a:xfrm>
            <a:off x="8101772" y="1289878"/>
            <a:ext cx="3825461" cy="247374"/>
          </a:xfrm>
          <a:prstGeom prst="rect">
            <a:avLst/>
          </a:prstGeom>
          <a:noFill/>
          <a:ln/>
        </p:spPr>
        <p:txBody>
          <a:bodyPr wrap="square" lIns="0" tIns="0" rIns="0" bIns="0" rtlCol="0" anchor="ctr"/>
          <a:lstStyle/>
          <a:p>
            <a:pPr>
              <a:lnSpc>
                <a:spcPct val="120000"/>
              </a:lnSpc>
            </a:pPr>
            <a:r>
              <a:rPr lang="en-US" sz="1391" b="1" dirty="0">
                <a:solidFill>
                  <a:srgbClr val="E0E2E5"/>
                </a:solidFill>
                <a:latin typeface="Liter" pitchFamily="34" charset="0"/>
                <a:ea typeface="Liter" pitchFamily="34" charset="-122"/>
                <a:cs typeface="Liter" pitchFamily="34" charset="-120"/>
              </a:rPr>
              <a:t>Key Performance Targets</a:t>
            </a:r>
            <a:endParaRPr lang="en-US" sz="1600" dirty="0"/>
          </a:p>
        </p:txBody>
      </p:sp>
      <p:sp>
        <p:nvSpPr>
          <p:cNvPr id="41" name="Shape 39"/>
          <p:cNvSpPr/>
          <p:nvPr/>
        </p:nvSpPr>
        <p:spPr>
          <a:xfrm>
            <a:off x="8106189" y="1647687"/>
            <a:ext cx="3728278" cy="998330"/>
          </a:xfrm>
          <a:custGeom>
            <a:avLst/>
            <a:gdLst/>
            <a:ahLst/>
            <a:cxnLst/>
            <a:rect l="l" t="t" r="r" b="b"/>
            <a:pathLst>
              <a:path w="3728278" h="998330">
                <a:moveTo>
                  <a:pt x="70682" y="0"/>
                </a:moveTo>
                <a:lnTo>
                  <a:pt x="3657596" y="0"/>
                </a:lnTo>
                <a:cubicBezTo>
                  <a:pt x="3696633" y="0"/>
                  <a:pt x="3728278" y="31645"/>
                  <a:pt x="3728278" y="70682"/>
                </a:cubicBezTo>
                <a:lnTo>
                  <a:pt x="3728278" y="927649"/>
                </a:lnTo>
                <a:cubicBezTo>
                  <a:pt x="3728278" y="966685"/>
                  <a:pt x="3696633" y="998330"/>
                  <a:pt x="3657596" y="998330"/>
                </a:cubicBezTo>
                <a:lnTo>
                  <a:pt x="70682" y="998330"/>
                </a:lnTo>
                <a:cubicBezTo>
                  <a:pt x="31645" y="998330"/>
                  <a:pt x="0" y="966685"/>
                  <a:pt x="0" y="927649"/>
                </a:cubicBezTo>
                <a:lnTo>
                  <a:pt x="0" y="70682"/>
                </a:lnTo>
                <a:cubicBezTo>
                  <a:pt x="0" y="31671"/>
                  <a:pt x="31671" y="0"/>
                  <a:pt x="70682" y="0"/>
                </a:cubicBezTo>
                <a:close/>
              </a:path>
            </a:pathLst>
          </a:custGeom>
          <a:solidFill>
            <a:srgbClr val="006A4A">
              <a:alpha val="30196"/>
            </a:srgbClr>
          </a:solidFill>
          <a:ln w="12700">
            <a:solidFill>
              <a:srgbClr val="006A4A">
                <a:alpha val="40000"/>
              </a:srgbClr>
            </a:solidFill>
            <a:prstDash val="solid"/>
          </a:ln>
        </p:spPr>
        <p:txBody>
          <a:bodyPr/>
          <a:lstStyle/>
          <a:p>
            <a:endParaRPr lang="en-GB"/>
          </a:p>
        </p:txBody>
      </p:sp>
      <p:sp>
        <p:nvSpPr>
          <p:cNvPr id="42" name="Text 40"/>
          <p:cNvSpPr/>
          <p:nvPr/>
        </p:nvSpPr>
        <p:spPr>
          <a:xfrm>
            <a:off x="8251963" y="1793461"/>
            <a:ext cx="3489739" cy="141357"/>
          </a:xfrm>
          <a:prstGeom prst="rect">
            <a:avLst/>
          </a:prstGeom>
          <a:noFill/>
          <a:ln/>
        </p:spPr>
        <p:txBody>
          <a:bodyPr wrap="square" lIns="0" tIns="0" rIns="0" bIns="0" rtlCol="0" anchor="ctr"/>
          <a:lstStyle/>
          <a:p>
            <a:pPr>
              <a:lnSpc>
                <a:spcPct val="110000"/>
              </a:lnSpc>
            </a:pPr>
            <a:r>
              <a:rPr lang="en-US" sz="835" dirty="0">
                <a:solidFill>
                  <a:srgbClr val="C0A062"/>
                </a:solidFill>
                <a:latin typeface="Quattrocento Sans" pitchFamily="34" charset="0"/>
                <a:ea typeface="Quattrocento Sans" pitchFamily="34" charset="-122"/>
                <a:cs typeface="Quattrocento Sans" pitchFamily="34" charset="-120"/>
              </a:rPr>
              <a:t>2026 ROTE Target</a:t>
            </a:r>
            <a:endParaRPr lang="en-US" sz="1600" dirty="0"/>
          </a:p>
        </p:txBody>
      </p:sp>
      <p:sp>
        <p:nvSpPr>
          <p:cNvPr id="43" name="Text 41"/>
          <p:cNvSpPr/>
          <p:nvPr/>
        </p:nvSpPr>
        <p:spPr>
          <a:xfrm>
            <a:off x="8251963" y="1970157"/>
            <a:ext cx="3595757" cy="353391"/>
          </a:xfrm>
          <a:prstGeom prst="rect">
            <a:avLst/>
          </a:prstGeom>
          <a:noFill/>
          <a:ln/>
        </p:spPr>
        <p:txBody>
          <a:bodyPr wrap="square" lIns="0" tIns="0" rIns="0" bIns="0" rtlCol="0" anchor="ctr"/>
          <a:lstStyle/>
          <a:p>
            <a:pPr>
              <a:lnSpc>
                <a:spcPct val="90000"/>
              </a:lnSpc>
            </a:pPr>
            <a:r>
              <a:rPr lang="en-US" sz="2504" b="1" dirty="0">
                <a:solidFill>
                  <a:srgbClr val="E0E2E5"/>
                </a:solidFill>
                <a:latin typeface="Quattrocento Sans" pitchFamily="34" charset="0"/>
                <a:ea typeface="Quattrocento Sans" pitchFamily="34" charset="-122"/>
                <a:cs typeface="Quattrocento Sans" pitchFamily="34" charset="-120"/>
              </a:rPr>
              <a:t>&gt;15%</a:t>
            </a:r>
            <a:endParaRPr lang="en-US" sz="1600" dirty="0"/>
          </a:p>
        </p:txBody>
      </p:sp>
      <p:sp>
        <p:nvSpPr>
          <p:cNvPr id="44" name="Text 42"/>
          <p:cNvSpPr/>
          <p:nvPr/>
        </p:nvSpPr>
        <p:spPr>
          <a:xfrm>
            <a:off x="8251963" y="2358887"/>
            <a:ext cx="3489739" cy="141357"/>
          </a:xfrm>
          <a:prstGeom prst="rect">
            <a:avLst/>
          </a:prstGeom>
          <a:noFill/>
          <a:ln/>
        </p:spPr>
        <p:txBody>
          <a:bodyPr wrap="square" lIns="0" tIns="0" rIns="0" bIns="0" rtlCol="0" anchor="ctr"/>
          <a:lstStyle/>
          <a:p>
            <a:pPr>
              <a:lnSpc>
                <a:spcPct val="110000"/>
              </a:lnSpc>
            </a:pPr>
            <a:r>
              <a:rPr lang="en-US" sz="835" dirty="0">
                <a:solidFill>
                  <a:srgbClr val="E0E2E5">
                    <a:alpha val="50000"/>
                  </a:srgbClr>
                </a:solidFill>
                <a:latin typeface="Quattrocento Sans" pitchFamily="34" charset="0"/>
                <a:ea typeface="Quattrocento Sans" pitchFamily="34" charset="-122"/>
                <a:cs typeface="Quattrocento Sans" pitchFamily="34" charset="-120"/>
              </a:rPr>
              <a:t>vs 12.3% (2024)</a:t>
            </a:r>
            <a:endParaRPr lang="en-US" sz="1600" dirty="0"/>
          </a:p>
        </p:txBody>
      </p:sp>
      <p:sp>
        <p:nvSpPr>
          <p:cNvPr id="45" name="Shape 43"/>
          <p:cNvSpPr/>
          <p:nvPr/>
        </p:nvSpPr>
        <p:spPr>
          <a:xfrm>
            <a:off x="8106189" y="2760870"/>
            <a:ext cx="3728278" cy="998330"/>
          </a:xfrm>
          <a:custGeom>
            <a:avLst/>
            <a:gdLst/>
            <a:ahLst/>
            <a:cxnLst/>
            <a:rect l="l" t="t" r="r" b="b"/>
            <a:pathLst>
              <a:path w="3728278" h="998330">
                <a:moveTo>
                  <a:pt x="70682" y="0"/>
                </a:moveTo>
                <a:lnTo>
                  <a:pt x="3657596" y="0"/>
                </a:lnTo>
                <a:cubicBezTo>
                  <a:pt x="3696633" y="0"/>
                  <a:pt x="3728278" y="31645"/>
                  <a:pt x="3728278" y="70682"/>
                </a:cubicBezTo>
                <a:lnTo>
                  <a:pt x="3728278" y="927649"/>
                </a:lnTo>
                <a:cubicBezTo>
                  <a:pt x="3728278" y="966685"/>
                  <a:pt x="3696633" y="998330"/>
                  <a:pt x="3657596" y="998330"/>
                </a:cubicBezTo>
                <a:lnTo>
                  <a:pt x="70682" y="998330"/>
                </a:lnTo>
                <a:cubicBezTo>
                  <a:pt x="31645" y="998330"/>
                  <a:pt x="0" y="966685"/>
                  <a:pt x="0" y="927649"/>
                </a:cubicBezTo>
                <a:lnTo>
                  <a:pt x="0" y="70682"/>
                </a:lnTo>
                <a:cubicBezTo>
                  <a:pt x="0" y="31671"/>
                  <a:pt x="31671" y="0"/>
                  <a:pt x="70682" y="0"/>
                </a:cubicBezTo>
                <a:close/>
              </a:path>
            </a:pathLst>
          </a:custGeom>
          <a:solidFill>
            <a:srgbClr val="4A5C6A">
              <a:alpha val="30196"/>
            </a:srgbClr>
          </a:solidFill>
          <a:ln w="12700">
            <a:solidFill>
              <a:srgbClr val="4A5C6A">
                <a:alpha val="40000"/>
              </a:srgbClr>
            </a:solidFill>
            <a:prstDash val="solid"/>
          </a:ln>
        </p:spPr>
        <p:txBody>
          <a:bodyPr/>
          <a:lstStyle/>
          <a:p>
            <a:endParaRPr lang="en-GB"/>
          </a:p>
        </p:txBody>
      </p:sp>
      <p:sp>
        <p:nvSpPr>
          <p:cNvPr id="46" name="Text 44"/>
          <p:cNvSpPr/>
          <p:nvPr/>
        </p:nvSpPr>
        <p:spPr>
          <a:xfrm>
            <a:off x="8251963" y="2906643"/>
            <a:ext cx="3489739" cy="141357"/>
          </a:xfrm>
          <a:prstGeom prst="rect">
            <a:avLst/>
          </a:prstGeom>
          <a:noFill/>
          <a:ln/>
        </p:spPr>
        <p:txBody>
          <a:bodyPr wrap="square" lIns="0" tIns="0" rIns="0" bIns="0" rtlCol="0" anchor="ctr"/>
          <a:lstStyle/>
          <a:p>
            <a:pPr>
              <a:lnSpc>
                <a:spcPct val="110000"/>
              </a:lnSpc>
            </a:pPr>
            <a:r>
              <a:rPr lang="en-US" sz="835" dirty="0">
                <a:solidFill>
                  <a:srgbClr val="E0E2E5">
                    <a:alpha val="70000"/>
                  </a:srgbClr>
                </a:solidFill>
                <a:latin typeface="Quattrocento Sans" pitchFamily="34" charset="0"/>
                <a:ea typeface="Quattrocento Sans" pitchFamily="34" charset="-122"/>
                <a:cs typeface="Quattrocento Sans" pitchFamily="34" charset="-120"/>
              </a:rPr>
              <a:t>Strategic Income</a:t>
            </a:r>
            <a:endParaRPr lang="en-US" sz="1600" dirty="0"/>
          </a:p>
        </p:txBody>
      </p:sp>
      <p:sp>
        <p:nvSpPr>
          <p:cNvPr id="47" name="Text 45"/>
          <p:cNvSpPr/>
          <p:nvPr/>
        </p:nvSpPr>
        <p:spPr>
          <a:xfrm>
            <a:off x="8251963" y="3083339"/>
            <a:ext cx="3595757" cy="353391"/>
          </a:xfrm>
          <a:prstGeom prst="rect">
            <a:avLst/>
          </a:prstGeom>
          <a:noFill/>
          <a:ln/>
        </p:spPr>
        <p:txBody>
          <a:bodyPr wrap="square" lIns="0" tIns="0" rIns="0" bIns="0" rtlCol="0" anchor="ctr"/>
          <a:lstStyle/>
          <a:p>
            <a:pPr>
              <a:lnSpc>
                <a:spcPct val="90000"/>
              </a:lnSpc>
            </a:pPr>
            <a:r>
              <a:rPr lang="en-US" sz="2504" b="1" dirty="0">
                <a:solidFill>
                  <a:srgbClr val="E0E2E5"/>
                </a:solidFill>
                <a:latin typeface="Quattrocento Sans" pitchFamily="34" charset="0"/>
                <a:ea typeface="Quattrocento Sans" pitchFamily="34" charset="-122"/>
                <a:cs typeface="Quattrocento Sans" pitchFamily="34" charset="-120"/>
              </a:rPr>
              <a:t>£1.5bn+</a:t>
            </a:r>
            <a:endParaRPr lang="en-US" sz="1600" dirty="0"/>
          </a:p>
        </p:txBody>
      </p:sp>
      <p:sp>
        <p:nvSpPr>
          <p:cNvPr id="48" name="Text 46"/>
          <p:cNvSpPr/>
          <p:nvPr/>
        </p:nvSpPr>
        <p:spPr>
          <a:xfrm>
            <a:off x="8251963" y="3472070"/>
            <a:ext cx="3489739" cy="141357"/>
          </a:xfrm>
          <a:prstGeom prst="rect">
            <a:avLst/>
          </a:prstGeom>
          <a:noFill/>
          <a:ln/>
        </p:spPr>
        <p:txBody>
          <a:bodyPr wrap="square" lIns="0" tIns="0" rIns="0" bIns="0" rtlCol="0" anchor="ctr"/>
          <a:lstStyle/>
          <a:p>
            <a:pPr>
              <a:lnSpc>
                <a:spcPct val="110000"/>
              </a:lnSpc>
            </a:pPr>
            <a:r>
              <a:rPr lang="en-US" sz="835" dirty="0">
                <a:solidFill>
                  <a:srgbClr val="E0E2E5">
                    <a:alpha val="50000"/>
                  </a:srgbClr>
                </a:solidFill>
                <a:latin typeface="Quattrocento Sans" pitchFamily="34" charset="0"/>
                <a:ea typeface="Quattrocento Sans" pitchFamily="34" charset="-122"/>
                <a:cs typeface="Quattrocento Sans" pitchFamily="34" charset="-120"/>
              </a:rPr>
              <a:t>Additional by 2026</a:t>
            </a:r>
            <a:endParaRPr lang="en-US" sz="1600" dirty="0"/>
          </a:p>
        </p:txBody>
      </p:sp>
      <p:sp>
        <p:nvSpPr>
          <p:cNvPr id="49" name="Shape 47"/>
          <p:cNvSpPr/>
          <p:nvPr/>
        </p:nvSpPr>
        <p:spPr>
          <a:xfrm>
            <a:off x="8106189" y="3874052"/>
            <a:ext cx="3728278" cy="998330"/>
          </a:xfrm>
          <a:custGeom>
            <a:avLst/>
            <a:gdLst/>
            <a:ahLst/>
            <a:cxnLst/>
            <a:rect l="l" t="t" r="r" b="b"/>
            <a:pathLst>
              <a:path w="3728278" h="998330">
                <a:moveTo>
                  <a:pt x="70682" y="0"/>
                </a:moveTo>
                <a:lnTo>
                  <a:pt x="3657596" y="0"/>
                </a:lnTo>
                <a:cubicBezTo>
                  <a:pt x="3696633" y="0"/>
                  <a:pt x="3728278" y="31645"/>
                  <a:pt x="3728278" y="70682"/>
                </a:cubicBezTo>
                <a:lnTo>
                  <a:pt x="3728278" y="927649"/>
                </a:lnTo>
                <a:cubicBezTo>
                  <a:pt x="3728278" y="966685"/>
                  <a:pt x="3696633" y="998330"/>
                  <a:pt x="3657596" y="998330"/>
                </a:cubicBezTo>
                <a:lnTo>
                  <a:pt x="70682" y="998330"/>
                </a:lnTo>
                <a:cubicBezTo>
                  <a:pt x="31645" y="998330"/>
                  <a:pt x="0" y="966685"/>
                  <a:pt x="0" y="927649"/>
                </a:cubicBezTo>
                <a:lnTo>
                  <a:pt x="0" y="70682"/>
                </a:lnTo>
                <a:cubicBezTo>
                  <a:pt x="0" y="31671"/>
                  <a:pt x="31671" y="0"/>
                  <a:pt x="70682" y="0"/>
                </a:cubicBezTo>
                <a:close/>
              </a:path>
            </a:pathLst>
          </a:custGeom>
          <a:solidFill>
            <a:srgbClr val="4A5C6A">
              <a:alpha val="30196"/>
            </a:srgbClr>
          </a:solidFill>
          <a:ln w="12700">
            <a:solidFill>
              <a:srgbClr val="4A5C6A">
                <a:alpha val="40000"/>
              </a:srgbClr>
            </a:solidFill>
            <a:prstDash val="solid"/>
          </a:ln>
        </p:spPr>
        <p:txBody>
          <a:bodyPr/>
          <a:lstStyle/>
          <a:p>
            <a:endParaRPr lang="en-GB"/>
          </a:p>
        </p:txBody>
      </p:sp>
      <p:sp>
        <p:nvSpPr>
          <p:cNvPr id="50" name="Text 48"/>
          <p:cNvSpPr/>
          <p:nvPr/>
        </p:nvSpPr>
        <p:spPr>
          <a:xfrm>
            <a:off x="8251963" y="4019826"/>
            <a:ext cx="3489739" cy="141357"/>
          </a:xfrm>
          <a:prstGeom prst="rect">
            <a:avLst/>
          </a:prstGeom>
          <a:noFill/>
          <a:ln/>
        </p:spPr>
        <p:txBody>
          <a:bodyPr wrap="square" lIns="0" tIns="0" rIns="0" bIns="0" rtlCol="0" anchor="ctr"/>
          <a:lstStyle/>
          <a:p>
            <a:pPr>
              <a:lnSpc>
                <a:spcPct val="110000"/>
              </a:lnSpc>
            </a:pPr>
            <a:r>
              <a:rPr lang="en-US" sz="835" dirty="0">
                <a:solidFill>
                  <a:srgbClr val="E0E2E5">
                    <a:alpha val="70000"/>
                  </a:srgbClr>
                </a:solidFill>
                <a:latin typeface="Quattrocento Sans" pitchFamily="34" charset="0"/>
                <a:ea typeface="Quattrocento Sans" pitchFamily="34" charset="-122"/>
                <a:cs typeface="Quattrocento Sans" pitchFamily="34" charset="-120"/>
              </a:rPr>
              <a:t>Cost Savings</a:t>
            </a:r>
            <a:endParaRPr lang="en-US" sz="1600" dirty="0"/>
          </a:p>
        </p:txBody>
      </p:sp>
      <p:sp>
        <p:nvSpPr>
          <p:cNvPr id="51" name="Text 49"/>
          <p:cNvSpPr/>
          <p:nvPr/>
        </p:nvSpPr>
        <p:spPr>
          <a:xfrm>
            <a:off x="8251963" y="4196522"/>
            <a:ext cx="3595757" cy="353391"/>
          </a:xfrm>
          <a:prstGeom prst="rect">
            <a:avLst/>
          </a:prstGeom>
          <a:noFill/>
          <a:ln/>
        </p:spPr>
        <p:txBody>
          <a:bodyPr wrap="square" lIns="0" tIns="0" rIns="0" bIns="0" rtlCol="0" anchor="ctr"/>
          <a:lstStyle/>
          <a:p>
            <a:pPr>
              <a:lnSpc>
                <a:spcPct val="90000"/>
              </a:lnSpc>
            </a:pPr>
            <a:r>
              <a:rPr lang="en-US" sz="2504" b="1" dirty="0">
                <a:solidFill>
                  <a:srgbClr val="E0E2E5"/>
                </a:solidFill>
                <a:latin typeface="Quattrocento Sans" pitchFamily="34" charset="0"/>
                <a:ea typeface="Quattrocento Sans" pitchFamily="34" charset="-122"/>
                <a:cs typeface="Quattrocento Sans" pitchFamily="34" charset="-120"/>
              </a:rPr>
              <a:t>£1.5bn</a:t>
            </a:r>
            <a:endParaRPr lang="en-US" sz="1600" dirty="0"/>
          </a:p>
        </p:txBody>
      </p:sp>
      <p:sp>
        <p:nvSpPr>
          <p:cNvPr id="52" name="Text 50"/>
          <p:cNvSpPr/>
          <p:nvPr/>
        </p:nvSpPr>
        <p:spPr>
          <a:xfrm>
            <a:off x="8251963" y="4585252"/>
            <a:ext cx="3489739" cy="141357"/>
          </a:xfrm>
          <a:prstGeom prst="rect">
            <a:avLst/>
          </a:prstGeom>
          <a:noFill/>
          <a:ln/>
        </p:spPr>
        <p:txBody>
          <a:bodyPr wrap="square" lIns="0" tIns="0" rIns="0" bIns="0" rtlCol="0" anchor="ctr"/>
          <a:lstStyle/>
          <a:p>
            <a:pPr>
              <a:lnSpc>
                <a:spcPct val="110000"/>
              </a:lnSpc>
            </a:pPr>
            <a:r>
              <a:rPr lang="en-US" sz="835" dirty="0">
                <a:solidFill>
                  <a:srgbClr val="E0E2E5">
                    <a:alpha val="50000"/>
                  </a:srgbClr>
                </a:solidFill>
                <a:latin typeface="Quattrocento Sans" pitchFamily="34" charset="0"/>
                <a:ea typeface="Quattrocento Sans" pitchFamily="34" charset="-122"/>
                <a:cs typeface="Quattrocento Sans" pitchFamily="34" charset="-120"/>
              </a:rPr>
              <a:t>Gross savings since 2021</a:t>
            </a:r>
            <a:endParaRPr lang="en-US" sz="1600" dirty="0"/>
          </a:p>
        </p:txBody>
      </p:sp>
      <p:sp>
        <p:nvSpPr>
          <p:cNvPr id="53" name="Shape 51"/>
          <p:cNvSpPr/>
          <p:nvPr/>
        </p:nvSpPr>
        <p:spPr>
          <a:xfrm>
            <a:off x="8106189" y="4987235"/>
            <a:ext cx="3728278" cy="998330"/>
          </a:xfrm>
          <a:custGeom>
            <a:avLst/>
            <a:gdLst/>
            <a:ahLst/>
            <a:cxnLst/>
            <a:rect l="l" t="t" r="r" b="b"/>
            <a:pathLst>
              <a:path w="3728278" h="998330">
                <a:moveTo>
                  <a:pt x="70682" y="0"/>
                </a:moveTo>
                <a:lnTo>
                  <a:pt x="3657596" y="0"/>
                </a:lnTo>
                <a:cubicBezTo>
                  <a:pt x="3696633" y="0"/>
                  <a:pt x="3728278" y="31645"/>
                  <a:pt x="3728278" y="70682"/>
                </a:cubicBezTo>
                <a:lnTo>
                  <a:pt x="3728278" y="927649"/>
                </a:lnTo>
                <a:cubicBezTo>
                  <a:pt x="3728278" y="966685"/>
                  <a:pt x="3696633" y="998330"/>
                  <a:pt x="3657596" y="998330"/>
                </a:cubicBezTo>
                <a:lnTo>
                  <a:pt x="70682" y="998330"/>
                </a:lnTo>
                <a:cubicBezTo>
                  <a:pt x="31645" y="998330"/>
                  <a:pt x="0" y="966685"/>
                  <a:pt x="0" y="927649"/>
                </a:cubicBezTo>
                <a:lnTo>
                  <a:pt x="0" y="70682"/>
                </a:lnTo>
                <a:cubicBezTo>
                  <a:pt x="0" y="31671"/>
                  <a:pt x="31671" y="0"/>
                  <a:pt x="70682" y="0"/>
                </a:cubicBezTo>
                <a:close/>
              </a:path>
            </a:pathLst>
          </a:custGeom>
          <a:solidFill>
            <a:srgbClr val="4A5C6A">
              <a:alpha val="30196"/>
            </a:srgbClr>
          </a:solidFill>
          <a:ln w="12700">
            <a:solidFill>
              <a:srgbClr val="4A5C6A">
                <a:alpha val="40000"/>
              </a:srgbClr>
            </a:solidFill>
            <a:prstDash val="solid"/>
          </a:ln>
        </p:spPr>
        <p:txBody>
          <a:bodyPr/>
          <a:lstStyle/>
          <a:p>
            <a:endParaRPr lang="en-GB"/>
          </a:p>
        </p:txBody>
      </p:sp>
      <p:sp>
        <p:nvSpPr>
          <p:cNvPr id="54" name="Text 52"/>
          <p:cNvSpPr/>
          <p:nvPr/>
        </p:nvSpPr>
        <p:spPr>
          <a:xfrm>
            <a:off x="8251963" y="5133009"/>
            <a:ext cx="3489739" cy="141357"/>
          </a:xfrm>
          <a:prstGeom prst="rect">
            <a:avLst/>
          </a:prstGeom>
          <a:noFill/>
          <a:ln/>
        </p:spPr>
        <p:txBody>
          <a:bodyPr wrap="square" lIns="0" tIns="0" rIns="0" bIns="0" rtlCol="0" anchor="ctr"/>
          <a:lstStyle/>
          <a:p>
            <a:pPr>
              <a:lnSpc>
                <a:spcPct val="110000"/>
              </a:lnSpc>
            </a:pPr>
            <a:r>
              <a:rPr lang="en-US" sz="835" dirty="0">
                <a:solidFill>
                  <a:srgbClr val="E0E2E5">
                    <a:alpha val="70000"/>
                  </a:srgbClr>
                </a:solidFill>
                <a:latin typeface="Quattrocento Sans" pitchFamily="34" charset="0"/>
                <a:ea typeface="Quattrocento Sans" pitchFamily="34" charset="-122"/>
                <a:cs typeface="Quattrocento Sans" pitchFamily="34" charset="-120"/>
              </a:rPr>
              <a:t>NII Guidance 2025</a:t>
            </a:r>
            <a:endParaRPr lang="en-US" sz="1600" dirty="0"/>
          </a:p>
        </p:txBody>
      </p:sp>
      <p:sp>
        <p:nvSpPr>
          <p:cNvPr id="55" name="Text 53"/>
          <p:cNvSpPr/>
          <p:nvPr/>
        </p:nvSpPr>
        <p:spPr>
          <a:xfrm>
            <a:off x="8251963" y="5309704"/>
            <a:ext cx="3595757" cy="353391"/>
          </a:xfrm>
          <a:prstGeom prst="rect">
            <a:avLst/>
          </a:prstGeom>
          <a:noFill/>
          <a:ln/>
        </p:spPr>
        <p:txBody>
          <a:bodyPr wrap="square" lIns="0" tIns="0" rIns="0" bIns="0" rtlCol="0" anchor="ctr"/>
          <a:lstStyle/>
          <a:p>
            <a:pPr>
              <a:lnSpc>
                <a:spcPct val="90000"/>
              </a:lnSpc>
            </a:pPr>
            <a:r>
              <a:rPr lang="en-US" sz="2504" b="1" dirty="0">
                <a:solidFill>
                  <a:srgbClr val="E0E2E5"/>
                </a:solidFill>
                <a:latin typeface="Quattrocento Sans" pitchFamily="34" charset="0"/>
                <a:ea typeface="Quattrocento Sans" pitchFamily="34" charset="-122"/>
                <a:cs typeface="Quattrocento Sans" pitchFamily="34" charset="-120"/>
              </a:rPr>
              <a:t>£13.5bn</a:t>
            </a:r>
            <a:endParaRPr lang="en-US" sz="1600" dirty="0"/>
          </a:p>
        </p:txBody>
      </p:sp>
      <p:sp>
        <p:nvSpPr>
          <p:cNvPr id="56" name="Text 54"/>
          <p:cNvSpPr/>
          <p:nvPr/>
        </p:nvSpPr>
        <p:spPr>
          <a:xfrm>
            <a:off x="8251963" y="5698435"/>
            <a:ext cx="3489739" cy="141357"/>
          </a:xfrm>
          <a:prstGeom prst="rect">
            <a:avLst/>
          </a:prstGeom>
          <a:noFill/>
          <a:ln/>
        </p:spPr>
        <p:txBody>
          <a:bodyPr wrap="square" lIns="0" tIns="0" rIns="0" bIns="0" rtlCol="0" anchor="ctr"/>
          <a:lstStyle/>
          <a:p>
            <a:pPr>
              <a:lnSpc>
                <a:spcPct val="110000"/>
              </a:lnSpc>
            </a:pPr>
            <a:r>
              <a:rPr lang="en-US" sz="835" dirty="0">
                <a:solidFill>
                  <a:srgbClr val="E0E2E5">
                    <a:alpha val="50000"/>
                  </a:srgbClr>
                </a:solidFill>
                <a:latin typeface="Quattrocento Sans" pitchFamily="34" charset="0"/>
                <a:ea typeface="Quattrocento Sans" pitchFamily="34" charset="-122"/>
                <a:cs typeface="Quattrocento Sans" pitchFamily="34" charset="-120"/>
              </a:rPr>
              <a:t>Underlying net interest income</a:t>
            </a:r>
            <a:endParaRPr lang="en-US" sz="1600" dirty="0"/>
          </a:p>
        </p:txBody>
      </p:sp>
      <p:sp>
        <p:nvSpPr>
          <p:cNvPr id="57" name="Shape 55"/>
          <p:cNvSpPr/>
          <p:nvPr/>
        </p:nvSpPr>
        <p:spPr>
          <a:xfrm>
            <a:off x="8106189" y="6104835"/>
            <a:ext cx="3728278" cy="640521"/>
          </a:xfrm>
          <a:custGeom>
            <a:avLst/>
            <a:gdLst/>
            <a:ahLst/>
            <a:cxnLst/>
            <a:rect l="l" t="t" r="r" b="b"/>
            <a:pathLst>
              <a:path w="3728278" h="750957">
                <a:moveTo>
                  <a:pt x="70680" y="0"/>
                </a:moveTo>
                <a:lnTo>
                  <a:pt x="3657598" y="0"/>
                </a:lnTo>
                <a:cubicBezTo>
                  <a:pt x="3696634" y="0"/>
                  <a:pt x="3728278" y="31645"/>
                  <a:pt x="3728278" y="70680"/>
                </a:cubicBezTo>
                <a:lnTo>
                  <a:pt x="3728278" y="680276"/>
                </a:lnTo>
                <a:cubicBezTo>
                  <a:pt x="3728278" y="719312"/>
                  <a:pt x="3696634" y="750957"/>
                  <a:pt x="3657598" y="750957"/>
                </a:cubicBezTo>
                <a:lnTo>
                  <a:pt x="70680" y="750957"/>
                </a:lnTo>
                <a:cubicBezTo>
                  <a:pt x="31645" y="750957"/>
                  <a:pt x="0" y="719312"/>
                  <a:pt x="0" y="680276"/>
                </a:cubicBezTo>
                <a:lnTo>
                  <a:pt x="0" y="70680"/>
                </a:lnTo>
                <a:cubicBezTo>
                  <a:pt x="0" y="31671"/>
                  <a:pt x="31671" y="0"/>
                  <a:pt x="70680" y="0"/>
                </a:cubicBezTo>
                <a:close/>
              </a:path>
            </a:pathLst>
          </a:custGeom>
          <a:solidFill>
            <a:srgbClr val="006A4A">
              <a:alpha val="20000"/>
            </a:srgbClr>
          </a:solidFill>
          <a:ln w="12700">
            <a:solidFill>
              <a:srgbClr val="006A4A">
                <a:alpha val="40000"/>
              </a:srgbClr>
            </a:solidFill>
            <a:prstDash val="solid"/>
          </a:ln>
        </p:spPr>
        <p:txBody>
          <a:bodyPr/>
          <a:lstStyle/>
          <a:p>
            <a:endParaRPr lang="en-GB"/>
          </a:p>
        </p:txBody>
      </p:sp>
      <p:sp>
        <p:nvSpPr>
          <p:cNvPr id="58" name="Text 56"/>
          <p:cNvSpPr/>
          <p:nvPr/>
        </p:nvSpPr>
        <p:spPr>
          <a:xfrm>
            <a:off x="8251963" y="6179688"/>
            <a:ext cx="3489739" cy="141357"/>
          </a:xfrm>
          <a:prstGeom prst="rect">
            <a:avLst/>
          </a:prstGeom>
          <a:noFill/>
          <a:ln/>
        </p:spPr>
        <p:txBody>
          <a:bodyPr wrap="square" lIns="0" tIns="0" rIns="0" bIns="0" rtlCol="0" anchor="ctr"/>
          <a:lstStyle/>
          <a:p>
            <a:pPr>
              <a:lnSpc>
                <a:spcPct val="110000"/>
              </a:lnSpc>
            </a:pPr>
            <a:r>
              <a:rPr lang="en-US" sz="835" b="1" dirty="0">
                <a:solidFill>
                  <a:srgbClr val="C0A062"/>
                </a:solidFill>
                <a:latin typeface="Quattrocento Sans" pitchFamily="34" charset="0"/>
                <a:ea typeface="Quattrocento Sans" pitchFamily="34" charset="-122"/>
                <a:cs typeface="Quattrocento Sans" pitchFamily="34" charset="-120"/>
              </a:rPr>
              <a:t>Strategic Priority</a:t>
            </a:r>
            <a:endParaRPr lang="en-US" sz="1600" dirty="0"/>
          </a:p>
        </p:txBody>
      </p:sp>
      <p:sp>
        <p:nvSpPr>
          <p:cNvPr id="59" name="Text 57"/>
          <p:cNvSpPr/>
          <p:nvPr/>
        </p:nvSpPr>
        <p:spPr>
          <a:xfrm>
            <a:off x="8251963" y="6356384"/>
            <a:ext cx="3489739" cy="282713"/>
          </a:xfrm>
          <a:prstGeom prst="rect">
            <a:avLst/>
          </a:prstGeom>
          <a:noFill/>
          <a:ln/>
        </p:spPr>
        <p:txBody>
          <a:bodyPr wrap="square" lIns="0" tIns="0" rIns="0" bIns="0" rtlCol="0" anchor="ctr"/>
          <a:lstStyle/>
          <a:p>
            <a:pPr>
              <a:lnSpc>
                <a:spcPct val="110000"/>
              </a:lnSpc>
            </a:pPr>
            <a:r>
              <a:rPr lang="en-US" sz="835" dirty="0">
                <a:solidFill>
                  <a:srgbClr val="E0E2E5">
                    <a:alpha val="80000"/>
                  </a:srgbClr>
                </a:solidFill>
                <a:latin typeface="Quattrocento Sans" pitchFamily="34" charset="0"/>
                <a:ea typeface="Quattrocento Sans" pitchFamily="34" charset="-122"/>
                <a:cs typeface="Quattrocento Sans" pitchFamily="34" charset="-120"/>
              </a:rPr>
              <a:t>"Help Britain Prosper" - focusing on infrastructure, energy transition, housing and pensions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68617" y="368617"/>
            <a:ext cx="11510059" cy="147447"/>
          </a:xfrm>
          <a:prstGeom prst="rect">
            <a:avLst/>
          </a:prstGeom>
          <a:noFill/>
          <a:ln/>
        </p:spPr>
        <p:txBody>
          <a:bodyPr wrap="square" lIns="0" tIns="0" rIns="0" bIns="0" rtlCol="0" anchor="ctr"/>
          <a:lstStyle/>
          <a:p>
            <a:pPr>
              <a:lnSpc>
                <a:spcPct val="110000"/>
              </a:lnSpc>
            </a:pPr>
            <a:r>
              <a:rPr lang="en-US" sz="871" b="1" kern="0" spc="87" dirty="0">
                <a:solidFill>
                  <a:srgbClr val="C0A062"/>
                </a:solidFill>
                <a:latin typeface="Quattrocento Sans" pitchFamily="34" charset="0"/>
                <a:ea typeface="Quattrocento Sans" pitchFamily="34" charset="-122"/>
                <a:cs typeface="Quattrocento Sans" pitchFamily="34" charset="-120"/>
              </a:rPr>
              <a:t>Risk Management</a:t>
            </a:r>
            <a:endParaRPr lang="en-US" sz="1600" dirty="0"/>
          </a:p>
        </p:txBody>
      </p:sp>
      <p:sp>
        <p:nvSpPr>
          <p:cNvPr id="3" name="Text 1"/>
          <p:cNvSpPr/>
          <p:nvPr/>
        </p:nvSpPr>
        <p:spPr>
          <a:xfrm>
            <a:off x="368617" y="700372"/>
            <a:ext cx="4672218" cy="368617"/>
          </a:xfrm>
          <a:prstGeom prst="rect">
            <a:avLst/>
          </a:prstGeom>
          <a:noFill/>
          <a:ln/>
        </p:spPr>
        <p:txBody>
          <a:bodyPr wrap="square" lIns="0" tIns="0" rIns="0" bIns="0" rtlCol="0" anchor="ctr"/>
          <a:lstStyle/>
          <a:p>
            <a:pPr>
              <a:lnSpc>
                <a:spcPct val="90000"/>
              </a:lnSpc>
            </a:pPr>
            <a:r>
              <a:rPr lang="en-US" sz="2612" b="1" dirty="0">
                <a:solidFill>
                  <a:srgbClr val="E0E2E5"/>
                </a:solidFill>
                <a:latin typeface="Liter" pitchFamily="34" charset="0"/>
                <a:ea typeface="Liter" pitchFamily="34" charset="-122"/>
                <a:cs typeface="Liter" pitchFamily="34" charset="-120"/>
              </a:rPr>
              <a:t>Risk &amp; Regulatory Environment</a:t>
            </a:r>
            <a:endParaRPr lang="en-US" sz="1600" dirty="0"/>
          </a:p>
        </p:txBody>
      </p:sp>
      <p:sp>
        <p:nvSpPr>
          <p:cNvPr id="4" name="Text 2"/>
          <p:cNvSpPr/>
          <p:nvPr/>
        </p:nvSpPr>
        <p:spPr>
          <a:xfrm>
            <a:off x="10327893" y="552925"/>
            <a:ext cx="1492898" cy="331755"/>
          </a:xfrm>
          <a:prstGeom prst="rect">
            <a:avLst/>
          </a:prstGeom>
          <a:noFill/>
          <a:ln/>
        </p:spPr>
        <p:txBody>
          <a:bodyPr wrap="square" lIns="0" tIns="0" rIns="0" bIns="0" rtlCol="0" anchor="ctr"/>
          <a:lstStyle/>
          <a:p>
            <a:pPr algn="r">
              <a:lnSpc>
                <a:spcPct val="100000"/>
              </a:lnSpc>
            </a:pPr>
            <a:r>
              <a:rPr lang="en-US" sz="2177" b="1" dirty="0">
                <a:solidFill>
                  <a:srgbClr val="FF6467"/>
                </a:solidFill>
                <a:latin typeface="Quattrocento Sans" pitchFamily="34" charset="0"/>
                <a:ea typeface="Quattrocento Sans" pitchFamily="34" charset="-122"/>
                <a:cs typeface="Quattrocento Sans" pitchFamily="34" charset="-120"/>
              </a:rPr>
              <a:t>£899m</a:t>
            </a:r>
            <a:endParaRPr lang="en-US" sz="1600" dirty="0"/>
          </a:p>
        </p:txBody>
      </p:sp>
      <p:sp>
        <p:nvSpPr>
          <p:cNvPr id="5" name="Text 3"/>
          <p:cNvSpPr/>
          <p:nvPr/>
        </p:nvSpPr>
        <p:spPr>
          <a:xfrm>
            <a:off x="10401617" y="884680"/>
            <a:ext cx="1419175" cy="184308"/>
          </a:xfrm>
          <a:prstGeom prst="rect">
            <a:avLst/>
          </a:prstGeom>
          <a:noFill/>
          <a:ln/>
        </p:spPr>
        <p:txBody>
          <a:bodyPr wrap="square" lIns="0" tIns="0" rIns="0" bIns="0" rtlCol="0" anchor="ctr"/>
          <a:lstStyle/>
          <a:p>
            <a:pPr algn="r">
              <a:lnSpc>
                <a:spcPct val="120000"/>
              </a:lnSpc>
            </a:pPr>
            <a:r>
              <a:rPr lang="en-US" sz="1016" dirty="0">
                <a:solidFill>
                  <a:srgbClr val="E0E2E5">
                    <a:alpha val="70000"/>
                  </a:srgbClr>
                </a:solidFill>
                <a:latin typeface="Quattrocento Sans" pitchFamily="34" charset="0"/>
                <a:ea typeface="Quattrocento Sans" pitchFamily="34" charset="-122"/>
                <a:cs typeface="Quattrocento Sans" pitchFamily="34" charset="-120"/>
              </a:rPr>
              <a:t>Remediation Costs 2024</a:t>
            </a:r>
            <a:endParaRPr lang="en-US" sz="1600" dirty="0"/>
          </a:p>
        </p:txBody>
      </p:sp>
      <p:sp>
        <p:nvSpPr>
          <p:cNvPr id="6" name="Shape 4"/>
          <p:cNvSpPr/>
          <p:nvPr/>
        </p:nvSpPr>
        <p:spPr>
          <a:xfrm>
            <a:off x="368617" y="1142712"/>
            <a:ext cx="589787" cy="18431"/>
          </a:xfrm>
          <a:custGeom>
            <a:avLst/>
            <a:gdLst/>
            <a:ahLst/>
            <a:cxnLst/>
            <a:rect l="l" t="t" r="r" b="b"/>
            <a:pathLst>
              <a:path w="589787" h="18431">
                <a:moveTo>
                  <a:pt x="0" y="0"/>
                </a:moveTo>
                <a:lnTo>
                  <a:pt x="589787" y="0"/>
                </a:lnTo>
                <a:lnTo>
                  <a:pt x="589787" y="18431"/>
                </a:lnTo>
                <a:lnTo>
                  <a:pt x="0" y="18431"/>
                </a:lnTo>
                <a:lnTo>
                  <a:pt x="0" y="0"/>
                </a:lnTo>
                <a:close/>
              </a:path>
            </a:pathLst>
          </a:custGeom>
          <a:solidFill>
            <a:srgbClr val="006A4A"/>
          </a:solidFill>
          <a:ln/>
        </p:spPr>
        <p:txBody>
          <a:bodyPr/>
          <a:lstStyle/>
          <a:p>
            <a:endParaRPr lang="en-GB"/>
          </a:p>
        </p:txBody>
      </p:sp>
      <p:sp>
        <p:nvSpPr>
          <p:cNvPr id="7" name="Text 5"/>
          <p:cNvSpPr/>
          <p:nvPr/>
        </p:nvSpPr>
        <p:spPr>
          <a:xfrm>
            <a:off x="368617" y="1308590"/>
            <a:ext cx="5722776" cy="258032"/>
          </a:xfrm>
          <a:prstGeom prst="rect">
            <a:avLst/>
          </a:prstGeom>
          <a:noFill/>
          <a:ln/>
        </p:spPr>
        <p:txBody>
          <a:bodyPr wrap="square" lIns="0" tIns="0" rIns="0" bIns="0" rtlCol="0" anchor="ctr"/>
          <a:lstStyle/>
          <a:p>
            <a:pPr>
              <a:lnSpc>
                <a:spcPct val="120000"/>
              </a:lnSpc>
            </a:pPr>
            <a:r>
              <a:rPr lang="en-US" sz="1451" b="1" dirty="0">
                <a:solidFill>
                  <a:srgbClr val="E0E2E5"/>
                </a:solidFill>
                <a:latin typeface="Liter" pitchFamily="34" charset="0"/>
                <a:ea typeface="Liter" pitchFamily="34" charset="-122"/>
                <a:cs typeface="Liter" pitchFamily="34" charset="-120"/>
              </a:rPr>
              <a:t>Key Risk Factors</a:t>
            </a:r>
            <a:endParaRPr lang="en-US" sz="1600" dirty="0"/>
          </a:p>
        </p:txBody>
      </p:sp>
      <p:sp>
        <p:nvSpPr>
          <p:cNvPr id="8" name="Shape 6"/>
          <p:cNvSpPr/>
          <p:nvPr/>
        </p:nvSpPr>
        <p:spPr>
          <a:xfrm>
            <a:off x="387048" y="1868426"/>
            <a:ext cx="5612190" cy="884680"/>
          </a:xfrm>
          <a:custGeom>
            <a:avLst/>
            <a:gdLst/>
            <a:ahLst/>
            <a:cxnLst/>
            <a:rect l="l" t="t" r="r" b="b"/>
            <a:pathLst>
              <a:path w="5612190" h="884680">
                <a:moveTo>
                  <a:pt x="36862" y="0"/>
                </a:moveTo>
                <a:lnTo>
                  <a:pt x="5538470" y="0"/>
                </a:lnTo>
                <a:cubicBezTo>
                  <a:pt x="5579185" y="0"/>
                  <a:pt x="5612190" y="33006"/>
                  <a:pt x="5612190" y="73720"/>
                </a:cubicBezTo>
                <a:lnTo>
                  <a:pt x="5612190" y="810960"/>
                </a:lnTo>
                <a:cubicBezTo>
                  <a:pt x="5612190" y="851675"/>
                  <a:pt x="5579185" y="884680"/>
                  <a:pt x="5538470" y="884680"/>
                </a:cubicBezTo>
                <a:lnTo>
                  <a:pt x="36862" y="884680"/>
                </a:lnTo>
                <a:cubicBezTo>
                  <a:pt x="16504" y="884680"/>
                  <a:pt x="0" y="868177"/>
                  <a:pt x="0" y="847819"/>
                </a:cubicBezTo>
                <a:lnTo>
                  <a:pt x="0" y="36862"/>
                </a:lnTo>
                <a:cubicBezTo>
                  <a:pt x="0" y="16517"/>
                  <a:pt x="16517" y="0"/>
                  <a:pt x="36862" y="0"/>
                </a:cubicBezTo>
                <a:close/>
              </a:path>
            </a:pathLst>
          </a:custGeom>
          <a:solidFill>
            <a:srgbClr val="82181A">
              <a:alpha val="20000"/>
            </a:srgbClr>
          </a:solidFill>
          <a:ln/>
        </p:spPr>
        <p:txBody>
          <a:bodyPr/>
          <a:lstStyle/>
          <a:p>
            <a:endParaRPr lang="en-GB"/>
          </a:p>
        </p:txBody>
      </p:sp>
      <p:sp>
        <p:nvSpPr>
          <p:cNvPr id="9" name="Shape 7"/>
          <p:cNvSpPr/>
          <p:nvPr/>
        </p:nvSpPr>
        <p:spPr>
          <a:xfrm>
            <a:off x="387048" y="1868426"/>
            <a:ext cx="36862" cy="884680"/>
          </a:xfrm>
          <a:custGeom>
            <a:avLst/>
            <a:gdLst/>
            <a:ahLst/>
            <a:cxnLst/>
            <a:rect l="l" t="t" r="r" b="b"/>
            <a:pathLst>
              <a:path w="36862" h="884680">
                <a:moveTo>
                  <a:pt x="36862" y="0"/>
                </a:moveTo>
                <a:lnTo>
                  <a:pt x="36862" y="0"/>
                </a:lnTo>
                <a:lnTo>
                  <a:pt x="36862" y="884680"/>
                </a:lnTo>
                <a:lnTo>
                  <a:pt x="36862" y="884680"/>
                </a:lnTo>
                <a:cubicBezTo>
                  <a:pt x="16504" y="884680"/>
                  <a:pt x="0" y="868177"/>
                  <a:pt x="0" y="847819"/>
                </a:cubicBezTo>
                <a:lnTo>
                  <a:pt x="0" y="36862"/>
                </a:lnTo>
                <a:cubicBezTo>
                  <a:pt x="0" y="16517"/>
                  <a:pt x="16517" y="0"/>
                  <a:pt x="36862" y="0"/>
                </a:cubicBezTo>
                <a:close/>
              </a:path>
            </a:pathLst>
          </a:custGeom>
          <a:solidFill>
            <a:srgbClr val="E7000B"/>
          </a:solidFill>
          <a:ln/>
        </p:spPr>
        <p:txBody>
          <a:bodyPr/>
          <a:lstStyle/>
          <a:p>
            <a:endParaRPr lang="en-GB"/>
          </a:p>
        </p:txBody>
      </p:sp>
      <p:sp>
        <p:nvSpPr>
          <p:cNvPr id="10" name="Text 8"/>
          <p:cNvSpPr/>
          <p:nvPr/>
        </p:nvSpPr>
        <p:spPr>
          <a:xfrm>
            <a:off x="552925" y="2015873"/>
            <a:ext cx="4856526" cy="184308"/>
          </a:xfrm>
          <a:prstGeom prst="rect">
            <a:avLst/>
          </a:prstGeom>
          <a:noFill/>
          <a:ln/>
        </p:spPr>
        <p:txBody>
          <a:bodyPr wrap="square" lIns="0" tIns="0" rIns="0" bIns="0" rtlCol="0" anchor="ctr"/>
          <a:lstStyle/>
          <a:p>
            <a:pPr>
              <a:lnSpc>
                <a:spcPct val="120000"/>
              </a:lnSpc>
            </a:pPr>
            <a:r>
              <a:rPr lang="en-US" sz="1016" b="1" dirty="0">
                <a:solidFill>
                  <a:srgbClr val="FF6467"/>
                </a:solidFill>
                <a:latin typeface="Liter" pitchFamily="34" charset="0"/>
                <a:ea typeface="Liter" pitchFamily="34" charset="-122"/>
                <a:cs typeface="Liter" pitchFamily="34" charset="-120"/>
              </a:rPr>
              <a:t>Motor Finance Commission</a:t>
            </a:r>
            <a:endParaRPr lang="en-US" sz="1600" dirty="0"/>
          </a:p>
        </p:txBody>
      </p:sp>
      <p:sp>
        <p:nvSpPr>
          <p:cNvPr id="11" name="Text 9"/>
          <p:cNvSpPr/>
          <p:nvPr/>
        </p:nvSpPr>
        <p:spPr>
          <a:xfrm>
            <a:off x="552925" y="2237043"/>
            <a:ext cx="4847311" cy="147447"/>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£700m provision in Q4 2024 following Court of Appeal judgment (Wrench, Johnson, Hopcraft cases)</a:t>
            </a:r>
            <a:endParaRPr lang="en-US" sz="1600" dirty="0"/>
          </a:p>
        </p:txBody>
      </p:sp>
      <p:sp>
        <p:nvSpPr>
          <p:cNvPr id="12" name="Shape 10"/>
          <p:cNvSpPr/>
          <p:nvPr/>
        </p:nvSpPr>
        <p:spPr>
          <a:xfrm>
            <a:off x="5447033" y="2015873"/>
            <a:ext cx="405478" cy="221170"/>
          </a:xfrm>
          <a:custGeom>
            <a:avLst/>
            <a:gdLst/>
            <a:ahLst/>
            <a:cxnLst/>
            <a:rect l="l" t="t" r="r" b="b"/>
            <a:pathLst>
              <a:path w="405478" h="221170">
                <a:moveTo>
                  <a:pt x="36862" y="0"/>
                </a:moveTo>
                <a:lnTo>
                  <a:pt x="368616" y="0"/>
                </a:lnTo>
                <a:cubicBezTo>
                  <a:pt x="388975" y="0"/>
                  <a:pt x="405478" y="16504"/>
                  <a:pt x="405478" y="36862"/>
                </a:cubicBezTo>
                <a:lnTo>
                  <a:pt x="405478" y="184308"/>
                </a:lnTo>
                <a:cubicBezTo>
                  <a:pt x="405478" y="204666"/>
                  <a:pt x="388975" y="221170"/>
                  <a:pt x="368616" y="221170"/>
                </a:cubicBezTo>
                <a:lnTo>
                  <a:pt x="36862" y="221170"/>
                </a:lnTo>
                <a:cubicBezTo>
                  <a:pt x="16517" y="221170"/>
                  <a:pt x="0" y="204653"/>
                  <a:pt x="0" y="184308"/>
                </a:cubicBezTo>
                <a:lnTo>
                  <a:pt x="0" y="36862"/>
                </a:lnTo>
                <a:cubicBezTo>
                  <a:pt x="0" y="16517"/>
                  <a:pt x="16517" y="0"/>
                  <a:pt x="36862" y="0"/>
                </a:cubicBezTo>
                <a:close/>
              </a:path>
            </a:pathLst>
          </a:custGeom>
          <a:solidFill>
            <a:srgbClr val="FB2C36">
              <a:alpha val="20000"/>
            </a:srgbClr>
          </a:solidFill>
          <a:ln/>
        </p:spPr>
        <p:txBody>
          <a:bodyPr/>
          <a:lstStyle/>
          <a:p>
            <a:endParaRPr lang="en-GB"/>
          </a:p>
        </p:txBody>
      </p:sp>
      <p:sp>
        <p:nvSpPr>
          <p:cNvPr id="13" name="Text 11"/>
          <p:cNvSpPr/>
          <p:nvPr/>
        </p:nvSpPr>
        <p:spPr>
          <a:xfrm>
            <a:off x="5447033" y="2015873"/>
            <a:ext cx="460771" cy="221170"/>
          </a:xfrm>
          <a:prstGeom prst="rect">
            <a:avLst/>
          </a:prstGeom>
          <a:noFill/>
          <a:ln/>
        </p:spPr>
        <p:txBody>
          <a:bodyPr wrap="square" lIns="73723" tIns="36862" rIns="73723" bIns="36862" rtlCol="0" anchor="ctr"/>
          <a:lstStyle/>
          <a:p>
            <a:pPr>
              <a:lnSpc>
                <a:spcPct val="110000"/>
              </a:lnSpc>
            </a:pPr>
            <a:r>
              <a:rPr lang="en-US" sz="871" b="1" dirty="0">
                <a:solidFill>
                  <a:srgbClr val="FF6467"/>
                </a:solidFill>
                <a:latin typeface="Quattrocento Sans" pitchFamily="34" charset="0"/>
                <a:ea typeface="Quattrocento Sans" pitchFamily="34" charset="-122"/>
                <a:cs typeface="Quattrocento Sans" pitchFamily="34" charset="-120"/>
              </a:rPr>
              <a:t>HIGH</a:t>
            </a:r>
            <a:endParaRPr lang="en-US" sz="1600" dirty="0"/>
          </a:p>
        </p:txBody>
      </p:sp>
      <p:sp>
        <p:nvSpPr>
          <p:cNvPr id="14" name="Text 12"/>
          <p:cNvSpPr/>
          <p:nvPr/>
        </p:nvSpPr>
        <p:spPr>
          <a:xfrm>
            <a:off x="552925" y="2458213"/>
            <a:ext cx="5354159" cy="147447"/>
          </a:xfrm>
          <a:prstGeom prst="rect">
            <a:avLst/>
          </a:prstGeom>
          <a:noFill/>
          <a:ln/>
        </p:spPr>
        <p:txBody>
          <a:bodyPr wrap="square" lIns="0" tIns="0" rIns="0" bIns="0" rtlCol="0" anchor="ctr"/>
          <a:lstStyle/>
          <a:p>
            <a:pPr>
              <a:lnSpc>
                <a:spcPct val="110000"/>
              </a:lnSpc>
            </a:pPr>
            <a:r>
              <a:rPr lang="en-US" sz="871" dirty="0">
                <a:solidFill>
                  <a:srgbClr val="E0E2E5">
                    <a:alpha val="50000"/>
                  </a:srgbClr>
                </a:solidFill>
                <a:latin typeface="Quattrocento Sans" pitchFamily="34" charset="0"/>
                <a:ea typeface="Quattrocento Sans" pitchFamily="34" charset="-122"/>
                <a:cs typeface="Quattrocento Sans" pitchFamily="34" charset="-120"/>
              </a:rPr>
              <a:t>Supreme Court hearing scheduled April 2025</a:t>
            </a:r>
            <a:endParaRPr lang="en-US" sz="1600" dirty="0"/>
          </a:p>
        </p:txBody>
      </p:sp>
      <p:sp>
        <p:nvSpPr>
          <p:cNvPr id="15" name="Shape 13"/>
          <p:cNvSpPr/>
          <p:nvPr/>
        </p:nvSpPr>
        <p:spPr>
          <a:xfrm>
            <a:off x="387048" y="3246132"/>
            <a:ext cx="5612190" cy="810957"/>
          </a:xfrm>
          <a:custGeom>
            <a:avLst/>
            <a:gdLst/>
            <a:ahLst/>
            <a:cxnLst/>
            <a:rect l="l" t="t" r="r" b="b"/>
            <a:pathLst>
              <a:path w="5612190" h="810957">
                <a:moveTo>
                  <a:pt x="36862" y="0"/>
                </a:moveTo>
                <a:lnTo>
                  <a:pt x="5538466" y="0"/>
                </a:lnTo>
                <a:cubicBezTo>
                  <a:pt x="5579183" y="0"/>
                  <a:pt x="5612190" y="33007"/>
                  <a:pt x="5612190" y="73724"/>
                </a:cubicBezTo>
                <a:lnTo>
                  <a:pt x="5612190" y="737233"/>
                </a:lnTo>
                <a:cubicBezTo>
                  <a:pt x="5612190" y="777950"/>
                  <a:pt x="5579183" y="810957"/>
                  <a:pt x="5538466" y="810957"/>
                </a:cubicBezTo>
                <a:lnTo>
                  <a:pt x="36862" y="810957"/>
                </a:lnTo>
                <a:cubicBezTo>
                  <a:pt x="16504" y="810957"/>
                  <a:pt x="0" y="794453"/>
                  <a:pt x="0" y="774095"/>
                </a:cubicBezTo>
                <a:lnTo>
                  <a:pt x="0" y="36862"/>
                </a:lnTo>
                <a:cubicBezTo>
                  <a:pt x="0" y="16517"/>
                  <a:pt x="16517" y="0"/>
                  <a:pt x="36862" y="0"/>
                </a:cubicBezTo>
                <a:close/>
              </a:path>
            </a:pathLst>
          </a:custGeom>
          <a:solidFill>
            <a:srgbClr val="7E2A0C">
              <a:alpha val="20000"/>
            </a:srgbClr>
          </a:solidFill>
          <a:ln/>
        </p:spPr>
        <p:txBody>
          <a:bodyPr/>
          <a:lstStyle/>
          <a:p>
            <a:endParaRPr lang="en-GB"/>
          </a:p>
        </p:txBody>
      </p:sp>
      <p:sp>
        <p:nvSpPr>
          <p:cNvPr id="16" name="Shape 14"/>
          <p:cNvSpPr/>
          <p:nvPr/>
        </p:nvSpPr>
        <p:spPr>
          <a:xfrm>
            <a:off x="387048" y="3246132"/>
            <a:ext cx="36862" cy="810957"/>
          </a:xfrm>
          <a:custGeom>
            <a:avLst/>
            <a:gdLst/>
            <a:ahLst/>
            <a:cxnLst/>
            <a:rect l="l" t="t" r="r" b="b"/>
            <a:pathLst>
              <a:path w="36862" h="810957">
                <a:moveTo>
                  <a:pt x="36862" y="0"/>
                </a:moveTo>
                <a:lnTo>
                  <a:pt x="36862" y="0"/>
                </a:lnTo>
                <a:lnTo>
                  <a:pt x="36862" y="810957"/>
                </a:lnTo>
                <a:lnTo>
                  <a:pt x="36862" y="810957"/>
                </a:lnTo>
                <a:cubicBezTo>
                  <a:pt x="16504" y="810957"/>
                  <a:pt x="0" y="794453"/>
                  <a:pt x="0" y="774095"/>
                </a:cubicBezTo>
                <a:lnTo>
                  <a:pt x="0" y="36862"/>
                </a:lnTo>
                <a:cubicBezTo>
                  <a:pt x="0" y="16517"/>
                  <a:pt x="16517" y="0"/>
                  <a:pt x="36862" y="0"/>
                </a:cubicBezTo>
                <a:close/>
              </a:path>
            </a:pathLst>
          </a:custGeom>
          <a:solidFill>
            <a:srgbClr val="FF6900"/>
          </a:solidFill>
          <a:ln/>
        </p:spPr>
        <p:txBody>
          <a:bodyPr/>
          <a:lstStyle/>
          <a:p>
            <a:endParaRPr lang="en-GB"/>
          </a:p>
        </p:txBody>
      </p:sp>
      <p:sp>
        <p:nvSpPr>
          <p:cNvPr id="17" name="Text 15"/>
          <p:cNvSpPr/>
          <p:nvPr/>
        </p:nvSpPr>
        <p:spPr>
          <a:xfrm>
            <a:off x="552925" y="3393578"/>
            <a:ext cx="4994757" cy="184308"/>
          </a:xfrm>
          <a:prstGeom prst="rect">
            <a:avLst/>
          </a:prstGeom>
          <a:noFill/>
          <a:ln/>
        </p:spPr>
        <p:txBody>
          <a:bodyPr wrap="square" lIns="0" tIns="0" rIns="0" bIns="0" rtlCol="0" anchor="ctr"/>
          <a:lstStyle/>
          <a:p>
            <a:pPr>
              <a:lnSpc>
                <a:spcPct val="120000"/>
              </a:lnSpc>
            </a:pPr>
            <a:r>
              <a:rPr lang="en-US" sz="1016" b="1" dirty="0">
                <a:solidFill>
                  <a:srgbClr val="FF8904"/>
                </a:solidFill>
                <a:latin typeface="Liter" pitchFamily="34" charset="0"/>
                <a:ea typeface="Liter" pitchFamily="34" charset="-122"/>
                <a:cs typeface="Liter" pitchFamily="34" charset="-120"/>
              </a:rPr>
              <a:t>Interest Rate Sensitivity</a:t>
            </a:r>
            <a:endParaRPr lang="en-US" sz="1600" dirty="0"/>
          </a:p>
        </p:txBody>
      </p:sp>
      <p:sp>
        <p:nvSpPr>
          <p:cNvPr id="18" name="Text 16"/>
          <p:cNvSpPr/>
          <p:nvPr/>
        </p:nvSpPr>
        <p:spPr>
          <a:xfrm>
            <a:off x="552925" y="3614748"/>
            <a:ext cx="4985542" cy="294893"/>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NIM pressure from rate cuts (BoE expected to cut to 3.25-3.50%). Asset-sensitive balance sheet exposed to declining rates.</a:t>
            </a:r>
            <a:endParaRPr lang="en-US" sz="1600" dirty="0"/>
          </a:p>
        </p:txBody>
      </p:sp>
      <p:sp>
        <p:nvSpPr>
          <p:cNvPr id="19" name="Shape 17"/>
          <p:cNvSpPr/>
          <p:nvPr/>
        </p:nvSpPr>
        <p:spPr>
          <a:xfrm>
            <a:off x="5478567" y="3393578"/>
            <a:ext cx="377832" cy="221170"/>
          </a:xfrm>
          <a:custGeom>
            <a:avLst/>
            <a:gdLst/>
            <a:ahLst/>
            <a:cxnLst/>
            <a:rect l="l" t="t" r="r" b="b"/>
            <a:pathLst>
              <a:path w="377832" h="221170">
                <a:moveTo>
                  <a:pt x="36862" y="0"/>
                </a:moveTo>
                <a:lnTo>
                  <a:pt x="340970" y="0"/>
                </a:lnTo>
                <a:cubicBezTo>
                  <a:pt x="361328" y="0"/>
                  <a:pt x="377832" y="16504"/>
                  <a:pt x="377832" y="36862"/>
                </a:cubicBezTo>
                <a:lnTo>
                  <a:pt x="377832" y="184308"/>
                </a:lnTo>
                <a:cubicBezTo>
                  <a:pt x="377832" y="204666"/>
                  <a:pt x="361328" y="221170"/>
                  <a:pt x="340970" y="221170"/>
                </a:cubicBezTo>
                <a:lnTo>
                  <a:pt x="36862" y="221170"/>
                </a:lnTo>
                <a:cubicBezTo>
                  <a:pt x="16517" y="221170"/>
                  <a:pt x="0" y="204653"/>
                  <a:pt x="0" y="184308"/>
                </a:cubicBezTo>
                <a:lnTo>
                  <a:pt x="0" y="36862"/>
                </a:lnTo>
                <a:cubicBezTo>
                  <a:pt x="0" y="16517"/>
                  <a:pt x="16517" y="0"/>
                  <a:pt x="36862" y="0"/>
                </a:cubicBezTo>
                <a:close/>
              </a:path>
            </a:pathLst>
          </a:custGeom>
          <a:solidFill>
            <a:srgbClr val="FF6900">
              <a:alpha val="20000"/>
            </a:srgbClr>
          </a:solidFill>
          <a:ln/>
        </p:spPr>
        <p:txBody>
          <a:bodyPr/>
          <a:lstStyle/>
          <a:p>
            <a:endParaRPr lang="en-GB"/>
          </a:p>
        </p:txBody>
      </p:sp>
      <p:sp>
        <p:nvSpPr>
          <p:cNvPr id="20" name="Text 18"/>
          <p:cNvSpPr/>
          <p:nvPr/>
        </p:nvSpPr>
        <p:spPr>
          <a:xfrm>
            <a:off x="5478567" y="3393578"/>
            <a:ext cx="433125" cy="221170"/>
          </a:xfrm>
          <a:prstGeom prst="rect">
            <a:avLst/>
          </a:prstGeom>
          <a:noFill/>
          <a:ln/>
        </p:spPr>
        <p:txBody>
          <a:bodyPr wrap="square" lIns="73723" tIns="36862" rIns="73723" bIns="36862" rtlCol="0" anchor="ctr"/>
          <a:lstStyle/>
          <a:p>
            <a:pPr>
              <a:lnSpc>
                <a:spcPct val="110000"/>
              </a:lnSpc>
            </a:pPr>
            <a:r>
              <a:rPr lang="en-US" sz="871" b="1" dirty="0">
                <a:solidFill>
                  <a:srgbClr val="FF8904"/>
                </a:solidFill>
                <a:latin typeface="Quattrocento Sans" pitchFamily="34" charset="0"/>
                <a:ea typeface="Quattrocento Sans" pitchFamily="34" charset="-122"/>
                <a:cs typeface="Quattrocento Sans" pitchFamily="34" charset="-120"/>
              </a:rPr>
              <a:t>MED</a:t>
            </a:r>
            <a:endParaRPr lang="en-US" sz="1600" dirty="0"/>
          </a:p>
        </p:txBody>
      </p:sp>
      <p:sp>
        <p:nvSpPr>
          <p:cNvPr id="21" name="Shape 19"/>
          <p:cNvSpPr/>
          <p:nvPr/>
        </p:nvSpPr>
        <p:spPr>
          <a:xfrm>
            <a:off x="387048" y="4550113"/>
            <a:ext cx="5612190" cy="810957"/>
          </a:xfrm>
          <a:custGeom>
            <a:avLst/>
            <a:gdLst/>
            <a:ahLst/>
            <a:cxnLst/>
            <a:rect l="l" t="t" r="r" b="b"/>
            <a:pathLst>
              <a:path w="5612190" h="810957">
                <a:moveTo>
                  <a:pt x="36862" y="0"/>
                </a:moveTo>
                <a:lnTo>
                  <a:pt x="5538466" y="0"/>
                </a:lnTo>
                <a:cubicBezTo>
                  <a:pt x="5579183" y="0"/>
                  <a:pt x="5612190" y="33007"/>
                  <a:pt x="5612190" y="73724"/>
                </a:cubicBezTo>
                <a:lnTo>
                  <a:pt x="5612190" y="737233"/>
                </a:lnTo>
                <a:cubicBezTo>
                  <a:pt x="5612190" y="777950"/>
                  <a:pt x="5579183" y="810957"/>
                  <a:pt x="5538466" y="810957"/>
                </a:cubicBezTo>
                <a:lnTo>
                  <a:pt x="36862" y="810957"/>
                </a:lnTo>
                <a:cubicBezTo>
                  <a:pt x="16504" y="810957"/>
                  <a:pt x="0" y="794453"/>
                  <a:pt x="0" y="774095"/>
                </a:cubicBezTo>
                <a:lnTo>
                  <a:pt x="0" y="36862"/>
                </a:lnTo>
                <a:cubicBezTo>
                  <a:pt x="0" y="16517"/>
                  <a:pt x="16517" y="0"/>
                  <a:pt x="36862" y="0"/>
                </a:cubicBezTo>
                <a:close/>
              </a:path>
            </a:pathLst>
          </a:custGeom>
          <a:solidFill>
            <a:srgbClr val="733E0A">
              <a:alpha val="20000"/>
            </a:srgbClr>
          </a:solidFill>
          <a:ln/>
        </p:spPr>
        <p:txBody>
          <a:bodyPr/>
          <a:lstStyle/>
          <a:p>
            <a:endParaRPr lang="en-GB"/>
          </a:p>
        </p:txBody>
      </p:sp>
      <p:sp>
        <p:nvSpPr>
          <p:cNvPr id="22" name="Shape 20"/>
          <p:cNvSpPr/>
          <p:nvPr/>
        </p:nvSpPr>
        <p:spPr>
          <a:xfrm>
            <a:off x="387048" y="4550113"/>
            <a:ext cx="36862" cy="810957"/>
          </a:xfrm>
          <a:custGeom>
            <a:avLst/>
            <a:gdLst/>
            <a:ahLst/>
            <a:cxnLst/>
            <a:rect l="l" t="t" r="r" b="b"/>
            <a:pathLst>
              <a:path w="36862" h="810957">
                <a:moveTo>
                  <a:pt x="36862" y="0"/>
                </a:moveTo>
                <a:lnTo>
                  <a:pt x="36862" y="0"/>
                </a:lnTo>
                <a:lnTo>
                  <a:pt x="36862" y="810957"/>
                </a:lnTo>
                <a:lnTo>
                  <a:pt x="36862" y="810957"/>
                </a:lnTo>
                <a:cubicBezTo>
                  <a:pt x="16504" y="810957"/>
                  <a:pt x="0" y="794453"/>
                  <a:pt x="0" y="774095"/>
                </a:cubicBezTo>
                <a:lnTo>
                  <a:pt x="0" y="36862"/>
                </a:lnTo>
                <a:cubicBezTo>
                  <a:pt x="0" y="16517"/>
                  <a:pt x="16517" y="0"/>
                  <a:pt x="36862" y="0"/>
                </a:cubicBezTo>
                <a:close/>
              </a:path>
            </a:pathLst>
          </a:custGeom>
          <a:solidFill>
            <a:srgbClr val="F0B100"/>
          </a:solidFill>
          <a:ln/>
        </p:spPr>
        <p:txBody>
          <a:bodyPr/>
          <a:lstStyle/>
          <a:p>
            <a:endParaRPr lang="en-GB"/>
          </a:p>
        </p:txBody>
      </p:sp>
      <p:sp>
        <p:nvSpPr>
          <p:cNvPr id="23" name="Text 21"/>
          <p:cNvSpPr/>
          <p:nvPr/>
        </p:nvSpPr>
        <p:spPr>
          <a:xfrm>
            <a:off x="552925" y="4697560"/>
            <a:ext cx="4994757" cy="184308"/>
          </a:xfrm>
          <a:prstGeom prst="rect">
            <a:avLst/>
          </a:prstGeom>
          <a:noFill/>
          <a:ln/>
        </p:spPr>
        <p:txBody>
          <a:bodyPr wrap="square" lIns="0" tIns="0" rIns="0" bIns="0" rtlCol="0" anchor="ctr"/>
          <a:lstStyle/>
          <a:p>
            <a:pPr>
              <a:lnSpc>
                <a:spcPct val="120000"/>
              </a:lnSpc>
            </a:pPr>
            <a:r>
              <a:rPr lang="en-US" sz="1016" b="1" dirty="0">
                <a:solidFill>
                  <a:srgbClr val="FDC700"/>
                </a:solidFill>
                <a:latin typeface="Liter" pitchFamily="34" charset="0"/>
                <a:ea typeface="Liter" pitchFamily="34" charset="-122"/>
                <a:cs typeface="Liter" pitchFamily="34" charset="-120"/>
              </a:rPr>
              <a:t>Competition &amp; Margin Pressure</a:t>
            </a:r>
            <a:endParaRPr lang="en-US" sz="1600" dirty="0"/>
          </a:p>
        </p:txBody>
      </p:sp>
      <p:sp>
        <p:nvSpPr>
          <p:cNvPr id="24" name="Text 22"/>
          <p:cNvSpPr/>
          <p:nvPr/>
        </p:nvSpPr>
        <p:spPr>
          <a:xfrm>
            <a:off x="552925" y="4918730"/>
            <a:ext cx="4985542" cy="294893"/>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Intense competition in mortgages and savings eroding NIM. Challenger banks gaining market share in key segments.</a:t>
            </a:r>
            <a:endParaRPr lang="en-US" sz="1600" dirty="0"/>
          </a:p>
        </p:txBody>
      </p:sp>
      <p:sp>
        <p:nvSpPr>
          <p:cNvPr id="25" name="Shape 23"/>
          <p:cNvSpPr/>
          <p:nvPr/>
        </p:nvSpPr>
        <p:spPr>
          <a:xfrm>
            <a:off x="5478567" y="4697560"/>
            <a:ext cx="377832" cy="221170"/>
          </a:xfrm>
          <a:custGeom>
            <a:avLst/>
            <a:gdLst/>
            <a:ahLst/>
            <a:cxnLst/>
            <a:rect l="l" t="t" r="r" b="b"/>
            <a:pathLst>
              <a:path w="377832" h="221170">
                <a:moveTo>
                  <a:pt x="36862" y="0"/>
                </a:moveTo>
                <a:lnTo>
                  <a:pt x="340970" y="0"/>
                </a:lnTo>
                <a:cubicBezTo>
                  <a:pt x="361328" y="0"/>
                  <a:pt x="377832" y="16504"/>
                  <a:pt x="377832" y="36862"/>
                </a:cubicBezTo>
                <a:lnTo>
                  <a:pt x="377832" y="184308"/>
                </a:lnTo>
                <a:cubicBezTo>
                  <a:pt x="377832" y="204666"/>
                  <a:pt x="361328" y="221170"/>
                  <a:pt x="340970" y="221170"/>
                </a:cubicBezTo>
                <a:lnTo>
                  <a:pt x="36862" y="221170"/>
                </a:lnTo>
                <a:cubicBezTo>
                  <a:pt x="16517" y="221170"/>
                  <a:pt x="0" y="204653"/>
                  <a:pt x="0" y="184308"/>
                </a:cubicBezTo>
                <a:lnTo>
                  <a:pt x="0" y="36862"/>
                </a:lnTo>
                <a:cubicBezTo>
                  <a:pt x="0" y="16517"/>
                  <a:pt x="16517" y="0"/>
                  <a:pt x="36862" y="0"/>
                </a:cubicBezTo>
                <a:close/>
              </a:path>
            </a:pathLst>
          </a:custGeom>
          <a:solidFill>
            <a:srgbClr val="F0B100">
              <a:alpha val="20000"/>
            </a:srgbClr>
          </a:solidFill>
          <a:ln/>
        </p:spPr>
        <p:txBody>
          <a:bodyPr/>
          <a:lstStyle/>
          <a:p>
            <a:endParaRPr lang="en-GB"/>
          </a:p>
        </p:txBody>
      </p:sp>
      <p:sp>
        <p:nvSpPr>
          <p:cNvPr id="26" name="Text 24"/>
          <p:cNvSpPr/>
          <p:nvPr/>
        </p:nvSpPr>
        <p:spPr>
          <a:xfrm>
            <a:off x="5478567" y="4697560"/>
            <a:ext cx="433125" cy="221170"/>
          </a:xfrm>
          <a:prstGeom prst="rect">
            <a:avLst/>
          </a:prstGeom>
          <a:noFill/>
          <a:ln/>
        </p:spPr>
        <p:txBody>
          <a:bodyPr wrap="square" lIns="73723" tIns="36862" rIns="73723" bIns="36862" rtlCol="0" anchor="ctr"/>
          <a:lstStyle/>
          <a:p>
            <a:pPr>
              <a:lnSpc>
                <a:spcPct val="110000"/>
              </a:lnSpc>
            </a:pPr>
            <a:r>
              <a:rPr lang="en-US" sz="871" b="1" dirty="0">
                <a:solidFill>
                  <a:srgbClr val="FDC700"/>
                </a:solidFill>
                <a:latin typeface="Quattrocento Sans" pitchFamily="34" charset="0"/>
                <a:ea typeface="Quattrocento Sans" pitchFamily="34" charset="-122"/>
                <a:cs typeface="Quattrocento Sans" pitchFamily="34" charset="-120"/>
              </a:rPr>
              <a:t>MED</a:t>
            </a:r>
            <a:endParaRPr lang="en-US" sz="1600" dirty="0"/>
          </a:p>
        </p:txBody>
      </p:sp>
      <p:sp>
        <p:nvSpPr>
          <p:cNvPr id="27" name="Shape 25"/>
          <p:cNvSpPr/>
          <p:nvPr/>
        </p:nvSpPr>
        <p:spPr>
          <a:xfrm>
            <a:off x="387048" y="5854095"/>
            <a:ext cx="5612190" cy="810957"/>
          </a:xfrm>
          <a:custGeom>
            <a:avLst/>
            <a:gdLst/>
            <a:ahLst/>
            <a:cxnLst/>
            <a:rect l="l" t="t" r="r" b="b"/>
            <a:pathLst>
              <a:path w="5612190" h="810957">
                <a:moveTo>
                  <a:pt x="36862" y="0"/>
                </a:moveTo>
                <a:lnTo>
                  <a:pt x="5538466" y="0"/>
                </a:lnTo>
                <a:cubicBezTo>
                  <a:pt x="5579183" y="0"/>
                  <a:pt x="5612190" y="33007"/>
                  <a:pt x="5612190" y="73724"/>
                </a:cubicBezTo>
                <a:lnTo>
                  <a:pt x="5612190" y="737233"/>
                </a:lnTo>
                <a:cubicBezTo>
                  <a:pt x="5612190" y="777950"/>
                  <a:pt x="5579183" y="810957"/>
                  <a:pt x="5538466" y="810957"/>
                </a:cubicBezTo>
                <a:lnTo>
                  <a:pt x="36862" y="810957"/>
                </a:lnTo>
                <a:cubicBezTo>
                  <a:pt x="16504" y="810957"/>
                  <a:pt x="0" y="794453"/>
                  <a:pt x="0" y="774095"/>
                </a:cubicBezTo>
                <a:lnTo>
                  <a:pt x="0" y="36862"/>
                </a:lnTo>
                <a:cubicBezTo>
                  <a:pt x="0" y="16517"/>
                  <a:pt x="16517" y="0"/>
                  <a:pt x="36862" y="0"/>
                </a:cubicBezTo>
                <a:close/>
              </a:path>
            </a:pathLst>
          </a:custGeom>
          <a:solidFill>
            <a:srgbClr val="1C398E">
              <a:alpha val="20000"/>
            </a:srgbClr>
          </a:solidFill>
          <a:ln/>
        </p:spPr>
        <p:txBody>
          <a:bodyPr/>
          <a:lstStyle/>
          <a:p>
            <a:endParaRPr lang="en-GB"/>
          </a:p>
        </p:txBody>
      </p:sp>
      <p:sp>
        <p:nvSpPr>
          <p:cNvPr id="28" name="Shape 26"/>
          <p:cNvSpPr/>
          <p:nvPr/>
        </p:nvSpPr>
        <p:spPr>
          <a:xfrm>
            <a:off x="387048" y="5854095"/>
            <a:ext cx="36862" cy="810957"/>
          </a:xfrm>
          <a:custGeom>
            <a:avLst/>
            <a:gdLst/>
            <a:ahLst/>
            <a:cxnLst/>
            <a:rect l="l" t="t" r="r" b="b"/>
            <a:pathLst>
              <a:path w="36862" h="810957">
                <a:moveTo>
                  <a:pt x="36862" y="0"/>
                </a:moveTo>
                <a:lnTo>
                  <a:pt x="36862" y="0"/>
                </a:lnTo>
                <a:lnTo>
                  <a:pt x="36862" y="810957"/>
                </a:lnTo>
                <a:lnTo>
                  <a:pt x="36862" y="810957"/>
                </a:lnTo>
                <a:cubicBezTo>
                  <a:pt x="16504" y="810957"/>
                  <a:pt x="0" y="794453"/>
                  <a:pt x="0" y="774095"/>
                </a:cubicBezTo>
                <a:lnTo>
                  <a:pt x="0" y="36862"/>
                </a:lnTo>
                <a:cubicBezTo>
                  <a:pt x="0" y="16517"/>
                  <a:pt x="16517" y="0"/>
                  <a:pt x="36862" y="0"/>
                </a:cubicBezTo>
                <a:close/>
              </a:path>
            </a:pathLst>
          </a:custGeom>
          <a:solidFill>
            <a:srgbClr val="2B7FFF"/>
          </a:solidFill>
          <a:ln/>
        </p:spPr>
        <p:txBody>
          <a:bodyPr/>
          <a:lstStyle/>
          <a:p>
            <a:endParaRPr lang="en-GB"/>
          </a:p>
        </p:txBody>
      </p:sp>
      <p:sp>
        <p:nvSpPr>
          <p:cNvPr id="29" name="Text 27"/>
          <p:cNvSpPr/>
          <p:nvPr/>
        </p:nvSpPr>
        <p:spPr>
          <a:xfrm>
            <a:off x="552925" y="6001542"/>
            <a:ext cx="4957896" cy="184308"/>
          </a:xfrm>
          <a:prstGeom prst="rect">
            <a:avLst/>
          </a:prstGeom>
          <a:noFill/>
          <a:ln/>
        </p:spPr>
        <p:txBody>
          <a:bodyPr wrap="square" lIns="0" tIns="0" rIns="0" bIns="0" rtlCol="0" anchor="ctr"/>
          <a:lstStyle/>
          <a:p>
            <a:pPr>
              <a:lnSpc>
                <a:spcPct val="120000"/>
              </a:lnSpc>
            </a:pPr>
            <a:r>
              <a:rPr lang="en-US" sz="1016" b="1" dirty="0">
                <a:solidFill>
                  <a:srgbClr val="51A2FF"/>
                </a:solidFill>
                <a:latin typeface="Liter" pitchFamily="34" charset="0"/>
                <a:ea typeface="Liter" pitchFamily="34" charset="-122"/>
                <a:cs typeface="Liter" pitchFamily="34" charset="-120"/>
              </a:rPr>
              <a:t>Regulatory Capital Requirements</a:t>
            </a:r>
            <a:endParaRPr lang="en-US" sz="1600" dirty="0"/>
          </a:p>
        </p:txBody>
      </p:sp>
      <p:sp>
        <p:nvSpPr>
          <p:cNvPr id="30" name="Text 28"/>
          <p:cNvSpPr/>
          <p:nvPr/>
        </p:nvSpPr>
        <p:spPr>
          <a:xfrm>
            <a:off x="552925" y="6222712"/>
            <a:ext cx="4948680" cy="294893"/>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Ongoing Basel III implementation and potential increases in capital requirements. CET1 ratio 13.5% provides buffer.</a:t>
            </a:r>
            <a:endParaRPr lang="en-US" sz="1600" dirty="0"/>
          </a:p>
        </p:txBody>
      </p:sp>
      <p:sp>
        <p:nvSpPr>
          <p:cNvPr id="31" name="Shape 29"/>
          <p:cNvSpPr/>
          <p:nvPr/>
        </p:nvSpPr>
        <p:spPr>
          <a:xfrm>
            <a:off x="5450345" y="6001542"/>
            <a:ext cx="405478" cy="221170"/>
          </a:xfrm>
          <a:custGeom>
            <a:avLst/>
            <a:gdLst/>
            <a:ahLst/>
            <a:cxnLst/>
            <a:rect l="l" t="t" r="r" b="b"/>
            <a:pathLst>
              <a:path w="405478" h="221170">
                <a:moveTo>
                  <a:pt x="36862" y="0"/>
                </a:moveTo>
                <a:lnTo>
                  <a:pt x="368616" y="0"/>
                </a:lnTo>
                <a:cubicBezTo>
                  <a:pt x="388975" y="0"/>
                  <a:pt x="405478" y="16504"/>
                  <a:pt x="405478" y="36862"/>
                </a:cubicBezTo>
                <a:lnTo>
                  <a:pt x="405478" y="184308"/>
                </a:lnTo>
                <a:cubicBezTo>
                  <a:pt x="405478" y="204666"/>
                  <a:pt x="388975" y="221170"/>
                  <a:pt x="368616" y="221170"/>
                </a:cubicBezTo>
                <a:lnTo>
                  <a:pt x="36862" y="221170"/>
                </a:lnTo>
                <a:cubicBezTo>
                  <a:pt x="16517" y="221170"/>
                  <a:pt x="0" y="204653"/>
                  <a:pt x="0" y="184308"/>
                </a:cubicBezTo>
                <a:lnTo>
                  <a:pt x="0" y="36862"/>
                </a:lnTo>
                <a:cubicBezTo>
                  <a:pt x="0" y="16517"/>
                  <a:pt x="16517" y="0"/>
                  <a:pt x="36862" y="0"/>
                </a:cubicBezTo>
                <a:close/>
              </a:path>
            </a:pathLst>
          </a:custGeom>
          <a:solidFill>
            <a:srgbClr val="2B7FFF">
              <a:alpha val="20000"/>
            </a:srgbClr>
          </a:solidFill>
          <a:ln/>
        </p:spPr>
        <p:txBody>
          <a:bodyPr/>
          <a:lstStyle/>
          <a:p>
            <a:endParaRPr lang="en-GB"/>
          </a:p>
        </p:txBody>
      </p:sp>
      <p:sp>
        <p:nvSpPr>
          <p:cNvPr id="32" name="Text 30"/>
          <p:cNvSpPr/>
          <p:nvPr/>
        </p:nvSpPr>
        <p:spPr>
          <a:xfrm>
            <a:off x="5450345" y="6001542"/>
            <a:ext cx="460771" cy="221170"/>
          </a:xfrm>
          <a:prstGeom prst="rect">
            <a:avLst/>
          </a:prstGeom>
          <a:noFill/>
          <a:ln/>
        </p:spPr>
        <p:txBody>
          <a:bodyPr wrap="square" lIns="73723" tIns="36862" rIns="73723" bIns="36862" rtlCol="0" anchor="ctr"/>
          <a:lstStyle/>
          <a:p>
            <a:pPr>
              <a:lnSpc>
                <a:spcPct val="110000"/>
              </a:lnSpc>
            </a:pPr>
            <a:r>
              <a:rPr lang="en-US" sz="871" b="1" dirty="0">
                <a:solidFill>
                  <a:srgbClr val="51A2FF"/>
                </a:solidFill>
                <a:latin typeface="Quattrocento Sans" pitchFamily="34" charset="0"/>
                <a:ea typeface="Quattrocento Sans" pitchFamily="34" charset="-122"/>
                <a:cs typeface="Quattrocento Sans" pitchFamily="34" charset="-120"/>
              </a:rPr>
              <a:t>LOW</a:t>
            </a:r>
            <a:endParaRPr lang="en-US" sz="1600" dirty="0"/>
          </a:p>
        </p:txBody>
      </p:sp>
      <p:sp>
        <p:nvSpPr>
          <p:cNvPr id="33" name="Text 31"/>
          <p:cNvSpPr/>
          <p:nvPr/>
        </p:nvSpPr>
        <p:spPr>
          <a:xfrm>
            <a:off x="6186570" y="1308590"/>
            <a:ext cx="5722776" cy="258032"/>
          </a:xfrm>
          <a:prstGeom prst="rect">
            <a:avLst/>
          </a:prstGeom>
          <a:noFill/>
          <a:ln/>
        </p:spPr>
        <p:txBody>
          <a:bodyPr wrap="square" lIns="0" tIns="0" rIns="0" bIns="0" rtlCol="0" anchor="ctr"/>
          <a:lstStyle/>
          <a:p>
            <a:pPr>
              <a:lnSpc>
                <a:spcPct val="120000"/>
              </a:lnSpc>
            </a:pPr>
            <a:r>
              <a:rPr lang="en-US" sz="1451" b="1" dirty="0">
                <a:solidFill>
                  <a:srgbClr val="E0E2E5"/>
                </a:solidFill>
                <a:latin typeface="Liter" pitchFamily="34" charset="0"/>
                <a:ea typeface="Liter" pitchFamily="34" charset="-122"/>
                <a:cs typeface="Liter" pitchFamily="34" charset="-120"/>
              </a:rPr>
              <a:t>Asset Quality &amp; Impairments</a:t>
            </a:r>
            <a:endParaRPr lang="en-US" sz="1600" dirty="0"/>
          </a:p>
        </p:txBody>
      </p:sp>
      <p:sp>
        <p:nvSpPr>
          <p:cNvPr id="34" name="Shape 32"/>
          <p:cNvSpPr/>
          <p:nvPr/>
        </p:nvSpPr>
        <p:spPr>
          <a:xfrm>
            <a:off x="6186570" y="1677206"/>
            <a:ext cx="5630621" cy="1990531"/>
          </a:xfrm>
          <a:custGeom>
            <a:avLst/>
            <a:gdLst/>
            <a:ahLst/>
            <a:cxnLst/>
            <a:rect l="l" t="t" r="r" b="b"/>
            <a:pathLst>
              <a:path w="5630621" h="1990531">
                <a:moveTo>
                  <a:pt x="73729" y="0"/>
                </a:moveTo>
                <a:lnTo>
                  <a:pt x="5556892" y="0"/>
                </a:lnTo>
                <a:cubicBezTo>
                  <a:pt x="5597612" y="0"/>
                  <a:pt x="5630621" y="33010"/>
                  <a:pt x="5630621" y="73729"/>
                </a:cubicBezTo>
                <a:lnTo>
                  <a:pt x="5630621" y="1916801"/>
                </a:lnTo>
                <a:cubicBezTo>
                  <a:pt x="5630621" y="1957521"/>
                  <a:pt x="5597612" y="1990531"/>
                  <a:pt x="5556892" y="1990531"/>
                </a:cubicBezTo>
                <a:lnTo>
                  <a:pt x="73729" y="1990531"/>
                </a:lnTo>
                <a:cubicBezTo>
                  <a:pt x="33010" y="1990531"/>
                  <a:pt x="0" y="1957521"/>
                  <a:pt x="0" y="1916801"/>
                </a:cubicBezTo>
                <a:lnTo>
                  <a:pt x="0" y="73729"/>
                </a:lnTo>
                <a:cubicBezTo>
                  <a:pt x="0" y="33037"/>
                  <a:pt x="33037" y="0"/>
                  <a:pt x="73729" y="0"/>
                </a:cubicBezTo>
                <a:close/>
              </a:path>
            </a:pathLst>
          </a:custGeom>
          <a:solidFill>
            <a:srgbClr val="4A5C6A">
              <a:alpha val="20000"/>
            </a:srgbClr>
          </a:solidFill>
          <a:ln/>
        </p:spPr>
        <p:txBody>
          <a:bodyPr/>
          <a:lstStyle/>
          <a:p>
            <a:endParaRPr lang="en-GB"/>
          </a:p>
        </p:txBody>
      </p:sp>
      <p:sp>
        <p:nvSpPr>
          <p:cNvPr id="35" name="Text 33"/>
          <p:cNvSpPr/>
          <p:nvPr/>
        </p:nvSpPr>
        <p:spPr>
          <a:xfrm>
            <a:off x="6370879" y="1935238"/>
            <a:ext cx="1115066" cy="184308"/>
          </a:xfrm>
          <a:prstGeom prst="rect">
            <a:avLst/>
          </a:prstGeom>
          <a:noFill/>
          <a:ln/>
        </p:spPr>
        <p:txBody>
          <a:bodyPr wrap="square" lIns="0" tIns="0" rIns="0" bIns="0" rtlCol="0" anchor="ctr"/>
          <a:lstStyle/>
          <a:p>
            <a:pPr>
              <a:lnSpc>
                <a:spcPct val="120000"/>
              </a:lnSpc>
            </a:pPr>
            <a:r>
              <a:rPr lang="en-US" sz="1016" dirty="0">
                <a:solidFill>
                  <a:srgbClr val="E0E2E5">
                    <a:alpha val="70000"/>
                  </a:srgbClr>
                </a:solidFill>
                <a:latin typeface="Quattrocento Sans" pitchFamily="34" charset="0"/>
                <a:ea typeface="Quattrocento Sans" pitchFamily="34" charset="-122"/>
                <a:cs typeface="Quattrocento Sans" pitchFamily="34" charset="-120"/>
              </a:rPr>
              <a:t>Asset Quality Ratio</a:t>
            </a:r>
            <a:endParaRPr lang="en-US" sz="1600" dirty="0"/>
          </a:p>
        </p:txBody>
      </p:sp>
      <p:sp>
        <p:nvSpPr>
          <p:cNvPr id="36" name="Text 34"/>
          <p:cNvSpPr/>
          <p:nvPr/>
        </p:nvSpPr>
        <p:spPr>
          <a:xfrm>
            <a:off x="10928912" y="1861515"/>
            <a:ext cx="847819" cy="331755"/>
          </a:xfrm>
          <a:prstGeom prst="rect">
            <a:avLst/>
          </a:prstGeom>
          <a:noFill/>
          <a:ln/>
        </p:spPr>
        <p:txBody>
          <a:bodyPr wrap="square" lIns="0" tIns="0" rIns="0" bIns="0" rtlCol="0" anchor="ctr"/>
          <a:lstStyle/>
          <a:p>
            <a:pPr>
              <a:lnSpc>
                <a:spcPct val="100000"/>
              </a:lnSpc>
            </a:pPr>
            <a:r>
              <a:rPr lang="en-US" sz="2177" b="1" dirty="0">
                <a:solidFill>
                  <a:srgbClr val="C0A062"/>
                </a:solidFill>
                <a:latin typeface="Quattrocento Sans" pitchFamily="34" charset="0"/>
                <a:ea typeface="Quattrocento Sans" pitchFamily="34" charset="-122"/>
                <a:cs typeface="Quattrocento Sans" pitchFamily="34" charset="-120"/>
              </a:rPr>
              <a:t>10bps</a:t>
            </a:r>
            <a:endParaRPr lang="en-US" sz="1600" dirty="0"/>
          </a:p>
        </p:txBody>
      </p:sp>
      <p:sp>
        <p:nvSpPr>
          <p:cNvPr id="37" name="Text 35"/>
          <p:cNvSpPr/>
          <p:nvPr/>
        </p:nvSpPr>
        <p:spPr>
          <a:xfrm>
            <a:off x="6370879" y="2377578"/>
            <a:ext cx="1409959" cy="184308"/>
          </a:xfrm>
          <a:prstGeom prst="rect">
            <a:avLst/>
          </a:prstGeom>
          <a:noFill/>
          <a:ln/>
        </p:spPr>
        <p:txBody>
          <a:bodyPr wrap="square" lIns="0" tIns="0" rIns="0" bIns="0" rtlCol="0" anchor="ctr"/>
          <a:lstStyle/>
          <a:p>
            <a:pPr>
              <a:lnSpc>
                <a:spcPct val="120000"/>
              </a:lnSpc>
            </a:pPr>
            <a:r>
              <a:rPr lang="en-US" sz="1016" dirty="0">
                <a:solidFill>
                  <a:srgbClr val="E0E2E5">
                    <a:alpha val="70000"/>
                  </a:srgbClr>
                </a:solidFill>
                <a:latin typeface="Quattrocento Sans" pitchFamily="34" charset="0"/>
                <a:ea typeface="Quattrocento Sans" pitchFamily="34" charset="-122"/>
                <a:cs typeface="Quattrocento Sans" pitchFamily="34" charset="-120"/>
              </a:rPr>
              <a:t>Underlying Impairments</a:t>
            </a:r>
            <a:endParaRPr lang="en-US" sz="1600" dirty="0"/>
          </a:p>
        </p:txBody>
      </p:sp>
      <p:sp>
        <p:nvSpPr>
          <p:cNvPr id="38" name="Text 36"/>
          <p:cNvSpPr/>
          <p:nvPr/>
        </p:nvSpPr>
        <p:spPr>
          <a:xfrm>
            <a:off x="10805367" y="2303855"/>
            <a:ext cx="967619" cy="331755"/>
          </a:xfrm>
          <a:prstGeom prst="rect">
            <a:avLst/>
          </a:prstGeom>
          <a:noFill/>
          <a:ln/>
        </p:spPr>
        <p:txBody>
          <a:bodyPr wrap="square" lIns="0" tIns="0" rIns="0" bIns="0" rtlCol="0" anchor="ctr"/>
          <a:lstStyle/>
          <a:p>
            <a:pPr>
              <a:lnSpc>
                <a:spcPct val="100000"/>
              </a:lnSpc>
            </a:pPr>
            <a:r>
              <a:rPr lang="en-US" sz="2177" b="1" dirty="0">
                <a:solidFill>
                  <a:srgbClr val="E0E2E5"/>
                </a:solidFill>
                <a:latin typeface="Quattrocento Sans" pitchFamily="34" charset="0"/>
                <a:ea typeface="Quattrocento Sans" pitchFamily="34" charset="-122"/>
                <a:cs typeface="Quattrocento Sans" pitchFamily="34" charset="-120"/>
              </a:rPr>
              <a:t>£433m</a:t>
            </a:r>
            <a:endParaRPr lang="en-US" sz="1600" dirty="0"/>
          </a:p>
        </p:txBody>
      </p:sp>
      <p:sp>
        <p:nvSpPr>
          <p:cNvPr id="39" name="Text 37"/>
          <p:cNvSpPr/>
          <p:nvPr/>
        </p:nvSpPr>
        <p:spPr>
          <a:xfrm>
            <a:off x="6370879" y="2819918"/>
            <a:ext cx="1336236" cy="184308"/>
          </a:xfrm>
          <a:prstGeom prst="rect">
            <a:avLst/>
          </a:prstGeom>
          <a:noFill/>
          <a:ln/>
        </p:spPr>
        <p:txBody>
          <a:bodyPr wrap="square" lIns="0" tIns="0" rIns="0" bIns="0" rtlCol="0" anchor="ctr"/>
          <a:lstStyle/>
          <a:p>
            <a:pPr>
              <a:lnSpc>
                <a:spcPct val="120000"/>
              </a:lnSpc>
            </a:pPr>
            <a:r>
              <a:rPr lang="en-US" sz="1016" dirty="0">
                <a:solidFill>
                  <a:srgbClr val="E0E2E5">
                    <a:alpha val="70000"/>
                  </a:srgbClr>
                </a:solidFill>
                <a:latin typeface="Quattrocento Sans" pitchFamily="34" charset="0"/>
                <a:ea typeface="Quattrocento Sans" pitchFamily="34" charset="-122"/>
                <a:cs typeface="Quattrocento Sans" pitchFamily="34" charset="-120"/>
              </a:rPr>
              <a:t>Non-Performing Loans</a:t>
            </a:r>
            <a:endParaRPr lang="en-US" sz="1600" dirty="0"/>
          </a:p>
        </p:txBody>
      </p:sp>
      <p:sp>
        <p:nvSpPr>
          <p:cNvPr id="40" name="Text 38"/>
          <p:cNvSpPr/>
          <p:nvPr/>
        </p:nvSpPr>
        <p:spPr>
          <a:xfrm>
            <a:off x="10975853" y="2746195"/>
            <a:ext cx="801741" cy="331755"/>
          </a:xfrm>
          <a:prstGeom prst="rect">
            <a:avLst/>
          </a:prstGeom>
          <a:noFill/>
          <a:ln/>
        </p:spPr>
        <p:txBody>
          <a:bodyPr wrap="square" lIns="0" tIns="0" rIns="0" bIns="0" rtlCol="0" anchor="ctr"/>
          <a:lstStyle/>
          <a:p>
            <a:pPr>
              <a:lnSpc>
                <a:spcPct val="100000"/>
              </a:lnSpc>
            </a:pPr>
            <a:r>
              <a:rPr lang="en-US" sz="2177" b="1" dirty="0">
                <a:solidFill>
                  <a:srgbClr val="E0E2E5"/>
                </a:solidFill>
                <a:latin typeface="Quattrocento Sans" pitchFamily="34" charset="0"/>
                <a:ea typeface="Quattrocento Sans" pitchFamily="34" charset="-122"/>
                <a:cs typeface="Quattrocento Sans" pitchFamily="34" charset="-120"/>
              </a:rPr>
              <a:t>1.42%</a:t>
            </a:r>
            <a:endParaRPr lang="en-US" sz="1600" dirty="0"/>
          </a:p>
        </p:txBody>
      </p:sp>
      <p:sp>
        <p:nvSpPr>
          <p:cNvPr id="41" name="Text 39"/>
          <p:cNvSpPr/>
          <p:nvPr/>
        </p:nvSpPr>
        <p:spPr>
          <a:xfrm>
            <a:off x="6370879" y="3188535"/>
            <a:ext cx="5317297" cy="294893"/>
          </a:xfrm>
          <a:prstGeom prst="rect">
            <a:avLst/>
          </a:prstGeom>
          <a:noFill/>
          <a:ln/>
        </p:spPr>
        <p:txBody>
          <a:bodyPr wrap="square" lIns="0" tIns="0" rIns="0" bIns="0" rtlCol="0" anchor="ctr"/>
          <a:lstStyle/>
          <a:p>
            <a:pPr>
              <a:lnSpc>
                <a:spcPct val="110000"/>
              </a:lnSpc>
            </a:pPr>
            <a:r>
              <a:rPr lang="en-US" sz="871" dirty="0">
                <a:solidFill>
                  <a:srgbClr val="E0E2E5">
                    <a:alpha val="50000"/>
                  </a:srgbClr>
                </a:solidFill>
                <a:latin typeface="Quattrocento Sans" pitchFamily="34" charset="0"/>
                <a:ea typeface="Quattrocento Sans" pitchFamily="34" charset="-122"/>
                <a:cs typeface="Quattrocento Sans" pitchFamily="34" charset="-120"/>
              </a:rPr>
              <a:t>19bps excluding economic outlook improvements. Strong portfolio positioning with improved credit performance.</a:t>
            </a:r>
            <a:endParaRPr lang="en-US" sz="1600" dirty="0"/>
          </a:p>
        </p:txBody>
      </p:sp>
      <p:sp>
        <p:nvSpPr>
          <p:cNvPr id="42" name="Text 40"/>
          <p:cNvSpPr/>
          <p:nvPr/>
        </p:nvSpPr>
        <p:spPr>
          <a:xfrm>
            <a:off x="6186570" y="3815184"/>
            <a:ext cx="5713560" cy="258032"/>
          </a:xfrm>
          <a:prstGeom prst="rect">
            <a:avLst/>
          </a:prstGeom>
          <a:noFill/>
          <a:ln/>
        </p:spPr>
        <p:txBody>
          <a:bodyPr wrap="square" lIns="0" tIns="0" rIns="0" bIns="0" rtlCol="0" anchor="ctr"/>
          <a:lstStyle/>
          <a:p>
            <a:pPr>
              <a:lnSpc>
                <a:spcPct val="130000"/>
              </a:lnSpc>
            </a:pPr>
            <a:r>
              <a:rPr lang="en-US" sz="1306" b="1" dirty="0">
                <a:solidFill>
                  <a:srgbClr val="E0E2E5"/>
                </a:solidFill>
                <a:latin typeface="Liter" pitchFamily="34" charset="0"/>
                <a:ea typeface="Liter" pitchFamily="34" charset="-122"/>
                <a:cs typeface="Liter" pitchFamily="34" charset="-120"/>
              </a:rPr>
              <a:t>Regulatory Focus Areas</a:t>
            </a:r>
            <a:endParaRPr lang="en-US" sz="1600" dirty="0"/>
          </a:p>
        </p:txBody>
      </p:sp>
      <p:sp>
        <p:nvSpPr>
          <p:cNvPr id="43" name="Shape 41"/>
          <p:cNvSpPr/>
          <p:nvPr/>
        </p:nvSpPr>
        <p:spPr>
          <a:xfrm>
            <a:off x="6186570" y="4183800"/>
            <a:ext cx="5630621" cy="368617"/>
          </a:xfrm>
          <a:custGeom>
            <a:avLst/>
            <a:gdLst/>
            <a:ahLst/>
            <a:cxnLst/>
            <a:rect l="l" t="t" r="r" b="b"/>
            <a:pathLst>
              <a:path w="5630621" h="368617">
                <a:moveTo>
                  <a:pt x="73723" y="0"/>
                </a:moveTo>
                <a:lnTo>
                  <a:pt x="5556898" y="0"/>
                </a:lnTo>
                <a:cubicBezTo>
                  <a:pt x="5597614" y="0"/>
                  <a:pt x="5630621" y="33007"/>
                  <a:pt x="5630621" y="73723"/>
                </a:cubicBezTo>
                <a:lnTo>
                  <a:pt x="5630621" y="294893"/>
                </a:lnTo>
                <a:cubicBezTo>
                  <a:pt x="5630621" y="335610"/>
                  <a:pt x="5597614" y="368617"/>
                  <a:pt x="5556898" y="368617"/>
                </a:cubicBezTo>
                <a:lnTo>
                  <a:pt x="73723" y="368617"/>
                </a:lnTo>
                <a:cubicBezTo>
                  <a:pt x="33007" y="368617"/>
                  <a:pt x="0" y="335610"/>
                  <a:pt x="0" y="294893"/>
                </a:cubicBezTo>
                <a:lnTo>
                  <a:pt x="0" y="73723"/>
                </a:lnTo>
                <a:cubicBezTo>
                  <a:pt x="0" y="33034"/>
                  <a:pt x="33034" y="0"/>
                  <a:pt x="73723" y="0"/>
                </a:cubicBezTo>
                <a:close/>
              </a:path>
            </a:pathLst>
          </a:custGeom>
          <a:solidFill>
            <a:srgbClr val="4A5C6A">
              <a:alpha val="20000"/>
            </a:srgbClr>
          </a:solidFill>
          <a:ln/>
        </p:spPr>
        <p:txBody>
          <a:bodyPr/>
          <a:lstStyle/>
          <a:p>
            <a:endParaRPr lang="en-GB"/>
          </a:p>
        </p:txBody>
      </p:sp>
      <p:sp>
        <p:nvSpPr>
          <p:cNvPr id="44" name="Shape 42"/>
          <p:cNvSpPr/>
          <p:nvPr/>
        </p:nvSpPr>
        <p:spPr>
          <a:xfrm>
            <a:off x="6315586" y="4294385"/>
            <a:ext cx="147447" cy="147447"/>
          </a:xfrm>
          <a:custGeom>
            <a:avLst/>
            <a:gdLst/>
            <a:ahLst/>
            <a:cxnLst/>
            <a:rect l="l" t="t" r="r" b="b"/>
            <a:pathLst>
              <a:path w="147447" h="147447">
                <a:moveTo>
                  <a:pt x="73723" y="0"/>
                </a:moveTo>
                <a:cubicBezTo>
                  <a:pt x="75048" y="0"/>
                  <a:pt x="76373" y="288"/>
                  <a:pt x="77582" y="835"/>
                </a:cubicBezTo>
                <a:lnTo>
                  <a:pt x="131838" y="23845"/>
                </a:lnTo>
                <a:cubicBezTo>
                  <a:pt x="138174" y="26523"/>
                  <a:pt x="142897" y="32772"/>
                  <a:pt x="142868" y="40317"/>
                </a:cubicBezTo>
                <a:cubicBezTo>
                  <a:pt x="142724" y="68885"/>
                  <a:pt x="130974" y="121154"/>
                  <a:pt x="81355" y="144912"/>
                </a:cubicBezTo>
                <a:cubicBezTo>
                  <a:pt x="76546" y="147216"/>
                  <a:pt x="70959" y="147216"/>
                  <a:pt x="66149" y="144912"/>
                </a:cubicBezTo>
                <a:cubicBezTo>
                  <a:pt x="16501" y="121154"/>
                  <a:pt x="4780" y="68885"/>
                  <a:pt x="4637" y="40317"/>
                </a:cubicBezTo>
                <a:cubicBezTo>
                  <a:pt x="4608" y="32772"/>
                  <a:pt x="9331" y="26523"/>
                  <a:pt x="15666" y="23845"/>
                </a:cubicBezTo>
                <a:lnTo>
                  <a:pt x="69893" y="835"/>
                </a:lnTo>
                <a:cubicBezTo>
                  <a:pt x="71103" y="288"/>
                  <a:pt x="72399" y="0"/>
                  <a:pt x="73723" y="0"/>
                </a:cubicBezTo>
                <a:close/>
                <a:moveTo>
                  <a:pt x="73723" y="19237"/>
                </a:moveTo>
                <a:lnTo>
                  <a:pt x="73723" y="128123"/>
                </a:lnTo>
                <a:cubicBezTo>
                  <a:pt x="113465" y="108886"/>
                  <a:pt x="124149" y="66265"/>
                  <a:pt x="124408" y="40749"/>
                </a:cubicBezTo>
                <a:lnTo>
                  <a:pt x="73723" y="19266"/>
                </a:lnTo>
                <a:lnTo>
                  <a:pt x="73723" y="19266"/>
                </a:lnTo>
                <a:close/>
              </a:path>
            </a:pathLst>
          </a:custGeom>
          <a:solidFill>
            <a:srgbClr val="006A4A"/>
          </a:solidFill>
          <a:ln/>
        </p:spPr>
        <p:txBody>
          <a:bodyPr/>
          <a:lstStyle/>
          <a:p>
            <a:endParaRPr lang="en-GB"/>
          </a:p>
        </p:txBody>
      </p:sp>
      <p:sp>
        <p:nvSpPr>
          <p:cNvPr id="45" name="Text 43"/>
          <p:cNvSpPr/>
          <p:nvPr/>
        </p:nvSpPr>
        <p:spPr>
          <a:xfrm>
            <a:off x="6592049" y="4294385"/>
            <a:ext cx="1585052" cy="147447"/>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Consumer Duty implementation</a:t>
            </a:r>
            <a:endParaRPr lang="en-US" sz="1600" dirty="0"/>
          </a:p>
        </p:txBody>
      </p:sp>
      <p:sp>
        <p:nvSpPr>
          <p:cNvPr id="46" name="Shape 44"/>
          <p:cNvSpPr/>
          <p:nvPr/>
        </p:nvSpPr>
        <p:spPr>
          <a:xfrm>
            <a:off x="6186570" y="4626141"/>
            <a:ext cx="5630621" cy="368617"/>
          </a:xfrm>
          <a:custGeom>
            <a:avLst/>
            <a:gdLst/>
            <a:ahLst/>
            <a:cxnLst/>
            <a:rect l="l" t="t" r="r" b="b"/>
            <a:pathLst>
              <a:path w="5630621" h="368617">
                <a:moveTo>
                  <a:pt x="73723" y="0"/>
                </a:moveTo>
                <a:lnTo>
                  <a:pt x="5556898" y="0"/>
                </a:lnTo>
                <a:cubicBezTo>
                  <a:pt x="5597614" y="0"/>
                  <a:pt x="5630621" y="33007"/>
                  <a:pt x="5630621" y="73723"/>
                </a:cubicBezTo>
                <a:lnTo>
                  <a:pt x="5630621" y="294893"/>
                </a:lnTo>
                <a:cubicBezTo>
                  <a:pt x="5630621" y="335610"/>
                  <a:pt x="5597614" y="368617"/>
                  <a:pt x="5556898" y="368617"/>
                </a:cubicBezTo>
                <a:lnTo>
                  <a:pt x="73723" y="368617"/>
                </a:lnTo>
                <a:cubicBezTo>
                  <a:pt x="33007" y="368617"/>
                  <a:pt x="0" y="335610"/>
                  <a:pt x="0" y="294893"/>
                </a:cubicBezTo>
                <a:lnTo>
                  <a:pt x="0" y="73723"/>
                </a:lnTo>
                <a:cubicBezTo>
                  <a:pt x="0" y="33034"/>
                  <a:pt x="33034" y="0"/>
                  <a:pt x="73723" y="0"/>
                </a:cubicBezTo>
                <a:close/>
              </a:path>
            </a:pathLst>
          </a:custGeom>
          <a:solidFill>
            <a:srgbClr val="4A5C6A">
              <a:alpha val="20000"/>
            </a:srgbClr>
          </a:solidFill>
          <a:ln/>
        </p:spPr>
        <p:txBody>
          <a:bodyPr/>
          <a:lstStyle/>
          <a:p>
            <a:endParaRPr lang="en-GB"/>
          </a:p>
        </p:txBody>
      </p:sp>
      <p:sp>
        <p:nvSpPr>
          <p:cNvPr id="47" name="Shape 45"/>
          <p:cNvSpPr/>
          <p:nvPr/>
        </p:nvSpPr>
        <p:spPr>
          <a:xfrm>
            <a:off x="6315586" y="4736726"/>
            <a:ext cx="147447" cy="147447"/>
          </a:xfrm>
          <a:custGeom>
            <a:avLst/>
            <a:gdLst/>
            <a:ahLst/>
            <a:cxnLst/>
            <a:rect l="l" t="t" r="r" b="b"/>
            <a:pathLst>
              <a:path w="147447" h="147447">
                <a:moveTo>
                  <a:pt x="73723" y="0"/>
                </a:moveTo>
                <a:cubicBezTo>
                  <a:pt x="75048" y="0"/>
                  <a:pt x="76373" y="288"/>
                  <a:pt x="77582" y="835"/>
                </a:cubicBezTo>
                <a:lnTo>
                  <a:pt x="131838" y="23845"/>
                </a:lnTo>
                <a:cubicBezTo>
                  <a:pt x="138174" y="26523"/>
                  <a:pt x="142897" y="32772"/>
                  <a:pt x="142868" y="40317"/>
                </a:cubicBezTo>
                <a:cubicBezTo>
                  <a:pt x="142724" y="68885"/>
                  <a:pt x="130974" y="121154"/>
                  <a:pt x="81355" y="144912"/>
                </a:cubicBezTo>
                <a:cubicBezTo>
                  <a:pt x="76546" y="147216"/>
                  <a:pt x="70959" y="147216"/>
                  <a:pt x="66149" y="144912"/>
                </a:cubicBezTo>
                <a:cubicBezTo>
                  <a:pt x="16501" y="121154"/>
                  <a:pt x="4780" y="68885"/>
                  <a:pt x="4637" y="40317"/>
                </a:cubicBezTo>
                <a:cubicBezTo>
                  <a:pt x="4608" y="32772"/>
                  <a:pt x="9331" y="26523"/>
                  <a:pt x="15666" y="23845"/>
                </a:cubicBezTo>
                <a:lnTo>
                  <a:pt x="69893" y="835"/>
                </a:lnTo>
                <a:cubicBezTo>
                  <a:pt x="71103" y="288"/>
                  <a:pt x="72399" y="0"/>
                  <a:pt x="73723" y="0"/>
                </a:cubicBezTo>
                <a:close/>
                <a:moveTo>
                  <a:pt x="73723" y="19237"/>
                </a:moveTo>
                <a:lnTo>
                  <a:pt x="73723" y="128123"/>
                </a:lnTo>
                <a:cubicBezTo>
                  <a:pt x="113465" y="108886"/>
                  <a:pt x="124149" y="66265"/>
                  <a:pt x="124408" y="40749"/>
                </a:cubicBezTo>
                <a:lnTo>
                  <a:pt x="73723" y="19266"/>
                </a:lnTo>
                <a:lnTo>
                  <a:pt x="73723" y="19266"/>
                </a:lnTo>
                <a:close/>
              </a:path>
            </a:pathLst>
          </a:custGeom>
          <a:solidFill>
            <a:srgbClr val="006A4A"/>
          </a:solidFill>
          <a:ln/>
        </p:spPr>
        <p:txBody>
          <a:bodyPr/>
          <a:lstStyle/>
          <a:p>
            <a:endParaRPr lang="en-GB"/>
          </a:p>
        </p:txBody>
      </p:sp>
      <p:sp>
        <p:nvSpPr>
          <p:cNvPr id="48" name="Text 46"/>
          <p:cNvSpPr/>
          <p:nvPr/>
        </p:nvSpPr>
        <p:spPr>
          <a:xfrm>
            <a:off x="6592049" y="4736726"/>
            <a:ext cx="1760145" cy="147447"/>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Operational resilience requirements</a:t>
            </a:r>
            <a:endParaRPr lang="en-US" sz="1600" dirty="0"/>
          </a:p>
        </p:txBody>
      </p:sp>
      <p:sp>
        <p:nvSpPr>
          <p:cNvPr id="49" name="Shape 47"/>
          <p:cNvSpPr/>
          <p:nvPr/>
        </p:nvSpPr>
        <p:spPr>
          <a:xfrm>
            <a:off x="6186570" y="5068481"/>
            <a:ext cx="5630621" cy="368617"/>
          </a:xfrm>
          <a:custGeom>
            <a:avLst/>
            <a:gdLst/>
            <a:ahLst/>
            <a:cxnLst/>
            <a:rect l="l" t="t" r="r" b="b"/>
            <a:pathLst>
              <a:path w="5630621" h="368617">
                <a:moveTo>
                  <a:pt x="73723" y="0"/>
                </a:moveTo>
                <a:lnTo>
                  <a:pt x="5556898" y="0"/>
                </a:lnTo>
                <a:cubicBezTo>
                  <a:pt x="5597614" y="0"/>
                  <a:pt x="5630621" y="33007"/>
                  <a:pt x="5630621" y="73723"/>
                </a:cubicBezTo>
                <a:lnTo>
                  <a:pt x="5630621" y="294893"/>
                </a:lnTo>
                <a:cubicBezTo>
                  <a:pt x="5630621" y="335610"/>
                  <a:pt x="5597614" y="368617"/>
                  <a:pt x="5556898" y="368617"/>
                </a:cubicBezTo>
                <a:lnTo>
                  <a:pt x="73723" y="368617"/>
                </a:lnTo>
                <a:cubicBezTo>
                  <a:pt x="33007" y="368617"/>
                  <a:pt x="0" y="335610"/>
                  <a:pt x="0" y="294893"/>
                </a:cubicBezTo>
                <a:lnTo>
                  <a:pt x="0" y="73723"/>
                </a:lnTo>
                <a:cubicBezTo>
                  <a:pt x="0" y="33034"/>
                  <a:pt x="33034" y="0"/>
                  <a:pt x="73723" y="0"/>
                </a:cubicBezTo>
                <a:close/>
              </a:path>
            </a:pathLst>
          </a:custGeom>
          <a:solidFill>
            <a:srgbClr val="4A5C6A">
              <a:alpha val="20000"/>
            </a:srgbClr>
          </a:solidFill>
          <a:ln/>
        </p:spPr>
        <p:txBody>
          <a:bodyPr/>
          <a:lstStyle/>
          <a:p>
            <a:endParaRPr lang="en-GB"/>
          </a:p>
        </p:txBody>
      </p:sp>
      <p:sp>
        <p:nvSpPr>
          <p:cNvPr id="50" name="Shape 48"/>
          <p:cNvSpPr/>
          <p:nvPr/>
        </p:nvSpPr>
        <p:spPr>
          <a:xfrm>
            <a:off x="6315586" y="5179066"/>
            <a:ext cx="147447" cy="147447"/>
          </a:xfrm>
          <a:custGeom>
            <a:avLst/>
            <a:gdLst/>
            <a:ahLst/>
            <a:cxnLst/>
            <a:rect l="l" t="t" r="r" b="b"/>
            <a:pathLst>
              <a:path w="147447" h="147447">
                <a:moveTo>
                  <a:pt x="73723" y="0"/>
                </a:moveTo>
                <a:cubicBezTo>
                  <a:pt x="75048" y="0"/>
                  <a:pt x="76373" y="288"/>
                  <a:pt x="77582" y="835"/>
                </a:cubicBezTo>
                <a:lnTo>
                  <a:pt x="131838" y="23845"/>
                </a:lnTo>
                <a:cubicBezTo>
                  <a:pt x="138174" y="26523"/>
                  <a:pt x="142897" y="32772"/>
                  <a:pt x="142868" y="40317"/>
                </a:cubicBezTo>
                <a:cubicBezTo>
                  <a:pt x="142724" y="68885"/>
                  <a:pt x="130974" y="121154"/>
                  <a:pt x="81355" y="144912"/>
                </a:cubicBezTo>
                <a:cubicBezTo>
                  <a:pt x="76546" y="147216"/>
                  <a:pt x="70959" y="147216"/>
                  <a:pt x="66149" y="144912"/>
                </a:cubicBezTo>
                <a:cubicBezTo>
                  <a:pt x="16501" y="121154"/>
                  <a:pt x="4780" y="68885"/>
                  <a:pt x="4637" y="40317"/>
                </a:cubicBezTo>
                <a:cubicBezTo>
                  <a:pt x="4608" y="32772"/>
                  <a:pt x="9331" y="26523"/>
                  <a:pt x="15666" y="23845"/>
                </a:cubicBezTo>
                <a:lnTo>
                  <a:pt x="69893" y="835"/>
                </a:lnTo>
                <a:cubicBezTo>
                  <a:pt x="71103" y="288"/>
                  <a:pt x="72399" y="0"/>
                  <a:pt x="73723" y="0"/>
                </a:cubicBezTo>
                <a:close/>
                <a:moveTo>
                  <a:pt x="73723" y="19237"/>
                </a:moveTo>
                <a:lnTo>
                  <a:pt x="73723" y="128123"/>
                </a:lnTo>
                <a:cubicBezTo>
                  <a:pt x="113465" y="108886"/>
                  <a:pt x="124149" y="66265"/>
                  <a:pt x="124408" y="40749"/>
                </a:cubicBezTo>
                <a:lnTo>
                  <a:pt x="73723" y="19266"/>
                </a:lnTo>
                <a:lnTo>
                  <a:pt x="73723" y="19266"/>
                </a:lnTo>
                <a:close/>
              </a:path>
            </a:pathLst>
          </a:custGeom>
          <a:solidFill>
            <a:srgbClr val="006A4A"/>
          </a:solidFill>
          <a:ln/>
        </p:spPr>
        <p:txBody>
          <a:bodyPr/>
          <a:lstStyle/>
          <a:p>
            <a:endParaRPr lang="en-GB"/>
          </a:p>
        </p:txBody>
      </p:sp>
      <p:sp>
        <p:nvSpPr>
          <p:cNvPr id="51" name="Text 49"/>
          <p:cNvSpPr/>
          <p:nvPr/>
        </p:nvSpPr>
        <p:spPr>
          <a:xfrm>
            <a:off x="6592049" y="5179066"/>
            <a:ext cx="1953669" cy="147447"/>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Digital fraud prevention (£15m invested)</a:t>
            </a:r>
            <a:endParaRPr lang="en-US" sz="1600" dirty="0"/>
          </a:p>
        </p:txBody>
      </p:sp>
      <p:sp>
        <p:nvSpPr>
          <p:cNvPr id="52" name="Shape 50"/>
          <p:cNvSpPr/>
          <p:nvPr/>
        </p:nvSpPr>
        <p:spPr>
          <a:xfrm>
            <a:off x="6186570" y="5510821"/>
            <a:ext cx="5630621" cy="368617"/>
          </a:xfrm>
          <a:custGeom>
            <a:avLst/>
            <a:gdLst/>
            <a:ahLst/>
            <a:cxnLst/>
            <a:rect l="l" t="t" r="r" b="b"/>
            <a:pathLst>
              <a:path w="5630621" h="368617">
                <a:moveTo>
                  <a:pt x="73723" y="0"/>
                </a:moveTo>
                <a:lnTo>
                  <a:pt x="5556898" y="0"/>
                </a:lnTo>
                <a:cubicBezTo>
                  <a:pt x="5597614" y="0"/>
                  <a:pt x="5630621" y="33007"/>
                  <a:pt x="5630621" y="73723"/>
                </a:cubicBezTo>
                <a:lnTo>
                  <a:pt x="5630621" y="294893"/>
                </a:lnTo>
                <a:cubicBezTo>
                  <a:pt x="5630621" y="335610"/>
                  <a:pt x="5597614" y="368617"/>
                  <a:pt x="5556898" y="368617"/>
                </a:cubicBezTo>
                <a:lnTo>
                  <a:pt x="73723" y="368617"/>
                </a:lnTo>
                <a:cubicBezTo>
                  <a:pt x="33007" y="368617"/>
                  <a:pt x="0" y="335610"/>
                  <a:pt x="0" y="294893"/>
                </a:cubicBezTo>
                <a:lnTo>
                  <a:pt x="0" y="73723"/>
                </a:lnTo>
                <a:cubicBezTo>
                  <a:pt x="0" y="33034"/>
                  <a:pt x="33034" y="0"/>
                  <a:pt x="73723" y="0"/>
                </a:cubicBezTo>
                <a:close/>
              </a:path>
            </a:pathLst>
          </a:custGeom>
          <a:solidFill>
            <a:srgbClr val="4A5C6A">
              <a:alpha val="20000"/>
            </a:srgbClr>
          </a:solidFill>
          <a:ln/>
        </p:spPr>
        <p:txBody>
          <a:bodyPr/>
          <a:lstStyle/>
          <a:p>
            <a:endParaRPr lang="en-GB"/>
          </a:p>
        </p:txBody>
      </p:sp>
      <p:sp>
        <p:nvSpPr>
          <p:cNvPr id="53" name="Shape 51"/>
          <p:cNvSpPr/>
          <p:nvPr/>
        </p:nvSpPr>
        <p:spPr>
          <a:xfrm>
            <a:off x="6315586" y="5621406"/>
            <a:ext cx="147447" cy="147447"/>
          </a:xfrm>
          <a:custGeom>
            <a:avLst/>
            <a:gdLst/>
            <a:ahLst/>
            <a:cxnLst/>
            <a:rect l="l" t="t" r="r" b="b"/>
            <a:pathLst>
              <a:path w="147447" h="147447">
                <a:moveTo>
                  <a:pt x="73723" y="0"/>
                </a:moveTo>
                <a:cubicBezTo>
                  <a:pt x="75048" y="0"/>
                  <a:pt x="76373" y="288"/>
                  <a:pt x="77582" y="835"/>
                </a:cubicBezTo>
                <a:lnTo>
                  <a:pt x="131838" y="23845"/>
                </a:lnTo>
                <a:cubicBezTo>
                  <a:pt x="138174" y="26523"/>
                  <a:pt x="142897" y="32772"/>
                  <a:pt x="142868" y="40317"/>
                </a:cubicBezTo>
                <a:cubicBezTo>
                  <a:pt x="142724" y="68885"/>
                  <a:pt x="130974" y="121154"/>
                  <a:pt x="81355" y="144912"/>
                </a:cubicBezTo>
                <a:cubicBezTo>
                  <a:pt x="76546" y="147216"/>
                  <a:pt x="70959" y="147216"/>
                  <a:pt x="66149" y="144912"/>
                </a:cubicBezTo>
                <a:cubicBezTo>
                  <a:pt x="16501" y="121154"/>
                  <a:pt x="4780" y="68885"/>
                  <a:pt x="4637" y="40317"/>
                </a:cubicBezTo>
                <a:cubicBezTo>
                  <a:pt x="4608" y="32772"/>
                  <a:pt x="9331" y="26523"/>
                  <a:pt x="15666" y="23845"/>
                </a:cubicBezTo>
                <a:lnTo>
                  <a:pt x="69893" y="835"/>
                </a:lnTo>
                <a:cubicBezTo>
                  <a:pt x="71103" y="288"/>
                  <a:pt x="72399" y="0"/>
                  <a:pt x="73723" y="0"/>
                </a:cubicBezTo>
                <a:close/>
                <a:moveTo>
                  <a:pt x="73723" y="19237"/>
                </a:moveTo>
                <a:lnTo>
                  <a:pt x="73723" y="128123"/>
                </a:lnTo>
                <a:cubicBezTo>
                  <a:pt x="113465" y="108886"/>
                  <a:pt x="124149" y="66265"/>
                  <a:pt x="124408" y="40749"/>
                </a:cubicBezTo>
                <a:lnTo>
                  <a:pt x="73723" y="19266"/>
                </a:lnTo>
                <a:lnTo>
                  <a:pt x="73723" y="19266"/>
                </a:lnTo>
                <a:close/>
              </a:path>
            </a:pathLst>
          </a:custGeom>
          <a:solidFill>
            <a:srgbClr val="006A4A"/>
          </a:solidFill>
          <a:ln/>
        </p:spPr>
        <p:txBody>
          <a:bodyPr/>
          <a:lstStyle/>
          <a:p>
            <a:endParaRPr lang="en-GB"/>
          </a:p>
        </p:txBody>
      </p:sp>
      <p:sp>
        <p:nvSpPr>
          <p:cNvPr id="54" name="Text 52"/>
          <p:cNvSpPr/>
          <p:nvPr/>
        </p:nvSpPr>
        <p:spPr>
          <a:xfrm>
            <a:off x="6592049" y="5621406"/>
            <a:ext cx="1262512" cy="147447"/>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Climate risk stress testing</a:t>
            </a:r>
            <a:endParaRPr lang="en-US" sz="1600" dirty="0"/>
          </a:p>
        </p:txBody>
      </p:sp>
      <p:sp>
        <p:nvSpPr>
          <p:cNvPr id="55" name="Shape 53"/>
          <p:cNvSpPr/>
          <p:nvPr/>
        </p:nvSpPr>
        <p:spPr>
          <a:xfrm>
            <a:off x="6191178" y="6031492"/>
            <a:ext cx="5621406" cy="820172"/>
          </a:xfrm>
          <a:custGeom>
            <a:avLst/>
            <a:gdLst/>
            <a:ahLst/>
            <a:cxnLst/>
            <a:rect l="l" t="t" r="r" b="b"/>
            <a:pathLst>
              <a:path w="5621406" h="820172">
                <a:moveTo>
                  <a:pt x="73725" y="0"/>
                </a:moveTo>
                <a:lnTo>
                  <a:pt x="5547681" y="0"/>
                </a:lnTo>
                <a:cubicBezTo>
                  <a:pt x="5588398" y="0"/>
                  <a:pt x="5621406" y="33008"/>
                  <a:pt x="5621406" y="73725"/>
                </a:cubicBezTo>
                <a:lnTo>
                  <a:pt x="5621406" y="746447"/>
                </a:lnTo>
                <a:cubicBezTo>
                  <a:pt x="5621406" y="787164"/>
                  <a:pt x="5588398" y="820172"/>
                  <a:pt x="5547681" y="820172"/>
                </a:cubicBezTo>
                <a:lnTo>
                  <a:pt x="73725" y="820172"/>
                </a:lnTo>
                <a:cubicBezTo>
                  <a:pt x="33008" y="820172"/>
                  <a:pt x="0" y="787164"/>
                  <a:pt x="0" y="746447"/>
                </a:cubicBezTo>
                <a:lnTo>
                  <a:pt x="0" y="73725"/>
                </a:lnTo>
                <a:cubicBezTo>
                  <a:pt x="0" y="33008"/>
                  <a:pt x="33008" y="0"/>
                  <a:pt x="73725" y="0"/>
                </a:cubicBezTo>
                <a:close/>
              </a:path>
            </a:pathLst>
          </a:custGeom>
          <a:solidFill>
            <a:srgbClr val="0D542B">
              <a:alpha val="20000"/>
            </a:srgbClr>
          </a:solidFill>
          <a:ln w="12700">
            <a:solidFill>
              <a:srgbClr val="00C950">
                <a:alpha val="30196"/>
              </a:srgbClr>
            </a:solidFill>
            <a:prstDash val="solid"/>
          </a:ln>
        </p:spPr>
        <p:txBody>
          <a:bodyPr/>
          <a:lstStyle/>
          <a:p>
            <a:endParaRPr lang="en-GB"/>
          </a:p>
        </p:txBody>
      </p:sp>
      <p:sp>
        <p:nvSpPr>
          <p:cNvPr id="56" name="Text 54"/>
          <p:cNvSpPr/>
          <p:nvPr/>
        </p:nvSpPr>
        <p:spPr>
          <a:xfrm>
            <a:off x="6343232" y="6183546"/>
            <a:ext cx="5381805" cy="184308"/>
          </a:xfrm>
          <a:prstGeom prst="rect">
            <a:avLst/>
          </a:prstGeom>
          <a:noFill/>
          <a:ln/>
        </p:spPr>
        <p:txBody>
          <a:bodyPr wrap="square" lIns="0" tIns="0" rIns="0" bIns="0" rtlCol="0" anchor="ctr"/>
          <a:lstStyle/>
          <a:p>
            <a:pPr>
              <a:lnSpc>
                <a:spcPct val="120000"/>
              </a:lnSpc>
            </a:pPr>
            <a:r>
              <a:rPr lang="en-US" sz="1016" b="1" dirty="0">
                <a:solidFill>
                  <a:srgbClr val="05DF72"/>
                </a:solidFill>
                <a:latin typeface="Quattrocento Sans" pitchFamily="34" charset="0"/>
                <a:ea typeface="Quattrocento Sans" pitchFamily="34" charset="-122"/>
                <a:cs typeface="Quattrocento Sans" pitchFamily="34" charset="-120"/>
              </a:rPr>
              <a:t>Risk Mitigation</a:t>
            </a:r>
            <a:endParaRPr lang="en-US" sz="1600" dirty="0"/>
          </a:p>
        </p:txBody>
      </p:sp>
      <p:sp>
        <p:nvSpPr>
          <p:cNvPr id="57" name="Text 55"/>
          <p:cNvSpPr/>
          <p:nvPr/>
        </p:nvSpPr>
        <p:spPr>
          <a:xfrm>
            <a:off x="6343232" y="6404717"/>
            <a:ext cx="5372590" cy="294893"/>
          </a:xfrm>
          <a:prstGeom prst="rect">
            <a:avLst/>
          </a:prstGeom>
          <a:noFill/>
          <a:ln/>
        </p:spPr>
        <p:txBody>
          <a:bodyPr wrap="square" lIns="0" tIns="0" rIns="0" bIns="0" rtlCol="0" anchor="ctr"/>
          <a:lstStyle/>
          <a:p>
            <a:pPr>
              <a:lnSpc>
                <a:spcPct val="110000"/>
              </a:lnSpc>
            </a:pPr>
            <a:r>
              <a:rPr lang="en-US" sz="871" dirty="0">
                <a:solidFill>
                  <a:srgbClr val="E0E2E5">
                    <a:alpha val="80000"/>
                  </a:srgbClr>
                </a:solidFill>
                <a:latin typeface="Quattrocento Sans" pitchFamily="34" charset="0"/>
                <a:ea typeface="Quattrocento Sans" pitchFamily="34" charset="-122"/>
                <a:cs typeface="Quattrocento Sans" pitchFamily="34" charset="-120"/>
              </a:rPr>
              <a:t>Strong capital generation (148bps pro forma), conservative lending criteria, and diversified portfolio provide resilience against economic uncertainty.</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Governance</a:t>
            </a:r>
            <a:endParaRPr lang="en-US" sz="1600" dirty="0"/>
          </a:p>
        </p:txBody>
      </p:sp>
      <p:sp>
        <p:nvSpPr>
          <p:cNvPr id="3" name="Text 1"/>
          <p:cNvSpPr/>
          <p:nvPr/>
        </p:nvSpPr>
        <p:spPr>
          <a:xfrm>
            <a:off x="381000" y="647700"/>
            <a:ext cx="43243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Executive Leadership Team</a:t>
            </a:r>
            <a:endParaRPr lang="en-US" sz="1600" dirty="0"/>
          </a:p>
        </p:txBody>
      </p:sp>
      <p:sp>
        <p:nvSpPr>
          <p:cNvPr id="4" name="Text 2"/>
          <p:cNvSpPr/>
          <p:nvPr/>
        </p:nvSpPr>
        <p:spPr>
          <a:xfrm>
            <a:off x="10676334" y="571500"/>
            <a:ext cx="1133475"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Group CEO</a:t>
            </a:r>
            <a:endParaRPr lang="en-US" sz="1600" dirty="0"/>
          </a:p>
        </p:txBody>
      </p:sp>
      <p:sp>
        <p:nvSpPr>
          <p:cNvPr id="5" name="Text 3"/>
          <p:cNvSpPr/>
          <p:nvPr/>
        </p:nvSpPr>
        <p:spPr>
          <a:xfrm>
            <a:off x="10647759" y="762000"/>
            <a:ext cx="1162050" cy="266700"/>
          </a:xfrm>
          <a:prstGeom prst="rect">
            <a:avLst/>
          </a:prstGeom>
          <a:noFill/>
          <a:ln/>
        </p:spPr>
        <p:txBody>
          <a:bodyPr wrap="square" lIns="0" tIns="0" rIns="0" bIns="0" rtlCol="0" anchor="ctr"/>
          <a:lstStyle/>
          <a:p>
            <a:pPr algn="r">
              <a:lnSpc>
                <a:spcPct val="120000"/>
              </a:lnSpc>
            </a:pPr>
            <a:r>
              <a:rPr lang="en-US" sz="1500" b="1" dirty="0">
                <a:solidFill>
                  <a:srgbClr val="C0A062"/>
                </a:solidFill>
                <a:latin typeface="Quattrocento Sans" pitchFamily="34" charset="0"/>
                <a:ea typeface="Quattrocento Sans" pitchFamily="34" charset="-122"/>
                <a:cs typeface="Quattrocento Sans" pitchFamily="34" charset="-120"/>
              </a:rPr>
              <a:t>Charlie Nunn</a:t>
            </a:r>
            <a:endParaRPr lang="en-US" sz="1600" dirty="0"/>
          </a:p>
        </p:txBody>
      </p:sp>
      <p:sp>
        <p:nvSpPr>
          <p:cNvPr id="6" name="Shape 4"/>
          <p:cNvSpPr/>
          <p:nvPr/>
        </p:nvSpPr>
        <p:spPr>
          <a:xfrm>
            <a:off x="381000" y="11049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Shape 5"/>
          <p:cNvSpPr/>
          <p:nvPr/>
        </p:nvSpPr>
        <p:spPr>
          <a:xfrm>
            <a:off x="385763" y="128111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8" name="Shape 6"/>
          <p:cNvSpPr/>
          <p:nvPr/>
        </p:nvSpPr>
        <p:spPr>
          <a:xfrm>
            <a:off x="542925" y="14382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06A4A"/>
          </a:solidFill>
          <a:ln/>
        </p:spPr>
        <p:txBody>
          <a:bodyPr/>
          <a:lstStyle/>
          <a:p>
            <a:endParaRPr lang="en-GB"/>
          </a:p>
        </p:txBody>
      </p:sp>
      <p:sp>
        <p:nvSpPr>
          <p:cNvPr id="9" name="Text 7"/>
          <p:cNvSpPr/>
          <p:nvPr/>
        </p:nvSpPr>
        <p:spPr>
          <a:xfrm>
            <a:off x="500063" y="143827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CN</a:t>
            </a:r>
            <a:endParaRPr lang="en-US" sz="1600" dirty="0"/>
          </a:p>
        </p:txBody>
      </p:sp>
      <p:sp>
        <p:nvSpPr>
          <p:cNvPr id="10" name="Text 8"/>
          <p:cNvSpPr/>
          <p:nvPr/>
        </p:nvSpPr>
        <p:spPr>
          <a:xfrm>
            <a:off x="542925" y="197167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Charlie Nunn</a:t>
            </a:r>
            <a:endParaRPr lang="en-US" sz="1600" dirty="0"/>
          </a:p>
        </p:txBody>
      </p:sp>
      <p:sp>
        <p:nvSpPr>
          <p:cNvPr id="11" name="Text 9"/>
          <p:cNvSpPr/>
          <p:nvPr/>
        </p:nvSpPr>
        <p:spPr>
          <a:xfrm>
            <a:off x="542925" y="216217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Group CEO</a:t>
            </a:r>
            <a:endParaRPr lang="en-US" sz="1600" dirty="0"/>
          </a:p>
        </p:txBody>
      </p:sp>
      <p:sp>
        <p:nvSpPr>
          <p:cNvPr id="12" name="Text 10"/>
          <p:cNvSpPr/>
          <p:nvPr/>
        </p:nvSpPr>
        <p:spPr>
          <a:xfrm>
            <a:off x="542925" y="235267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Aug 2021. Ex-HSBC Wealth &amp; Personal Banking CEO, McKinsey &amp; Accenture partner.</a:t>
            </a:r>
            <a:endParaRPr lang="en-US" sz="1600" dirty="0"/>
          </a:p>
        </p:txBody>
      </p:sp>
      <p:sp>
        <p:nvSpPr>
          <p:cNvPr id="13" name="Shape 11"/>
          <p:cNvSpPr/>
          <p:nvPr/>
        </p:nvSpPr>
        <p:spPr>
          <a:xfrm>
            <a:off x="3271838" y="128111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14" name="Shape 12"/>
          <p:cNvSpPr/>
          <p:nvPr/>
        </p:nvSpPr>
        <p:spPr>
          <a:xfrm>
            <a:off x="3429000" y="14382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5C6A"/>
          </a:solidFill>
          <a:ln/>
        </p:spPr>
        <p:txBody>
          <a:bodyPr/>
          <a:lstStyle/>
          <a:p>
            <a:endParaRPr lang="en-GB"/>
          </a:p>
        </p:txBody>
      </p:sp>
      <p:sp>
        <p:nvSpPr>
          <p:cNvPr id="15" name="Text 13"/>
          <p:cNvSpPr/>
          <p:nvPr/>
        </p:nvSpPr>
        <p:spPr>
          <a:xfrm>
            <a:off x="3386138" y="143827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WC</a:t>
            </a:r>
            <a:endParaRPr lang="en-US" sz="1600" dirty="0"/>
          </a:p>
        </p:txBody>
      </p:sp>
      <p:sp>
        <p:nvSpPr>
          <p:cNvPr id="16" name="Text 14"/>
          <p:cNvSpPr/>
          <p:nvPr/>
        </p:nvSpPr>
        <p:spPr>
          <a:xfrm>
            <a:off x="3429000" y="197167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William Chalmers</a:t>
            </a:r>
            <a:endParaRPr lang="en-US" sz="1600" dirty="0"/>
          </a:p>
        </p:txBody>
      </p:sp>
      <p:sp>
        <p:nvSpPr>
          <p:cNvPr id="17" name="Text 15"/>
          <p:cNvSpPr/>
          <p:nvPr/>
        </p:nvSpPr>
        <p:spPr>
          <a:xfrm>
            <a:off x="3429000" y="216217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CFO</a:t>
            </a:r>
            <a:endParaRPr lang="en-US" sz="1600" dirty="0"/>
          </a:p>
        </p:txBody>
      </p:sp>
      <p:sp>
        <p:nvSpPr>
          <p:cNvPr id="18" name="Text 16"/>
          <p:cNvSpPr/>
          <p:nvPr/>
        </p:nvSpPr>
        <p:spPr>
          <a:xfrm>
            <a:off x="3429000" y="235267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Aug 2019. Ex-Morgan Stanley &amp; JP Morgan. Interim Group CEO May-Aug 2021.</a:t>
            </a:r>
            <a:endParaRPr lang="en-US" sz="1600" dirty="0"/>
          </a:p>
        </p:txBody>
      </p:sp>
      <p:sp>
        <p:nvSpPr>
          <p:cNvPr id="19" name="Shape 17"/>
          <p:cNvSpPr/>
          <p:nvPr/>
        </p:nvSpPr>
        <p:spPr>
          <a:xfrm>
            <a:off x="6157913" y="128111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20" name="Shape 18"/>
          <p:cNvSpPr/>
          <p:nvPr/>
        </p:nvSpPr>
        <p:spPr>
          <a:xfrm>
            <a:off x="6315075" y="14382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5C6A">
              <a:alpha val="70196"/>
            </a:srgbClr>
          </a:solidFill>
          <a:ln/>
        </p:spPr>
        <p:txBody>
          <a:bodyPr/>
          <a:lstStyle/>
          <a:p>
            <a:endParaRPr lang="en-GB"/>
          </a:p>
        </p:txBody>
      </p:sp>
      <p:sp>
        <p:nvSpPr>
          <p:cNvPr id="21" name="Text 19"/>
          <p:cNvSpPr/>
          <p:nvPr/>
        </p:nvSpPr>
        <p:spPr>
          <a:xfrm>
            <a:off x="6272213" y="143827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RvK</a:t>
            </a:r>
            <a:endParaRPr lang="en-US" sz="1600" dirty="0"/>
          </a:p>
        </p:txBody>
      </p:sp>
      <p:sp>
        <p:nvSpPr>
          <p:cNvPr id="22" name="Text 20"/>
          <p:cNvSpPr/>
          <p:nvPr/>
        </p:nvSpPr>
        <p:spPr>
          <a:xfrm>
            <a:off x="6315075" y="197167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Ron van Kemenade</a:t>
            </a:r>
            <a:endParaRPr lang="en-US" sz="1600" dirty="0"/>
          </a:p>
        </p:txBody>
      </p:sp>
      <p:sp>
        <p:nvSpPr>
          <p:cNvPr id="23" name="Text 21"/>
          <p:cNvSpPr/>
          <p:nvPr/>
        </p:nvSpPr>
        <p:spPr>
          <a:xfrm>
            <a:off x="6315075" y="216217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COO</a:t>
            </a:r>
            <a:endParaRPr lang="en-US" sz="1600" dirty="0"/>
          </a:p>
        </p:txBody>
      </p:sp>
      <p:sp>
        <p:nvSpPr>
          <p:cNvPr id="24" name="Text 22"/>
          <p:cNvSpPr/>
          <p:nvPr/>
        </p:nvSpPr>
        <p:spPr>
          <a:xfrm>
            <a:off x="6315075" y="235267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June 2023. Ex-ING CTO (20 years). Leading technology &amp; data transformation.</a:t>
            </a:r>
            <a:endParaRPr lang="en-US" sz="1600" dirty="0"/>
          </a:p>
        </p:txBody>
      </p:sp>
      <p:sp>
        <p:nvSpPr>
          <p:cNvPr id="25" name="Shape 23"/>
          <p:cNvSpPr/>
          <p:nvPr/>
        </p:nvSpPr>
        <p:spPr>
          <a:xfrm>
            <a:off x="9043988" y="128111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26" name="Shape 24"/>
          <p:cNvSpPr/>
          <p:nvPr/>
        </p:nvSpPr>
        <p:spPr>
          <a:xfrm>
            <a:off x="9201150" y="14382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93CB8"/>
          </a:solidFill>
          <a:ln/>
        </p:spPr>
        <p:txBody>
          <a:bodyPr/>
          <a:lstStyle/>
          <a:p>
            <a:endParaRPr lang="en-GB"/>
          </a:p>
        </p:txBody>
      </p:sp>
      <p:sp>
        <p:nvSpPr>
          <p:cNvPr id="27" name="Text 25"/>
          <p:cNvSpPr/>
          <p:nvPr/>
        </p:nvSpPr>
        <p:spPr>
          <a:xfrm>
            <a:off x="9158288" y="143827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CB</a:t>
            </a:r>
            <a:endParaRPr lang="en-US" sz="1600" dirty="0"/>
          </a:p>
        </p:txBody>
      </p:sp>
      <p:sp>
        <p:nvSpPr>
          <p:cNvPr id="28" name="Text 26"/>
          <p:cNvSpPr/>
          <p:nvPr/>
        </p:nvSpPr>
        <p:spPr>
          <a:xfrm>
            <a:off x="9201150" y="197167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Chirantan Barua</a:t>
            </a:r>
            <a:endParaRPr lang="en-US" sz="1600" dirty="0"/>
          </a:p>
        </p:txBody>
      </p:sp>
      <p:sp>
        <p:nvSpPr>
          <p:cNvPr id="29" name="Text 27"/>
          <p:cNvSpPr/>
          <p:nvPr/>
        </p:nvSpPr>
        <p:spPr>
          <a:xfrm>
            <a:off x="9201150" y="216217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CEO, Scottish Widows</a:t>
            </a:r>
            <a:endParaRPr lang="en-US" sz="1600" dirty="0"/>
          </a:p>
        </p:txBody>
      </p:sp>
      <p:sp>
        <p:nvSpPr>
          <p:cNvPr id="30" name="Text 28"/>
          <p:cNvSpPr/>
          <p:nvPr/>
        </p:nvSpPr>
        <p:spPr>
          <a:xfrm>
            <a:off x="9201150" y="235267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May 2023. Ex-HSBC Global Head of Strategy, McKinsey partner. 10M+ customers.</a:t>
            </a:r>
            <a:endParaRPr lang="en-US" sz="1600" dirty="0"/>
          </a:p>
        </p:txBody>
      </p:sp>
      <p:sp>
        <p:nvSpPr>
          <p:cNvPr id="31" name="Shape 29"/>
          <p:cNvSpPr/>
          <p:nvPr/>
        </p:nvSpPr>
        <p:spPr>
          <a:xfrm>
            <a:off x="385763" y="297656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32" name="Shape 30"/>
          <p:cNvSpPr/>
          <p:nvPr/>
        </p:nvSpPr>
        <p:spPr>
          <a:xfrm>
            <a:off x="542925" y="31337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6E11B0"/>
          </a:solidFill>
          <a:ln/>
        </p:spPr>
        <p:txBody>
          <a:bodyPr/>
          <a:lstStyle/>
          <a:p>
            <a:endParaRPr lang="en-GB"/>
          </a:p>
        </p:txBody>
      </p:sp>
      <p:sp>
        <p:nvSpPr>
          <p:cNvPr id="33" name="Text 31"/>
          <p:cNvSpPr/>
          <p:nvPr/>
        </p:nvSpPr>
        <p:spPr>
          <a:xfrm>
            <a:off x="500063" y="313372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EC</a:t>
            </a:r>
            <a:endParaRPr lang="en-US" sz="1600" dirty="0"/>
          </a:p>
        </p:txBody>
      </p:sp>
      <p:sp>
        <p:nvSpPr>
          <p:cNvPr id="34" name="Text 32"/>
          <p:cNvSpPr/>
          <p:nvPr/>
        </p:nvSpPr>
        <p:spPr>
          <a:xfrm>
            <a:off x="542925" y="366712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Elyn Corfield</a:t>
            </a:r>
            <a:endParaRPr lang="en-US" sz="1600" dirty="0"/>
          </a:p>
        </p:txBody>
      </p:sp>
      <p:sp>
        <p:nvSpPr>
          <p:cNvPr id="35" name="Text 33"/>
          <p:cNvSpPr/>
          <p:nvPr/>
        </p:nvSpPr>
        <p:spPr>
          <a:xfrm>
            <a:off x="542925" y="385762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CEO, Business &amp; Commercial</a:t>
            </a:r>
            <a:endParaRPr lang="en-US" sz="1600" dirty="0"/>
          </a:p>
        </p:txBody>
      </p:sp>
      <p:sp>
        <p:nvSpPr>
          <p:cNvPr id="36" name="Text 34"/>
          <p:cNvSpPr/>
          <p:nvPr/>
        </p:nvSpPr>
        <p:spPr>
          <a:xfrm>
            <a:off x="542925" y="404812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July 2022. Ex-MBNA CFO. Leaving 2026, replaced by Amanda Murphy (ex-HSBC).</a:t>
            </a:r>
            <a:endParaRPr lang="en-US" sz="1600" dirty="0"/>
          </a:p>
        </p:txBody>
      </p:sp>
      <p:sp>
        <p:nvSpPr>
          <p:cNvPr id="37" name="Shape 35"/>
          <p:cNvSpPr/>
          <p:nvPr/>
        </p:nvSpPr>
        <p:spPr>
          <a:xfrm>
            <a:off x="3271838" y="297656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38" name="Shape 36"/>
          <p:cNvSpPr/>
          <p:nvPr/>
        </p:nvSpPr>
        <p:spPr>
          <a:xfrm>
            <a:off x="3429000" y="31337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9F0712"/>
          </a:solidFill>
          <a:ln/>
        </p:spPr>
        <p:txBody>
          <a:bodyPr/>
          <a:lstStyle/>
          <a:p>
            <a:endParaRPr lang="en-GB"/>
          </a:p>
        </p:txBody>
      </p:sp>
      <p:sp>
        <p:nvSpPr>
          <p:cNvPr id="39" name="Text 37"/>
          <p:cNvSpPr/>
          <p:nvPr/>
        </p:nvSpPr>
        <p:spPr>
          <a:xfrm>
            <a:off x="3386138" y="313372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JO</a:t>
            </a:r>
            <a:endParaRPr lang="en-US" sz="1600" dirty="0"/>
          </a:p>
        </p:txBody>
      </p:sp>
      <p:sp>
        <p:nvSpPr>
          <p:cNvPr id="40" name="Text 38"/>
          <p:cNvSpPr/>
          <p:nvPr/>
        </p:nvSpPr>
        <p:spPr>
          <a:xfrm>
            <a:off x="3429000" y="366712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Jayne Opperman</a:t>
            </a:r>
            <a:endParaRPr lang="en-US" sz="1600" dirty="0"/>
          </a:p>
        </p:txBody>
      </p:sp>
      <p:sp>
        <p:nvSpPr>
          <p:cNvPr id="41" name="Text 39"/>
          <p:cNvSpPr/>
          <p:nvPr/>
        </p:nvSpPr>
        <p:spPr>
          <a:xfrm>
            <a:off x="3429000" y="385762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CEO, Consumer Lending</a:t>
            </a:r>
            <a:endParaRPr lang="en-US" sz="1600" dirty="0"/>
          </a:p>
        </p:txBody>
      </p:sp>
      <p:sp>
        <p:nvSpPr>
          <p:cNvPr id="42" name="Text 40"/>
          <p:cNvSpPr/>
          <p:nvPr/>
        </p:nvSpPr>
        <p:spPr>
          <a:xfrm>
            <a:off x="3429000" y="404812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2024. Ex-Barclays, Citi, Westpac. Leading mortgage, cards &amp; motor finance.</a:t>
            </a:r>
            <a:endParaRPr lang="en-US" sz="1600" dirty="0"/>
          </a:p>
        </p:txBody>
      </p:sp>
      <p:sp>
        <p:nvSpPr>
          <p:cNvPr id="43" name="Shape 41"/>
          <p:cNvSpPr/>
          <p:nvPr/>
        </p:nvSpPr>
        <p:spPr>
          <a:xfrm>
            <a:off x="6157913" y="297656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4" name="Shape 42"/>
          <p:cNvSpPr/>
          <p:nvPr/>
        </p:nvSpPr>
        <p:spPr>
          <a:xfrm>
            <a:off x="6315075" y="31337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72AAC"/>
          </a:solidFill>
          <a:ln/>
        </p:spPr>
        <p:txBody>
          <a:bodyPr/>
          <a:lstStyle/>
          <a:p>
            <a:endParaRPr lang="en-GB"/>
          </a:p>
        </p:txBody>
      </p:sp>
      <p:sp>
        <p:nvSpPr>
          <p:cNvPr id="45" name="Text 43"/>
          <p:cNvSpPr/>
          <p:nvPr/>
        </p:nvSpPr>
        <p:spPr>
          <a:xfrm>
            <a:off x="6272213" y="313372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JS</a:t>
            </a:r>
            <a:endParaRPr lang="en-US" sz="1600" dirty="0"/>
          </a:p>
        </p:txBody>
      </p:sp>
      <p:sp>
        <p:nvSpPr>
          <p:cNvPr id="46" name="Text 44"/>
          <p:cNvSpPr/>
          <p:nvPr/>
        </p:nvSpPr>
        <p:spPr>
          <a:xfrm>
            <a:off x="6315075" y="366712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Jasjyot Singh OBE</a:t>
            </a:r>
            <a:endParaRPr lang="en-US" sz="1600" dirty="0"/>
          </a:p>
        </p:txBody>
      </p:sp>
      <p:sp>
        <p:nvSpPr>
          <p:cNvPr id="47" name="Text 45"/>
          <p:cNvSpPr/>
          <p:nvPr/>
        </p:nvSpPr>
        <p:spPr>
          <a:xfrm>
            <a:off x="6315075" y="385762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CEO, Consumer Relationships</a:t>
            </a:r>
            <a:endParaRPr lang="en-US" sz="1600" dirty="0"/>
          </a:p>
        </p:txBody>
      </p:sp>
      <p:sp>
        <p:nvSpPr>
          <p:cNvPr id="48" name="Text 46"/>
          <p:cNvSpPr/>
          <p:nvPr/>
        </p:nvSpPr>
        <p:spPr>
          <a:xfrm>
            <a:off x="6315075" y="404812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16 years at Lloyds. OBE for COVID-19 financial services contribution. Digital &amp; branches.</a:t>
            </a:r>
            <a:endParaRPr lang="en-US" sz="1600" dirty="0"/>
          </a:p>
        </p:txBody>
      </p:sp>
      <p:sp>
        <p:nvSpPr>
          <p:cNvPr id="49" name="Shape 47"/>
          <p:cNvSpPr/>
          <p:nvPr/>
        </p:nvSpPr>
        <p:spPr>
          <a:xfrm>
            <a:off x="9043988" y="2976563"/>
            <a:ext cx="2762250" cy="1533525"/>
          </a:xfrm>
          <a:custGeom>
            <a:avLst/>
            <a:gdLst/>
            <a:ahLst/>
            <a:cxnLst/>
            <a:rect l="l" t="t" r="r" b="b"/>
            <a:pathLst>
              <a:path w="2762250" h="1533525">
                <a:moveTo>
                  <a:pt x="76201" y="0"/>
                </a:moveTo>
                <a:lnTo>
                  <a:pt x="2686049" y="0"/>
                </a:lnTo>
                <a:cubicBezTo>
                  <a:pt x="2728106" y="0"/>
                  <a:pt x="2762250" y="34144"/>
                  <a:pt x="2762250" y="76201"/>
                </a:cubicBezTo>
                <a:lnTo>
                  <a:pt x="2762250" y="1457324"/>
                </a:lnTo>
                <a:cubicBezTo>
                  <a:pt x="2762250" y="1499381"/>
                  <a:pt x="2728106" y="1533525"/>
                  <a:pt x="2686049" y="1533525"/>
                </a:cubicBezTo>
                <a:lnTo>
                  <a:pt x="76201" y="1533525"/>
                </a:lnTo>
                <a:cubicBezTo>
                  <a:pt x="34144" y="1533525"/>
                  <a:pt x="0" y="1499381"/>
                  <a:pt x="0" y="1457324"/>
                </a:cubicBezTo>
                <a:lnTo>
                  <a:pt x="0" y="76201"/>
                </a:lnTo>
                <a:cubicBezTo>
                  <a:pt x="0" y="34144"/>
                  <a:pt x="34144" y="0"/>
                  <a:pt x="76201"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50" name="Shape 48"/>
          <p:cNvSpPr/>
          <p:nvPr/>
        </p:nvSpPr>
        <p:spPr>
          <a:xfrm>
            <a:off x="9201150" y="31337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05F5A"/>
          </a:solidFill>
          <a:ln/>
        </p:spPr>
        <p:txBody>
          <a:bodyPr/>
          <a:lstStyle/>
          <a:p>
            <a:endParaRPr lang="en-GB"/>
          </a:p>
        </p:txBody>
      </p:sp>
      <p:sp>
        <p:nvSpPr>
          <p:cNvPr id="51" name="Text 49"/>
          <p:cNvSpPr/>
          <p:nvPr/>
        </p:nvSpPr>
        <p:spPr>
          <a:xfrm>
            <a:off x="9158288" y="3133725"/>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Quattrocento Sans" pitchFamily="34" charset="0"/>
                <a:ea typeface="Quattrocento Sans" pitchFamily="34" charset="-122"/>
                <a:cs typeface="Quattrocento Sans" pitchFamily="34" charset="-120"/>
              </a:rPr>
              <a:t>SS</a:t>
            </a:r>
            <a:endParaRPr lang="en-US" sz="1600" dirty="0"/>
          </a:p>
        </p:txBody>
      </p:sp>
      <p:sp>
        <p:nvSpPr>
          <p:cNvPr id="52" name="Text 50"/>
          <p:cNvSpPr/>
          <p:nvPr/>
        </p:nvSpPr>
        <p:spPr>
          <a:xfrm>
            <a:off x="9201150" y="3667125"/>
            <a:ext cx="25146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Stephen Shelley</a:t>
            </a:r>
            <a:endParaRPr lang="en-US" sz="1600" dirty="0"/>
          </a:p>
        </p:txBody>
      </p:sp>
      <p:sp>
        <p:nvSpPr>
          <p:cNvPr id="53" name="Text 51"/>
          <p:cNvSpPr/>
          <p:nvPr/>
        </p:nvSpPr>
        <p:spPr>
          <a:xfrm>
            <a:off x="9201150" y="3857625"/>
            <a:ext cx="2505075" cy="152400"/>
          </a:xfrm>
          <a:prstGeom prst="rect">
            <a:avLst/>
          </a:prstGeom>
          <a:noFill/>
          <a:ln/>
        </p:spPr>
        <p:txBody>
          <a:bodyPr wrap="square" lIns="0" tIns="0" rIns="0" bIns="0" rtlCol="0" anchor="ctr"/>
          <a:lstStyle/>
          <a:p>
            <a:pPr>
              <a:lnSpc>
                <a:spcPct val="110000"/>
              </a:lnSpc>
            </a:pPr>
            <a:r>
              <a:rPr lang="en-US" sz="900" b="1" dirty="0">
                <a:solidFill>
                  <a:srgbClr val="C0A062"/>
                </a:solidFill>
                <a:latin typeface="Quattrocento Sans" pitchFamily="34" charset="0"/>
                <a:ea typeface="Quattrocento Sans" pitchFamily="34" charset="-122"/>
                <a:cs typeface="Quattrocento Sans" pitchFamily="34" charset="-120"/>
              </a:rPr>
              <a:t>Chief Risk Officer</a:t>
            </a:r>
            <a:endParaRPr lang="en-US" sz="1600" dirty="0"/>
          </a:p>
        </p:txBody>
      </p:sp>
      <p:sp>
        <p:nvSpPr>
          <p:cNvPr id="54" name="Text 52"/>
          <p:cNvSpPr/>
          <p:nvPr/>
        </p:nvSpPr>
        <p:spPr>
          <a:xfrm>
            <a:off x="9201150" y="4048125"/>
            <a:ext cx="2505075" cy="304800"/>
          </a:xfrm>
          <a:prstGeom prst="rect">
            <a:avLst/>
          </a:prstGeom>
          <a:noFill/>
          <a:ln/>
        </p:spPr>
        <p:txBody>
          <a:bodyPr wrap="square" lIns="0" tIns="0" rIns="0" bIns="0" rtlCol="0" anchor="ctr"/>
          <a:lstStyle/>
          <a:p>
            <a:pPr>
              <a:lnSpc>
                <a:spcPct val="110000"/>
              </a:lnSpc>
            </a:pPr>
            <a:r>
              <a:rPr lang="en-US" sz="900" dirty="0">
                <a:solidFill>
                  <a:srgbClr val="E0E2E5">
                    <a:alpha val="60000"/>
                  </a:srgbClr>
                </a:solidFill>
                <a:latin typeface="Quattrocento Sans" pitchFamily="34" charset="0"/>
                <a:ea typeface="Quattrocento Sans" pitchFamily="34" charset="-122"/>
                <a:cs typeface="Quattrocento Sans" pitchFamily="34" charset="-120"/>
              </a:rPr>
              <a:t>Since Sept 2017. Ex-Barclays Corporate CRO. Credit &amp; risk management expertise.</a:t>
            </a:r>
            <a:endParaRPr lang="en-US" sz="1600" dirty="0"/>
          </a:p>
        </p:txBody>
      </p:sp>
      <p:sp>
        <p:nvSpPr>
          <p:cNvPr id="55" name="Shape 53"/>
          <p:cNvSpPr/>
          <p:nvPr/>
        </p:nvSpPr>
        <p:spPr>
          <a:xfrm>
            <a:off x="381000" y="63627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006A4A"/>
          </a:solidFill>
          <a:ln/>
        </p:spPr>
        <p:txBody>
          <a:bodyPr/>
          <a:lstStyle/>
          <a:p>
            <a:endParaRPr lang="en-GB"/>
          </a:p>
        </p:txBody>
      </p:sp>
      <p:sp>
        <p:nvSpPr>
          <p:cNvPr id="56" name="Text 54"/>
          <p:cNvSpPr/>
          <p:nvPr/>
        </p:nvSpPr>
        <p:spPr>
          <a:xfrm>
            <a:off x="533400" y="6324600"/>
            <a:ext cx="1762125"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Executive Committee: 14 members</a:t>
            </a:r>
            <a:endParaRPr lang="en-US" sz="1600" dirty="0"/>
          </a:p>
        </p:txBody>
      </p:sp>
      <p:sp>
        <p:nvSpPr>
          <p:cNvPr id="57" name="Shape 55"/>
          <p:cNvSpPr/>
          <p:nvPr/>
        </p:nvSpPr>
        <p:spPr>
          <a:xfrm>
            <a:off x="2466380" y="63627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A5C6A"/>
          </a:solidFill>
          <a:ln/>
        </p:spPr>
        <p:txBody>
          <a:bodyPr/>
          <a:lstStyle/>
          <a:p>
            <a:endParaRPr lang="en-GB"/>
          </a:p>
        </p:txBody>
      </p:sp>
      <p:sp>
        <p:nvSpPr>
          <p:cNvPr id="58" name="Text 56"/>
          <p:cNvSpPr/>
          <p:nvPr/>
        </p:nvSpPr>
        <p:spPr>
          <a:xfrm>
            <a:off x="2618780" y="6324600"/>
            <a:ext cx="1924050"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Board Chair: Sir Robin Budenberg CBE</a:t>
            </a:r>
            <a:endParaRPr lang="en-US" sz="1600" dirty="0"/>
          </a:p>
        </p:txBody>
      </p:sp>
      <p:sp>
        <p:nvSpPr>
          <p:cNvPr id="59" name="Shape 57"/>
          <p:cNvSpPr/>
          <p:nvPr/>
        </p:nvSpPr>
        <p:spPr>
          <a:xfrm>
            <a:off x="10628858" y="63627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0A062"/>
          </a:solidFill>
          <a:ln/>
        </p:spPr>
        <p:txBody>
          <a:bodyPr/>
          <a:lstStyle/>
          <a:p>
            <a:endParaRPr lang="en-GB"/>
          </a:p>
        </p:txBody>
      </p:sp>
      <p:sp>
        <p:nvSpPr>
          <p:cNvPr id="60" name="Text 58"/>
          <p:cNvSpPr/>
          <p:nvPr/>
        </p:nvSpPr>
        <p:spPr>
          <a:xfrm>
            <a:off x="10781258" y="6324600"/>
            <a:ext cx="1085850" cy="152400"/>
          </a:xfrm>
          <a:prstGeom prst="rect">
            <a:avLst/>
          </a:prstGeom>
          <a:noFill/>
          <a:ln/>
        </p:spPr>
        <p:txBody>
          <a:bodyPr wrap="square" lIns="0" tIns="0" rIns="0" bIns="0" rtlCol="0" anchor="ctr"/>
          <a:lstStyle/>
          <a:p>
            <a:pPr>
              <a:lnSpc>
                <a:spcPct val="110000"/>
              </a:lnSpc>
            </a:pPr>
            <a:r>
              <a:rPr lang="en-US" sz="900" dirty="0">
                <a:solidFill>
                  <a:srgbClr val="E0E2E5">
                    <a:alpha val="50000"/>
                  </a:srgbClr>
                </a:solidFill>
                <a:latin typeface="Quattrocento Sans" pitchFamily="34" charset="0"/>
                <a:ea typeface="Quattrocento Sans" pitchFamily="34" charset="-122"/>
                <a:cs typeface="Quattrocento Sans" pitchFamily="34" charset="-120"/>
              </a:rPr>
              <a:t>Employees: ~63,000</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87150" cy="152400"/>
          </a:xfrm>
          <a:prstGeom prst="rect">
            <a:avLst/>
          </a:prstGeom>
          <a:noFill/>
          <a:ln/>
        </p:spPr>
        <p:txBody>
          <a:bodyPr wrap="square" lIns="0" tIns="0" rIns="0" bIns="0" rtlCol="0" anchor="ctr"/>
          <a:lstStyle/>
          <a:p>
            <a:pPr>
              <a:lnSpc>
                <a:spcPct val="110000"/>
              </a:lnSpc>
            </a:pPr>
            <a:r>
              <a:rPr lang="en-US" sz="900" b="1" kern="0" spc="90" dirty="0">
                <a:solidFill>
                  <a:srgbClr val="C0A062"/>
                </a:solidFill>
                <a:latin typeface="Quattrocento Sans" pitchFamily="34" charset="0"/>
                <a:ea typeface="Quattrocento Sans" pitchFamily="34" charset="-122"/>
                <a:cs typeface="Quattrocento Sans" pitchFamily="34" charset="-120"/>
              </a:rPr>
              <a:t>Forward Guidance</a:t>
            </a:r>
            <a:endParaRPr lang="en-US" sz="1600" dirty="0"/>
          </a:p>
        </p:txBody>
      </p:sp>
      <p:sp>
        <p:nvSpPr>
          <p:cNvPr id="3" name="Text 1"/>
          <p:cNvSpPr/>
          <p:nvPr/>
        </p:nvSpPr>
        <p:spPr>
          <a:xfrm>
            <a:off x="381000" y="762000"/>
            <a:ext cx="320040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Liter" pitchFamily="34" charset="0"/>
                <a:ea typeface="Liter" pitchFamily="34" charset="-122"/>
                <a:cs typeface="Liter" pitchFamily="34" charset="-120"/>
              </a:rPr>
              <a:t>2025-2026 Outlook</a:t>
            </a:r>
            <a:endParaRPr lang="en-US" sz="1600" dirty="0"/>
          </a:p>
        </p:txBody>
      </p:sp>
      <p:sp>
        <p:nvSpPr>
          <p:cNvPr id="4" name="Text 2"/>
          <p:cNvSpPr/>
          <p:nvPr/>
        </p:nvSpPr>
        <p:spPr>
          <a:xfrm>
            <a:off x="10595818" y="571500"/>
            <a:ext cx="1219200" cy="381000"/>
          </a:xfrm>
          <a:prstGeom prst="rect">
            <a:avLst/>
          </a:prstGeom>
          <a:noFill/>
          <a:ln/>
        </p:spPr>
        <p:txBody>
          <a:bodyPr wrap="square" lIns="0" tIns="0" rIns="0" bIns="0" rtlCol="0" anchor="ctr"/>
          <a:lstStyle/>
          <a:p>
            <a:pPr algn="r">
              <a:lnSpc>
                <a:spcPct val="90000"/>
              </a:lnSpc>
            </a:pPr>
            <a:r>
              <a:rPr lang="en-US" sz="2700" b="1" dirty="0">
                <a:solidFill>
                  <a:srgbClr val="C0A062"/>
                </a:solidFill>
                <a:latin typeface="Quattrocento Sans" pitchFamily="34" charset="0"/>
                <a:ea typeface="Quattrocento Sans" pitchFamily="34" charset="-122"/>
                <a:cs typeface="Quattrocento Sans" pitchFamily="34" charset="-120"/>
              </a:rPr>
              <a:t>13.5%</a:t>
            </a:r>
            <a:endParaRPr lang="en-US" sz="1600" dirty="0"/>
          </a:p>
        </p:txBody>
      </p:sp>
      <p:sp>
        <p:nvSpPr>
          <p:cNvPr id="5" name="Text 3"/>
          <p:cNvSpPr/>
          <p:nvPr/>
        </p:nvSpPr>
        <p:spPr>
          <a:xfrm>
            <a:off x="10700593" y="952500"/>
            <a:ext cx="1114425" cy="190500"/>
          </a:xfrm>
          <a:prstGeom prst="rect">
            <a:avLst/>
          </a:prstGeom>
          <a:noFill/>
          <a:ln/>
        </p:spPr>
        <p:txBody>
          <a:bodyPr wrap="square" lIns="0" tIns="0" rIns="0" bIns="0" rtlCol="0" anchor="ctr"/>
          <a:lstStyle/>
          <a:p>
            <a:pPr algn="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ROTE Target 2025</a:t>
            </a:r>
            <a:endParaRPr lang="en-US" sz="1600" dirty="0"/>
          </a:p>
        </p:txBody>
      </p:sp>
      <p:sp>
        <p:nvSpPr>
          <p:cNvPr id="6" name="Shape 4"/>
          <p:cNvSpPr/>
          <p:nvPr/>
        </p:nvSpPr>
        <p:spPr>
          <a:xfrm>
            <a:off x="381000" y="1219200"/>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006A4A"/>
          </a:solidFill>
          <a:ln/>
        </p:spPr>
        <p:txBody>
          <a:bodyPr/>
          <a:lstStyle/>
          <a:p>
            <a:endParaRPr lang="en-GB"/>
          </a:p>
        </p:txBody>
      </p:sp>
      <p:sp>
        <p:nvSpPr>
          <p:cNvPr id="7" name="Text 5"/>
          <p:cNvSpPr/>
          <p:nvPr/>
        </p:nvSpPr>
        <p:spPr>
          <a:xfrm>
            <a:off x="38100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2025 Financial Guidance</a:t>
            </a:r>
            <a:endParaRPr lang="en-US" sz="1600" dirty="0"/>
          </a:p>
        </p:txBody>
      </p:sp>
      <p:sp>
        <p:nvSpPr>
          <p:cNvPr id="8" name="Shape 6"/>
          <p:cNvSpPr/>
          <p:nvPr/>
        </p:nvSpPr>
        <p:spPr>
          <a:xfrm>
            <a:off x="400050" y="1771650"/>
            <a:ext cx="5600700" cy="495300"/>
          </a:xfrm>
          <a:custGeom>
            <a:avLst/>
            <a:gdLst/>
            <a:ahLst/>
            <a:cxnLst/>
            <a:rect l="l" t="t" r="r" b="b"/>
            <a:pathLst>
              <a:path w="5600700" h="495300">
                <a:moveTo>
                  <a:pt x="38100" y="0"/>
                </a:moveTo>
                <a:lnTo>
                  <a:pt x="5524498" y="0"/>
                </a:lnTo>
                <a:cubicBezTo>
                  <a:pt x="5566583" y="0"/>
                  <a:pt x="5600700" y="34117"/>
                  <a:pt x="5600700" y="76202"/>
                </a:cubicBezTo>
                <a:lnTo>
                  <a:pt x="5600700" y="419098"/>
                </a:lnTo>
                <a:cubicBezTo>
                  <a:pt x="5600700" y="461183"/>
                  <a:pt x="5566583" y="495300"/>
                  <a:pt x="5524498" y="495300"/>
                </a:cubicBezTo>
                <a:lnTo>
                  <a:pt x="38100" y="495300"/>
                </a:lnTo>
                <a:cubicBezTo>
                  <a:pt x="17072" y="495300"/>
                  <a:pt x="0" y="478228"/>
                  <a:pt x="0" y="4572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9" name="Shape 7"/>
          <p:cNvSpPr/>
          <p:nvPr/>
        </p:nvSpPr>
        <p:spPr>
          <a:xfrm>
            <a:off x="400050" y="1771650"/>
            <a:ext cx="38100" cy="495300"/>
          </a:xfrm>
          <a:custGeom>
            <a:avLst/>
            <a:gdLst/>
            <a:ahLst/>
            <a:cxnLst/>
            <a:rect l="l" t="t" r="r" b="b"/>
            <a:pathLst>
              <a:path w="38100" h="495300">
                <a:moveTo>
                  <a:pt x="38100" y="0"/>
                </a:moveTo>
                <a:lnTo>
                  <a:pt x="38100" y="0"/>
                </a:lnTo>
                <a:lnTo>
                  <a:pt x="38100" y="495300"/>
                </a:lnTo>
                <a:lnTo>
                  <a:pt x="38100" y="495300"/>
                </a:lnTo>
                <a:cubicBezTo>
                  <a:pt x="17072" y="495300"/>
                  <a:pt x="0" y="478228"/>
                  <a:pt x="0" y="457200"/>
                </a:cubicBezTo>
                <a:lnTo>
                  <a:pt x="0" y="38100"/>
                </a:lnTo>
                <a:cubicBezTo>
                  <a:pt x="0" y="17072"/>
                  <a:pt x="17072" y="0"/>
                  <a:pt x="38100" y="0"/>
                </a:cubicBezTo>
                <a:close/>
              </a:path>
            </a:pathLst>
          </a:custGeom>
          <a:solidFill>
            <a:srgbClr val="006A4A"/>
          </a:solidFill>
          <a:ln/>
        </p:spPr>
        <p:txBody>
          <a:bodyPr/>
          <a:lstStyle/>
          <a:p>
            <a:endParaRPr lang="en-GB"/>
          </a:p>
        </p:txBody>
      </p:sp>
      <p:sp>
        <p:nvSpPr>
          <p:cNvPr id="10" name="Text 8"/>
          <p:cNvSpPr/>
          <p:nvPr/>
        </p:nvSpPr>
        <p:spPr>
          <a:xfrm>
            <a:off x="533400" y="1924050"/>
            <a:ext cx="1866900"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Underlying Net Interest Income</a:t>
            </a:r>
            <a:endParaRPr lang="en-US" sz="1600" dirty="0"/>
          </a:p>
        </p:txBody>
      </p:sp>
      <p:sp>
        <p:nvSpPr>
          <p:cNvPr id="11" name="Text 9"/>
          <p:cNvSpPr/>
          <p:nvPr/>
        </p:nvSpPr>
        <p:spPr>
          <a:xfrm>
            <a:off x="5160913" y="1885950"/>
            <a:ext cx="819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Quattrocento Sans" pitchFamily="34" charset="0"/>
                <a:ea typeface="Quattrocento Sans" pitchFamily="34" charset="-122"/>
                <a:cs typeface="Quattrocento Sans" pitchFamily="34" charset="-120"/>
              </a:rPr>
              <a:t>~£13.5bn</a:t>
            </a:r>
            <a:endParaRPr lang="en-US" sz="1600" dirty="0"/>
          </a:p>
        </p:txBody>
      </p:sp>
      <p:sp>
        <p:nvSpPr>
          <p:cNvPr id="12" name="Shape 10"/>
          <p:cNvSpPr/>
          <p:nvPr/>
        </p:nvSpPr>
        <p:spPr>
          <a:xfrm>
            <a:off x="400050" y="2343150"/>
            <a:ext cx="5600700" cy="495300"/>
          </a:xfrm>
          <a:custGeom>
            <a:avLst/>
            <a:gdLst/>
            <a:ahLst/>
            <a:cxnLst/>
            <a:rect l="l" t="t" r="r" b="b"/>
            <a:pathLst>
              <a:path w="5600700" h="495300">
                <a:moveTo>
                  <a:pt x="38100" y="0"/>
                </a:moveTo>
                <a:lnTo>
                  <a:pt x="5524498" y="0"/>
                </a:lnTo>
                <a:cubicBezTo>
                  <a:pt x="5566583" y="0"/>
                  <a:pt x="5600700" y="34117"/>
                  <a:pt x="5600700" y="76202"/>
                </a:cubicBezTo>
                <a:lnTo>
                  <a:pt x="5600700" y="419098"/>
                </a:lnTo>
                <a:cubicBezTo>
                  <a:pt x="5600700" y="461183"/>
                  <a:pt x="5566583" y="495300"/>
                  <a:pt x="5524498" y="495300"/>
                </a:cubicBezTo>
                <a:lnTo>
                  <a:pt x="38100" y="495300"/>
                </a:lnTo>
                <a:cubicBezTo>
                  <a:pt x="17072" y="495300"/>
                  <a:pt x="0" y="478228"/>
                  <a:pt x="0" y="4572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13" name="Shape 11"/>
          <p:cNvSpPr/>
          <p:nvPr/>
        </p:nvSpPr>
        <p:spPr>
          <a:xfrm>
            <a:off x="400050" y="2343150"/>
            <a:ext cx="38100" cy="495300"/>
          </a:xfrm>
          <a:custGeom>
            <a:avLst/>
            <a:gdLst/>
            <a:ahLst/>
            <a:cxnLst/>
            <a:rect l="l" t="t" r="r" b="b"/>
            <a:pathLst>
              <a:path w="38100" h="495300">
                <a:moveTo>
                  <a:pt x="38100" y="0"/>
                </a:moveTo>
                <a:lnTo>
                  <a:pt x="38100" y="0"/>
                </a:lnTo>
                <a:lnTo>
                  <a:pt x="38100" y="495300"/>
                </a:lnTo>
                <a:lnTo>
                  <a:pt x="38100" y="495300"/>
                </a:lnTo>
                <a:cubicBezTo>
                  <a:pt x="17072" y="495300"/>
                  <a:pt x="0" y="478228"/>
                  <a:pt x="0" y="457200"/>
                </a:cubicBezTo>
                <a:lnTo>
                  <a:pt x="0" y="38100"/>
                </a:lnTo>
                <a:cubicBezTo>
                  <a:pt x="0" y="17072"/>
                  <a:pt x="17072" y="0"/>
                  <a:pt x="38100" y="0"/>
                </a:cubicBezTo>
                <a:close/>
              </a:path>
            </a:pathLst>
          </a:custGeom>
          <a:solidFill>
            <a:srgbClr val="4A5C6A"/>
          </a:solidFill>
          <a:ln/>
        </p:spPr>
        <p:txBody>
          <a:bodyPr/>
          <a:lstStyle/>
          <a:p>
            <a:endParaRPr lang="en-GB"/>
          </a:p>
        </p:txBody>
      </p:sp>
      <p:sp>
        <p:nvSpPr>
          <p:cNvPr id="14" name="Text 12"/>
          <p:cNvSpPr/>
          <p:nvPr/>
        </p:nvSpPr>
        <p:spPr>
          <a:xfrm>
            <a:off x="533400" y="2495550"/>
            <a:ext cx="990600"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Operating Costs</a:t>
            </a:r>
            <a:endParaRPr lang="en-US" sz="1600" dirty="0"/>
          </a:p>
        </p:txBody>
      </p:sp>
      <p:sp>
        <p:nvSpPr>
          <p:cNvPr id="15" name="Text 13"/>
          <p:cNvSpPr/>
          <p:nvPr/>
        </p:nvSpPr>
        <p:spPr>
          <a:xfrm>
            <a:off x="5233541" y="2457450"/>
            <a:ext cx="7524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Quattrocento Sans" pitchFamily="34" charset="0"/>
                <a:ea typeface="Quattrocento Sans" pitchFamily="34" charset="-122"/>
                <a:cs typeface="Quattrocento Sans" pitchFamily="34" charset="-120"/>
              </a:rPr>
              <a:t>~£9.7bn</a:t>
            </a:r>
            <a:endParaRPr lang="en-US" sz="1600" dirty="0"/>
          </a:p>
        </p:txBody>
      </p:sp>
      <p:sp>
        <p:nvSpPr>
          <p:cNvPr id="16" name="Shape 14"/>
          <p:cNvSpPr/>
          <p:nvPr/>
        </p:nvSpPr>
        <p:spPr>
          <a:xfrm>
            <a:off x="400050" y="2914650"/>
            <a:ext cx="5600700" cy="495300"/>
          </a:xfrm>
          <a:custGeom>
            <a:avLst/>
            <a:gdLst/>
            <a:ahLst/>
            <a:cxnLst/>
            <a:rect l="l" t="t" r="r" b="b"/>
            <a:pathLst>
              <a:path w="5600700" h="495300">
                <a:moveTo>
                  <a:pt x="38100" y="0"/>
                </a:moveTo>
                <a:lnTo>
                  <a:pt x="5524498" y="0"/>
                </a:lnTo>
                <a:cubicBezTo>
                  <a:pt x="5566583" y="0"/>
                  <a:pt x="5600700" y="34117"/>
                  <a:pt x="5600700" y="76202"/>
                </a:cubicBezTo>
                <a:lnTo>
                  <a:pt x="5600700" y="419098"/>
                </a:lnTo>
                <a:cubicBezTo>
                  <a:pt x="5600700" y="461183"/>
                  <a:pt x="5566583" y="495300"/>
                  <a:pt x="5524498" y="495300"/>
                </a:cubicBezTo>
                <a:lnTo>
                  <a:pt x="38100" y="495300"/>
                </a:lnTo>
                <a:cubicBezTo>
                  <a:pt x="17072" y="495300"/>
                  <a:pt x="0" y="478228"/>
                  <a:pt x="0" y="4572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17" name="Shape 15"/>
          <p:cNvSpPr/>
          <p:nvPr/>
        </p:nvSpPr>
        <p:spPr>
          <a:xfrm>
            <a:off x="400050" y="2914650"/>
            <a:ext cx="38100" cy="495300"/>
          </a:xfrm>
          <a:custGeom>
            <a:avLst/>
            <a:gdLst/>
            <a:ahLst/>
            <a:cxnLst/>
            <a:rect l="l" t="t" r="r" b="b"/>
            <a:pathLst>
              <a:path w="38100" h="495300">
                <a:moveTo>
                  <a:pt x="38100" y="0"/>
                </a:moveTo>
                <a:lnTo>
                  <a:pt x="38100" y="0"/>
                </a:lnTo>
                <a:lnTo>
                  <a:pt x="38100" y="495300"/>
                </a:lnTo>
                <a:lnTo>
                  <a:pt x="38100" y="495300"/>
                </a:lnTo>
                <a:cubicBezTo>
                  <a:pt x="17072" y="495300"/>
                  <a:pt x="0" y="478228"/>
                  <a:pt x="0" y="457200"/>
                </a:cubicBezTo>
                <a:lnTo>
                  <a:pt x="0" y="38100"/>
                </a:lnTo>
                <a:cubicBezTo>
                  <a:pt x="0" y="17072"/>
                  <a:pt x="17072" y="0"/>
                  <a:pt x="38100" y="0"/>
                </a:cubicBezTo>
                <a:close/>
              </a:path>
            </a:pathLst>
          </a:custGeom>
          <a:solidFill>
            <a:srgbClr val="2B7FFF"/>
          </a:solidFill>
          <a:ln/>
        </p:spPr>
        <p:txBody>
          <a:bodyPr/>
          <a:lstStyle/>
          <a:p>
            <a:endParaRPr lang="en-GB"/>
          </a:p>
        </p:txBody>
      </p:sp>
      <p:sp>
        <p:nvSpPr>
          <p:cNvPr id="18" name="Text 16"/>
          <p:cNvSpPr/>
          <p:nvPr/>
        </p:nvSpPr>
        <p:spPr>
          <a:xfrm>
            <a:off x="533400" y="3067050"/>
            <a:ext cx="1152525"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Asset Quality Ratio</a:t>
            </a:r>
            <a:endParaRPr lang="en-US" sz="1600" dirty="0"/>
          </a:p>
        </p:txBody>
      </p:sp>
      <p:sp>
        <p:nvSpPr>
          <p:cNvPr id="19" name="Text 17"/>
          <p:cNvSpPr/>
          <p:nvPr/>
        </p:nvSpPr>
        <p:spPr>
          <a:xfrm>
            <a:off x="5289352" y="3028950"/>
            <a:ext cx="6953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Quattrocento Sans" pitchFamily="34" charset="0"/>
                <a:ea typeface="Quattrocento Sans" pitchFamily="34" charset="-122"/>
                <a:cs typeface="Quattrocento Sans" pitchFamily="34" charset="-120"/>
              </a:rPr>
              <a:t>~25bps</a:t>
            </a:r>
            <a:endParaRPr lang="en-US" sz="1600" dirty="0"/>
          </a:p>
        </p:txBody>
      </p:sp>
      <p:sp>
        <p:nvSpPr>
          <p:cNvPr id="20" name="Shape 18"/>
          <p:cNvSpPr/>
          <p:nvPr/>
        </p:nvSpPr>
        <p:spPr>
          <a:xfrm>
            <a:off x="400050" y="3486150"/>
            <a:ext cx="5600700" cy="495300"/>
          </a:xfrm>
          <a:custGeom>
            <a:avLst/>
            <a:gdLst/>
            <a:ahLst/>
            <a:cxnLst/>
            <a:rect l="l" t="t" r="r" b="b"/>
            <a:pathLst>
              <a:path w="5600700" h="495300">
                <a:moveTo>
                  <a:pt x="38100" y="0"/>
                </a:moveTo>
                <a:lnTo>
                  <a:pt x="5524498" y="0"/>
                </a:lnTo>
                <a:cubicBezTo>
                  <a:pt x="5566583" y="0"/>
                  <a:pt x="5600700" y="34117"/>
                  <a:pt x="5600700" y="76202"/>
                </a:cubicBezTo>
                <a:lnTo>
                  <a:pt x="5600700" y="419098"/>
                </a:lnTo>
                <a:cubicBezTo>
                  <a:pt x="5600700" y="461183"/>
                  <a:pt x="5566583" y="495300"/>
                  <a:pt x="5524498" y="495300"/>
                </a:cubicBezTo>
                <a:lnTo>
                  <a:pt x="38100" y="495300"/>
                </a:lnTo>
                <a:cubicBezTo>
                  <a:pt x="17072" y="495300"/>
                  <a:pt x="0" y="478228"/>
                  <a:pt x="0" y="4572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21" name="Shape 19"/>
          <p:cNvSpPr/>
          <p:nvPr/>
        </p:nvSpPr>
        <p:spPr>
          <a:xfrm>
            <a:off x="400050" y="3486150"/>
            <a:ext cx="38100" cy="495300"/>
          </a:xfrm>
          <a:custGeom>
            <a:avLst/>
            <a:gdLst/>
            <a:ahLst/>
            <a:cxnLst/>
            <a:rect l="l" t="t" r="r" b="b"/>
            <a:pathLst>
              <a:path w="38100" h="495300">
                <a:moveTo>
                  <a:pt x="38100" y="0"/>
                </a:moveTo>
                <a:lnTo>
                  <a:pt x="38100" y="0"/>
                </a:lnTo>
                <a:lnTo>
                  <a:pt x="38100" y="495300"/>
                </a:lnTo>
                <a:lnTo>
                  <a:pt x="38100" y="495300"/>
                </a:lnTo>
                <a:cubicBezTo>
                  <a:pt x="17072" y="495300"/>
                  <a:pt x="0" y="478228"/>
                  <a:pt x="0" y="457200"/>
                </a:cubicBezTo>
                <a:lnTo>
                  <a:pt x="0" y="38100"/>
                </a:lnTo>
                <a:cubicBezTo>
                  <a:pt x="0" y="17072"/>
                  <a:pt x="17072" y="0"/>
                  <a:pt x="38100" y="0"/>
                </a:cubicBezTo>
                <a:close/>
              </a:path>
            </a:pathLst>
          </a:custGeom>
          <a:solidFill>
            <a:srgbClr val="AD46FF"/>
          </a:solidFill>
          <a:ln/>
        </p:spPr>
        <p:txBody>
          <a:bodyPr/>
          <a:lstStyle/>
          <a:p>
            <a:endParaRPr lang="en-GB"/>
          </a:p>
        </p:txBody>
      </p:sp>
      <p:sp>
        <p:nvSpPr>
          <p:cNvPr id="22" name="Text 20"/>
          <p:cNvSpPr/>
          <p:nvPr/>
        </p:nvSpPr>
        <p:spPr>
          <a:xfrm>
            <a:off x="533400" y="3638550"/>
            <a:ext cx="1543050"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Return on Tangible Equity</a:t>
            </a:r>
            <a:endParaRPr lang="en-US" sz="1600" dirty="0"/>
          </a:p>
        </p:txBody>
      </p:sp>
      <p:sp>
        <p:nvSpPr>
          <p:cNvPr id="23" name="Text 21"/>
          <p:cNvSpPr/>
          <p:nvPr/>
        </p:nvSpPr>
        <p:spPr>
          <a:xfrm>
            <a:off x="5326559" y="3600450"/>
            <a:ext cx="6572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Quattrocento Sans" pitchFamily="34" charset="0"/>
                <a:ea typeface="Quattrocento Sans" pitchFamily="34" charset="-122"/>
                <a:cs typeface="Quattrocento Sans" pitchFamily="34" charset="-120"/>
              </a:rPr>
              <a:t>~13.5%</a:t>
            </a:r>
            <a:endParaRPr lang="en-US" sz="1600" dirty="0"/>
          </a:p>
        </p:txBody>
      </p:sp>
      <p:sp>
        <p:nvSpPr>
          <p:cNvPr id="24" name="Shape 22"/>
          <p:cNvSpPr/>
          <p:nvPr/>
        </p:nvSpPr>
        <p:spPr>
          <a:xfrm>
            <a:off x="400050" y="4057650"/>
            <a:ext cx="5600700" cy="495300"/>
          </a:xfrm>
          <a:custGeom>
            <a:avLst/>
            <a:gdLst/>
            <a:ahLst/>
            <a:cxnLst/>
            <a:rect l="l" t="t" r="r" b="b"/>
            <a:pathLst>
              <a:path w="5600700" h="495300">
                <a:moveTo>
                  <a:pt x="38100" y="0"/>
                </a:moveTo>
                <a:lnTo>
                  <a:pt x="5524498" y="0"/>
                </a:lnTo>
                <a:cubicBezTo>
                  <a:pt x="5566583" y="0"/>
                  <a:pt x="5600700" y="34117"/>
                  <a:pt x="5600700" y="76202"/>
                </a:cubicBezTo>
                <a:lnTo>
                  <a:pt x="5600700" y="419098"/>
                </a:lnTo>
                <a:cubicBezTo>
                  <a:pt x="5600700" y="461183"/>
                  <a:pt x="5566583" y="495300"/>
                  <a:pt x="5524498" y="495300"/>
                </a:cubicBezTo>
                <a:lnTo>
                  <a:pt x="38100" y="495300"/>
                </a:lnTo>
                <a:cubicBezTo>
                  <a:pt x="17072" y="495300"/>
                  <a:pt x="0" y="478228"/>
                  <a:pt x="0" y="457200"/>
                </a:cubicBezTo>
                <a:lnTo>
                  <a:pt x="0" y="38100"/>
                </a:lnTo>
                <a:cubicBezTo>
                  <a:pt x="0" y="17072"/>
                  <a:pt x="17072" y="0"/>
                  <a:pt x="38100" y="0"/>
                </a:cubicBezTo>
                <a:close/>
              </a:path>
            </a:pathLst>
          </a:custGeom>
          <a:solidFill>
            <a:srgbClr val="4A5C6A">
              <a:alpha val="20000"/>
            </a:srgbClr>
          </a:solidFill>
          <a:ln/>
        </p:spPr>
        <p:txBody>
          <a:bodyPr/>
          <a:lstStyle/>
          <a:p>
            <a:endParaRPr lang="en-GB"/>
          </a:p>
        </p:txBody>
      </p:sp>
      <p:sp>
        <p:nvSpPr>
          <p:cNvPr id="25" name="Shape 23"/>
          <p:cNvSpPr/>
          <p:nvPr/>
        </p:nvSpPr>
        <p:spPr>
          <a:xfrm>
            <a:off x="400050" y="4057650"/>
            <a:ext cx="38100" cy="495300"/>
          </a:xfrm>
          <a:custGeom>
            <a:avLst/>
            <a:gdLst/>
            <a:ahLst/>
            <a:cxnLst/>
            <a:rect l="l" t="t" r="r" b="b"/>
            <a:pathLst>
              <a:path w="38100" h="495300">
                <a:moveTo>
                  <a:pt x="38100" y="0"/>
                </a:moveTo>
                <a:lnTo>
                  <a:pt x="38100" y="0"/>
                </a:lnTo>
                <a:lnTo>
                  <a:pt x="38100" y="495300"/>
                </a:lnTo>
                <a:lnTo>
                  <a:pt x="38100" y="495300"/>
                </a:lnTo>
                <a:cubicBezTo>
                  <a:pt x="17072" y="495300"/>
                  <a:pt x="0" y="478228"/>
                  <a:pt x="0" y="457200"/>
                </a:cubicBezTo>
                <a:lnTo>
                  <a:pt x="0" y="38100"/>
                </a:lnTo>
                <a:cubicBezTo>
                  <a:pt x="0" y="17072"/>
                  <a:pt x="17072" y="0"/>
                  <a:pt x="38100" y="0"/>
                </a:cubicBezTo>
                <a:close/>
              </a:path>
            </a:pathLst>
          </a:custGeom>
          <a:solidFill>
            <a:srgbClr val="00C950"/>
          </a:solidFill>
          <a:ln/>
        </p:spPr>
        <p:txBody>
          <a:bodyPr/>
          <a:lstStyle/>
          <a:p>
            <a:endParaRPr lang="en-GB"/>
          </a:p>
        </p:txBody>
      </p:sp>
      <p:sp>
        <p:nvSpPr>
          <p:cNvPr id="26" name="Text 24"/>
          <p:cNvSpPr/>
          <p:nvPr/>
        </p:nvSpPr>
        <p:spPr>
          <a:xfrm>
            <a:off x="533400" y="4210050"/>
            <a:ext cx="1133475" cy="190500"/>
          </a:xfrm>
          <a:prstGeom prst="rect">
            <a:avLst/>
          </a:prstGeom>
          <a:noFill/>
          <a:ln/>
        </p:spPr>
        <p:txBody>
          <a:bodyPr wrap="square" lIns="0" tIns="0" rIns="0" bIns="0" rtlCol="0" anchor="ctr"/>
          <a:lstStyle/>
          <a:p>
            <a:pPr>
              <a:lnSpc>
                <a:spcPct val="120000"/>
              </a:lnSpc>
            </a:pPr>
            <a:r>
              <a:rPr lang="en-US" sz="1050" b="1" dirty="0">
                <a:solidFill>
                  <a:srgbClr val="E0E2E5">
                    <a:alpha val="80000"/>
                  </a:srgbClr>
                </a:solidFill>
                <a:latin typeface="Quattrocento Sans" pitchFamily="34" charset="0"/>
                <a:ea typeface="Quattrocento Sans" pitchFamily="34" charset="-122"/>
                <a:cs typeface="Quattrocento Sans" pitchFamily="34" charset="-120"/>
              </a:rPr>
              <a:t>Capital Generation</a:t>
            </a:r>
            <a:endParaRPr lang="en-US" sz="1600" dirty="0"/>
          </a:p>
        </p:txBody>
      </p:sp>
      <p:sp>
        <p:nvSpPr>
          <p:cNvPr id="27" name="Text 25"/>
          <p:cNvSpPr/>
          <p:nvPr/>
        </p:nvSpPr>
        <p:spPr>
          <a:xfrm>
            <a:off x="5238899" y="4171950"/>
            <a:ext cx="7429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Quattrocento Sans" pitchFamily="34" charset="0"/>
                <a:ea typeface="Quattrocento Sans" pitchFamily="34" charset="-122"/>
                <a:cs typeface="Quattrocento Sans" pitchFamily="34" charset="-120"/>
              </a:rPr>
              <a:t>~175bps</a:t>
            </a:r>
            <a:endParaRPr lang="en-US" sz="1600" dirty="0"/>
          </a:p>
        </p:txBody>
      </p:sp>
      <p:sp>
        <p:nvSpPr>
          <p:cNvPr id="28" name="Text 26"/>
          <p:cNvSpPr/>
          <p:nvPr/>
        </p:nvSpPr>
        <p:spPr>
          <a:xfrm>
            <a:off x="381000" y="4705350"/>
            <a:ext cx="57054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2026 Strategic Targets</a:t>
            </a:r>
            <a:endParaRPr lang="en-US" sz="1600" dirty="0"/>
          </a:p>
        </p:txBody>
      </p:sp>
      <p:sp>
        <p:nvSpPr>
          <p:cNvPr id="29" name="Shape 27"/>
          <p:cNvSpPr/>
          <p:nvPr/>
        </p:nvSpPr>
        <p:spPr>
          <a:xfrm>
            <a:off x="385763" y="5053013"/>
            <a:ext cx="5610225" cy="1038225"/>
          </a:xfrm>
          <a:custGeom>
            <a:avLst/>
            <a:gdLst/>
            <a:ahLst/>
            <a:cxnLst/>
            <a:rect l="l" t="t" r="r" b="b"/>
            <a:pathLst>
              <a:path w="5610225" h="1038225">
                <a:moveTo>
                  <a:pt x="76195" y="0"/>
                </a:moveTo>
                <a:lnTo>
                  <a:pt x="5534030" y="0"/>
                </a:lnTo>
                <a:cubicBezTo>
                  <a:pt x="5576111" y="0"/>
                  <a:pt x="5610225" y="34114"/>
                  <a:pt x="5610225" y="76195"/>
                </a:cubicBezTo>
                <a:lnTo>
                  <a:pt x="5610225" y="962030"/>
                </a:lnTo>
                <a:cubicBezTo>
                  <a:pt x="5610225" y="1004111"/>
                  <a:pt x="5576111" y="1038225"/>
                  <a:pt x="5534030" y="1038225"/>
                </a:cubicBezTo>
                <a:lnTo>
                  <a:pt x="76195" y="1038225"/>
                </a:lnTo>
                <a:cubicBezTo>
                  <a:pt x="34114" y="1038225"/>
                  <a:pt x="0" y="1004111"/>
                  <a:pt x="0" y="962030"/>
                </a:cubicBezTo>
                <a:lnTo>
                  <a:pt x="0" y="76195"/>
                </a:lnTo>
                <a:cubicBezTo>
                  <a:pt x="0" y="34114"/>
                  <a:pt x="34114" y="0"/>
                  <a:pt x="76195" y="0"/>
                </a:cubicBezTo>
                <a:close/>
              </a:path>
            </a:pathLst>
          </a:custGeom>
          <a:solidFill>
            <a:srgbClr val="006A4A">
              <a:alpha val="30196"/>
            </a:srgbClr>
          </a:solidFill>
          <a:ln w="12700">
            <a:solidFill>
              <a:srgbClr val="006A4A">
                <a:alpha val="40000"/>
              </a:srgbClr>
            </a:solidFill>
            <a:prstDash val="solid"/>
          </a:ln>
        </p:spPr>
        <p:txBody>
          <a:bodyPr/>
          <a:lstStyle/>
          <a:p>
            <a:endParaRPr lang="en-GB"/>
          </a:p>
        </p:txBody>
      </p:sp>
      <p:sp>
        <p:nvSpPr>
          <p:cNvPr id="30" name="Text 28"/>
          <p:cNvSpPr/>
          <p:nvPr/>
        </p:nvSpPr>
        <p:spPr>
          <a:xfrm>
            <a:off x="542925" y="5267325"/>
            <a:ext cx="17621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Return on Tangible Equity</a:t>
            </a:r>
            <a:endParaRPr lang="en-US" sz="1600" dirty="0"/>
          </a:p>
        </p:txBody>
      </p:sp>
      <p:sp>
        <p:nvSpPr>
          <p:cNvPr id="31" name="Text 29"/>
          <p:cNvSpPr/>
          <p:nvPr/>
        </p:nvSpPr>
        <p:spPr>
          <a:xfrm>
            <a:off x="5244108" y="5210175"/>
            <a:ext cx="733425" cy="342900"/>
          </a:xfrm>
          <a:prstGeom prst="rect">
            <a:avLst/>
          </a:prstGeom>
          <a:noFill/>
          <a:ln/>
        </p:spPr>
        <p:txBody>
          <a:bodyPr wrap="square" lIns="0" tIns="0" rIns="0" bIns="0" rtlCol="0" anchor="ctr"/>
          <a:lstStyle/>
          <a:p>
            <a:pPr>
              <a:lnSpc>
                <a:spcPct val="100000"/>
              </a:lnSpc>
            </a:pPr>
            <a:r>
              <a:rPr lang="en-US" sz="2250" b="1" dirty="0">
                <a:solidFill>
                  <a:srgbClr val="C0A062"/>
                </a:solidFill>
                <a:latin typeface="Quattrocento Sans" pitchFamily="34" charset="0"/>
                <a:ea typeface="Quattrocento Sans" pitchFamily="34" charset="-122"/>
                <a:cs typeface="Quattrocento Sans" pitchFamily="34" charset="-120"/>
              </a:rPr>
              <a:t>&gt;15%</a:t>
            </a:r>
            <a:endParaRPr lang="en-US" sz="1600" dirty="0"/>
          </a:p>
        </p:txBody>
      </p:sp>
      <p:sp>
        <p:nvSpPr>
          <p:cNvPr id="32" name="Text 30"/>
          <p:cNvSpPr/>
          <p:nvPr/>
        </p:nvSpPr>
        <p:spPr>
          <a:xfrm>
            <a:off x="542925" y="5667375"/>
            <a:ext cx="19431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Strategic Income Generation</a:t>
            </a:r>
            <a:endParaRPr lang="en-US" sz="1600" dirty="0"/>
          </a:p>
        </p:txBody>
      </p:sp>
      <p:sp>
        <p:nvSpPr>
          <p:cNvPr id="33" name="Text 31"/>
          <p:cNvSpPr/>
          <p:nvPr/>
        </p:nvSpPr>
        <p:spPr>
          <a:xfrm>
            <a:off x="5090368" y="5629275"/>
            <a:ext cx="866775" cy="304800"/>
          </a:xfrm>
          <a:prstGeom prst="rect">
            <a:avLst/>
          </a:prstGeom>
          <a:noFill/>
          <a:ln/>
        </p:spPr>
        <p:txBody>
          <a:bodyPr wrap="square" lIns="0" tIns="0" rIns="0" bIns="0" rtlCol="0" anchor="ctr"/>
          <a:lstStyle/>
          <a:p>
            <a:pPr>
              <a:lnSpc>
                <a:spcPct val="110000"/>
              </a:lnSpc>
            </a:pPr>
            <a:r>
              <a:rPr lang="en-US" sz="1800" b="1" dirty="0">
                <a:solidFill>
                  <a:srgbClr val="C0A062"/>
                </a:solidFill>
                <a:latin typeface="Quattrocento Sans" pitchFamily="34" charset="0"/>
                <a:ea typeface="Quattrocento Sans" pitchFamily="34" charset="-122"/>
                <a:cs typeface="Quattrocento Sans" pitchFamily="34" charset="-120"/>
              </a:rPr>
              <a:t>£1.5bn+</a:t>
            </a:r>
            <a:endParaRPr lang="en-US" sz="1600" dirty="0"/>
          </a:p>
        </p:txBody>
      </p:sp>
      <p:sp>
        <p:nvSpPr>
          <p:cNvPr id="34" name="Text 32"/>
          <p:cNvSpPr/>
          <p:nvPr/>
        </p:nvSpPr>
        <p:spPr>
          <a:xfrm>
            <a:off x="6191250" y="1390650"/>
            <a:ext cx="57150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Liter" pitchFamily="34" charset="0"/>
                <a:ea typeface="Liter" pitchFamily="34" charset="-122"/>
                <a:cs typeface="Liter" pitchFamily="34" charset="-120"/>
              </a:rPr>
              <a:t>Growth Drivers &amp; Catalysts</a:t>
            </a:r>
            <a:endParaRPr lang="en-US" sz="1600" dirty="0"/>
          </a:p>
        </p:txBody>
      </p:sp>
      <p:sp>
        <p:nvSpPr>
          <p:cNvPr id="35" name="Shape 33"/>
          <p:cNvSpPr/>
          <p:nvPr/>
        </p:nvSpPr>
        <p:spPr>
          <a:xfrm>
            <a:off x="6196013" y="1776413"/>
            <a:ext cx="5610225" cy="885825"/>
          </a:xfrm>
          <a:custGeom>
            <a:avLst/>
            <a:gdLst/>
            <a:ahLst/>
            <a:cxnLst/>
            <a:rect l="l" t="t" r="r" b="b"/>
            <a:pathLst>
              <a:path w="5610225" h="885825">
                <a:moveTo>
                  <a:pt x="76199" y="0"/>
                </a:moveTo>
                <a:lnTo>
                  <a:pt x="5534026" y="0"/>
                </a:lnTo>
                <a:cubicBezTo>
                  <a:pt x="5576110" y="0"/>
                  <a:pt x="5610225" y="34115"/>
                  <a:pt x="5610225" y="76199"/>
                </a:cubicBezTo>
                <a:lnTo>
                  <a:pt x="5610225" y="809626"/>
                </a:lnTo>
                <a:cubicBezTo>
                  <a:pt x="5610225" y="851710"/>
                  <a:pt x="5576110" y="885825"/>
                  <a:pt x="5534026" y="885825"/>
                </a:cubicBezTo>
                <a:lnTo>
                  <a:pt x="76199" y="885825"/>
                </a:lnTo>
                <a:cubicBezTo>
                  <a:pt x="34115" y="885825"/>
                  <a:pt x="0" y="851710"/>
                  <a:pt x="0" y="809626"/>
                </a:cubicBezTo>
                <a:lnTo>
                  <a:pt x="0" y="76199"/>
                </a:lnTo>
                <a:cubicBezTo>
                  <a:pt x="0" y="34143"/>
                  <a:pt x="34143" y="0"/>
                  <a:pt x="76199"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36" name="Shape 34"/>
          <p:cNvSpPr/>
          <p:nvPr/>
        </p:nvSpPr>
        <p:spPr>
          <a:xfrm>
            <a:off x="6391275" y="1952625"/>
            <a:ext cx="114300" cy="152400"/>
          </a:xfrm>
          <a:custGeom>
            <a:avLst/>
            <a:gdLst/>
            <a:ahLst/>
            <a:cxnLst/>
            <a:rect l="l" t="t" r="r" b="b"/>
            <a:pathLst>
              <a:path w="114300" h="152400">
                <a:moveTo>
                  <a:pt x="63877" y="5179"/>
                </a:moveTo>
                <a:cubicBezTo>
                  <a:pt x="60156" y="1459"/>
                  <a:pt x="54114" y="1459"/>
                  <a:pt x="50393" y="5179"/>
                </a:cubicBezTo>
                <a:lnTo>
                  <a:pt x="2768" y="52804"/>
                </a:lnTo>
                <a:cubicBezTo>
                  <a:pt x="-952" y="56525"/>
                  <a:pt x="-952" y="62567"/>
                  <a:pt x="2768" y="66288"/>
                </a:cubicBezTo>
                <a:cubicBezTo>
                  <a:pt x="6489" y="70009"/>
                  <a:pt x="12531" y="70009"/>
                  <a:pt x="16252" y="66288"/>
                </a:cubicBezTo>
                <a:lnTo>
                  <a:pt x="47625" y="34915"/>
                </a:lnTo>
                <a:lnTo>
                  <a:pt x="47625" y="145256"/>
                </a:lnTo>
                <a:cubicBezTo>
                  <a:pt x="47625" y="150525"/>
                  <a:pt x="51881" y="154781"/>
                  <a:pt x="57150" y="154781"/>
                </a:cubicBezTo>
                <a:cubicBezTo>
                  <a:pt x="62419" y="154781"/>
                  <a:pt x="66675" y="150525"/>
                  <a:pt x="66675" y="145256"/>
                </a:cubicBezTo>
                <a:lnTo>
                  <a:pt x="66675" y="34915"/>
                </a:lnTo>
                <a:lnTo>
                  <a:pt x="98048" y="66288"/>
                </a:lnTo>
                <a:cubicBezTo>
                  <a:pt x="101769" y="70009"/>
                  <a:pt x="107811" y="70009"/>
                  <a:pt x="111532" y="66288"/>
                </a:cubicBezTo>
                <a:cubicBezTo>
                  <a:pt x="115253" y="62567"/>
                  <a:pt x="115253" y="56525"/>
                  <a:pt x="111532" y="52804"/>
                </a:cubicBezTo>
                <a:lnTo>
                  <a:pt x="63907" y="5179"/>
                </a:lnTo>
                <a:close/>
              </a:path>
            </a:pathLst>
          </a:custGeom>
          <a:solidFill>
            <a:srgbClr val="05DF72"/>
          </a:solidFill>
          <a:ln/>
        </p:spPr>
        <p:txBody>
          <a:bodyPr/>
          <a:lstStyle/>
          <a:p>
            <a:endParaRPr lang="en-GB"/>
          </a:p>
        </p:txBody>
      </p:sp>
      <p:sp>
        <p:nvSpPr>
          <p:cNvPr id="37" name="Text 35"/>
          <p:cNvSpPr/>
          <p:nvPr/>
        </p:nvSpPr>
        <p:spPr>
          <a:xfrm>
            <a:off x="6619875" y="1933575"/>
            <a:ext cx="183832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Net Interest Margin Expansion</a:t>
            </a:r>
            <a:endParaRPr lang="en-US" sz="1600" dirty="0"/>
          </a:p>
        </p:txBody>
      </p:sp>
      <p:sp>
        <p:nvSpPr>
          <p:cNvPr id="38" name="Text 36"/>
          <p:cNvSpPr/>
          <p:nvPr/>
        </p:nvSpPr>
        <p:spPr>
          <a:xfrm>
            <a:off x="6353175" y="2200275"/>
            <a:ext cx="535305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Expected stabilization and potential expansion in NIM as rate environment settles. Asset-sensitive balance sheet benefits from rate dynamics.</a:t>
            </a:r>
            <a:endParaRPr lang="en-US" sz="1600" dirty="0"/>
          </a:p>
        </p:txBody>
      </p:sp>
      <p:sp>
        <p:nvSpPr>
          <p:cNvPr id="39" name="Shape 37"/>
          <p:cNvSpPr/>
          <p:nvPr/>
        </p:nvSpPr>
        <p:spPr>
          <a:xfrm>
            <a:off x="6196013" y="2786063"/>
            <a:ext cx="5610225" cy="885825"/>
          </a:xfrm>
          <a:custGeom>
            <a:avLst/>
            <a:gdLst/>
            <a:ahLst/>
            <a:cxnLst/>
            <a:rect l="l" t="t" r="r" b="b"/>
            <a:pathLst>
              <a:path w="5610225" h="885825">
                <a:moveTo>
                  <a:pt x="76199" y="0"/>
                </a:moveTo>
                <a:lnTo>
                  <a:pt x="5534026" y="0"/>
                </a:lnTo>
                <a:cubicBezTo>
                  <a:pt x="5576110" y="0"/>
                  <a:pt x="5610225" y="34115"/>
                  <a:pt x="5610225" y="76199"/>
                </a:cubicBezTo>
                <a:lnTo>
                  <a:pt x="5610225" y="809626"/>
                </a:lnTo>
                <a:cubicBezTo>
                  <a:pt x="5610225" y="851710"/>
                  <a:pt x="5576110" y="885825"/>
                  <a:pt x="5534026" y="885825"/>
                </a:cubicBezTo>
                <a:lnTo>
                  <a:pt x="76199" y="885825"/>
                </a:lnTo>
                <a:cubicBezTo>
                  <a:pt x="34115" y="885825"/>
                  <a:pt x="0" y="851710"/>
                  <a:pt x="0" y="809626"/>
                </a:cubicBezTo>
                <a:lnTo>
                  <a:pt x="0" y="76199"/>
                </a:lnTo>
                <a:cubicBezTo>
                  <a:pt x="0" y="34143"/>
                  <a:pt x="34143" y="0"/>
                  <a:pt x="76199"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0" name="Shape 38"/>
          <p:cNvSpPr/>
          <p:nvPr/>
        </p:nvSpPr>
        <p:spPr>
          <a:xfrm>
            <a:off x="6353175" y="2962275"/>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51A2FF"/>
          </a:solidFill>
          <a:ln/>
        </p:spPr>
        <p:txBody>
          <a:bodyPr/>
          <a:lstStyle/>
          <a:p>
            <a:endParaRPr lang="en-GB"/>
          </a:p>
        </p:txBody>
      </p:sp>
      <p:sp>
        <p:nvSpPr>
          <p:cNvPr id="41" name="Text 39"/>
          <p:cNvSpPr/>
          <p:nvPr/>
        </p:nvSpPr>
        <p:spPr>
          <a:xfrm>
            <a:off x="6619875" y="2943225"/>
            <a:ext cx="124777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AI-Driven Efficiency</a:t>
            </a:r>
            <a:endParaRPr lang="en-US" sz="1600" dirty="0"/>
          </a:p>
        </p:txBody>
      </p:sp>
      <p:sp>
        <p:nvSpPr>
          <p:cNvPr id="42" name="Text 40"/>
          <p:cNvSpPr/>
          <p:nvPr/>
        </p:nvSpPr>
        <p:spPr>
          <a:xfrm>
            <a:off x="6353175" y="3209925"/>
            <a:ext cx="535305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£50m incremental value in 2025 scaling to £150m. Automation of lending decisions and customer service reducing cost-to-income ratio.</a:t>
            </a:r>
            <a:endParaRPr lang="en-US" sz="1600" dirty="0"/>
          </a:p>
        </p:txBody>
      </p:sp>
      <p:sp>
        <p:nvSpPr>
          <p:cNvPr id="43" name="Shape 41"/>
          <p:cNvSpPr/>
          <p:nvPr/>
        </p:nvSpPr>
        <p:spPr>
          <a:xfrm>
            <a:off x="6196013" y="3795713"/>
            <a:ext cx="5610225" cy="885825"/>
          </a:xfrm>
          <a:custGeom>
            <a:avLst/>
            <a:gdLst/>
            <a:ahLst/>
            <a:cxnLst/>
            <a:rect l="l" t="t" r="r" b="b"/>
            <a:pathLst>
              <a:path w="5610225" h="885825">
                <a:moveTo>
                  <a:pt x="76199" y="0"/>
                </a:moveTo>
                <a:lnTo>
                  <a:pt x="5534026" y="0"/>
                </a:lnTo>
                <a:cubicBezTo>
                  <a:pt x="5576110" y="0"/>
                  <a:pt x="5610225" y="34115"/>
                  <a:pt x="5610225" y="76199"/>
                </a:cubicBezTo>
                <a:lnTo>
                  <a:pt x="5610225" y="809626"/>
                </a:lnTo>
                <a:cubicBezTo>
                  <a:pt x="5610225" y="851710"/>
                  <a:pt x="5576110" y="885825"/>
                  <a:pt x="5534026" y="885825"/>
                </a:cubicBezTo>
                <a:lnTo>
                  <a:pt x="76199" y="885825"/>
                </a:lnTo>
                <a:cubicBezTo>
                  <a:pt x="34115" y="885825"/>
                  <a:pt x="0" y="851710"/>
                  <a:pt x="0" y="809626"/>
                </a:cubicBezTo>
                <a:lnTo>
                  <a:pt x="0" y="76199"/>
                </a:lnTo>
                <a:cubicBezTo>
                  <a:pt x="0" y="34143"/>
                  <a:pt x="34143" y="0"/>
                  <a:pt x="76199"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4" name="Shape 42"/>
          <p:cNvSpPr/>
          <p:nvPr/>
        </p:nvSpPr>
        <p:spPr>
          <a:xfrm>
            <a:off x="6362700" y="3971925"/>
            <a:ext cx="171450" cy="152400"/>
          </a:xfrm>
          <a:custGeom>
            <a:avLst/>
            <a:gdLst/>
            <a:ahLst/>
            <a:cxnLst/>
            <a:rect l="l" t="t" r="r" b="b"/>
            <a:pathLst>
              <a:path w="171450" h="152400">
                <a:moveTo>
                  <a:pt x="152519" y="71438"/>
                </a:moveTo>
                <a:lnTo>
                  <a:pt x="100132" y="71438"/>
                </a:lnTo>
                <a:cubicBezTo>
                  <a:pt x="94863" y="71438"/>
                  <a:pt x="90607" y="67181"/>
                  <a:pt x="90607" y="61912"/>
                </a:cubicBezTo>
                <a:lnTo>
                  <a:pt x="90607" y="9525"/>
                </a:lnTo>
                <a:cubicBezTo>
                  <a:pt x="90607" y="4256"/>
                  <a:pt x="94893" y="-60"/>
                  <a:pt x="100102" y="625"/>
                </a:cubicBezTo>
                <a:cubicBezTo>
                  <a:pt x="131951" y="4852"/>
                  <a:pt x="157192" y="30093"/>
                  <a:pt x="161419" y="61942"/>
                </a:cubicBezTo>
                <a:cubicBezTo>
                  <a:pt x="162104" y="67151"/>
                  <a:pt x="157788" y="71438"/>
                  <a:pt x="152519" y="71438"/>
                </a:cubicBezTo>
                <a:close/>
                <a:moveTo>
                  <a:pt x="66258" y="11073"/>
                </a:moveTo>
                <a:cubicBezTo>
                  <a:pt x="71646" y="9942"/>
                  <a:pt x="76319" y="14347"/>
                  <a:pt x="76319" y="19854"/>
                </a:cubicBezTo>
                <a:lnTo>
                  <a:pt x="76319" y="78581"/>
                </a:lnTo>
                <a:cubicBezTo>
                  <a:pt x="76319" y="80248"/>
                  <a:pt x="76914" y="81855"/>
                  <a:pt x="77956" y="83135"/>
                </a:cubicBezTo>
                <a:lnTo>
                  <a:pt x="117277" y="130582"/>
                </a:lnTo>
                <a:cubicBezTo>
                  <a:pt x="120759" y="134779"/>
                  <a:pt x="120015" y="141119"/>
                  <a:pt x="115223" y="143708"/>
                </a:cubicBezTo>
                <a:cubicBezTo>
                  <a:pt x="105073" y="149245"/>
                  <a:pt x="93434" y="152400"/>
                  <a:pt x="81082" y="152400"/>
                </a:cubicBezTo>
                <a:cubicBezTo>
                  <a:pt x="41642" y="152400"/>
                  <a:pt x="9644" y="120402"/>
                  <a:pt x="9644" y="80962"/>
                </a:cubicBezTo>
                <a:cubicBezTo>
                  <a:pt x="9644" y="46583"/>
                  <a:pt x="33903" y="17889"/>
                  <a:pt x="66258" y="11073"/>
                </a:cubicBezTo>
                <a:close/>
                <a:moveTo>
                  <a:pt x="142220" y="85725"/>
                </a:moveTo>
                <a:lnTo>
                  <a:pt x="161270" y="85725"/>
                </a:lnTo>
                <a:cubicBezTo>
                  <a:pt x="166777" y="85725"/>
                  <a:pt x="171182" y="90398"/>
                  <a:pt x="170051" y="95786"/>
                </a:cubicBezTo>
                <a:cubicBezTo>
                  <a:pt x="167015" y="110192"/>
                  <a:pt x="159633" y="122992"/>
                  <a:pt x="149334" y="132755"/>
                </a:cubicBezTo>
                <a:cubicBezTo>
                  <a:pt x="145673" y="136237"/>
                  <a:pt x="139928" y="135493"/>
                  <a:pt x="136714" y="131594"/>
                </a:cubicBezTo>
                <a:lnTo>
                  <a:pt x="111591" y="101322"/>
                </a:lnTo>
                <a:cubicBezTo>
                  <a:pt x="106442" y="95101"/>
                  <a:pt x="110877" y="85725"/>
                  <a:pt x="118914" y="85725"/>
                </a:cubicBezTo>
                <a:lnTo>
                  <a:pt x="142190" y="85725"/>
                </a:lnTo>
                <a:close/>
              </a:path>
            </a:pathLst>
          </a:custGeom>
          <a:solidFill>
            <a:srgbClr val="C27AFF"/>
          </a:solidFill>
          <a:ln/>
        </p:spPr>
        <p:txBody>
          <a:bodyPr/>
          <a:lstStyle/>
          <a:p>
            <a:endParaRPr lang="en-GB"/>
          </a:p>
        </p:txBody>
      </p:sp>
      <p:sp>
        <p:nvSpPr>
          <p:cNvPr id="45" name="Text 43"/>
          <p:cNvSpPr/>
          <p:nvPr/>
        </p:nvSpPr>
        <p:spPr>
          <a:xfrm>
            <a:off x="6619875" y="3952875"/>
            <a:ext cx="1676400"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Wealth &amp; Insurance Growth</a:t>
            </a:r>
            <a:endParaRPr lang="en-US" sz="1600" dirty="0"/>
          </a:p>
        </p:txBody>
      </p:sp>
      <p:sp>
        <p:nvSpPr>
          <p:cNvPr id="46" name="Text 44"/>
          <p:cNvSpPr/>
          <p:nvPr/>
        </p:nvSpPr>
        <p:spPr>
          <a:xfrm>
            <a:off x="6353175" y="4219575"/>
            <a:ext cx="535305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Expansion of Scottish Widows propositions and cross-selling through retail banking channels. Higher-margin revenue diversification.</a:t>
            </a:r>
            <a:endParaRPr lang="en-US" sz="1600" dirty="0"/>
          </a:p>
        </p:txBody>
      </p:sp>
      <p:sp>
        <p:nvSpPr>
          <p:cNvPr id="47" name="Shape 45"/>
          <p:cNvSpPr/>
          <p:nvPr/>
        </p:nvSpPr>
        <p:spPr>
          <a:xfrm>
            <a:off x="6196013" y="4805363"/>
            <a:ext cx="5610225" cy="885825"/>
          </a:xfrm>
          <a:custGeom>
            <a:avLst/>
            <a:gdLst/>
            <a:ahLst/>
            <a:cxnLst/>
            <a:rect l="l" t="t" r="r" b="b"/>
            <a:pathLst>
              <a:path w="5610225" h="885825">
                <a:moveTo>
                  <a:pt x="76199" y="0"/>
                </a:moveTo>
                <a:lnTo>
                  <a:pt x="5534026" y="0"/>
                </a:lnTo>
                <a:cubicBezTo>
                  <a:pt x="5576110" y="0"/>
                  <a:pt x="5610225" y="34115"/>
                  <a:pt x="5610225" y="76199"/>
                </a:cubicBezTo>
                <a:lnTo>
                  <a:pt x="5610225" y="809626"/>
                </a:lnTo>
                <a:cubicBezTo>
                  <a:pt x="5610225" y="851710"/>
                  <a:pt x="5576110" y="885825"/>
                  <a:pt x="5534026" y="885825"/>
                </a:cubicBezTo>
                <a:lnTo>
                  <a:pt x="76199" y="885825"/>
                </a:lnTo>
                <a:cubicBezTo>
                  <a:pt x="34115" y="885825"/>
                  <a:pt x="0" y="851710"/>
                  <a:pt x="0" y="809626"/>
                </a:cubicBezTo>
                <a:lnTo>
                  <a:pt x="0" y="76199"/>
                </a:lnTo>
                <a:cubicBezTo>
                  <a:pt x="0" y="34143"/>
                  <a:pt x="34143" y="0"/>
                  <a:pt x="76199" y="0"/>
                </a:cubicBezTo>
                <a:close/>
              </a:path>
            </a:pathLst>
          </a:custGeom>
          <a:solidFill>
            <a:srgbClr val="4A5C6A">
              <a:alpha val="20000"/>
            </a:srgbClr>
          </a:solidFill>
          <a:ln w="12700">
            <a:solidFill>
              <a:srgbClr val="4A5C6A">
                <a:alpha val="40000"/>
              </a:srgbClr>
            </a:solidFill>
            <a:prstDash val="solid"/>
          </a:ln>
        </p:spPr>
        <p:txBody>
          <a:bodyPr/>
          <a:lstStyle/>
          <a:p>
            <a:endParaRPr lang="en-GB"/>
          </a:p>
        </p:txBody>
      </p:sp>
      <p:sp>
        <p:nvSpPr>
          <p:cNvPr id="48" name="Shape 46"/>
          <p:cNvSpPr/>
          <p:nvPr/>
        </p:nvSpPr>
        <p:spPr>
          <a:xfrm>
            <a:off x="6372225" y="4981575"/>
            <a:ext cx="152400" cy="152400"/>
          </a:xfrm>
          <a:custGeom>
            <a:avLst/>
            <a:gdLst/>
            <a:ahLst/>
            <a:cxnLst/>
            <a:rect l="l" t="t" r="r" b="b"/>
            <a:pathLst>
              <a:path w="152400" h="152400">
                <a:moveTo>
                  <a:pt x="82689" y="2560"/>
                </a:moveTo>
                <a:cubicBezTo>
                  <a:pt x="79028" y="-833"/>
                  <a:pt x="73372" y="-833"/>
                  <a:pt x="69741" y="2560"/>
                </a:cubicBezTo>
                <a:lnTo>
                  <a:pt x="3066" y="64472"/>
                </a:lnTo>
                <a:cubicBezTo>
                  <a:pt x="208" y="67151"/>
                  <a:pt x="-744" y="71289"/>
                  <a:pt x="685" y="74920"/>
                </a:cubicBezTo>
                <a:cubicBezTo>
                  <a:pt x="2113" y="78551"/>
                  <a:pt x="5596" y="80962"/>
                  <a:pt x="9525" y="80962"/>
                </a:cubicBezTo>
                <a:lnTo>
                  <a:pt x="14288" y="80962"/>
                </a:lnTo>
                <a:lnTo>
                  <a:pt x="14288" y="133350"/>
                </a:lnTo>
                <a:cubicBezTo>
                  <a:pt x="14288" y="143857"/>
                  <a:pt x="22830" y="152400"/>
                  <a:pt x="33338" y="152400"/>
                </a:cubicBezTo>
                <a:lnTo>
                  <a:pt x="119062" y="152400"/>
                </a:lnTo>
                <a:cubicBezTo>
                  <a:pt x="129570" y="152400"/>
                  <a:pt x="138113" y="143857"/>
                  <a:pt x="138113" y="133350"/>
                </a:cubicBezTo>
                <a:lnTo>
                  <a:pt x="138113" y="80962"/>
                </a:lnTo>
                <a:lnTo>
                  <a:pt x="142875" y="80962"/>
                </a:lnTo>
                <a:cubicBezTo>
                  <a:pt x="146804" y="80962"/>
                  <a:pt x="150316" y="78551"/>
                  <a:pt x="151745" y="74920"/>
                </a:cubicBezTo>
                <a:cubicBezTo>
                  <a:pt x="153174" y="71289"/>
                  <a:pt x="152221" y="67121"/>
                  <a:pt x="149364" y="64472"/>
                </a:cubicBezTo>
                <a:lnTo>
                  <a:pt x="82689" y="2560"/>
                </a:lnTo>
                <a:close/>
                <a:moveTo>
                  <a:pt x="71438" y="95250"/>
                </a:moveTo>
                <a:lnTo>
                  <a:pt x="80962" y="95250"/>
                </a:lnTo>
                <a:cubicBezTo>
                  <a:pt x="88850" y="95250"/>
                  <a:pt x="95250" y="101650"/>
                  <a:pt x="95250" y="109537"/>
                </a:cubicBezTo>
                <a:lnTo>
                  <a:pt x="95250" y="138113"/>
                </a:lnTo>
                <a:lnTo>
                  <a:pt x="57150" y="138113"/>
                </a:lnTo>
                <a:lnTo>
                  <a:pt x="57150" y="109537"/>
                </a:lnTo>
                <a:cubicBezTo>
                  <a:pt x="57150" y="101650"/>
                  <a:pt x="63550" y="95250"/>
                  <a:pt x="71438" y="95250"/>
                </a:cubicBezTo>
                <a:close/>
              </a:path>
            </a:pathLst>
          </a:custGeom>
          <a:solidFill>
            <a:srgbClr val="FF8904"/>
          </a:solidFill>
          <a:ln/>
        </p:spPr>
        <p:txBody>
          <a:bodyPr/>
          <a:lstStyle/>
          <a:p>
            <a:endParaRPr lang="en-GB"/>
          </a:p>
        </p:txBody>
      </p:sp>
      <p:sp>
        <p:nvSpPr>
          <p:cNvPr id="49" name="Text 47"/>
          <p:cNvSpPr/>
          <p:nvPr/>
        </p:nvSpPr>
        <p:spPr>
          <a:xfrm>
            <a:off x="6619875" y="4962525"/>
            <a:ext cx="1666875" cy="190500"/>
          </a:xfrm>
          <a:prstGeom prst="rect">
            <a:avLst/>
          </a:prstGeom>
          <a:noFill/>
          <a:ln/>
        </p:spPr>
        <p:txBody>
          <a:bodyPr wrap="square" lIns="0" tIns="0" rIns="0" bIns="0" rtlCol="0" anchor="ctr"/>
          <a:lstStyle/>
          <a:p>
            <a:pPr>
              <a:lnSpc>
                <a:spcPct val="120000"/>
              </a:lnSpc>
            </a:pPr>
            <a:r>
              <a:rPr lang="en-US" sz="1050" b="1" dirty="0">
                <a:solidFill>
                  <a:srgbClr val="E0E2E5"/>
                </a:solidFill>
                <a:latin typeface="Liter" pitchFamily="34" charset="0"/>
                <a:ea typeface="Liter" pitchFamily="34" charset="-122"/>
                <a:cs typeface="Liter" pitchFamily="34" charset="-120"/>
              </a:rPr>
              <a:t>Mortgage Market Recovery</a:t>
            </a:r>
            <a:endParaRPr lang="en-US" sz="1600" dirty="0"/>
          </a:p>
        </p:txBody>
      </p:sp>
      <p:sp>
        <p:nvSpPr>
          <p:cNvPr id="50" name="Text 48"/>
          <p:cNvSpPr/>
          <p:nvPr/>
        </p:nvSpPr>
        <p:spPr>
          <a:xfrm>
            <a:off x="6353175" y="5229225"/>
            <a:ext cx="535305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Largest UK mortgage lender positioned for market share gains as housing market stabilizes. £6.1bn mortgage growth in 2024.</a:t>
            </a:r>
            <a:endParaRPr lang="en-US" sz="1600" dirty="0"/>
          </a:p>
        </p:txBody>
      </p:sp>
      <p:sp>
        <p:nvSpPr>
          <p:cNvPr id="51" name="Shape 49"/>
          <p:cNvSpPr/>
          <p:nvPr/>
        </p:nvSpPr>
        <p:spPr>
          <a:xfrm>
            <a:off x="6196013" y="5815013"/>
            <a:ext cx="5610225" cy="771525"/>
          </a:xfrm>
          <a:custGeom>
            <a:avLst/>
            <a:gdLst/>
            <a:ahLst/>
            <a:cxnLst/>
            <a:rect l="l" t="t" r="r" b="b"/>
            <a:pathLst>
              <a:path w="5610225" h="771525">
                <a:moveTo>
                  <a:pt x="76204" y="0"/>
                </a:moveTo>
                <a:lnTo>
                  <a:pt x="5534021" y="0"/>
                </a:lnTo>
                <a:cubicBezTo>
                  <a:pt x="5576108" y="0"/>
                  <a:pt x="5610225" y="34117"/>
                  <a:pt x="5610225" y="76204"/>
                </a:cubicBezTo>
                <a:lnTo>
                  <a:pt x="5610225" y="695321"/>
                </a:lnTo>
                <a:cubicBezTo>
                  <a:pt x="5610225" y="737408"/>
                  <a:pt x="5576108" y="771525"/>
                  <a:pt x="5534021" y="771525"/>
                </a:cubicBezTo>
                <a:lnTo>
                  <a:pt x="76204" y="771525"/>
                </a:lnTo>
                <a:cubicBezTo>
                  <a:pt x="34117" y="771525"/>
                  <a:pt x="0" y="737408"/>
                  <a:pt x="0" y="695321"/>
                </a:cubicBezTo>
                <a:lnTo>
                  <a:pt x="0" y="76204"/>
                </a:lnTo>
                <a:cubicBezTo>
                  <a:pt x="0" y="34146"/>
                  <a:pt x="34146" y="0"/>
                  <a:pt x="76204" y="0"/>
                </a:cubicBezTo>
                <a:close/>
              </a:path>
            </a:pathLst>
          </a:custGeom>
          <a:solidFill>
            <a:srgbClr val="733E0A">
              <a:alpha val="20000"/>
            </a:srgbClr>
          </a:solidFill>
          <a:ln w="12700">
            <a:solidFill>
              <a:srgbClr val="F0B100">
                <a:alpha val="30196"/>
              </a:srgbClr>
            </a:solidFill>
            <a:prstDash val="solid"/>
          </a:ln>
        </p:spPr>
        <p:txBody>
          <a:bodyPr/>
          <a:lstStyle/>
          <a:p>
            <a:endParaRPr lang="en-GB"/>
          </a:p>
        </p:txBody>
      </p:sp>
      <p:sp>
        <p:nvSpPr>
          <p:cNvPr id="52" name="Text 50"/>
          <p:cNvSpPr/>
          <p:nvPr/>
        </p:nvSpPr>
        <p:spPr>
          <a:xfrm>
            <a:off x="6315075" y="5934075"/>
            <a:ext cx="5438775" cy="190500"/>
          </a:xfrm>
          <a:prstGeom prst="rect">
            <a:avLst/>
          </a:prstGeom>
          <a:noFill/>
          <a:ln/>
        </p:spPr>
        <p:txBody>
          <a:bodyPr wrap="square" lIns="0" tIns="0" rIns="0" bIns="0" rtlCol="0" anchor="ctr"/>
          <a:lstStyle/>
          <a:p>
            <a:pPr>
              <a:lnSpc>
                <a:spcPct val="120000"/>
              </a:lnSpc>
            </a:pPr>
            <a:r>
              <a:rPr lang="en-US" sz="1050" b="1" dirty="0">
                <a:solidFill>
                  <a:srgbClr val="FDC700"/>
                </a:solidFill>
                <a:latin typeface="Quattrocento Sans" pitchFamily="34" charset="0"/>
                <a:ea typeface="Quattrocento Sans" pitchFamily="34" charset="-122"/>
                <a:cs typeface="Quattrocento Sans" pitchFamily="34" charset="-120"/>
              </a:rPr>
              <a:t>Key Assumption</a:t>
            </a:r>
            <a:endParaRPr lang="en-US" sz="1600" dirty="0"/>
          </a:p>
        </p:txBody>
      </p:sp>
      <p:sp>
        <p:nvSpPr>
          <p:cNvPr id="53" name="Text 51"/>
          <p:cNvSpPr/>
          <p:nvPr/>
        </p:nvSpPr>
        <p:spPr>
          <a:xfrm>
            <a:off x="6315075" y="6162675"/>
            <a:ext cx="5429250" cy="304800"/>
          </a:xfrm>
          <a:prstGeom prst="rect">
            <a:avLst/>
          </a:prstGeom>
          <a:noFill/>
          <a:ln/>
        </p:spPr>
        <p:txBody>
          <a:bodyPr wrap="square" lIns="0" tIns="0" rIns="0" bIns="0" rtlCol="0" anchor="ctr"/>
          <a:lstStyle/>
          <a:p>
            <a:pPr>
              <a:lnSpc>
                <a:spcPct val="110000"/>
              </a:lnSpc>
            </a:pPr>
            <a:r>
              <a:rPr lang="en-US" sz="900" dirty="0">
                <a:solidFill>
                  <a:srgbClr val="E0E2E5">
                    <a:alpha val="80000"/>
                  </a:srgbClr>
                </a:solidFill>
                <a:latin typeface="Quattrocento Sans" pitchFamily="34" charset="0"/>
                <a:ea typeface="Quattrocento Sans" pitchFamily="34" charset="-122"/>
                <a:cs typeface="Quattrocento Sans" pitchFamily="34" charset="-120"/>
              </a:rPr>
              <a:t>Guidance based on current macroeconomic assumptions including Bank of England rate cuts to 3.25-3.50% and stable UK economic growth.</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3" name="Shape 0"/>
          <p:cNvSpPr/>
          <p:nvPr/>
        </p:nvSpPr>
        <p:spPr>
          <a:xfrm>
            <a:off x="0" y="0"/>
            <a:ext cx="12192000" cy="7273841"/>
          </a:xfrm>
          <a:custGeom>
            <a:avLst/>
            <a:gdLst/>
            <a:ahLst/>
            <a:cxnLst/>
            <a:rect l="l" t="t" r="r" b="b"/>
            <a:pathLst>
              <a:path w="12192000" h="7273841">
                <a:moveTo>
                  <a:pt x="0" y="0"/>
                </a:moveTo>
                <a:lnTo>
                  <a:pt x="12192000" y="0"/>
                </a:lnTo>
                <a:lnTo>
                  <a:pt x="12192000" y="7273841"/>
                </a:lnTo>
                <a:lnTo>
                  <a:pt x="0" y="7273841"/>
                </a:lnTo>
                <a:lnTo>
                  <a:pt x="0" y="0"/>
                </a:lnTo>
                <a:close/>
              </a:path>
            </a:pathLst>
          </a:custGeom>
          <a:gradFill flip="none" rotWithShape="1">
            <a:gsLst>
              <a:gs pos="0">
                <a:srgbClr val="1A1D21">
                  <a:alpha val="95000"/>
                </a:srgbClr>
              </a:gs>
              <a:gs pos="50000">
                <a:srgbClr val="1A1D21">
                  <a:alpha val="90000"/>
                </a:srgbClr>
              </a:gs>
              <a:gs pos="100000">
                <a:srgbClr val="006A4A">
                  <a:alpha val="30000"/>
                </a:srgbClr>
              </a:gs>
            </a:gsLst>
            <a:lin ang="2700000" scaled="1"/>
          </a:gradFill>
          <a:ln/>
        </p:spPr>
        <p:txBody>
          <a:bodyPr/>
          <a:lstStyle/>
          <a:p>
            <a:endParaRPr lang="en-GB"/>
          </a:p>
        </p:txBody>
      </p:sp>
      <p:sp>
        <p:nvSpPr>
          <p:cNvPr id="4" name="Text 1"/>
          <p:cNvSpPr/>
          <p:nvPr/>
        </p:nvSpPr>
        <p:spPr>
          <a:xfrm>
            <a:off x="359646" y="359646"/>
            <a:ext cx="11526655" cy="143858"/>
          </a:xfrm>
          <a:prstGeom prst="rect">
            <a:avLst/>
          </a:prstGeom>
          <a:noFill/>
          <a:ln/>
        </p:spPr>
        <p:txBody>
          <a:bodyPr wrap="square" lIns="0" tIns="0" rIns="0" bIns="0" rtlCol="0" anchor="ctr"/>
          <a:lstStyle/>
          <a:p>
            <a:pPr>
              <a:lnSpc>
                <a:spcPct val="110000"/>
              </a:lnSpc>
            </a:pPr>
            <a:r>
              <a:rPr lang="en-US" sz="850" b="1" kern="0" spc="85" dirty="0">
                <a:solidFill>
                  <a:srgbClr val="C0A062"/>
                </a:solidFill>
                <a:latin typeface="Quattrocento Sans" pitchFamily="34" charset="0"/>
                <a:ea typeface="Quattrocento Sans" pitchFamily="34" charset="-122"/>
                <a:cs typeface="Quattrocento Sans" pitchFamily="34" charset="-120"/>
              </a:rPr>
              <a:t>Strategic Assessment</a:t>
            </a:r>
            <a:endParaRPr lang="en-US" sz="1600" dirty="0"/>
          </a:p>
        </p:txBody>
      </p:sp>
      <p:sp>
        <p:nvSpPr>
          <p:cNvPr id="5" name="Text 2"/>
          <p:cNvSpPr/>
          <p:nvPr/>
        </p:nvSpPr>
        <p:spPr>
          <a:xfrm>
            <a:off x="359646" y="539469"/>
            <a:ext cx="11634549" cy="359646"/>
          </a:xfrm>
          <a:prstGeom prst="rect">
            <a:avLst/>
          </a:prstGeom>
          <a:noFill/>
          <a:ln/>
        </p:spPr>
        <p:txBody>
          <a:bodyPr wrap="square" lIns="0" tIns="0" rIns="0" bIns="0" rtlCol="0" anchor="ctr"/>
          <a:lstStyle/>
          <a:p>
            <a:pPr>
              <a:lnSpc>
                <a:spcPct val="90000"/>
              </a:lnSpc>
            </a:pPr>
            <a:r>
              <a:rPr lang="en-US" sz="2549" b="1" dirty="0">
                <a:solidFill>
                  <a:srgbClr val="E0E2E5"/>
                </a:solidFill>
                <a:latin typeface="Liter" pitchFamily="34" charset="0"/>
                <a:ea typeface="Liter" pitchFamily="34" charset="-122"/>
                <a:cs typeface="Liter" pitchFamily="34" charset="-120"/>
              </a:rPr>
              <a:t>Key Takeaways &amp; Recommendations</a:t>
            </a:r>
            <a:endParaRPr lang="en-US" sz="1600" dirty="0"/>
          </a:p>
        </p:txBody>
      </p:sp>
      <p:sp>
        <p:nvSpPr>
          <p:cNvPr id="6" name="Shape 3"/>
          <p:cNvSpPr/>
          <p:nvPr/>
        </p:nvSpPr>
        <p:spPr>
          <a:xfrm>
            <a:off x="359646" y="971044"/>
            <a:ext cx="575434" cy="17982"/>
          </a:xfrm>
          <a:custGeom>
            <a:avLst/>
            <a:gdLst/>
            <a:ahLst/>
            <a:cxnLst/>
            <a:rect l="l" t="t" r="r" b="b"/>
            <a:pathLst>
              <a:path w="575434" h="17982">
                <a:moveTo>
                  <a:pt x="0" y="0"/>
                </a:moveTo>
                <a:lnTo>
                  <a:pt x="575434" y="0"/>
                </a:lnTo>
                <a:lnTo>
                  <a:pt x="575434" y="17982"/>
                </a:lnTo>
                <a:lnTo>
                  <a:pt x="0" y="17982"/>
                </a:lnTo>
                <a:lnTo>
                  <a:pt x="0" y="0"/>
                </a:lnTo>
                <a:close/>
              </a:path>
            </a:pathLst>
          </a:custGeom>
          <a:solidFill>
            <a:srgbClr val="006A4A"/>
          </a:solidFill>
          <a:ln/>
        </p:spPr>
        <p:txBody>
          <a:bodyPr/>
          <a:lstStyle/>
          <a:p>
            <a:endParaRPr lang="en-GB"/>
          </a:p>
        </p:txBody>
      </p:sp>
      <p:sp>
        <p:nvSpPr>
          <p:cNvPr id="7" name="Shape 4"/>
          <p:cNvSpPr/>
          <p:nvPr/>
        </p:nvSpPr>
        <p:spPr>
          <a:xfrm>
            <a:off x="364142" y="1137381"/>
            <a:ext cx="7597522" cy="1231788"/>
          </a:xfrm>
          <a:custGeom>
            <a:avLst/>
            <a:gdLst/>
            <a:ahLst/>
            <a:cxnLst/>
            <a:rect l="l" t="t" r="r" b="b"/>
            <a:pathLst>
              <a:path w="7597522" h="1231788">
                <a:moveTo>
                  <a:pt x="71924" y="0"/>
                </a:moveTo>
                <a:lnTo>
                  <a:pt x="7525598" y="0"/>
                </a:lnTo>
                <a:cubicBezTo>
                  <a:pt x="7565321" y="0"/>
                  <a:pt x="7597522" y="32202"/>
                  <a:pt x="7597522" y="71924"/>
                </a:cubicBezTo>
                <a:lnTo>
                  <a:pt x="7597522" y="1159864"/>
                </a:lnTo>
                <a:cubicBezTo>
                  <a:pt x="7597522" y="1199586"/>
                  <a:pt x="7565321" y="1231788"/>
                  <a:pt x="7525598" y="1231788"/>
                </a:cubicBezTo>
                <a:lnTo>
                  <a:pt x="71924" y="1231788"/>
                </a:lnTo>
                <a:cubicBezTo>
                  <a:pt x="32202" y="1231788"/>
                  <a:pt x="0" y="1199586"/>
                  <a:pt x="0" y="1159864"/>
                </a:cubicBezTo>
                <a:lnTo>
                  <a:pt x="0" y="71924"/>
                </a:lnTo>
                <a:cubicBezTo>
                  <a:pt x="0" y="32202"/>
                  <a:pt x="32202" y="0"/>
                  <a:pt x="71924" y="0"/>
                </a:cubicBezTo>
                <a:close/>
              </a:path>
            </a:pathLst>
          </a:custGeom>
          <a:solidFill>
            <a:srgbClr val="4A5C6A">
              <a:alpha val="30196"/>
            </a:srgbClr>
          </a:solidFill>
          <a:ln w="12700">
            <a:solidFill>
              <a:srgbClr val="C0A062">
                <a:alpha val="30196"/>
              </a:srgbClr>
            </a:solidFill>
            <a:prstDash val="solid"/>
          </a:ln>
        </p:spPr>
        <p:txBody>
          <a:bodyPr/>
          <a:lstStyle/>
          <a:p>
            <a:endParaRPr lang="en-GB"/>
          </a:p>
        </p:txBody>
      </p:sp>
      <p:sp>
        <p:nvSpPr>
          <p:cNvPr id="8" name="Text 5"/>
          <p:cNvSpPr/>
          <p:nvPr/>
        </p:nvSpPr>
        <p:spPr>
          <a:xfrm>
            <a:off x="512496" y="1285735"/>
            <a:ext cx="7381735" cy="251752"/>
          </a:xfrm>
          <a:prstGeom prst="rect">
            <a:avLst/>
          </a:prstGeom>
          <a:noFill/>
          <a:ln/>
        </p:spPr>
        <p:txBody>
          <a:bodyPr wrap="square" lIns="0" tIns="0" rIns="0" bIns="0" rtlCol="0" anchor="ctr"/>
          <a:lstStyle/>
          <a:p>
            <a:pPr>
              <a:lnSpc>
                <a:spcPct val="130000"/>
              </a:lnSpc>
            </a:pPr>
            <a:r>
              <a:rPr lang="en-US" sz="1274" b="1" dirty="0">
                <a:solidFill>
                  <a:srgbClr val="C0A062"/>
                </a:solidFill>
                <a:latin typeface="Liter" pitchFamily="34" charset="0"/>
                <a:ea typeface="Liter" pitchFamily="34" charset="-122"/>
                <a:cs typeface="Liter" pitchFamily="34" charset="-120"/>
              </a:rPr>
              <a:t>1. Accelerate Digital-First Transformation</a:t>
            </a:r>
            <a:endParaRPr lang="en-US" sz="1600" dirty="0"/>
          </a:p>
        </p:txBody>
      </p:sp>
      <p:sp>
        <p:nvSpPr>
          <p:cNvPr id="9" name="Text 6"/>
          <p:cNvSpPr/>
          <p:nvPr/>
        </p:nvSpPr>
        <p:spPr>
          <a:xfrm>
            <a:off x="512496" y="1609416"/>
            <a:ext cx="7363752" cy="611398"/>
          </a:xfrm>
          <a:prstGeom prst="rect">
            <a:avLst/>
          </a:prstGeom>
          <a:noFill/>
          <a:ln/>
        </p:spPr>
        <p:txBody>
          <a:bodyPr wrap="square" lIns="0" tIns="0" rIns="0" bIns="0" rtlCol="0" anchor="ctr"/>
          <a:lstStyle/>
          <a:p>
            <a:pPr>
              <a:lnSpc>
                <a:spcPct val="14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With 22.7M digital users and 800+ AI models deployed, Lloyds should continue aggressive cloud migration beyond the 20% target. Faster legacy decommissioning (currently 10% complete) is critical to reduce technical debt and improve agility against fintech challengers.</a:t>
            </a:r>
            <a:endParaRPr lang="en-US" sz="1600" dirty="0"/>
          </a:p>
        </p:txBody>
      </p:sp>
      <p:sp>
        <p:nvSpPr>
          <p:cNvPr id="10" name="Shape 7"/>
          <p:cNvSpPr/>
          <p:nvPr/>
        </p:nvSpPr>
        <p:spPr>
          <a:xfrm>
            <a:off x="364142" y="2488301"/>
            <a:ext cx="7597522" cy="1231788"/>
          </a:xfrm>
          <a:custGeom>
            <a:avLst/>
            <a:gdLst/>
            <a:ahLst/>
            <a:cxnLst/>
            <a:rect l="l" t="t" r="r" b="b"/>
            <a:pathLst>
              <a:path w="7597522" h="1231788">
                <a:moveTo>
                  <a:pt x="71924" y="0"/>
                </a:moveTo>
                <a:lnTo>
                  <a:pt x="7525598" y="0"/>
                </a:lnTo>
                <a:cubicBezTo>
                  <a:pt x="7565321" y="0"/>
                  <a:pt x="7597522" y="32202"/>
                  <a:pt x="7597522" y="71924"/>
                </a:cubicBezTo>
                <a:lnTo>
                  <a:pt x="7597522" y="1159864"/>
                </a:lnTo>
                <a:cubicBezTo>
                  <a:pt x="7597522" y="1199586"/>
                  <a:pt x="7565321" y="1231788"/>
                  <a:pt x="7525598" y="1231788"/>
                </a:cubicBezTo>
                <a:lnTo>
                  <a:pt x="71924" y="1231788"/>
                </a:lnTo>
                <a:cubicBezTo>
                  <a:pt x="32202" y="1231788"/>
                  <a:pt x="0" y="1199586"/>
                  <a:pt x="0" y="1159864"/>
                </a:cubicBezTo>
                <a:lnTo>
                  <a:pt x="0" y="71924"/>
                </a:lnTo>
                <a:cubicBezTo>
                  <a:pt x="0" y="32202"/>
                  <a:pt x="32202" y="0"/>
                  <a:pt x="71924" y="0"/>
                </a:cubicBezTo>
                <a:close/>
              </a:path>
            </a:pathLst>
          </a:custGeom>
          <a:solidFill>
            <a:srgbClr val="4A5C6A">
              <a:alpha val="30196"/>
            </a:srgbClr>
          </a:solidFill>
          <a:ln w="12700">
            <a:solidFill>
              <a:srgbClr val="C0A062">
                <a:alpha val="30196"/>
              </a:srgbClr>
            </a:solidFill>
            <a:prstDash val="solid"/>
          </a:ln>
        </p:spPr>
        <p:txBody>
          <a:bodyPr/>
          <a:lstStyle/>
          <a:p>
            <a:endParaRPr lang="en-GB"/>
          </a:p>
        </p:txBody>
      </p:sp>
      <p:sp>
        <p:nvSpPr>
          <p:cNvPr id="11" name="Text 8"/>
          <p:cNvSpPr/>
          <p:nvPr/>
        </p:nvSpPr>
        <p:spPr>
          <a:xfrm>
            <a:off x="512496" y="2636655"/>
            <a:ext cx="7381735" cy="251752"/>
          </a:xfrm>
          <a:prstGeom prst="rect">
            <a:avLst/>
          </a:prstGeom>
          <a:noFill/>
          <a:ln/>
        </p:spPr>
        <p:txBody>
          <a:bodyPr wrap="square" lIns="0" tIns="0" rIns="0" bIns="0" rtlCol="0" anchor="ctr"/>
          <a:lstStyle/>
          <a:p>
            <a:pPr>
              <a:lnSpc>
                <a:spcPct val="130000"/>
              </a:lnSpc>
            </a:pPr>
            <a:r>
              <a:rPr lang="en-US" sz="1274" b="1" dirty="0">
                <a:solidFill>
                  <a:srgbClr val="C0A062"/>
                </a:solidFill>
                <a:latin typeface="Liter" pitchFamily="34" charset="0"/>
                <a:ea typeface="Liter" pitchFamily="34" charset="-122"/>
                <a:cs typeface="Liter" pitchFamily="34" charset="-120"/>
              </a:rPr>
              <a:t>2. Defend Mortgage Leadership Amid Rate Volatility</a:t>
            </a:r>
            <a:endParaRPr lang="en-US" sz="1600" dirty="0"/>
          </a:p>
        </p:txBody>
      </p:sp>
      <p:sp>
        <p:nvSpPr>
          <p:cNvPr id="12" name="Text 9"/>
          <p:cNvSpPr/>
          <p:nvPr/>
        </p:nvSpPr>
        <p:spPr>
          <a:xfrm>
            <a:off x="512496" y="2960336"/>
            <a:ext cx="7363752" cy="611398"/>
          </a:xfrm>
          <a:prstGeom prst="rect">
            <a:avLst/>
          </a:prstGeom>
          <a:noFill/>
          <a:ln/>
        </p:spPr>
        <p:txBody>
          <a:bodyPr wrap="square" lIns="0" tIns="0" rIns="0" bIns="0" rtlCol="0" anchor="ctr"/>
          <a:lstStyle/>
          <a:p>
            <a:pPr>
              <a:lnSpc>
                <a:spcPct val="14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As the UK's #1 mortgage lender (£300bn+ portfolio), Lloyds must leverage its AI-driven income verification capabilities (reducing processing from days to seconds) to maintain market share during expected rate cuts. The 60% automation of lending decisions provides cost advantage in competitive refinancing market.</a:t>
            </a:r>
            <a:endParaRPr lang="en-US" sz="1600" dirty="0"/>
          </a:p>
        </p:txBody>
      </p:sp>
      <p:sp>
        <p:nvSpPr>
          <p:cNvPr id="13" name="Shape 10"/>
          <p:cNvSpPr/>
          <p:nvPr/>
        </p:nvSpPr>
        <p:spPr>
          <a:xfrm>
            <a:off x="364142" y="3839221"/>
            <a:ext cx="7597522" cy="1231788"/>
          </a:xfrm>
          <a:custGeom>
            <a:avLst/>
            <a:gdLst/>
            <a:ahLst/>
            <a:cxnLst/>
            <a:rect l="l" t="t" r="r" b="b"/>
            <a:pathLst>
              <a:path w="7597522" h="1231788">
                <a:moveTo>
                  <a:pt x="71924" y="0"/>
                </a:moveTo>
                <a:lnTo>
                  <a:pt x="7525598" y="0"/>
                </a:lnTo>
                <a:cubicBezTo>
                  <a:pt x="7565321" y="0"/>
                  <a:pt x="7597522" y="32202"/>
                  <a:pt x="7597522" y="71924"/>
                </a:cubicBezTo>
                <a:lnTo>
                  <a:pt x="7597522" y="1159864"/>
                </a:lnTo>
                <a:cubicBezTo>
                  <a:pt x="7597522" y="1199586"/>
                  <a:pt x="7565321" y="1231788"/>
                  <a:pt x="7525598" y="1231788"/>
                </a:cubicBezTo>
                <a:lnTo>
                  <a:pt x="71924" y="1231788"/>
                </a:lnTo>
                <a:cubicBezTo>
                  <a:pt x="32202" y="1231788"/>
                  <a:pt x="0" y="1199586"/>
                  <a:pt x="0" y="1159864"/>
                </a:cubicBezTo>
                <a:lnTo>
                  <a:pt x="0" y="71924"/>
                </a:lnTo>
                <a:cubicBezTo>
                  <a:pt x="0" y="32202"/>
                  <a:pt x="32202" y="0"/>
                  <a:pt x="71924" y="0"/>
                </a:cubicBezTo>
                <a:close/>
              </a:path>
            </a:pathLst>
          </a:custGeom>
          <a:solidFill>
            <a:srgbClr val="4A5C6A">
              <a:alpha val="30196"/>
            </a:srgbClr>
          </a:solidFill>
          <a:ln w="12700">
            <a:solidFill>
              <a:srgbClr val="C0A062">
                <a:alpha val="30196"/>
              </a:srgbClr>
            </a:solidFill>
            <a:prstDash val="solid"/>
          </a:ln>
        </p:spPr>
        <p:txBody>
          <a:bodyPr/>
          <a:lstStyle/>
          <a:p>
            <a:endParaRPr lang="en-GB"/>
          </a:p>
        </p:txBody>
      </p:sp>
      <p:sp>
        <p:nvSpPr>
          <p:cNvPr id="14" name="Text 11"/>
          <p:cNvSpPr/>
          <p:nvPr/>
        </p:nvSpPr>
        <p:spPr>
          <a:xfrm>
            <a:off x="512496" y="3987575"/>
            <a:ext cx="7381735" cy="251752"/>
          </a:xfrm>
          <a:prstGeom prst="rect">
            <a:avLst/>
          </a:prstGeom>
          <a:noFill/>
          <a:ln/>
        </p:spPr>
        <p:txBody>
          <a:bodyPr wrap="square" lIns="0" tIns="0" rIns="0" bIns="0" rtlCol="0" anchor="ctr"/>
          <a:lstStyle/>
          <a:p>
            <a:pPr>
              <a:lnSpc>
                <a:spcPct val="130000"/>
              </a:lnSpc>
            </a:pPr>
            <a:r>
              <a:rPr lang="en-US" sz="1274" b="1" dirty="0">
                <a:solidFill>
                  <a:srgbClr val="C0A062"/>
                </a:solidFill>
                <a:latin typeface="Liter" pitchFamily="34" charset="0"/>
                <a:ea typeface="Liter" pitchFamily="34" charset="-122"/>
                <a:cs typeface="Liter" pitchFamily="34" charset="-120"/>
              </a:rPr>
              <a:t>3. Resolve Motor Finance Uncertainty</a:t>
            </a:r>
            <a:endParaRPr lang="en-US" sz="1600" dirty="0"/>
          </a:p>
        </p:txBody>
      </p:sp>
      <p:sp>
        <p:nvSpPr>
          <p:cNvPr id="15" name="Text 12"/>
          <p:cNvSpPr/>
          <p:nvPr/>
        </p:nvSpPr>
        <p:spPr>
          <a:xfrm>
            <a:off x="512496" y="4311257"/>
            <a:ext cx="7363752" cy="611398"/>
          </a:xfrm>
          <a:prstGeom prst="rect">
            <a:avLst/>
          </a:prstGeom>
          <a:noFill/>
          <a:ln/>
        </p:spPr>
        <p:txBody>
          <a:bodyPr wrap="square" lIns="0" tIns="0" rIns="0" bIns="0" rtlCol="0" anchor="ctr"/>
          <a:lstStyle/>
          <a:p>
            <a:pPr>
              <a:lnSpc>
                <a:spcPct val="14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The £700m provision for motor finance commission arrangements represents significant overhang. Proactive engagement with Supreme Court process (hearing April 2025) and potential settlement strategy needed to remove uncertainty and protect the 14.0% ROTE (ex-motor finance) from 12.3% reported.</a:t>
            </a:r>
            <a:endParaRPr lang="en-US" sz="1600" dirty="0"/>
          </a:p>
        </p:txBody>
      </p:sp>
      <p:sp>
        <p:nvSpPr>
          <p:cNvPr id="16" name="Shape 13"/>
          <p:cNvSpPr/>
          <p:nvPr/>
        </p:nvSpPr>
        <p:spPr>
          <a:xfrm>
            <a:off x="364142" y="5190142"/>
            <a:ext cx="7597522" cy="1231788"/>
          </a:xfrm>
          <a:custGeom>
            <a:avLst/>
            <a:gdLst/>
            <a:ahLst/>
            <a:cxnLst/>
            <a:rect l="l" t="t" r="r" b="b"/>
            <a:pathLst>
              <a:path w="7597522" h="1231788">
                <a:moveTo>
                  <a:pt x="71924" y="0"/>
                </a:moveTo>
                <a:lnTo>
                  <a:pt x="7525598" y="0"/>
                </a:lnTo>
                <a:cubicBezTo>
                  <a:pt x="7565321" y="0"/>
                  <a:pt x="7597522" y="32202"/>
                  <a:pt x="7597522" y="71924"/>
                </a:cubicBezTo>
                <a:lnTo>
                  <a:pt x="7597522" y="1159864"/>
                </a:lnTo>
                <a:cubicBezTo>
                  <a:pt x="7597522" y="1199586"/>
                  <a:pt x="7565321" y="1231788"/>
                  <a:pt x="7525598" y="1231788"/>
                </a:cubicBezTo>
                <a:lnTo>
                  <a:pt x="71924" y="1231788"/>
                </a:lnTo>
                <a:cubicBezTo>
                  <a:pt x="32202" y="1231788"/>
                  <a:pt x="0" y="1199586"/>
                  <a:pt x="0" y="1159864"/>
                </a:cubicBezTo>
                <a:lnTo>
                  <a:pt x="0" y="71924"/>
                </a:lnTo>
                <a:cubicBezTo>
                  <a:pt x="0" y="32202"/>
                  <a:pt x="32202" y="0"/>
                  <a:pt x="71924" y="0"/>
                </a:cubicBezTo>
                <a:close/>
              </a:path>
            </a:pathLst>
          </a:custGeom>
          <a:solidFill>
            <a:srgbClr val="4A5C6A">
              <a:alpha val="30196"/>
            </a:srgbClr>
          </a:solidFill>
          <a:ln w="12700">
            <a:solidFill>
              <a:srgbClr val="C0A062">
                <a:alpha val="30196"/>
              </a:srgbClr>
            </a:solidFill>
            <a:prstDash val="solid"/>
          </a:ln>
        </p:spPr>
        <p:txBody>
          <a:bodyPr/>
          <a:lstStyle/>
          <a:p>
            <a:endParaRPr lang="en-GB"/>
          </a:p>
        </p:txBody>
      </p:sp>
      <p:sp>
        <p:nvSpPr>
          <p:cNvPr id="17" name="Text 14"/>
          <p:cNvSpPr/>
          <p:nvPr/>
        </p:nvSpPr>
        <p:spPr>
          <a:xfrm>
            <a:off x="512496" y="5338496"/>
            <a:ext cx="7381735" cy="251752"/>
          </a:xfrm>
          <a:prstGeom prst="rect">
            <a:avLst/>
          </a:prstGeom>
          <a:noFill/>
          <a:ln/>
        </p:spPr>
        <p:txBody>
          <a:bodyPr wrap="square" lIns="0" tIns="0" rIns="0" bIns="0" rtlCol="0" anchor="ctr"/>
          <a:lstStyle/>
          <a:p>
            <a:pPr>
              <a:lnSpc>
                <a:spcPct val="130000"/>
              </a:lnSpc>
            </a:pPr>
            <a:r>
              <a:rPr lang="en-US" sz="1274" b="1" dirty="0">
                <a:solidFill>
                  <a:srgbClr val="C0A062"/>
                </a:solidFill>
                <a:latin typeface="Liter" pitchFamily="34" charset="0"/>
                <a:ea typeface="Liter" pitchFamily="34" charset="-122"/>
                <a:cs typeface="Liter" pitchFamily="34" charset="-120"/>
              </a:rPr>
              <a:t>4. Capitalize on Wealth Management Opportunity</a:t>
            </a:r>
            <a:endParaRPr lang="en-US" sz="1600" dirty="0"/>
          </a:p>
        </p:txBody>
      </p:sp>
      <p:sp>
        <p:nvSpPr>
          <p:cNvPr id="18" name="Text 15"/>
          <p:cNvSpPr/>
          <p:nvPr/>
        </p:nvSpPr>
        <p:spPr>
          <a:xfrm>
            <a:off x="512496" y="5662177"/>
            <a:ext cx="7363752" cy="611398"/>
          </a:xfrm>
          <a:prstGeom prst="rect">
            <a:avLst/>
          </a:prstGeom>
          <a:noFill/>
          <a:ln/>
        </p:spPr>
        <p:txBody>
          <a:bodyPr wrap="square" lIns="0" tIns="0" rIns="0" bIns="0" rtlCol="0" anchor="ctr"/>
          <a:lstStyle/>
          <a:p>
            <a:pPr>
              <a:lnSpc>
                <a:spcPct val="14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With £10.2bn wealth deposits and Embark platform integration, Lloyds should aggressively cross-sell investment products to its 27M customer base. The £1.5bn strategic income target by 2026 depends heavily on wealth management expansion and Scottish Widows pension proposition growth.</a:t>
            </a:r>
            <a:endParaRPr lang="en-US" sz="1600" dirty="0"/>
          </a:p>
        </p:txBody>
      </p:sp>
      <p:sp>
        <p:nvSpPr>
          <p:cNvPr id="19" name="Shape 16"/>
          <p:cNvSpPr/>
          <p:nvPr/>
        </p:nvSpPr>
        <p:spPr>
          <a:xfrm>
            <a:off x="8111142" y="1137381"/>
            <a:ext cx="3722336" cy="1807221"/>
          </a:xfrm>
          <a:custGeom>
            <a:avLst/>
            <a:gdLst/>
            <a:ahLst/>
            <a:cxnLst/>
            <a:rect l="l" t="t" r="r" b="b"/>
            <a:pathLst>
              <a:path w="3722336" h="1807221">
                <a:moveTo>
                  <a:pt x="71927" y="0"/>
                </a:moveTo>
                <a:lnTo>
                  <a:pt x="3650409" y="0"/>
                </a:lnTo>
                <a:cubicBezTo>
                  <a:pt x="3690133" y="0"/>
                  <a:pt x="3722336" y="32203"/>
                  <a:pt x="3722336" y="71927"/>
                </a:cubicBezTo>
                <a:lnTo>
                  <a:pt x="3722336" y="1735294"/>
                </a:lnTo>
                <a:cubicBezTo>
                  <a:pt x="3722336" y="1775018"/>
                  <a:pt x="3690133" y="1807221"/>
                  <a:pt x="3650409" y="1807221"/>
                </a:cubicBezTo>
                <a:lnTo>
                  <a:pt x="71927" y="1807221"/>
                </a:lnTo>
                <a:cubicBezTo>
                  <a:pt x="32203" y="1807221"/>
                  <a:pt x="0" y="1775018"/>
                  <a:pt x="0" y="1735294"/>
                </a:cubicBezTo>
                <a:lnTo>
                  <a:pt x="0" y="71927"/>
                </a:lnTo>
                <a:cubicBezTo>
                  <a:pt x="0" y="32230"/>
                  <a:pt x="32230" y="0"/>
                  <a:pt x="71927" y="0"/>
                </a:cubicBezTo>
                <a:close/>
              </a:path>
            </a:pathLst>
          </a:custGeom>
          <a:solidFill>
            <a:srgbClr val="006A4A">
              <a:alpha val="40000"/>
            </a:srgbClr>
          </a:solidFill>
          <a:ln w="12700">
            <a:solidFill>
              <a:srgbClr val="006A4A">
                <a:alpha val="60000"/>
              </a:srgbClr>
            </a:solidFill>
            <a:prstDash val="solid"/>
          </a:ln>
        </p:spPr>
        <p:txBody>
          <a:bodyPr/>
          <a:lstStyle/>
          <a:p>
            <a:endParaRPr lang="en-GB"/>
          </a:p>
        </p:txBody>
      </p:sp>
      <p:sp>
        <p:nvSpPr>
          <p:cNvPr id="20" name="Text 17"/>
          <p:cNvSpPr/>
          <p:nvPr/>
        </p:nvSpPr>
        <p:spPr>
          <a:xfrm>
            <a:off x="8259496" y="1285735"/>
            <a:ext cx="3497558" cy="215788"/>
          </a:xfrm>
          <a:prstGeom prst="rect">
            <a:avLst/>
          </a:prstGeom>
          <a:noFill/>
          <a:ln/>
        </p:spPr>
        <p:txBody>
          <a:bodyPr wrap="square" lIns="0" tIns="0" rIns="0" bIns="0" rtlCol="0" anchor="ctr"/>
          <a:lstStyle/>
          <a:p>
            <a:pPr>
              <a:lnSpc>
                <a:spcPct val="130000"/>
              </a:lnSpc>
            </a:pPr>
            <a:r>
              <a:rPr lang="en-US" sz="1133" b="1" dirty="0">
                <a:solidFill>
                  <a:srgbClr val="C0A062"/>
                </a:solidFill>
                <a:latin typeface="Liter" pitchFamily="34" charset="0"/>
                <a:ea typeface="Liter" pitchFamily="34" charset="-122"/>
                <a:cs typeface="Liter" pitchFamily="34" charset="-120"/>
              </a:rPr>
              <a:t>Investment Thesis</a:t>
            </a:r>
            <a:endParaRPr lang="en-US" sz="1600" dirty="0"/>
          </a:p>
        </p:txBody>
      </p:sp>
      <p:sp>
        <p:nvSpPr>
          <p:cNvPr id="21" name="Shape 18"/>
          <p:cNvSpPr/>
          <p:nvPr/>
        </p:nvSpPr>
        <p:spPr>
          <a:xfrm>
            <a:off x="8285345" y="1645381"/>
            <a:ext cx="110142" cy="125876"/>
          </a:xfrm>
          <a:custGeom>
            <a:avLst/>
            <a:gdLst/>
            <a:ahLst/>
            <a:cxnLst/>
            <a:rect l="l" t="t" r="r" b="b"/>
            <a:pathLst>
              <a:path w="110142" h="125876">
                <a:moveTo>
                  <a:pt x="106896" y="17234"/>
                </a:moveTo>
                <a:cubicBezTo>
                  <a:pt x="110412" y="19791"/>
                  <a:pt x="111199" y="24708"/>
                  <a:pt x="108642" y="28224"/>
                </a:cubicBezTo>
                <a:lnTo>
                  <a:pt x="45704" y="114764"/>
                </a:lnTo>
                <a:cubicBezTo>
                  <a:pt x="44352" y="116632"/>
                  <a:pt x="42262" y="117788"/>
                  <a:pt x="39951" y="117984"/>
                </a:cubicBezTo>
                <a:cubicBezTo>
                  <a:pt x="37640" y="118181"/>
                  <a:pt x="35403" y="117320"/>
                  <a:pt x="33780" y="115698"/>
                </a:cubicBezTo>
                <a:lnTo>
                  <a:pt x="2311" y="84229"/>
                </a:lnTo>
                <a:cubicBezTo>
                  <a:pt x="-762" y="81156"/>
                  <a:pt x="-762" y="76165"/>
                  <a:pt x="2311" y="73092"/>
                </a:cubicBezTo>
                <a:cubicBezTo>
                  <a:pt x="5384" y="70019"/>
                  <a:pt x="10375" y="70019"/>
                  <a:pt x="13448" y="73092"/>
                </a:cubicBezTo>
                <a:lnTo>
                  <a:pt x="38402" y="98046"/>
                </a:lnTo>
                <a:lnTo>
                  <a:pt x="95931" y="18955"/>
                </a:lnTo>
                <a:cubicBezTo>
                  <a:pt x="98488" y="15439"/>
                  <a:pt x="103405" y="14653"/>
                  <a:pt x="106921" y="17210"/>
                </a:cubicBezTo>
                <a:close/>
              </a:path>
            </a:pathLst>
          </a:custGeom>
          <a:solidFill>
            <a:srgbClr val="C0A062"/>
          </a:solidFill>
          <a:ln/>
        </p:spPr>
        <p:txBody>
          <a:bodyPr/>
          <a:lstStyle/>
          <a:p>
            <a:endParaRPr lang="en-GB"/>
          </a:p>
        </p:txBody>
      </p:sp>
      <p:sp>
        <p:nvSpPr>
          <p:cNvPr id="22" name="Text 19"/>
          <p:cNvSpPr/>
          <p:nvPr/>
        </p:nvSpPr>
        <p:spPr>
          <a:xfrm>
            <a:off x="8488770" y="1609416"/>
            <a:ext cx="2580460" cy="179823"/>
          </a:xfrm>
          <a:prstGeom prst="rect">
            <a:avLst/>
          </a:prstGeom>
          <a:noFill/>
          <a:ln/>
        </p:spPr>
        <p:txBody>
          <a:bodyPr wrap="square" lIns="0" tIns="0" rIns="0" bIns="0" rtlCol="0" anchor="ctr"/>
          <a:lstStyle/>
          <a:p>
            <a:pP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Market leadership position in UK retail banking</a:t>
            </a:r>
            <a:endParaRPr lang="en-US" sz="1600" dirty="0"/>
          </a:p>
        </p:txBody>
      </p:sp>
      <p:sp>
        <p:nvSpPr>
          <p:cNvPr id="23" name="Shape 20"/>
          <p:cNvSpPr/>
          <p:nvPr/>
        </p:nvSpPr>
        <p:spPr>
          <a:xfrm>
            <a:off x="8285345" y="1897133"/>
            <a:ext cx="110142" cy="125876"/>
          </a:xfrm>
          <a:custGeom>
            <a:avLst/>
            <a:gdLst/>
            <a:ahLst/>
            <a:cxnLst/>
            <a:rect l="l" t="t" r="r" b="b"/>
            <a:pathLst>
              <a:path w="110142" h="125876">
                <a:moveTo>
                  <a:pt x="106896" y="17234"/>
                </a:moveTo>
                <a:cubicBezTo>
                  <a:pt x="110412" y="19791"/>
                  <a:pt x="111199" y="24708"/>
                  <a:pt x="108642" y="28224"/>
                </a:cubicBezTo>
                <a:lnTo>
                  <a:pt x="45704" y="114764"/>
                </a:lnTo>
                <a:cubicBezTo>
                  <a:pt x="44352" y="116632"/>
                  <a:pt x="42262" y="117788"/>
                  <a:pt x="39951" y="117984"/>
                </a:cubicBezTo>
                <a:cubicBezTo>
                  <a:pt x="37640" y="118181"/>
                  <a:pt x="35403" y="117320"/>
                  <a:pt x="33780" y="115698"/>
                </a:cubicBezTo>
                <a:lnTo>
                  <a:pt x="2311" y="84229"/>
                </a:lnTo>
                <a:cubicBezTo>
                  <a:pt x="-762" y="81156"/>
                  <a:pt x="-762" y="76165"/>
                  <a:pt x="2311" y="73092"/>
                </a:cubicBezTo>
                <a:cubicBezTo>
                  <a:pt x="5384" y="70019"/>
                  <a:pt x="10375" y="70019"/>
                  <a:pt x="13448" y="73092"/>
                </a:cubicBezTo>
                <a:lnTo>
                  <a:pt x="38402" y="98046"/>
                </a:lnTo>
                <a:lnTo>
                  <a:pt x="95931" y="18955"/>
                </a:lnTo>
                <a:cubicBezTo>
                  <a:pt x="98488" y="15439"/>
                  <a:pt x="103405" y="14653"/>
                  <a:pt x="106921" y="17210"/>
                </a:cubicBezTo>
                <a:close/>
              </a:path>
            </a:pathLst>
          </a:custGeom>
          <a:solidFill>
            <a:srgbClr val="C0A062"/>
          </a:solidFill>
          <a:ln/>
        </p:spPr>
        <p:txBody>
          <a:bodyPr/>
          <a:lstStyle/>
          <a:p>
            <a:endParaRPr lang="en-GB"/>
          </a:p>
        </p:txBody>
      </p:sp>
      <p:sp>
        <p:nvSpPr>
          <p:cNvPr id="24" name="Text 21"/>
          <p:cNvSpPr/>
          <p:nvPr/>
        </p:nvSpPr>
        <p:spPr>
          <a:xfrm>
            <a:off x="8488770" y="1861168"/>
            <a:ext cx="2454584" cy="179823"/>
          </a:xfrm>
          <a:prstGeom prst="rect">
            <a:avLst/>
          </a:prstGeom>
          <a:noFill/>
          <a:ln/>
        </p:spPr>
        <p:txBody>
          <a:bodyPr wrap="square" lIns="0" tIns="0" rIns="0" bIns="0" rtlCol="0" anchor="ctr"/>
          <a:lstStyle/>
          <a:p>
            <a:pP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Strong capital return policy (£3.6bn in 2024)</a:t>
            </a:r>
            <a:endParaRPr lang="en-US" sz="1600" dirty="0"/>
          </a:p>
        </p:txBody>
      </p:sp>
      <p:sp>
        <p:nvSpPr>
          <p:cNvPr id="25" name="Shape 22"/>
          <p:cNvSpPr/>
          <p:nvPr/>
        </p:nvSpPr>
        <p:spPr>
          <a:xfrm>
            <a:off x="8285345" y="2148885"/>
            <a:ext cx="110142" cy="125876"/>
          </a:xfrm>
          <a:custGeom>
            <a:avLst/>
            <a:gdLst/>
            <a:ahLst/>
            <a:cxnLst/>
            <a:rect l="l" t="t" r="r" b="b"/>
            <a:pathLst>
              <a:path w="110142" h="125876">
                <a:moveTo>
                  <a:pt x="106896" y="17234"/>
                </a:moveTo>
                <a:cubicBezTo>
                  <a:pt x="110412" y="19791"/>
                  <a:pt x="111199" y="24708"/>
                  <a:pt x="108642" y="28224"/>
                </a:cubicBezTo>
                <a:lnTo>
                  <a:pt x="45704" y="114764"/>
                </a:lnTo>
                <a:cubicBezTo>
                  <a:pt x="44352" y="116632"/>
                  <a:pt x="42262" y="117788"/>
                  <a:pt x="39951" y="117984"/>
                </a:cubicBezTo>
                <a:cubicBezTo>
                  <a:pt x="37640" y="118181"/>
                  <a:pt x="35403" y="117320"/>
                  <a:pt x="33780" y="115698"/>
                </a:cubicBezTo>
                <a:lnTo>
                  <a:pt x="2311" y="84229"/>
                </a:lnTo>
                <a:cubicBezTo>
                  <a:pt x="-762" y="81156"/>
                  <a:pt x="-762" y="76165"/>
                  <a:pt x="2311" y="73092"/>
                </a:cubicBezTo>
                <a:cubicBezTo>
                  <a:pt x="5384" y="70019"/>
                  <a:pt x="10375" y="70019"/>
                  <a:pt x="13448" y="73092"/>
                </a:cubicBezTo>
                <a:lnTo>
                  <a:pt x="38402" y="98046"/>
                </a:lnTo>
                <a:lnTo>
                  <a:pt x="95931" y="18955"/>
                </a:lnTo>
                <a:cubicBezTo>
                  <a:pt x="98488" y="15439"/>
                  <a:pt x="103405" y="14653"/>
                  <a:pt x="106921" y="17210"/>
                </a:cubicBezTo>
                <a:close/>
              </a:path>
            </a:pathLst>
          </a:custGeom>
          <a:solidFill>
            <a:srgbClr val="C0A062"/>
          </a:solidFill>
          <a:ln/>
        </p:spPr>
        <p:txBody>
          <a:bodyPr/>
          <a:lstStyle/>
          <a:p>
            <a:endParaRPr lang="en-GB"/>
          </a:p>
        </p:txBody>
      </p:sp>
      <p:sp>
        <p:nvSpPr>
          <p:cNvPr id="26" name="Text 23"/>
          <p:cNvSpPr/>
          <p:nvPr/>
        </p:nvSpPr>
        <p:spPr>
          <a:xfrm>
            <a:off x="8488770" y="2112920"/>
            <a:ext cx="2697345" cy="179823"/>
          </a:xfrm>
          <a:prstGeom prst="rect">
            <a:avLst/>
          </a:prstGeom>
          <a:noFill/>
          <a:ln/>
        </p:spPr>
        <p:txBody>
          <a:bodyPr wrap="square" lIns="0" tIns="0" rIns="0" bIns="0" rtlCol="0" anchor="ctr"/>
          <a:lstStyle/>
          <a:p>
            <a:pP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Digital transformation delivering measurable ROI</a:t>
            </a:r>
            <a:endParaRPr lang="en-US" sz="1600" dirty="0"/>
          </a:p>
        </p:txBody>
      </p:sp>
      <p:sp>
        <p:nvSpPr>
          <p:cNvPr id="27" name="Shape 24"/>
          <p:cNvSpPr/>
          <p:nvPr/>
        </p:nvSpPr>
        <p:spPr>
          <a:xfrm>
            <a:off x="8277478" y="2400637"/>
            <a:ext cx="125876" cy="125876"/>
          </a:xfrm>
          <a:custGeom>
            <a:avLst/>
            <a:gdLst/>
            <a:ahLst/>
            <a:cxnLst/>
            <a:rect l="l" t="t" r="r" b="b"/>
            <a:pathLst>
              <a:path w="125876" h="125876">
                <a:moveTo>
                  <a:pt x="62938" y="0"/>
                </a:moveTo>
                <a:cubicBezTo>
                  <a:pt x="66552" y="0"/>
                  <a:pt x="69871" y="1991"/>
                  <a:pt x="71592" y="5163"/>
                </a:cubicBezTo>
                <a:lnTo>
                  <a:pt x="124696" y="103504"/>
                </a:lnTo>
                <a:cubicBezTo>
                  <a:pt x="126343" y="106552"/>
                  <a:pt x="126269" y="110240"/>
                  <a:pt x="124499" y="113215"/>
                </a:cubicBezTo>
                <a:cubicBezTo>
                  <a:pt x="122729" y="116190"/>
                  <a:pt x="119509" y="118009"/>
                  <a:pt x="116042" y="118009"/>
                </a:cubicBezTo>
                <a:lnTo>
                  <a:pt x="9834" y="118009"/>
                </a:lnTo>
                <a:cubicBezTo>
                  <a:pt x="6368" y="118009"/>
                  <a:pt x="3171" y="116190"/>
                  <a:pt x="1377" y="113215"/>
                </a:cubicBezTo>
                <a:cubicBezTo>
                  <a:pt x="-418" y="110240"/>
                  <a:pt x="-467" y="106552"/>
                  <a:pt x="1180" y="103504"/>
                </a:cubicBezTo>
                <a:lnTo>
                  <a:pt x="54284" y="5163"/>
                </a:lnTo>
                <a:cubicBezTo>
                  <a:pt x="56005" y="1991"/>
                  <a:pt x="59324" y="0"/>
                  <a:pt x="62938" y="0"/>
                </a:cubicBezTo>
                <a:close/>
                <a:moveTo>
                  <a:pt x="62938" y="41303"/>
                </a:moveTo>
                <a:cubicBezTo>
                  <a:pt x="59668" y="41303"/>
                  <a:pt x="57038" y="43934"/>
                  <a:pt x="57038" y="47204"/>
                </a:cubicBezTo>
                <a:lnTo>
                  <a:pt x="57038" y="74739"/>
                </a:lnTo>
                <a:cubicBezTo>
                  <a:pt x="57038" y="78009"/>
                  <a:pt x="59668" y="80639"/>
                  <a:pt x="62938" y="80639"/>
                </a:cubicBezTo>
                <a:cubicBezTo>
                  <a:pt x="66208" y="80639"/>
                  <a:pt x="68838" y="78009"/>
                  <a:pt x="68838" y="74739"/>
                </a:cubicBezTo>
                <a:lnTo>
                  <a:pt x="68838" y="47204"/>
                </a:lnTo>
                <a:cubicBezTo>
                  <a:pt x="68838" y="43934"/>
                  <a:pt x="66208" y="41303"/>
                  <a:pt x="62938" y="41303"/>
                </a:cubicBezTo>
                <a:close/>
                <a:moveTo>
                  <a:pt x="69502" y="94407"/>
                </a:moveTo>
                <a:cubicBezTo>
                  <a:pt x="69652" y="91971"/>
                  <a:pt x="68437" y="89652"/>
                  <a:pt x="66348" y="88389"/>
                </a:cubicBezTo>
                <a:cubicBezTo>
                  <a:pt x="64259" y="87125"/>
                  <a:pt x="61642" y="87125"/>
                  <a:pt x="59553" y="88389"/>
                </a:cubicBezTo>
                <a:cubicBezTo>
                  <a:pt x="57464" y="89652"/>
                  <a:pt x="56249" y="91971"/>
                  <a:pt x="56398" y="94407"/>
                </a:cubicBezTo>
                <a:cubicBezTo>
                  <a:pt x="56249" y="96844"/>
                  <a:pt x="57464" y="99162"/>
                  <a:pt x="59553" y="100425"/>
                </a:cubicBezTo>
                <a:cubicBezTo>
                  <a:pt x="61642" y="101689"/>
                  <a:pt x="64259" y="101689"/>
                  <a:pt x="66348" y="100425"/>
                </a:cubicBezTo>
                <a:cubicBezTo>
                  <a:pt x="68437" y="99162"/>
                  <a:pt x="69652" y="96844"/>
                  <a:pt x="69502" y="94407"/>
                </a:cubicBezTo>
                <a:close/>
              </a:path>
            </a:pathLst>
          </a:custGeom>
          <a:solidFill>
            <a:srgbClr val="FDC700"/>
          </a:solidFill>
          <a:ln/>
        </p:spPr>
        <p:txBody>
          <a:bodyPr/>
          <a:lstStyle/>
          <a:p>
            <a:endParaRPr lang="en-GB"/>
          </a:p>
        </p:txBody>
      </p:sp>
      <p:sp>
        <p:nvSpPr>
          <p:cNvPr id="28" name="Text 25"/>
          <p:cNvSpPr/>
          <p:nvPr/>
        </p:nvSpPr>
        <p:spPr>
          <a:xfrm>
            <a:off x="8488770" y="2364673"/>
            <a:ext cx="2463575" cy="179823"/>
          </a:xfrm>
          <a:prstGeom prst="rect">
            <a:avLst/>
          </a:prstGeom>
          <a:noFill/>
          <a:ln/>
        </p:spPr>
        <p:txBody>
          <a:bodyPr wrap="square" lIns="0" tIns="0" rIns="0" bIns="0" rtlCol="0" anchor="ctr"/>
          <a:lstStyle/>
          <a:p>
            <a:pP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Monitor motor finance provision uncertainty</a:t>
            </a:r>
            <a:endParaRPr lang="en-US" sz="1600" dirty="0"/>
          </a:p>
        </p:txBody>
      </p:sp>
      <p:sp>
        <p:nvSpPr>
          <p:cNvPr id="29" name="Shape 26"/>
          <p:cNvSpPr/>
          <p:nvPr/>
        </p:nvSpPr>
        <p:spPr>
          <a:xfrm>
            <a:off x="8277478" y="2652389"/>
            <a:ext cx="125876" cy="125876"/>
          </a:xfrm>
          <a:custGeom>
            <a:avLst/>
            <a:gdLst/>
            <a:ahLst/>
            <a:cxnLst/>
            <a:rect l="l" t="t" r="r" b="b"/>
            <a:pathLst>
              <a:path w="125876" h="125876">
                <a:moveTo>
                  <a:pt x="62938" y="0"/>
                </a:moveTo>
                <a:cubicBezTo>
                  <a:pt x="66552" y="0"/>
                  <a:pt x="69871" y="1991"/>
                  <a:pt x="71592" y="5163"/>
                </a:cubicBezTo>
                <a:lnTo>
                  <a:pt x="124696" y="103504"/>
                </a:lnTo>
                <a:cubicBezTo>
                  <a:pt x="126343" y="106552"/>
                  <a:pt x="126269" y="110240"/>
                  <a:pt x="124499" y="113215"/>
                </a:cubicBezTo>
                <a:cubicBezTo>
                  <a:pt x="122729" y="116190"/>
                  <a:pt x="119509" y="118009"/>
                  <a:pt x="116042" y="118009"/>
                </a:cubicBezTo>
                <a:lnTo>
                  <a:pt x="9834" y="118009"/>
                </a:lnTo>
                <a:cubicBezTo>
                  <a:pt x="6368" y="118009"/>
                  <a:pt x="3171" y="116190"/>
                  <a:pt x="1377" y="113215"/>
                </a:cubicBezTo>
                <a:cubicBezTo>
                  <a:pt x="-418" y="110240"/>
                  <a:pt x="-467" y="106552"/>
                  <a:pt x="1180" y="103504"/>
                </a:cubicBezTo>
                <a:lnTo>
                  <a:pt x="54284" y="5163"/>
                </a:lnTo>
                <a:cubicBezTo>
                  <a:pt x="56005" y="1991"/>
                  <a:pt x="59324" y="0"/>
                  <a:pt x="62938" y="0"/>
                </a:cubicBezTo>
                <a:close/>
                <a:moveTo>
                  <a:pt x="62938" y="41303"/>
                </a:moveTo>
                <a:cubicBezTo>
                  <a:pt x="59668" y="41303"/>
                  <a:pt x="57038" y="43934"/>
                  <a:pt x="57038" y="47204"/>
                </a:cubicBezTo>
                <a:lnTo>
                  <a:pt x="57038" y="74739"/>
                </a:lnTo>
                <a:cubicBezTo>
                  <a:pt x="57038" y="78009"/>
                  <a:pt x="59668" y="80639"/>
                  <a:pt x="62938" y="80639"/>
                </a:cubicBezTo>
                <a:cubicBezTo>
                  <a:pt x="66208" y="80639"/>
                  <a:pt x="68838" y="78009"/>
                  <a:pt x="68838" y="74739"/>
                </a:cubicBezTo>
                <a:lnTo>
                  <a:pt x="68838" y="47204"/>
                </a:lnTo>
                <a:cubicBezTo>
                  <a:pt x="68838" y="43934"/>
                  <a:pt x="66208" y="41303"/>
                  <a:pt x="62938" y="41303"/>
                </a:cubicBezTo>
                <a:close/>
                <a:moveTo>
                  <a:pt x="69502" y="94407"/>
                </a:moveTo>
                <a:cubicBezTo>
                  <a:pt x="69652" y="91971"/>
                  <a:pt x="68437" y="89652"/>
                  <a:pt x="66348" y="88389"/>
                </a:cubicBezTo>
                <a:cubicBezTo>
                  <a:pt x="64259" y="87125"/>
                  <a:pt x="61642" y="87125"/>
                  <a:pt x="59553" y="88389"/>
                </a:cubicBezTo>
                <a:cubicBezTo>
                  <a:pt x="57464" y="89652"/>
                  <a:pt x="56249" y="91971"/>
                  <a:pt x="56398" y="94407"/>
                </a:cubicBezTo>
                <a:cubicBezTo>
                  <a:pt x="56249" y="96844"/>
                  <a:pt x="57464" y="99162"/>
                  <a:pt x="59553" y="100425"/>
                </a:cubicBezTo>
                <a:cubicBezTo>
                  <a:pt x="61642" y="101689"/>
                  <a:pt x="64259" y="101689"/>
                  <a:pt x="66348" y="100425"/>
                </a:cubicBezTo>
                <a:cubicBezTo>
                  <a:pt x="68437" y="99162"/>
                  <a:pt x="69652" y="96844"/>
                  <a:pt x="69502" y="94407"/>
                </a:cubicBezTo>
                <a:close/>
              </a:path>
            </a:pathLst>
          </a:custGeom>
          <a:solidFill>
            <a:srgbClr val="FDC700"/>
          </a:solidFill>
          <a:ln/>
        </p:spPr>
        <p:txBody>
          <a:bodyPr/>
          <a:lstStyle/>
          <a:p>
            <a:endParaRPr lang="en-GB"/>
          </a:p>
        </p:txBody>
      </p:sp>
      <p:sp>
        <p:nvSpPr>
          <p:cNvPr id="30" name="Text 27"/>
          <p:cNvSpPr/>
          <p:nvPr/>
        </p:nvSpPr>
        <p:spPr>
          <a:xfrm>
            <a:off x="8488770" y="2616425"/>
            <a:ext cx="2229805" cy="179823"/>
          </a:xfrm>
          <a:prstGeom prst="rect">
            <a:avLst/>
          </a:prstGeom>
          <a:noFill/>
          <a:ln/>
        </p:spPr>
        <p:txBody>
          <a:bodyPr wrap="square" lIns="0" tIns="0" rIns="0" bIns="0" rtlCol="0" anchor="ctr"/>
          <a:lstStyle/>
          <a:p>
            <a:pP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Interest rate sensitivity requires hedging</a:t>
            </a:r>
            <a:endParaRPr lang="en-US" sz="1600" dirty="0"/>
          </a:p>
        </p:txBody>
      </p:sp>
      <p:sp>
        <p:nvSpPr>
          <p:cNvPr id="31" name="Shape 28"/>
          <p:cNvSpPr/>
          <p:nvPr/>
        </p:nvSpPr>
        <p:spPr>
          <a:xfrm>
            <a:off x="8111142" y="3061487"/>
            <a:ext cx="3722336" cy="1555469"/>
          </a:xfrm>
          <a:custGeom>
            <a:avLst/>
            <a:gdLst/>
            <a:ahLst/>
            <a:cxnLst/>
            <a:rect l="l" t="t" r="r" b="b"/>
            <a:pathLst>
              <a:path w="3722336" h="1555469">
                <a:moveTo>
                  <a:pt x="71925" y="0"/>
                </a:moveTo>
                <a:lnTo>
                  <a:pt x="3650411" y="0"/>
                </a:lnTo>
                <a:cubicBezTo>
                  <a:pt x="3690134" y="0"/>
                  <a:pt x="3722336" y="32202"/>
                  <a:pt x="3722336" y="71925"/>
                </a:cubicBezTo>
                <a:lnTo>
                  <a:pt x="3722336" y="1483544"/>
                </a:lnTo>
                <a:cubicBezTo>
                  <a:pt x="3722336" y="1523267"/>
                  <a:pt x="3690134" y="1555469"/>
                  <a:pt x="3650411" y="1555469"/>
                </a:cubicBezTo>
                <a:lnTo>
                  <a:pt x="71925" y="1555469"/>
                </a:lnTo>
                <a:cubicBezTo>
                  <a:pt x="32202" y="1555469"/>
                  <a:pt x="0" y="1523267"/>
                  <a:pt x="0" y="1483544"/>
                </a:cubicBezTo>
                <a:lnTo>
                  <a:pt x="0" y="71925"/>
                </a:lnTo>
                <a:cubicBezTo>
                  <a:pt x="0" y="32228"/>
                  <a:pt x="32228" y="0"/>
                  <a:pt x="71925" y="0"/>
                </a:cubicBezTo>
                <a:close/>
              </a:path>
            </a:pathLst>
          </a:custGeom>
          <a:solidFill>
            <a:srgbClr val="4A5C6A">
              <a:alpha val="40000"/>
            </a:srgbClr>
          </a:solidFill>
          <a:ln w="12700">
            <a:solidFill>
              <a:srgbClr val="4A5C6A">
                <a:alpha val="60000"/>
              </a:srgbClr>
            </a:solidFill>
            <a:prstDash val="solid"/>
          </a:ln>
        </p:spPr>
        <p:txBody>
          <a:bodyPr/>
          <a:lstStyle/>
          <a:p>
            <a:endParaRPr lang="en-GB"/>
          </a:p>
        </p:txBody>
      </p:sp>
      <p:sp>
        <p:nvSpPr>
          <p:cNvPr id="32" name="Text 29"/>
          <p:cNvSpPr/>
          <p:nvPr/>
        </p:nvSpPr>
        <p:spPr>
          <a:xfrm>
            <a:off x="8259496" y="3209841"/>
            <a:ext cx="3497558" cy="215788"/>
          </a:xfrm>
          <a:prstGeom prst="rect">
            <a:avLst/>
          </a:prstGeom>
          <a:noFill/>
          <a:ln/>
        </p:spPr>
        <p:txBody>
          <a:bodyPr wrap="square" lIns="0" tIns="0" rIns="0" bIns="0" rtlCol="0" anchor="ctr"/>
          <a:lstStyle/>
          <a:p>
            <a:pPr>
              <a:lnSpc>
                <a:spcPct val="130000"/>
              </a:lnSpc>
            </a:pPr>
            <a:r>
              <a:rPr lang="en-US" sz="1133" b="1" dirty="0">
                <a:solidFill>
                  <a:srgbClr val="E0E2E5"/>
                </a:solidFill>
                <a:latin typeface="Liter" pitchFamily="34" charset="0"/>
                <a:ea typeface="Liter" pitchFamily="34" charset="-122"/>
                <a:cs typeface="Liter" pitchFamily="34" charset="-120"/>
              </a:rPr>
              <a:t>Key Metrics to Watch</a:t>
            </a:r>
            <a:endParaRPr lang="en-US" sz="1600" dirty="0"/>
          </a:p>
        </p:txBody>
      </p:sp>
      <p:sp>
        <p:nvSpPr>
          <p:cNvPr id="33" name="Text 30"/>
          <p:cNvSpPr/>
          <p:nvPr/>
        </p:nvSpPr>
        <p:spPr>
          <a:xfrm>
            <a:off x="8259496" y="3533522"/>
            <a:ext cx="1186832" cy="179823"/>
          </a:xfrm>
          <a:prstGeom prst="rect">
            <a:avLst/>
          </a:prstGeom>
          <a:noFill/>
          <a:ln/>
        </p:spPr>
        <p:txBody>
          <a:bodyPr wrap="square" lIns="0" tIns="0" rIns="0" bIns="0" rtlCol="0" anchor="ctr"/>
          <a:lstStyle/>
          <a:p>
            <a:pPr>
              <a:lnSpc>
                <a:spcPct val="120000"/>
              </a:lnSpc>
            </a:pPr>
            <a:r>
              <a:rPr lang="en-US" sz="991" dirty="0">
                <a:solidFill>
                  <a:srgbClr val="E0E2E5">
                    <a:alpha val="70000"/>
                  </a:srgbClr>
                </a:solidFill>
                <a:latin typeface="Quattrocento Sans" pitchFamily="34" charset="0"/>
                <a:ea typeface="Quattrocento Sans" pitchFamily="34" charset="-122"/>
                <a:cs typeface="Quattrocento Sans" pitchFamily="34" charset="-120"/>
              </a:rPr>
              <a:t>NIM Quarterly Trend</a:t>
            </a:r>
            <a:endParaRPr lang="en-US" sz="1600" dirty="0"/>
          </a:p>
        </p:txBody>
      </p:sp>
      <p:sp>
        <p:nvSpPr>
          <p:cNvPr id="34" name="Text 31"/>
          <p:cNvSpPr/>
          <p:nvPr/>
        </p:nvSpPr>
        <p:spPr>
          <a:xfrm>
            <a:off x="10813123" y="3533522"/>
            <a:ext cx="935080" cy="179823"/>
          </a:xfrm>
          <a:prstGeom prst="rect">
            <a:avLst/>
          </a:prstGeom>
          <a:noFill/>
          <a:ln/>
        </p:spPr>
        <p:txBody>
          <a:bodyPr wrap="square" lIns="0" tIns="0" rIns="0" bIns="0" rtlCol="0" anchor="ctr"/>
          <a:lstStyle/>
          <a:p>
            <a:pPr>
              <a:lnSpc>
                <a:spcPct val="120000"/>
              </a:lnSpc>
            </a:pPr>
            <a:r>
              <a:rPr lang="en-US" sz="991" b="1" dirty="0">
                <a:solidFill>
                  <a:srgbClr val="C0A062"/>
                </a:solidFill>
                <a:latin typeface="Quattrocento Sans" pitchFamily="34" charset="0"/>
                <a:ea typeface="Quattrocento Sans" pitchFamily="34" charset="-122"/>
                <a:cs typeface="Quattrocento Sans" pitchFamily="34" charset="-120"/>
              </a:rPr>
              <a:t>2.95% → 3.03%</a:t>
            </a:r>
            <a:endParaRPr lang="en-US" sz="1600" dirty="0"/>
          </a:p>
        </p:txBody>
      </p:sp>
      <p:sp>
        <p:nvSpPr>
          <p:cNvPr id="35" name="Text 32"/>
          <p:cNvSpPr/>
          <p:nvPr/>
        </p:nvSpPr>
        <p:spPr>
          <a:xfrm>
            <a:off x="8259496" y="3785274"/>
            <a:ext cx="1258761" cy="179823"/>
          </a:xfrm>
          <a:prstGeom prst="rect">
            <a:avLst/>
          </a:prstGeom>
          <a:noFill/>
          <a:ln/>
        </p:spPr>
        <p:txBody>
          <a:bodyPr wrap="square" lIns="0" tIns="0" rIns="0" bIns="0" rtlCol="0" anchor="ctr"/>
          <a:lstStyle/>
          <a:p>
            <a:pPr>
              <a:lnSpc>
                <a:spcPct val="120000"/>
              </a:lnSpc>
            </a:pPr>
            <a:r>
              <a:rPr lang="en-US" sz="991" dirty="0">
                <a:solidFill>
                  <a:srgbClr val="E0E2E5">
                    <a:alpha val="70000"/>
                  </a:srgbClr>
                </a:solidFill>
                <a:latin typeface="Quattrocento Sans" pitchFamily="34" charset="0"/>
                <a:ea typeface="Quattrocento Sans" pitchFamily="34" charset="-122"/>
                <a:cs typeface="Quattrocento Sans" pitchFamily="34" charset="-120"/>
              </a:rPr>
              <a:t>Cost-to-Income Ratio</a:t>
            </a:r>
            <a:endParaRPr lang="en-US" sz="1600" dirty="0"/>
          </a:p>
        </p:txBody>
      </p:sp>
      <p:sp>
        <p:nvSpPr>
          <p:cNvPr id="36" name="Text 33"/>
          <p:cNvSpPr/>
          <p:nvPr/>
        </p:nvSpPr>
        <p:spPr>
          <a:xfrm>
            <a:off x="10895729" y="3785274"/>
            <a:ext cx="854159" cy="179823"/>
          </a:xfrm>
          <a:prstGeom prst="rect">
            <a:avLst/>
          </a:prstGeom>
          <a:noFill/>
          <a:ln/>
        </p:spPr>
        <p:txBody>
          <a:bodyPr wrap="square" lIns="0" tIns="0" rIns="0" bIns="0" rtlCol="0" anchor="ctr"/>
          <a:lstStyle/>
          <a:p>
            <a:pPr>
              <a:lnSpc>
                <a:spcPct val="120000"/>
              </a:lnSpc>
            </a:pPr>
            <a:r>
              <a:rPr lang="en-US" sz="991" b="1" dirty="0">
                <a:solidFill>
                  <a:srgbClr val="FDC700"/>
                </a:solidFill>
                <a:latin typeface="Quattrocento Sans" pitchFamily="34" charset="0"/>
                <a:ea typeface="Quattrocento Sans" pitchFamily="34" charset="-122"/>
                <a:cs typeface="Quattrocento Sans" pitchFamily="34" charset="-120"/>
              </a:rPr>
              <a:t>60.4% target ↓</a:t>
            </a:r>
            <a:endParaRPr lang="en-US" sz="1600" dirty="0"/>
          </a:p>
        </p:txBody>
      </p:sp>
      <p:sp>
        <p:nvSpPr>
          <p:cNvPr id="37" name="Text 34"/>
          <p:cNvSpPr/>
          <p:nvPr/>
        </p:nvSpPr>
        <p:spPr>
          <a:xfrm>
            <a:off x="8259496" y="4037027"/>
            <a:ext cx="935080" cy="179823"/>
          </a:xfrm>
          <a:prstGeom prst="rect">
            <a:avLst/>
          </a:prstGeom>
          <a:noFill/>
          <a:ln/>
        </p:spPr>
        <p:txBody>
          <a:bodyPr wrap="square" lIns="0" tIns="0" rIns="0" bIns="0" rtlCol="0" anchor="ctr"/>
          <a:lstStyle/>
          <a:p>
            <a:pPr>
              <a:lnSpc>
                <a:spcPct val="120000"/>
              </a:lnSpc>
            </a:pPr>
            <a:r>
              <a:rPr lang="en-US" sz="991" dirty="0">
                <a:solidFill>
                  <a:srgbClr val="E0E2E5">
                    <a:alpha val="70000"/>
                  </a:srgbClr>
                </a:solidFill>
                <a:latin typeface="Quattrocento Sans" pitchFamily="34" charset="0"/>
                <a:ea typeface="Quattrocento Sans" pitchFamily="34" charset="-122"/>
                <a:cs typeface="Quattrocento Sans" pitchFamily="34" charset="-120"/>
              </a:rPr>
              <a:t>Digital Adoption</a:t>
            </a:r>
            <a:endParaRPr lang="en-US" sz="1600" dirty="0"/>
          </a:p>
        </p:txBody>
      </p:sp>
      <p:sp>
        <p:nvSpPr>
          <p:cNvPr id="38" name="Text 35"/>
          <p:cNvSpPr/>
          <p:nvPr/>
        </p:nvSpPr>
        <p:spPr>
          <a:xfrm>
            <a:off x="11041695" y="4037027"/>
            <a:ext cx="701310" cy="179823"/>
          </a:xfrm>
          <a:prstGeom prst="rect">
            <a:avLst/>
          </a:prstGeom>
          <a:noFill/>
          <a:ln/>
        </p:spPr>
        <p:txBody>
          <a:bodyPr wrap="square" lIns="0" tIns="0" rIns="0" bIns="0" rtlCol="0" anchor="ctr"/>
          <a:lstStyle/>
          <a:p>
            <a:pPr>
              <a:lnSpc>
                <a:spcPct val="120000"/>
              </a:lnSpc>
            </a:pPr>
            <a:r>
              <a:rPr lang="en-US" sz="991" b="1" dirty="0">
                <a:solidFill>
                  <a:srgbClr val="C0A062"/>
                </a:solidFill>
                <a:latin typeface="Quattrocento Sans" pitchFamily="34" charset="0"/>
                <a:ea typeface="Quattrocento Sans" pitchFamily="34" charset="-122"/>
                <a:cs typeface="Quattrocento Sans" pitchFamily="34" charset="-120"/>
              </a:rPr>
              <a:t>22.7M users</a:t>
            </a:r>
            <a:endParaRPr lang="en-US" sz="1600" dirty="0"/>
          </a:p>
        </p:txBody>
      </p:sp>
      <p:sp>
        <p:nvSpPr>
          <p:cNvPr id="39" name="Text 36"/>
          <p:cNvSpPr/>
          <p:nvPr/>
        </p:nvSpPr>
        <p:spPr>
          <a:xfrm>
            <a:off x="8259496" y="4288779"/>
            <a:ext cx="620389" cy="179823"/>
          </a:xfrm>
          <a:prstGeom prst="rect">
            <a:avLst/>
          </a:prstGeom>
          <a:noFill/>
          <a:ln/>
        </p:spPr>
        <p:txBody>
          <a:bodyPr wrap="square" lIns="0" tIns="0" rIns="0" bIns="0" rtlCol="0" anchor="ctr"/>
          <a:lstStyle/>
          <a:p>
            <a:pPr>
              <a:lnSpc>
                <a:spcPct val="120000"/>
              </a:lnSpc>
            </a:pPr>
            <a:r>
              <a:rPr lang="en-US" sz="991" dirty="0">
                <a:solidFill>
                  <a:srgbClr val="E0E2E5">
                    <a:alpha val="70000"/>
                  </a:srgbClr>
                </a:solidFill>
                <a:latin typeface="Quattrocento Sans" pitchFamily="34" charset="0"/>
                <a:ea typeface="Quattrocento Sans" pitchFamily="34" charset="-122"/>
                <a:cs typeface="Quattrocento Sans" pitchFamily="34" charset="-120"/>
              </a:rPr>
              <a:t>CET1 Ratio</a:t>
            </a:r>
            <a:endParaRPr lang="en-US" sz="1600" dirty="0"/>
          </a:p>
        </p:txBody>
      </p:sp>
      <p:sp>
        <p:nvSpPr>
          <p:cNvPr id="40" name="Text 37"/>
          <p:cNvSpPr/>
          <p:nvPr/>
        </p:nvSpPr>
        <p:spPr>
          <a:xfrm>
            <a:off x="11375913" y="4288779"/>
            <a:ext cx="368637" cy="179823"/>
          </a:xfrm>
          <a:prstGeom prst="rect">
            <a:avLst/>
          </a:prstGeom>
          <a:noFill/>
          <a:ln/>
        </p:spPr>
        <p:txBody>
          <a:bodyPr wrap="square" lIns="0" tIns="0" rIns="0" bIns="0" rtlCol="0" anchor="ctr"/>
          <a:lstStyle/>
          <a:p>
            <a:pPr>
              <a:lnSpc>
                <a:spcPct val="120000"/>
              </a:lnSpc>
            </a:pPr>
            <a:r>
              <a:rPr lang="en-US" sz="991" b="1" dirty="0">
                <a:solidFill>
                  <a:srgbClr val="C0A062"/>
                </a:solidFill>
                <a:latin typeface="Quattrocento Sans" pitchFamily="34" charset="0"/>
                <a:ea typeface="Quattrocento Sans" pitchFamily="34" charset="-122"/>
                <a:cs typeface="Quattrocento Sans" pitchFamily="34" charset="-120"/>
              </a:rPr>
              <a:t>13.5%</a:t>
            </a:r>
            <a:endParaRPr lang="en-US" sz="1600" dirty="0"/>
          </a:p>
        </p:txBody>
      </p:sp>
      <p:sp>
        <p:nvSpPr>
          <p:cNvPr id="41" name="Shape 38"/>
          <p:cNvSpPr/>
          <p:nvPr/>
        </p:nvSpPr>
        <p:spPr>
          <a:xfrm>
            <a:off x="8111142" y="4733841"/>
            <a:ext cx="3722336" cy="1051965"/>
          </a:xfrm>
          <a:custGeom>
            <a:avLst/>
            <a:gdLst/>
            <a:ahLst/>
            <a:cxnLst/>
            <a:rect l="l" t="t" r="r" b="b"/>
            <a:pathLst>
              <a:path w="3722336" h="1051965">
                <a:moveTo>
                  <a:pt x="71933" y="0"/>
                </a:moveTo>
                <a:lnTo>
                  <a:pt x="3650403" y="0"/>
                </a:lnTo>
                <a:cubicBezTo>
                  <a:pt x="3690131" y="0"/>
                  <a:pt x="3722336" y="32206"/>
                  <a:pt x="3722336" y="71933"/>
                </a:cubicBezTo>
                <a:lnTo>
                  <a:pt x="3722336" y="980031"/>
                </a:lnTo>
                <a:cubicBezTo>
                  <a:pt x="3722336" y="1019759"/>
                  <a:pt x="3690131" y="1051965"/>
                  <a:pt x="3650403" y="1051965"/>
                </a:cubicBezTo>
                <a:lnTo>
                  <a:pt x="71933" y="1051965"/>
                </a:lnTo>
                <a:cubicBezTo>
                  <a:pt x="32206" y="1051965"/>
                  <a:pt x="0" y="1019759"/>
                  <a:pt x="0" y="980031"/>
                </a:cubicBezTo>
                <a:lnTo>
                  <a:pt x="0" y="71933"/>
                </a:lnTo>
                <a:cubicBezTo>
                  <a:pt x="0" y="32232"/>
                  <a:pt x="32232" y="0"/>
                  <a:pt x="71933" y="0"/>
                </a:cubicBezTo>
                <a:close/>
              </a:path>
            </a:pathLst>
          </a:custGeom>
          <a:solidFill>
            <a:srgbClr val="006A4A">
              <a:alpha val="50196"/>
            </a:srgbClr>
          </a:solidFill>
          <a:ln w="12700">
            <a:solidFill>
              <a:srgbClr val="C0A062">
                <a:alpha val="50196"/>
              </a:srgbClr>
            </a:solidFill>
            <a:prstDash val="solid"/>
          </a:ln>
        </p:spPr>
        <p:txBody>
          <a:bodyPr/>
          <a:lstStyle/>
          <a:p>
            <a:endParaRPr lang="en-GB"/>
          </a:p>
        </p:txBody>
      </p:sp>
      <p:sp>
        <p:nvSpPr>
          <p:cNvPr id="42" name="Text 39"/>
          <p:cNvSpPr/>
          <p:nvPr/>
        </p:nvSpPr>
        <p:spPr>
          <a:xfrm>
            <a:off x="8178575" y="4882195"/>
            <a:ext cx="3587469" cy="359646"/>
          </a:xfrm>
          <a:prstGeom prst="rect">
            <a:avLst/>
          </a:prstGeom>
          <a:noFill/>
          <a:ln/>
        </p:spPr>
        <p:txBody>
          <a:bodyPr wrap="square" lIns="0" tIns="0" rIns="0" bIns="0" rtlCol="0" anchor="ctr"/>
          <a:lstStyle/>
          <a:p>
            <a:pPr algn="ctr">
              <a:lnSpc>
                <a:spcPct val="90000"/>
              </a:lnSpc>
            </a:pPr>
            <a:r>
              <a:rPr lang="en-US" sz="2549" b="1" dirty="0">
                <a:solidFill>
                  <a:srgbClr val="C0A062"/>
                </a:solidFill>
                <a:latin typeface="Quattrocento Sans" pitchFamily="34" charset="0"/>
                <a:ea typeface="Quattrocento Sans" pitchFamily="34" charset="-122"/>
                <a:cs typeface="Quattrocento Sans" pitchFamily="34" charset="-120"/>
              </a:rPr>
              <a:t>BUY</a:t>
            </a:r>
            <a:endParaRPr lang="en-US" sz="1600" dirty="0"/>
          </a:p>
        </p:txBody>
      </p:sp>
      <p:sp>
        <p:nvSpPr>
          <p:cNvPr id="43" name="Text 40"/>
          <p:cNvSpPr/>
          <p:nvPr/>
        </p:nvSpPr>
        <p:spPr>
          <a:xfrm>
            <a:off x="8228027" y="5277805"/>
            <a:ext cx="3488566" cy="179823"/>
          </a:xfrm>
          <a:prstGeom prst="rect">
            <a:avLst/>
          </a:prstGeom>
          <a:noFill/>
          <a:ln/>
        </p:spPr>
        <p:txBody>
          <a:bodyPr wrap="square" lIns="0" tIns="0" rIns="0" bIns="0" rtlCol="0" anchor="ctr"/>
          <a:lstStyle/>
          <a:p>
            <a:pPr algn="ctr">
              <a:lnSpc>
                <a:spcPct val="120000"/>
              </a:lnSpc>
            </a:pPr>
            <a:r>
              <a:rPr lang="en-US" sz="991" dirty="0">
                <a:solidFill>
                  <a:srgbClr val="E0E2E5">
                    <a:alpha val="80000"/>
                  </a:srgbClr>
                </a:solidFill>
                <a:latin typeface="Quattrocento Sans" pitchFamily="34" charset="0"/>
                <a:ea typeface="Quattrocento Sans" pitchFamily="34" charset="-122"/>
                <a:cs typeface="Quattrocento Sans" pitchFamily="34" charset="-120"/>
              </a:rPr>
              <a:t>Long-term Value Proposition</a:t>
            </a:r>
            <a:endParaRPr lang="en-US" sz="1600" dirty="0"/>
          </a:p>
        </p:txBody>
      </p:sp>
      <p:sp>
        <p:nvSpPr>
          <p:cNvPr id="44" name="Text 41"/>
          <p:cNvSpPr/>
          <p:nvPr/>
        </p:nvSpPr>
        <p:spPr>
          <a:xfrm>
            <a:off x="8232522" y="5493593"/>
            <a:ext cx="3479575" cy="143858"/>
          </a:xfrm>
          <a:prstGeom prst="rect">
            <a:avLst/>
          </a:prstGeom>
          <a:noFill/>
          <a:ln/>
        </p:spPr>
        <p:txBody>
          <a:bodyPr wrap="square" lIns="0" tIns="0" rIns="0" bIns="0" rtlCol="0" anchor="ctr"/>
          <a:lstStyle/>
          <a:p>
            <a:pPr algn="ctr">
              <a:lnSpc>
                <a:spcPct val="110000"/>
              </a:lnSpc>
            </a:pPr>
            <a:r>
              <a:rPr lang="en-US" sz="850" dirty="0">
                <a:solidFill>
                  <a:srgbClr val="E0E2E5">
                    <a:alpha val="60000"/>
                  </a:srgbClr>
                </a:solidFill>
                <a:latin typeface="Quattrocento Sans" pitchFamily="34" charset="0"/>
                <a:ea typeface="Quattrocento Sans" pitchFamily="34" charset="-122"/>
                <a:cs typeface="Quattrocento Sans" pitchFamily="34" charset="-120"/>
              </a:rPr>
              <a:t>Target: &gt;15% ROTE by 2026</a:t>
            </a:r>
            <a:endParaRPr lang="en-US" sz="1600" dirty="0"/>
          </a:p>
        </p:txBody>
      </p:sp>
      <p:sp>
        <p:nvSpPr>
          <p:cNvPr id="45" name="Text 42"/>
          <p:cNvSpPr/>
          <p:nvPr/>
        </p:nvSpPr>
        <p:spPr>
          <a:xfrm>
            <a:off x="332673" y="6887783"/>
            <a:ext cx="11526655" cy="143858"/>
          </a:xfrm>
          <a:prstGeom prst="rect">
            <a:avLst/>
          </a:prstGeom>
          <a:noFill/>
          <a:ln/>
        </p:spPr>
        <p:txBody>
          <a:bodyPr wrap="square" lIns="0" tIns="0" rIns="0" bIns="0" rtlCol="0" anchor="ctr"/>
          <a:lstStyle/>
          <a:p>
            <a:pPr algn="ctr">
              <a:lnSpc>
                <a:spcPct val="110000"/>
              </a:lnSpc>
            </a:pPr>
            <a:r>
              <a:rPr lang="en-US" sz="850" dirty="0">
                <a:solidFill>
                  <a:srgbClr val="E0E2E5">
                    <a:alpha val="40000"/>
                  </a:srgbClr>
                </a:solidFill>
                <a:latin typeface="Quattrocento Sans" pitchFamily="34" charset="0"/>
                <a:ea typeface="Quattrocento Sans" pitchFamily="34" charset="-122"/>
                <a:cs typeface="Quattrocento Sans" pitchFamily="34" charset="-120"/>
              </a:rPr>
              <a:t>Data sources: Lloyds Banking Group Annual Report 2024, Q1 2025 Trading Update, Regulatory Filings</a:t>
            </a:r>
            <a:endParaRPr lang="en-US" sz="1600" dirty="0"/>
          </a:p>
        </p:txBody>
      </p:sp>
      <p:sp>
        <p:nvSpPr>
          <p:cNvPr id="46" name="Text 43"/>
          <p:cNvSpPr/>
          <p:nvPr/>
        </p:nvSpPr>
        <p:spPr>
          <a:xfrm>
            <a:off x="332673" y="7012535"/>
            <a:ext cx="11526655" cy="240512"/>
          </a:xfrm>
          <a:prstGeom prst="rect">
            <a:avLst/>
          </a:prstGeom>
          <a:noFill/>
          <a:ln/>
        </p:spPr>
        <p:txBody>
          <a:bodyPr wrap="square" lIns="0" tIns="0" rIns="0" bIns="0" rtlCol="0" anchor="ctr"/>
          <a:lstStyle/>
          <a:p>
            <a:pPr algn="ctr">
              <a:lnSpc>
                <a:spcPct val="110000"/>
              </a:lnSpc>
            </a:pPr>
            <a:r>
              <a:rPr lang="en-US" sz="850" dirty="0">
                <a:solidFill>
                  <a:srgbClr val="E0E2E5">
                    <a:alpha val="40000"/>
                  </a:srgbClr>
                </a:solidFill>
                <a:latin typeface="Quattrocento Sans" pitchFamily="34" charset="0"/>
                <a:ea typeface="Quattrocento Sans" pitchFamily="34" charset="-122"/>
                <a:cs typeface="Quattrocento Sans" pitchFamily="34" charset="-120"/>
              </a:rPr>
              <a:t>Analysis date: January 2025 | For strategic planning purposes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1879</Words>
  <Application>Microsoft Office PowerPoint</Application>
  <PresentationFormat>Widescreen</PresentationFormat>
  <Paragraphs>357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Liter</vt:lpstr>
      <vt:lpstr>Arial</vt:lpstr>
      <vt:lpstr>Quattrocento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Lloyds Banking Group - Strategic Analysis 2025</dc:title>
  <dc:subject>Lloyds Banking Group - Strategic Analysis 2025</dc:subject>
  <dc:creator>Kimi</dc:creator>
  <cp:lastModifiedBy>Andrew McCreath</cp:lastModifiedBy>
  <cp:revision>1</cp:revision>
  <dcterms:created xsi:type="dcterms:W3CDTF">2026-01-27T02:39:50Z</dcterms:created>
  <dcterms:modified xsi:type="dcterms:W3CDTF">2026-01-28T12:31:05Z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{"Label":"Lloyds Banking Group - Strategic Analysis 2025","ContentProducer":"001191110108MACG2KBH8F10000","ProduceID":"19bfd51b-11d2-8913-8000-0000ecdd5e1e","ReservedCode1":"","ContentPropagator":"001191110108MACG2KBH8F20000","PropagateID":"19bfd51b-11d2-8913-8000-0000ecdd5e1e","ReservedCode2":""}</vt:lpwstr>
  </property>
</Properties>
</file>