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Hedvig Letters Sans" panose="020B0604020202020204" charset="0"/>
      <p:regular r:id="rId15"/>
    </p:embeddedFont>
    <p:embeddedFont>
      <p:font typeface="Liter" panose="020B0604020202020204" charset="0"/>
      <p:regular r:id="rId16"/>
    </p:embeddedFont>
    <p:embeddedFont>
      <p:font typeface="Quattrocento Sans" panose="020B0502050000020003" pitchFamily="3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2292" y="14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9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B763F97-05B2-5982-8F5F-C0A42BB05AA8}"/>
              </a:ext>
            </a:extLst>
          </p:cNvPr>
          <p:cNvPicPr>
            <a:picLocks noChangeAspect="1"/>
          </p:cNvPicPr>
          <p:nvPr/>
        </p:nvPicPr>
        <p:blipFill>
          <a:blip r:embed="rId3"/>
          <a:stretch>
            <a:fillRect/>
          </a:stretch>
        </p:blipFill>
        <p:spPr>
          <a:xfrm>
            <a:off x="0" y="228600"/>
            <a:ext cx="12192000" cy="6400800"/>
          </a:xfrm>
          <a:prstGeom prst="rect">
            <a:avLst/>
          </a:prstGeom>
        </p:spPr>
      </p:pic>
      <p:sp>
        <p:nvSpPr>
          <p:cNvPr id="3" name="Shape 0"/>
          <p:cNvSpPr/>
          <p:nvPr/>
        </p:nvSpPr>
        <p:spPr>
          <a:xfrm>
            <a:off x="0" y="76201"/>
            <a:ext cx="12192000" cy="67818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0F172A">
                  <a:alpha val="90000"/>
                </a:srgbClr>
              </a:gs>
              <a:gs pos="50000">
                <a:srgbClr val="0F172A">
                  <a:alpha val="70000"/>
                </a:srgbClr>
              </a:gs>
              <a:gs pos="100000">
                <a:srgbClr val="000000">
                  <a:alpha val="0"/>
                </a:srgbClr>
              </a:gs>
            </a:gsLst>
            <a:lin ang="2700000" scaled="1"/>
          </a:gradFill>
          <a:ln/>
        </p:spPr>
        <p:txBody>
          <a:bodyPr/>
          <a:lstStyle/>
          <a:p>
            <a:endParaRPr lang="en-GB"/>
          </a:p>
        </p:txBody>
      </p:sp>
      <p:sp>
        <p:nvSpPr>
          <p:cNvPr id="4" name="Shape 1"/>
          <p:cNvSpPr/>
          <p:nvPr/>
        </p:nvSpPr>
        <p:spPr>
          <a:xfrm>
            <a:off x="385763" y="1423988"/>
            <a:ext cx="2466975" cy="390525"/>
          </a:xfrm>
          <a:custGeom>
            <a:avLst/>
            <a:gdLst/>
            <a:ahLst/>
            <a:cxnLst/>
            <a:rect l="l" t="t" r="r" b="b"/>
            <a:pathLst>
              <a:path w="2466975" h="390525">
                <a:moveTo>
                  <a:pt x="76199" y="0"/>
                </a:moveTo>
                <a:lnTo>
                  <a:pt x="2390776" y="0"/>
                </a:lnTo>
                <a:cubicBezTo>
                  <a:pt x="2432859" y="0"/>
                  <a:pt x="2466975" y="34116"/>
                  <a:pt x="2466975" y="76199"/>
                </a:cubicBezTo>
                <a:lnTo>
                  <a:pt x="2466975" y="314326"/>
                </a:lnTo>
                <a:cubicBezTo>
                  <a:pt x="2466975" y="356409"/>
                  <a:pt x="2432859" y="390525"/>
                  <a:pt x="2390776" y="390525"/>
                </a:cubicBezTo>
                <a:lnTo>
                  <a:pt x="76199" y="390525"/>
                </a:lnTo>
                <a:cubicBezTo>
                  <a:pt x="34144" y="390525"/>
                  <a:pt x="0" y="356381"/>
                  <a:pt x="0" y="314326"/>
                </a:cubicBezTo>
                <a:lnTo>
                  <a:pt x="0" y="76199"/>
                </a:lnTo>
                <a:cubicBezTo>
                  <a:pt x="0" y="34144"/>
                  <a:pt x="34144" y="0"/>
                  <a:pt x="76199" y="0"/>
                </a:cubicBezTo>
                <a:close/>
              </a:path>
            </a:pathLst>
          </a:custGeom>
          <a:solidFill>
            <a:srgbClr val="38BDF8">
              <a:alpha val="20000"/>
            </a:srgbClr>
          </a:solidFill>
          <a:ln w="12700">
            <a:solidFill>
              <a:srgbClr val="38BDF8">
                <a:alpha val="40000"/>
              </a:srgbClr>
            </a:solidFill>
            <a:prstDash val="solid"/>
          </a:ln>
        </p:spPr>
        <p:txBody>
          <a:bodyPr/>
          <a:lstStyle/>
          <a:p>
            <a:endParaRPr lang="en-GB"/>
          </a:p>
        </p:txBody>
      </p:sp>
      <p:sp>
        <p:nvSpPr>
          <p:cNvPr id="5" name="Text 2"/>
          <p:cNvSpPr/>
          <p:nvPr/>
        </p:nvSpPr>
        <p:spPr>
          <a:xfrm>
            <a:off x="542925" y="1533525"/>
            <a:ext cx="2227957" cy="171450"/>
          </a:xfrm>
          <a:prstGeom prst="rect">
            <a:avLst/>
          </a:prstGeom>
          <a:noFill/>
          <a:ln/>
        </p:spPr>
        <p:txBody>
          <a:bodyPr wrap="square" lIns="0" tIns="0" rIns="0" bIns="0" rtlCol="0" anchor="ctr"/>
          <a:lstStyle/>
          <a:p>
            <a:pPr>
              <a:lnSpc>
                <a:spcPct val="130000"/>
              </a:lnSpc>
            </a:pPr>
            <a:r>
              <a:rPr lang="en-US" sz="1200" b="1" kern="0" spc="120" dirty="0">
                <a:solidFill>
                  <a:srgbClr val="38BDF8"/>
                </a:solidFill>
                <a:latin typeface="Quattrocento Sans" pitchFamily="34" charset="0"/>
                <a:ea typeface="Quattrocento Sans" pitchFamily="34" charset="-122"/>
                <a:cs typeface="Quattrocento Sans" pitchFamily="34" charset="-120"/>
              </a:rPr>
              <a:t>CORPORATE PROFILE 2026</a:t>
            </a:r>
            <a:endParaRPr lang="en-US" sz="1600" dirty="0"/>
          </a:p>
        </p:txBody>
      </p:sp>
      <p:sp>
        <p:nvSpPr>
          <p:cNvPr id="6" name="Text 3"/>
          <p:cNvSpPr/>
          <p:nvPr/>
        </p:nvSpPr>
        <p:spPr>
          <a:xfrm>
            <a:off x="381000" y="2047875"/>
            <a:ext cx="11887200" cy="914400"/>
          </a:xfrm>
          <a:prstGeom prst="rect">
            <a:avLst/>
          </a:prstGeom>
          <a:noFill/>
          <a:ln/>
        </p:spPr>
        <p:txBody>
          <a:bodyPr wrap="square" lIns="0" tIns="0" rIns="0" bIns="0" rtlCol="0" anchor="ctr"/>
          <a:lstStyle/>
          <a:p>
            <a:pPr>
              <a:lnSpc>
                <a:spcPct val="80000"/>
              </a:lnSpc>
            </a:pPr>
            <a:r>
              <a:rPr lang="en-US" sz="7200" b="1" dirty="0">
                <a:solidFill>
                  <a:srgbClr val="FFFFFF"/>
                </a:solidFill>
                <a:latin typeface="Liter" pitchFamily="34" charset="0"/>
                <a:ea typeface="Liter" pitchFamily="34" charset="-122"/>
                <a:cs typeface="Liter" pitchFamily="34" charset="-120"/>
              </a:rPr>
              <a:t>Airbus</a:t>
            </a:r>
            <a:endParaRPr lang="en-US" sz="1600" dirty="0"/>
          </a:p>
        </p:txBody>
      </p:sp>
      <p:sp>
        <p:nvSpPr>
          <p:cNvPr id="7" name="Text 4"/>
          <p:cNvSpPr/>
          <p:nvPr/>
        </p:nvSpPr>
        <p:spPr>
          <a:xfrm>
            <a:off x="381000" y="3190875"/>
            <a:ext cx="11658600" cy="1143000"/>
          </a:xfrm>
          <a:prstGeom prst="rect">
            <a:avLst/>
          </a:prstGeom>
          <a:noFill/>
          <a:ln/>
        </p:spPr>
        <p:txBody>
          <a:bodyPr wrap="square" lIns="0" tIns="0" rIns="0" bIns="0" rtlCol="0" anchor="ctr"/>
          <a:lstStyle/>
          <a:p>
            <a:pPr>
              <a:lnSpc>
                <a:spcPct val="100000"/>
              </a:lnSpc>
            </a:pPr>
            <a:r>
              <a:rPr lang="en-US" sz="3600" dirty="0">
                <a:solidFill>
                  <a:srgbClr val="38BDF8"/>
                </a:solidFill>
                <a:latin typeface="Hedvig Letters Sans" pitchFamily="34" charset="0"/>
                <a:ea typeface="Hedvig Letters Sans" pitchFamily="34" charset="-122"/>
                <a:cs typeface="Hedvig Letters Sans" pitchFamily="34" charset="-120"/>
              </a:rPr>
              <a:t>Engineering the Future</a:t>
            </a:r>
            <a:endParaRPr lang="en-US" sz="1600" dirty="0"/>
          </a:p>
          <a:p>
            <a:pPr>
              <a:lnSpc>
                <a:spcPct val="100000"/>
              </a:lnSpc>
            </a:pPr>
            <a:r>
              <a:rPr lang="en-US" sz="3600" dirty="0">
                <a:solidFill>
                  <a:srgbClr val="38BDF8"/>
                </a:solidFill>
                <a:latin typeface="Hedvig Letters Sans" pitchFamily="34" charset="0"/>
                <a:ea typeface="Hedvig Letters Sans" pitchFamily="34" charset="-122"/>
                <a:cs typeface="Hedvig Letters Sans" pitchFamily="34" charset="-120"/>
              </a:rPr>
              <a:t>of Aviation</a:t>
            </a:r>
            <a:endParaRPr lang="en-US" sz="1600" dirty="0"/>
          </a:p>
        </p:txBody>
      </p:sp>
      <p:sp>
        <p:nvSpPr>
          <p:cNvPr id="8" name="Shape 5"/>
          <p:cNvSpPr/>
          <p:nvPr/>
        </p:nvSpPr>
        <p:spPr>
          <a:xfrm>
            <a:off x="381000" y="463867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flip="none" rotWithShape="1">
            <a:gsLst>
              <a:gs pos="0">
                <a:srgbClr val="38BDF8"/>
              </a:gs>
              <a:gs pos="100000">
                <a:srgbClr val="F59E0B"/>
              </a:gs>
            </a:gsLst>
            <a:lin ang="0" scaled="1"/>
          </a:gradFill>
          <a:ln/>
        </p:spPr>
        <p:txBody>
          <a:bodyPr/>
          <a:lstStyle/>
          <a:p>
            <a:endParaRPr lang="en-GB"/>
          </a:p>
        </p:txBody>
      </p:sp>
      <p:sp>
        <p:nvSpPr>
          <p:cNvPr id="9" name="Text 6"/>
          <p:cNvSpPr/>
          <p:nvPr/>
        </p:nvSpPr>
        <p:spPr>
          <a:xfrm>
            <a:off x="381000" y="5943600"/>
            <a:ext cx="3943350" cy="266700"/>
          </a:xfrm>
          <a:prstGeom prst="rect">
            <a:avLst/>
          </a:prstGeom>
          <a:noFill/>
          <a:ln/>
        </p:spPr>
        <p:txBody>
          <a:bodyPr wrap="square" lIns="0" tIns="0" rIns="0" bIns="0" rtlCol="0" anchor="ctr"/>
          <a:lstStyle/>
          <a:p>
            <a:pPr>
              <a:lnSpc>
                <a:spcPct val="130000"/>
              </a:lnSpc>
            </a:pPr>
            <a:r>
              <a:rPr lang="en-US" sz="1350" dirty="0">
                <a:solidFill>
                  <a:srgbClr val="94A3B8"/>
                </a:solidFill>
                <a:latin typeface="Quattrocento Sans" pitchFamily="34" charset="0"/>
                <a:ea typeface="Quattrocento Sans" pitchFamily="34" charset="-122"/>
                <a:cs typeface="Quattrocento Sans" pitchFamily="34" charset="-120"/>
              </a:rPr>
              <a:t>A Comprehensive Analysis</a:t>
            </a:r>
            <a:endParaRPr lang="en-US" sz="1600" dirty="0"/>
          </a:p>
        </p:txBody>
      </p:sp>
      <p:sp>
        <p:nvSpPr>
          <p:cNvPr id="10" name="Text 7"/>
          <p:cNvSpPr/>
          <p:nvPr/>
        </p:nvSpPr>
        <p:spPr>
          <a:xfrm>
            <a:off x="381000" y="6248400"/>
            <a:ext cx="393382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Financial Performance • Market Position • Strategic Outlook</a:t>
            </a:r>
            <a:endParaRPr lang="en-US" sz="1600" dirty="0"/>
          </a:p>
        </p:txBody>
      </p:sp>
      <p:sp>
        <p:nvSpPr>
          <p:cNvPr id="11" name="Text 8"/>
          <p:cNvSpPr/>
          <p:nvPr/>
        </p:nvSpPr>
        <p:spPr>
          <a:xfrm>
            <a:off x="11189643" y="6172200"/>
            <a:ext cx="619125" cy="304800"/>
          </a:xfrm>
          <a:prstGeom prst="rect">
            <a:avLst/>
          </a:prstGeom>
          <a:noFill/>
          <a:ln/>
        </p:spPr>
        <p:txBody>
          <a:bodyPr wrap="square" lIns="0" tIns="0" rIns="0" bIns="0" rtlCol="0" anchor="ctr"/>
          <a:lstStyle/>
          <a:p>
            <a:pPr algn="r">
              <a:lnSpc>
                <a:spcPct val="110000"/>
              </a:lnSpc>
            </a:pPr>
            <a:r>
              <a:rPr lang="en-US" sz="1800" b="1" dirty="0">
                <a:solidFill>
                  <a:srgbClr val="38BDF8"/>
                </a:solidFill>
                <a:latin typeface="Quattrocento Sans" pitchFamily="34" charset="0"/>
                <a:ea typeface="Quattrocento Sans" pitchFamily="34" charset="-122"/>
                <a:cs typeface="Quattrocento Sans" pitchFamily="34" charset="-120"/>
              </a:rPr>
              <a:t>2026</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38BDF8"/>
                </a:solidFill>
                <a:latin typeface="Quattrocento Sans" pitchFamily="34" charset="0"/>
                <a:ea typeface="Quattrocento Sans" pitchFamily="34" charset="-122"/>
                <a:cs typeface="Quattrocento Sans" pitchFamily="34" charset="-120"/>
              </a:rPr>
              <a:t>PRESENTATION OVERVIEW</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Liter" pitchFamily="34" charset="0"/>
                <a:ea typeface="Liter" pitchFamily="34" charset="-122"/>
                <a:cs typeface="Liter" pitchFamily="34" charset="-120"/>
              </a:rPr>
              <a:t>Contents</a:t>
            </a:r>
            <a:endParaRPr lang="en-US" sz="1600" dirty="0"/>
          </a:p>
        </p:txBody>
      </p:sp>
      <p:sp>
        <p:nvSpPr>
          <p:cNvPr id="4" name="Shape 2"/>
          <p:cNvSpPr/>
          <p:nvPr/>
        </p:nvSpPr>
        <p:spPr>
          <a:xfrm>
            <a:off x="400050" y="1447800"/>
            <a:ext cx="3638550" cy="1600200"/>
          </a:xfrm>
          <a:custGeom>
            <a:avLst/>
            <a:gdLst/>
            <a:ahLst/>
            <a:cxnLst/>
            <a:rect l="l" t="t" r="r" b="b"/>
            <a:pathLst>
              <a:path w="3638550" h="1600200">
                <a:moveTo>
                  <a:pt x="38100" y="0"/>
                </a:moveTo>
                <a:lnTo>
                  <a:pt x="3524248" y="0"/>
                </a:lnTo>
                <a:cubicBezTo>
                  <a:pt x="3587333" y="0"/>
                  <a:pt x="3638550" y="51217"/>
                  <a:pt x="3638550" y="114302"/>
                </a:cubicBezTo>
                <a:lnTo>
                  <a:pt x="3638550" y="1485898"/>
                </a:lnTo>
                <a:cubicBezTo>
                  <a:pt x="3638550" y="1548983"/>
                  <a:pt x="3587333" y="1600200"/>
                  <a:pt x="3524248" y="1600200"/>
                </a:cubicBezTo>
                <a:lnTo>
                  <a:pt x="38100" y="1600200"/>
                </a:lnTo>
                <a:cubicBezTo>
                  <a:pt x="17072" y="1600200"/>
                  <a:pt x="0" y="1583128"/>
                  <a:pt x="0" y="1562100"/>
                </a:cubicBezTo>
                <a:lnTo>
                  <a:pt x="0" y="38100"/>
                </a:lnTo>
                <a:cubicBezTo>
                  <a:pt x="0" y="17072"/>
                  <a:pt x="17072" y="0"/>
                  <a:pt x="38100" y="0"/>
                </a:cubicBezTo>
                <a:close/>
              </a:path>
            </a:pathLst>
          </a:custGeom>
          <a:solidFill>
            <a:srgbClr val="1E293B"/>
          </a:solidFill>
          <a:ln/>
        </p:spPr>
        <p:txBody>
          <a:bodyPr/>
          <a:lstStyle/>
          <a:p>
            <a:endParaRPr lang="en-GB"/>
          </a:p>
        </p:txBody>
      </p:sp>
      <p:sp>
        <p:nvSpPr>
          <p:cNvPr id="5" name="Shape 3"/>
          <p:cNvSpPr/>
          <p:nvPr/>
        </p:nvSpPr>
        <p:spPr>
          <a:xfrm>
            <a:off x="400050" y="1447800"/>
            <a:ext cx="38100" cy="1600200"/>
          </a:xfrm>
          <a:custGeom>
            <a:avLst/>
            <a:gdLst/>
            <a:ahLst/>
            <a:cxnLst/>
            <a:rect l="l" t="t" r="r" b="b"/>
            <a:pathLst>
              <a:path w="38100" h="1600200">
                <a:moveTo>
                  <a:pt x="38100" y="0"/>
                </a:moveTo>
                <a:lnTo>
                  <a:pt x="38100" y="0"/>
                </a:lnTo>
                <a:lnTo>
                  <a:pt x="38100" y="1600200"/>
                </a:lnTo>
                <a:lnTo>
                  <a:pt x="38100" y="1600200"/>
                </a:lnTo>
                <a:cubicBezTo>
                  <a:pt x="17072" y="1600200"/>
                  <a:pt x="0" y="1583128"/>
                  <a:pt x="0" y="1562100"/>
                </a:cubicBezTo>
                <a:lnTo>
                  <a:pt x="0" y="38100"/>
                </a:lnTo>
                <a:cubicBezTo>
                  <a:pt x="0" y="17072"/>
                  <a:pt x="17072" y="0"/>
                  <a:pt x="38100" y="0"/>
                </a:cubicBezTo>
                <a:close/>
              </a:path>
            </a:pathLst>
          </a:custGeom>
          <a:solidFill>
            <a:srgbClr val="38BDF8"/>
          </a:solidFill>
          <a:ln/>
        </p:spPr>
        <p:txBody>
          <a:bodyPr/>
          <a:lstStyle/>
          <a:p>
            <a:endParaRPr lang="en-GB"/>
          </a:p>
        </p:txBody>
      </p:sp>
      <p:sp>
        <p:nvSpPr>
          <p:cNvPr id="6" name="Shape 4"/>
          <p:cNvSpPr/>
          <p:nvPr/>
        </p:nvSpPr>
        <p:spPr>
          <a:xfrm>
            <a:off x="647700" y="17145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20000"/>
            </a:srgbClr>
          </a:solidFill>
          <a:ln/>
        </p:spPr>
        <p:txBody>
          <a:bodyPr/>
          <a:lstStyle/>
          <a:p>
            <a:endParaRPr lang="en-GB"/>
          </a:p>
        </p:txBody>
      </p:sp>
      <p:sp>
        <p:nvSpPr>
          <p:cNvPr id="7" name="Text 5"/>
          <p:cNvSpPr/>
          <p:nvPr/>
        </p:nvSpPr>
        <p:spPr>
          <a:xfrm>
            <a:off x="757535" y="1790700"/>
            <a:ext cx="352425" cy="304800"/>
          </a:xfrm>
          <a:prstGeom prst="rect">
            <a:avLst/>
          </a:prstGeom>
          <a:noFill/>
          <a:ln/>
        </p:spPr>
        <p:txBody>
          <a:bodyPr wrap="square" lIns="0" tIns="0" rIns="0" bIns="0" rtlCol="0" anchor="ctr"/>
          <a:lstStyle/>
          <a:p>
            <a:pPr>
              <a:lnSpc>
                <a:spcPct val="110000"/>
              </a:lnSpc>
            </a:pPr>
            <a:r>
              <a:rPr lang="en-US" sz="1800" b="1" dirty="0">
                <a:solidFill>
                  <a:srgbClr val="38BDF8"/>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257300" y="1676400"/>
            <a:ext cx="2647950" cy="5334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Company Overview &amp; Heritage</a:t>
            </a:r>
            <a:endParaRPr lang="en-US" sz="1600" dirty="0"/>
          </a:p>
        </p:txBody>
      </p:sp>
      <p:sp>
        <p:nvSpPr>
          <p:cNvPr id="9" name="Text 7"/>
          <p:cNvSpPr/>
          <p:nvPr/>
        </p:nvSpPr>
        <p:spPr>
          <a:xfrm>
            <a:off x="647700" y="23241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From European consortium to global aviation leader</a:t>
            </a:r>
            <a:endParaRPr lang="en-US" sz="1600" dirty="0"/>
          </a:p>
        </p:txBody>
      </p:sp>
      <p:sp>
        <p:nvSpPr>
          <p:cNvPr id="10" name="Shape 8"/>
          <p:cNvSpPr/>
          <p:nvPr/>
        </p:nvSpPr>
        <p:spPr>
          <a:xfrm>
            <a:off x="4286250" y="1447800"/>
            <a:ext cx="3638550" cy="1600200"/>
          </a:xfrm>
          <a:custGeom>
            <a:avLst/>
            <a:gdLst/>
            <a:ahLst/>
            <a:cxnLst/>
            <a:rect l="l" t="t" r="r" b="b"/>
            <a:pathLst>
              <a:path w="3638550" h="1600200">
                <a:moveTo>
                  <a:pt x="38100" y="0"/>
                </a:moveTo>
                <a:lnTo>
                  <a:pt x="3524248" y="0"/>
                </a:lnTo>
                <a:cubicBezTo>
                  <a:pt x="3587333" y="0"/>
                  <a:pt x="3638550" y="51217"/>
                  <a:pt x="3638550" y="114302"/>
                </a:cubicBezTo>
                <a:lnTo>
                  <a:pt x="3638550" y="1485898"/>
                </a:lnTo>
                <a:cubicBezTo>
                  <a:pt x="3638550" y="1548983"/>
                  <a:pt x="3587333" y="1600200"/>
                  <a:pt x="3524248" y="1600200"/>
                </a:cubicBezTo>
                <a:lnTo>
                  <a:pt x="38100" y="1600200"/>
                </a:lnTo>
                <a:cubicBezTo>
                  <a:pt x="17072" y="1600200"/>
                  <a:pt x="0" y="1583128"/>
                  <a:pt x="0" y="1562100"/>
                </a:cubicBezTo>
                <a:lnTo>
                  <a:pt x="0" y="38100"/>
                </a:lnTo>
                <a:cubicBezTo>
                  <a:pt x="0" y="17072"/>
                  <a:pt x="17072" y="0"/>
                  <a:pt x="38100" y="0"/>
                </a:cubicBezTo>
                <a:close/>
              </a:path>
            </a:pathLst>
          </a:custGeom>
          <a:solidFill>
            <a:srgbClr val="1E293B"/>
          </a:solidFill>
          <a:ln/>
        </p:spPr>
        <p:txBody>
          <a:bodyPr/>
          <a:lstStyle/>
          <a:p>
            <a:endParaRPr lang="en-GB"/>
          </a:p>
        </p:txBody>
      </p:sp>
      <p:sp>
        <p:nvSpPr>
          <p:cNvPr id="11" name="Shape 9"/>
          <p:cNvSpPr/>
          <p:nvPr/>
        </p:nvSpPr>
        <p:spPr>
          <a:xfrm>
            <a:off x="4286250" y="1447800"/>
            <a:ext cx="38100" cy="1600200"/>
          </a:xfrm>
          <a:custGeom>
            <a:avLst/>
            <a:gdLst/>
            <a:ahLst/>
            <a:cxnLst/>
            <a:rect l="l" t="t" r="r" b="b"/>
            <a:pathLst>
              <a:path w="38100" h="1600200">
                <a:moveTo>
                  <a:pt x="38100" y="0"/>
                </a:moveTo>
                <a:lnTo>
                  <a:pt x="38100" y="0"/>
                </a:lnTo>
                <a:lnTo>
                  <a:pt x="38100" y="1600200"/>
                </a:lnTo>
                <a:lnTo>
                  <a:pt x="38100" y="1600200"/>
                </a:lnTo>
                <a:cubicBezTo>
                  <a:pt x="17072" y="1600200"/>
                  <a:pt x="0" y="1583128"/>
                  <a:pt x="0" y="1562100"/>
                </a:cubicBezTo>
                <a:lnTo>
                  <a:pt x="0" y="38100"/>
                </a:lnTo>
                <a:cubicBezTo>
                  <a:pt x="0" y="17072"/>
                  <a:pt x="17072" y="0"/>
                  <a:pt x="38100" y="0"/>
                </a:cubicBezTo>
                <a:close/>
              </a:path>
            </a:pathLst>
          </a:custGeom>
          <a:solidFill>
            <a:srgbClr val="F59E0B"/>
          </a:solidFill>
          <a:ln/>
        </p:spPr>
        <p:txBody>
          <a:bodyPr/>
          <a:lstStyle/>
          <a:p>
            <a:endParaRPr lang="en-GB"/>
          </a:p>
        </p:txBody>
      </p:sp>
      <p:sp>
        <p:nvSpPr>
          <p:cNvPr id="12" name="Shape 10"/>
          <p:cNvSpPr/>
          <p:nvPr/>
        </p:nvSpPr>
        <p:spPr>
          <a:xfrm>
            <a:off x="4533900" y="18383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59E0B">
              <a:alpha val="20000"/>
            </a:srgbClr>
          </a:solidFill>
          <a:ln/>
        </p:spPr>
        <p:txBody>
          <a:bodyPr/>
          <a:lstStyle/>
          <a:p>
            <a:endParaRPr lang="en-GB"/>
          </a:p>
        </p:txBody>
      </p:sp>
      <p:sp>
        <p:nvSpPr>
          <p:cNvPr id="13" name="Text 11"/>
          <p:cNvSpPr/>
          <p:nvPr/>
        </p:nvSpPr>
        <p:spPr>
          <a:xfrm>
            <a:off x="4623048" y="1914525"/>
            <a:ext cx="390525" cy="304800"/>
          </a:xfrm>
          <a:prstGeom prst="rect">
            <a:avLst/>
          </a:prstGeom>
          <a:noFill/>
          <a:ln/>
        </p:spPr>
        <p:txBody>
          <a:bodyPr wrap="square" lIns="0" tIns="0" rIns="0" bIns="0" rtlCol="0" anchor="ctr"/>
          <a:lstStyle/>
          <a:p>
            <a:pPr>
              <a:lnSpc>
                <a:spcPct val="110000"/>
              </a:lnSpc>
            </a:pPr>
            <a:r>
              <a:rPr lang="en-US" sz="1800" b="1" dirty="0">
                <a:solidFill>
                  <a:srgbClr val="F59E0B"/>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5143500" y="1933575"/>
            <a:ext cx="19716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Financial Performance</a:t>
            </a:r>
            <a:endParaRPr lang="en-US" sz="1600" dirty="0"/>
          </a:p>
        </p:txBody>
      </p:sp>
      <p:sp>
        <p:nvSpPr>
          <p:cNvPr id="15" name="Text 13"/>
          <p:cNvSpPr/>
          <p:nvPr/>
        </p:nvSpPr>
        <p:spPr>
          <a:xfrm>
            <a:off x="4533900" y="2409825"/>
            <a:ext cx="3238500" cy="24765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Strong revenue growth and profitability metrics</a:t>
            </a:r>
            <a:endParaRPr lang="en-US" sz="1600" dirty="0"/>
          </a:p>
        </p:txBody>
      </p:sp>
      <p:sp>
        <p:nvSpPr>
          <p:cNvPr id="16" name="Shape 14"/>
          <p:cNvSpPr/>
          <p:nvPr/>
        </p:nvSpPr>
        <p:spPr>
          <a:xfrm>
            <a:off x="8172450" y="1447800"/>
            <a:ext cx="3638550" cy="1600200"/>
          </a:xfrm>
          <a:custGeom>
            <a:avLst/>
            <a:gdLst/>
            <a:ahLst/>
            <a:cxnLst/>
            <a:rect l="l" t="t" r="r" b="b"/>
            <a:pathLst>
              <a:path w="3638550" h="1600200">
                <a:moveTo>
                  <a:pt x="38100" y="0"/>
                </a:moveTo>
                <a:lnTo>
                  <a:pt x="3524248" y="0"/>
                </a:lnTo>
                <a:cubicBezTo>
                  <a:pt x="3587333" y="0"/>
                  <a:pt x="3638550" y="51217"/>
                  <a:pt x="3638550" y="114302"/>
                </a:cubicBezTo>
                <a:lnTo>
                  <a:pt x="3638550" y="1485898"/>
                </a:lnTo>
                <a:cubicBezTo>
                  <a:pt x="3638550" y="1548983"/>
                  <a:pt x="3587333" y="1600200"/>
                  <a:pt x="3524248" y="1600200"/>
                </a:cubicBezTo>
                <a:lnTo>
                  <a:pt x="38100" y="1600200"/>
                </a:lnTo>
                <a:cubicBezTo>
                  <a:pt x="17072" y="1600200"/>
                  <a:pt x="0" y="1583128"/>
                  <a:pt x="0" y="1562100"/>
                </a:cubicBezTo>
                <a:lnTo>
                  <a:pt x="0" y="38100"/>
                </a:lnTo>
                <a:cubicBezTo>
                  <a:pt x="0" y="17072"/>
                  <a:pt x="17072" y="0"/>
                  <a:pt x="38100" y="0"/>
                </a:cubicBezTo>
                <a:close/>
              </a:path>
            </a:pathLst>
          </a:custGeom>
          <a:solidFill>
            <a:srgbClr val="1E293B"/>
          </a:solidFill>
          <a:ln/>
        </p:spPr>
        <p:txBody>
          <a:bodyPr/>
          <a:lstStyle/>
          <a:p>
            <a:endParaRPr lang="en-GB"/>
          </a:p>
        </p:txBody>
      </p:sp>
      <p:sp>
        <p:nvSpPr>
          <p:cNvPr id="17" name="Shape 15"/>
          <p:cNvSpPr/>
          <p:nvPr/>
        </p:nvSpPr>
        <p:spPr>
          <a:xfrm>
            <a:off x="8172450" y="1447800"/>
            <a:ext cx="38100" cy="1600200"/>
          </a:xfrm>
          <a:custGeom>
            <a:avLst/>
            <a:gdLst/>
            <a:ahLst/>
            <a:cxnLst/>
            <a:rect l="l" t="t" r="r" b="b"/>
            <a:pathLst>
              <a:path w="38100" h="1600200">
                <a:moveTo>
                  <a:pt x="38100" y="0"/>
                </a:moveTo>
                <a:lnTo>
                  <a:pt x="38100" y="0"/>
                </a:lnTo>
                <a:lnTo>
                  <a:pt x="38100" y="1600200"/>
                </a:lnTo>
                <a:lnTo>
                  <a:pt x="38100" y="1600200"/>
                </a:lnTo>
                <a:cubicBezTo>
                  <a:pt x="17072" y="1600200"/>
                  <a:pt x="0" y="1583128"/>
                  <a:pt x="0" y="1562100"/>
                </a:cubicBezTo>
                <a:lnTo>
                  <a:pt x="0" y="38100"/>
                </a:lnTo>
                <a:cubicBezTo>
                  <a:pt x="0" y="17072"/>
                  <a:pt x="17072" y="0"/>
                  <a:pt x="38100" y="0"/>
                </a:cubicBezTo>
                <a:close/>
              </a:path>
            </a:pathLst>
          </a:custGeom>
          <a:solidFill>
            <a:srgbClr val="38BDF8"/>
          </a:solidFill>
          <a:ln/>
        </p:spPr>
        <p:txBody>
          <a:bodyPr/>
          <a:lstStyle/>
          <a:p>
            <a:endParaRPr lang="en-GB"/>
          </a:p>
        </p:txBody>
      </p:sp>
      <p:sp>
        <p:nvSpPr>
          <p:cNvPr id="18" name="Shape 16"/>
          <p:cNvSpPr/>
          <p:nvPr/>
        </p:nvSpPr>
        <p:spPr>
          <a:xfrm>
            <a:off x="8420100" y="17145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20000"/>
            </a:srgbClr>
          </a:solidFill>
          <a:ln/>
        </p:spPr>
        <p:txBody>
          <a:bodyPr/>
          <a:lstStyle/>
          <a:p>
            <a:endParaRPr lang="en-GB"/>
          </a:p>
        </p:txBody>
      </p:sp>
      <p:sp>
        <p:nvSpPr>
          <p:cNvPr id="19" name="Text 17"/>
          <p:cNvSpPr/>
          <p:nvPr/>
        </p:nvSpPr>
        <p:spPr>
          <a:xfrm>
            <a:off x="8508206" y="1790700"/>
            <a:ext cx="390525" cy="304800"/>
          </a:xfrm>
          <a:prstGeom prst="rect">
            <a:avLst/>
          </a:prstGeom>
          <a:noFill/>
          <a:ln/>
        </p:spPr>
        <p:txBody>
          <a:bodyPr wrap="square" lIns="0" tIns="0" rIns="0" bIns="0" rtlCol="0" anchor="ctr"/>
          <a:lstStyle/>
          <a:p>
            <a:pPr>
              <a:lnSpc>
                <a:spcPct val="110000"/>
              </a:lnSpc>
            </a:pPr>
            <a:r>
              <a:rPr lang="en-US" sz="1800" b="1" dirty="0">
                <a:solidFill>
                  <a:srgbClr val="38BDF8"/>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9029700" y="1809750"/>
            <a:ext cx="17430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Business Segments</a:t>
            </a:r>
            <a:endParaRPr lang="en-US" sz="1600" dirty="0"/>
          </a:p>
        </p:txBody>
      </p:sp>
      <p:sp>
        <p:nvSpPr>
          <p:cNvPr id="21" name="Text 19"/>
          <p:cNvSpPr/>
          <p:nvPr/>
        </p:nvSpPr>
        <p:spPr>
          <a:xfrm>
            <a:off x="8420100" y="22860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Commercial, Helicopters, Defence &amp; Space divisions</a:t>
            </a:r>
            <a:endParaRPr lang="en-US" sz="1600" dirty="0"/>
          </a:p>
        </p:txBody>
      </p:sp>
      <p:sp>
        <p:nvSpPr>
          <p:cNvPr id="22" name="Shape 20"/>
          <p:cNvSpPr/>
          <p:nvPr/>
        </p:nvSpPr>
        <p:spPr>
          <a:xfrm>
            <a:off x="400050" y="3276600"/>
            <a:ext cx="3638550" cy="1524000"/>
          </a:xfrm>
          <a:custGeom>
            <a:avLst/>
            <a:gdLst/>
            <a:ahLst/>
            <a:cxnLst/>
            <a:rect l="l" t="t" r="r" b="b"/>
            <a:pathLst>
              <a:path w="3638550" h="1524000">
                <a:moveTo>
                  <a:pt x="38100" y="0"/>
                </a:moveTo>
                <a:lnTo>
                  <a:pt x="3524250" y="0"/>
                </a:lnTo>
                <a:cubicBezTo>
                  <a:pt x="3587334" y="0"/>
                  <a:pt x="3638550" y="51216"/>
                  <a:pt x="3638550" y="114300"/>
                </a:cubicBezTo>
                <a:lnTo>
                  <a:pt x="3638550" y="1409700"/>
                </a:lnTo>
                <a:cubicBezTo>
                  <a:pt x="3638550" y="1472784"/>
                  <a:pt x="3587334" y="1524000"/>
                  <a:pt x="3524250" y="1524000"/>
                </a:cubicBezTo>
                <a:lnTo>
                  <a:pt x="38100" y="1524000"/>
                </a:lnTo>
                <a:cubicBezTo>
                  <a:pt x="17072" y="1524000"/>
                  <a:pt x="0" y="1506928"/>
                  <a:pt x="0" y="1485900"/>
                </a:cubicBezTo>
                <a:lnTo>
                  <a:pt x="0" y="38100"/>
                </a:lnTo>
                <a:cubicBezTo>
                  <a:pt x="0" y="17072"/>
                  <a:pt x="17072" y="0"/>
                  <a:pt x="38100" y="0"/>
                </a:cubicBezTo>
                <a:close/>
              </a:path>
            </a:pathLst>
          </a:custGeom>
          <a:solidFill>
            <a:srgbClr val="1E293B"/>
          </a:solidFill>
          <a:ln/>
        </p:spPr>
        <p:txBody>
          <a:bodyPr/>
          <a:lstStyle/>
          <a:p>
            <a:endParaRPr lang="en-GB"/>
          </a:p>
        </p:txBody>
      </p:sp>
      <p:sp>
        <p:nvSpPr>
          <p:cNvPr id="23" name="Shape 21"/>
          <p:cNvSpPr/>
          <p:nvPr/>
        </p:nvSpPr>
        <p:spPr>
          <a:xfrm>
            <a:off x="400050" y="3276600"/>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F59E0B"/>
          </a:solidFill>
          <a:ln/>
        </p:spPr>
        <p:txBody>
          <a:bodyPr/>
          <a:lstStyle/>
          <a:p>
            <a:endParaRPr lang="en-GB"/>
          </a:p>
        </p:txBody>
      </p:sp>
      <p:sp>
        <p:nvSpPr>
          <p:cNvPr id="24" name="Shape 22"/>
          <p:cNvSpPr/>
          <p:nvPr/>
        </p:nvSpPr>
        <p:spPr>
          <a:xfrm>
            <a:off x="647700" y="35052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59E0B">
              <a:alpha val="20000"/>
            </a:srgbClr>
          </a:solidFill>
          <a:ln/>
        </p:spPr>
        <p:txBody>
          <a:bodyPr/>
          <a:lstStyle/>
          <a:p>
            <a:endParaRPr lang="en-GB"/>
          </a:p>
        </p:txBody>
      </p:sp>
      <p:sp>
        <p:nvSpPr>
          <p:cNvPr id="25" name="Text 23"/>
          <p:cNvSpPr/>
          <p:nvPr/>
        </p:nvSpPr>
        <p:spPr>
          <a:xfrm>
            <a:off x="735955" y="3581400"/>
            <a:ext cx="390525" cy="304800"/>
          </a:xfrm>
          <a:prstGeom prst="rect">
            <a:avLst/>
          </a:prstGeom>
          <a:noFill/>
          <a:ln/>
        </p:spPr>
        <p:txBody>
          <a:bodyPr wrap="square" lIns="0" tIns="0" rIns="0" bIns="0" rtlCol="0" anchor="ctr"/>
          <a:lstStyle/>
          <a:p>
            <a:pPr>
              <a:lnSpc>
                <a:spcPct val="110000"/>
              </a:lnSpc>
            </a:pPr>
            <a:r>
              <a:rPr lang="en-US" sz="1800" b="1" dirty="0">
                <a:solidFill>
                  <a:srgbClr val="F59E0B"/>
                </a:solidFill>
                <a:latin typeface="Liter" pitchFamily="34" charset="0"/>
                <a:ea typeface="Liter" pitchFamily="34" charset="-122"/>
                <a:cs typeface="Liter" pitchFamily="34" charset="-120"/>
              </a:rPr>
              <a:t>04</a:t>
            </a:r>
            <a:endParaRPr lang="en-US" sz="1600" dirty="0"/>
          </a:p>
        </p:txBody>
      </p:sp>
      <p:sp>
        <p:nvSpPr>
          <p:cNvPr id="26" name="Text 24"/>
          <p:cNvSpPr/>
          <p:nvPr/>
        </p:nvSpPr>
        <p:spPr>
          <a:xfrm>
            <a:off x="1257300" y="3600450"/>
            <a:ext cx="15240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Product Portfolio</a:t>
            </a:r>
            <a:endParaRPr lang="en-US" sz="1600" dirty="0"/>
          </a:p>
        </p:txBody>
      </p:sp>
      <p:sp>
        <p:nvSpPr>
          <p:cNvPr id="27" name="Text 25"/>
          <p:cNvSpPr/>
          <p:nvPr/>
        </p:nvSpPr>
        <p:spPr>
          <a:xfrm>
            <a:off x="647700" y="40767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Market-leading aircraft families and specifications</a:t>
            </a:r>
            <a:endParaRPr lang="en-US" sz="1600" dirty="0"/>
          </a:p>
        </p:txBody>
      </p:sp>
      <p:sp>
        <p:nvSpPr>
          <p:cNvPr id="28" name="Shape 26"/>
          <p:cNvSpPr/>
          <p:nvPr/>
        </p:nvSpPr>
        <p:spPr>
          <a:xfrm>
            <a:off x="4286250" y="3276600"/>
            <a:ext cx="3638550" cy="1524000"/>
          </a:xfrm>
          <a:custGeom>
            <a:avLst/>
            <a:gdLst/>
            <a:ahLst/>
            <a:cxnLst/>
            <a:rect l="l" t="t" r="r" b="b"/>
            <a:pathLst>
              <a:path w="3638550" h="1524000">
                <a:moveTo>
                  <a:pt x="38100" y="0"/>
                </a:moveTo>
                <a:lnTo>
                  <a:pt x="3524250" y="0"/>
                </a:lnTo>
                <a:cubicBezTo>
                  <a:pt x="3587334" y="0"/>
                  <a:pt x="3638550" y="51216"/>
                  <a:pt x="3638550" y="114300"/>
                </a:cubicBezTo>
                <a:lnTo>
                  <a:pt x="3638550" y="1409700"/>
                </a:lnTo>
                <a:cubicBezTo>
                  <a:pt x="3638550" y="1472784"/>
                  <a:pt x="3587334" y="1524000"/>
                  <a:pt x="3524250" y="1524000"/>
                </a:cubicBezTo>
                <a:lnTo>
                  <a:pt x="38100" y="1524000"/>
                </a:lnTo>
                <a:cubicBezTo>
                  <a:pt x="17072" y="1524000"/>
                  <a:pt x="0" y="1506928"/>
                  <a:pt x="0" y="1485900"/>
                </a:cubicBezTo>
                <a:lnTo>
                  <a:pt x="0" y="38100"/>
                </a:lnTo>
                <a:cubicBezTo>
                  <a:pt x="0" y="17072"/>
                  <a:pt x="17072" y="0"/>
                  <a:pt x="38100" y="0"/>
                </a:cubicBezTo>
                <a:close/>
              </a:path>
            </a:pathLst>
          </a:custGeom>
          <a:solidFill>
            <a:srgbClr val="1E293B"/>
          </a:solidFill>
          <a:ln/>
        </p:spPr>
        <p:txBody>
          <a:bodyPr/>
          <a:lstStyle/>
          <a:p>
            <a:endParaRPr lang="en-GB"/>
          </a:p>
        </p:txBody>
      </p:sp>
      <p:sp>
        <p:nvSpPr>
          <p:cNvPr id="29" name="Shape 27"/>
          <p:cNvSpPr/>
          <p:nvPr/>
        </p:nvSpPr>
        <p:spPr>
          <a:xfrm>
            <a:off x="4286250" y="3276600"/>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38BDF8"/>
          </a:solidFill>
          <a:ln/>
        </p:spPr>
        <p:txBody>
          <a:bodyPr/>
          <a:lstStyle/>
          <a:p>
            <a:endParaRPr lang="en-GB"/>
          </a:p>
        </p:txBody>
      </p:sp>
      <p:sp>
        <p:nvSpPr>
          <p:cNvPr id="30" name="Shape 28"/>
          <p:cNvSpPr/>
          <p:nvPr/>
        </p:nvSpPr>
        <p:spPr>
          <a:xfrm>
            <a:off x="4533900" y="35052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20000"/>
            </a:srgbClr>
          </a:solidFill>
          <a:ln/>
        </p:spPr>
        <p:txBody>
          <a:bodyPr/>
          <a:lstStyle/>
          <a:p>
            <a:endParaRPr lang="en-GB"/>
          </a:p>
        </p:txBody>
      </p:sp>
      <p:sp>
        <p:nvSpPr>
          <p:cNvPr id="31" name="Text 29"/>
          <p:cNvSpPr/>
          <p:nvPr/>
        </p:nvSpPr>
        <p:spPr>
          <a:xfrm>
            <a:off x="4623643" y="3581400"/>
            <a:ext cx="390525" cy="304800"/>
          </a:xfrm>
          <a:prstGeom prst="rect">
            <a:avLst/>
          </a:prstGeom>
          <a:noFill/>
          <a:ln/>
        </p:spPr>
        <p:txBody>
          <a:bodyPr wrap="square" lIns="0" tIns="0" rIns="0" bIns="0" rtlCol="0" anchor="ctr"/>
          <a:lstStyle/>
          <a:p>
            <a:pPr>
              <a:lnSpc>
                <a:spcPct val="110000"/>
              </a:lnSpc>
            </a:pPr>
            <a:r>
              <a:rPr lang="en-US" sz="1800" b="1" dirty="0">
                <a:solidFill>
                  <a:srgbClr val="38BDF8"/>
                </a:solidFill>
                <a:latin typeface="Liter" pitchFamily="34" charset="0"/>
                <a:ea typeface="Liter" pitchFamily="34" charset="-122"/>
                <a:cs typeface="Liter" pitchFamily="34" charset="-120"/>
              </a:rPr>
              <a:t>05</a:t>
            </a:r>
            <a:endParaRPr lang="en-US" sz="1600" dirty="0"/>
          </a:p>
        </p:txBody>
      </p:sp>
      <p:sp>
        <p:nvSpPr>
          <p:cNvPr id="32" name="Text 30"/>
          <p:cNvSpPr/>
          <p:nvPr/>
        </p:nvSpPr>
        <p:spPr>
          <a:xfrm>
            <a:off x="5143500" y="3600450"/>
            <a:ext cx="14097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Market Position</a:t>
            </a:r>
            <a:endParaRPr lang="en-US" sz="1600" dirty="0"/>
          </a:p>
        </p:txBody>
      </p:sp>
      <p:sp>
        <p:nvSpPr>
          <p:cNvPr id="33" name="Text 31"/>
          <p:cNvSpPr/>
          <p:nvPr/>
        </p:nvSpPr>
        <p:spPr>
          <a:xfrm>
            <a:off x="4533900" y="40767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Competitive dynamics with Boeing and market share</a:t>
            </a:r>
            <a:endParaRPr lang="en-US" sz="1600" dirty="0"/>
          </a:p>
        </p:txBody>
      </p:sp>
      <p:sp>
        <p:nvSpPr>
          <p:cNvPr id="34" name="Shape 32"/>
          <p:cNvSpPr/>
          <p:nvPr/>
        </p:nvSpPr>
        <p:spPr>
          <a:xfrm>
            <a:off x="8172450" y="3276600"/>
            <a:ext cx="3638550" cy="1524000"/>
          </a:xfrm>
          <a:custGeom>
            <a:avLst/>
            <a:gdLst/>
            <a:ahLst/>
            <a:cxnLst/>
            <a:rect l="l" t="t" r="r" b="b"/>
            <a:pathLst>
              <a:path w="3638550" h="1524000">
                <a:moveTo>
                  <a:pt x="38100" y="0"/>
                </a:moveTo>
                <a:lnTo>
                  <a:pt x="3524250" y="0"/>
                </a:lnTo>
                <a:cubicBezTo>
                  <a:pt x="3587334" y="0"/>
                  <a:pt x="3638550" y="51216"/>
                  <a:pt x="3638550" y="114300"/>
                </a:cubicBezTo>
                <a:lnTo>
                  <a:pt x="3638550" y="1409700"/>
                </a:lnTo>
                <a:cubicBezTo>
                  <a:pt x="3638550" y="1472784"/>
                  <a:pt x="3587334" y="1524000"/>
                  <a:pt x="3524250" y="1524000"/>
                </a:cubicBezTo>
                <a:lnTo>
                  <a:pt x="38100" y="1524000"/>
                </a:lnTo>
                <a:cubicBezTo>
                  <a:pt x="17072" y="1524000"/>
                  <a:pt x="0" y="1506928"/>
                  <a:pt x="0" y="1485900"/>
                </a:cubicBezTo>
                <a:lnTo>
                  <a:pt x="0" y="38100"/>
                </a:lnTo>
                <a:cubicBezTo>
                  <a:pt x="0" y="17072"/>
                  <a:pt x="17072" y="0"/>
                  <a:pt x="38100" y="0"/>
                </a:cubicBezTo>
                <a:close/>
              </a:path>
            </a:pathLst>
          </a:custGeom>
          <a:solidFill>
            <a:srgbClr val="1E293B"/>
          </a:solidFill>
          <a:ln/>
        </p:spPr>
        <p:txBody>
          <a:bodyPr/>
          <a:lstStyle/>
          <a:p>
            <a:endParaRPr lang="en-GB"/>
          </a:p>
        </p:txBody>
      </p:sp>
      <p:sp>
        <p:nvSpPr>
          <p:cNvPr id="35" name="Shape 33"/>
          <p:cNvSpPr/>
          <p:nvPr/>
        </p:nvSpPr>
        <p:spPr>
          <a:xfrm>
            <a:off x="8172450" y="3276600"/>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F59E0B"/>
          </a:solidFill>
          <a:ln/>
        </p:spPr>
        <p:txBody>
          <a:bodyPr/>
          <a:lstStyle/>
          <a:p>
            <a:endParaRPr lang="en-GB"/>
          </a:p>
        </p:txBody>
      </p:sp>
      <p:sp>
        <p:nvSpPr>
          <p:cNvPr id="36" name="Shape 34"/>
          <p:cNvSpPr/>
          <p:nvPr/>
        </p:nvSpPr>
        <p:spPr>
          <a:xfrm>
            <a:off x="8420100" y="3629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59E0B">
              <a:alpha val="20000"/>
            </a:srgbClr>
          </a:solidFill>
          <a:ln/>
        </p:spPr>
        <p:txBody>
          <a:bodyPr/>
          <a:lstStyle/>
          <a:p>
            <a:endParaRPr lang="en-GB"/>
          </a:p>
        </p:txBody>
      </p:sp>
      <p:sp>
        <p:nvSpPr>
          <p:cNvPr id="37" name="Text 35"/>
          <p:cNvSpPr/>
          <p:nvPr/>
        </p:nvSpPr>
        <p:spPr>
          <a:xfrm>
            <a:off x="8507313" y="3705225"/>
            <a:ext cx="400050" cy="304800"/>
          </a:xfrm>
          <a:prstGeom prst="rect">
            <a:avLst/>
          </a:prstGeom>
          <a:noFill/>
          <a:ln/>
        </p:spPr>
        <p:txBody>
          <a:bodyPr wrap="square" lIns="0" tIns="0" rIns="0" bIns="0" rtlCol="0" anchor="ctr"/>
          <a:lstStyle/>
          <a:p>
            <a:pPr>
              <a:lnSpc>
                <a:spcPct val="110000"/>
              </a:lnSpc>
            </a:pPr>
            <a:r>
              <a:rPr lang="en-US" sz="1800" b="1" dirty="0">
                <a:solidFill>
                  <a:srgbClr val="F59E0B"/>
                </a:solidFill>
                <a:latin typeface="Liter" pitchFamily="34" charset="0"/>
                <a:ea typeface="Liter" pitchFamily="34" charset="-122"/>
                <a:cs typeface="Liter" pitchFamily="34" charset="-120"/>
              </a:rPr>
              <a:t>06</a:t>
            </a:r>
            <a:endParaRPr lang="en-US" sz="1600" dirty="0"/>
          </a:p>
        </p:txBody>
      </p:sp>
      <p:sp>
        <p:nvSpPr>
          <p:cNvPr id="38" name="Text 36"/>
          <p:cNvSpPr/>
          <p:nvPr/>
        </p:nvSpPr>
        <p:spPr>
          <a:xfrm>
            <a:off x="9029700" y="3724275"/>
            <a:ext cx="22764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Manufacturing Excellence</a:t>
            </a:r>
            <a:endParaRPr lang="en-US" sz="1600" dirty="0"/>
          </a:p>
        </p:txBody>
      </p:sp>
      <p:sp>
        <p:nvSpPr>
          <p:cNvPr id="39" name="Text 37"/>
          <p:cNvSpPr/>
          <p:nvPr/>
        </p:nvSpPr>
        <p:spPr>
          <a:xfrm>
            <a:off x="8420100" y="4200525"/>
            <a:ext cx="3238500" cy="24765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Global production footprint and supply chain</a:t>
            </a:r>
            <a:endParaRPr lang="en-US" sz="1600" dirty="0"/>
          </a:p>
        </p:txBody>
      </p:sp>
      <p:sp>
        <p:nvSpPr>
          <p:cNvPr id="40" name="Shape 38"/>
          <p:cNvSpPr/>
          <p:nvPr/>
        </p:nvSpPr>
        <p:spPr>
          <a:xfrm>
            <a:off x="400050" y="5029200"/>
            <a:ext cx="3638550" cy="1524000"/>
          </a:xfrm>
          <a:custGeom>
            <a:avLst/>
            <a:gdLst/>
            <a:ahLst/>
            <a:cxnLst/>
            <a:rect l="l" t="t" r="r" b="b"/>
            <a:pathLst>
              <a:path w="3638550" h="1524000">
                <a:moveTo>
                  <a:pt x="38100" y="0"/>
                </a:moveTo>
                <a:lnTo>
                  <a:pt x="3524250" y="0"/>
                </a:lnTo>
                <a:cubicBezTo>
                  <a:pt x="3587334" y="0"/>
                  <a:pt x="3638550" y="51216"/>
                  <a:pt x="3638550" y="114300"/>
                </a:cubicBezTo>
                <a:lnTo>
                  <a:pt x="3638550" y="1409700"/>
                </a:lnTo>
                <a:cubicBezTo>
                  <a:pt x="3638550" y="1472784"/>
                  <a:pt x="3587334" y="1524000"/>
                  <a:pt x="3524250" y="1524000"/>
                </a:cubicBezTo>
                <a:lnTo>
                  <a:pt x="38100" y="1524000"/>
                </a:lnTo>
                <a:cubicBezTo>
                  <a:pt x="17072" y="1524000"/>
                  <a:pt x="0" y="1506928"/>
                  <a:pt x="0" y="1485900"/>
                </a:cubicBezTo>
                <a:lnTo>
                  <a:pt x="0" y="38100"/>
                </a:lnTo>
                <a:cubicBezTo>
                  <a:pt x="0" y="17072"/>
                  <a:pt x="17072" y="0"/>
                  <a:pt x="38100" y="0"/>
                </a:cubicBezTo>
                <a:close/>
              </a:path>
            </a:pathLst>
          </a:custGeom>
          <a:solidFill>
            <a:srgbClr val="1E293B"/>
          </a:solidFill>
          <a:ln/>
        </p:spPr>
        <p:txBody>
          <a:bodyPr/>
          <a:lstStyle/>
          <a:p>
            <a:endParaRPr lang="en-GB"/>
          </a:p>
        </p:txBody>
      </p:sp>
      <p:sp>
        <p:nvSpPr>
          <p:cNvPr id="41" name="Shape 39"/>
          <p:cNvSpPr/>
          <p:nvPr/>
        </p:nvSpPr>
        <p:spPr>
          <a:xfrm>
            <a:off x="400050" y="5029200"/>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38BDF8"/>
          </a:solidFill>
          <a:ln/>
        </p:spPr>
        <p:txBody>
          <a:bodyPr/>
          <a:lstStyle/>
          <a:p>
            <a:endParaRPr lang="en-GB"/>
          </a:p>
        </p:txBody>
      </p:sp>
      <p:sp>
        <p:nvSpPr>
          <p:cNvPr id="42" name="Shape 40"/>
          <p:cNvSpPr/>
          <p:nvPr/>
        </p:nvSpPr>
        <p:spPr>
          <a:xfrm>
            <a:off x="647700" y="5257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20000"/>
            </a:srgbClr>
          </a:solidFill>
          <a:ln/>
        </p:spPr>
        <p:txBody>
          <a:bodyPr/>
          <a:lstStyle/>
          <a:p>
            <a:endParaRPr lang="en-GB"/>
          </a:p>
        </p:txBody>
      </p:sp>
      <p:sp>
        <p:nvSpPr>
          <p:cNvPr id="43" name="Text 41"/>
          <p:cNvSpPr/>
          <p:nvPr/>
        </p:nvSpPr>
        <p:spPr>
          <a:xfrm>
            <a:off x="744736" y="5334000"/>
            <a:ext cx="381000" cy="304800"/>
          </a:xfrm>
          <a:prstGeom prst="rect">
            <a:avLst/>
          </a:prstGeom>
          <a:noFill/>
          <a:ln/>
        </p:spPr>
        <p:txBody>
          <a:bodyPr wrap="square" lIns="0" tIns="0" rIns="0" bIns="0" rtlCol="0" anchor="ctr"/>
          <a:lstStyle/>
          <a:p>
            <a:pPr>
              <a:lnSpc>
                <a:spcPct val="110000"/>
              </a:lnSpc>
            </a:pPr>
            <a:r>
              <a:rPr lang="en-US" sz="1800" b="1" dirty="0">
                <a:solidFill>
                  <a:srgbClr val="38BDF8"/>
                </a:solidFill>
                <a:latin typeface="Liter" pitchFamily="34" charset="0"/>
                <a:ea typeface="Liter" pitchFamily="34" charset="-122"/>
                <a:cs typeface="Liter" pitchFamily="34" charset="-120"/>
              </a:rPr>
              <a:t>07</a:t>
            </a:r>
            <a:endParaRPr lang="en-US" sz="1600" dirty="0"/>
          </a:p>
        </p:txBody>
      </p:sp>
      <p:sp>
        <p:nvSpPr>
          <p:cNvPr id="44" name="Text 42"/>
          <p:cNvSpPr/>
          <p:nvPr/>
        </p:nvSpPr>
        <p:spPr>
          <a:xfrm>
            <a:off x="1257300" y="5353050"/>
            <a:ext cx="12858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Order Backlog</a:t>
            </a:r>
            <a:endParaRPr lang="en-US" sz="1600" dirty="0"/>
          </a:p>
        </p:txBody>
      </p:sp>
      <p:sp>
        <p:nvSpPr>
          <p:cNvPr id="45" name="Text 43"/>
          <p:cNvSpPr/>
          <p:nvPr/>
        </p:nvSpPr>
        <p:spPr>
          <a:xfrm>
            <a:off x="647700" y="58293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Record 8,754 aircraft backlog and delivery performance</a:t>
            </a:r>
            <a:endParaRPr lang="en-US" sz="1600" dirty="0"/>
          </a:p>
        </p:txBody>
      </p:sp>
      <p:sp>
        <p:nvSpPr>
          <p:cNvPr id="46" name="Shape 44"/>
          <p:cNvSpPr/>
          <p:nvPr/>
        </p:nvSpPr>
        <p:spPr>
          <a:xfrm>
            <a:off x="4286250" y="5029200"/>
            <a:ext cx="3638550" cy="1524000"/>
          </a:xfrm>
          <a:custGeom>
            <a:avLst/>
            <a:gdLst/>
            <a:ahLst/>
            <a:cxnLst/>
            <a:rect l="l" t="t" r="r" b="b"/>
            <a:pathLst>
              <a:path w="3638550" h="1524000">
                <a:moveTo>
                  <a:pt x="38100" y="0"/>
                </a:moveTo>
                <a:lnTo>
                  <a:pt x="3524250" y="0"/>
                </a:lnTo>
                <a:cubicBezTo>
                  <a:pt x="3587334" y="0"/>
                  <a:pt x="3638550" y="51216"/>
                  <a:pt x="3638550" y="114300"/>
                </a:cubicBezTo>
                <a:lnTo>
                  <a:pt x="3638550" y="1409700"/>
                </a:lnTo>
                <a:cubicBezTo>
                  <a:pt x="3638550" y="1472784"/>
                  <a:pt x="3587334" y="1524000"/>
                  <a:pt x="3524250" y="1524000"/>
                </a:cubicBezTo>
                <a:lnTo>
                  <a:pt x="38100" y="1524000"/>
                </a:lnTo>
                <a:cubicBezTo>
                  <a:pt x="17072" y="1524000"/>
                  <a:pt x="0" y="1506928"/>
                  <a:pt x="0" y="1485900"/>
                </a:cubicBezTo>
                <a:lnTo>
                  <a:pt x="0" y="38100"/>
                </a:lnTo>
                <a:cubicBezTo>
                  <a:pt x="0" y="17072"/>
                  <a:pt x="17072" y="0"/>
                  <a:pt x="38100" y="0"/>
                </a:cubicBezTo>
                <a:close/>
              </a:path>
            </a:pathLst>
          </a:custGeom>
          <a:solidFill>
            <a:srgbClr val="1E293B"/>
          </a:solidFill>
          <a:ln/>
        </p:spPr>
        <p:txBody>
          <a:bodyPr/>
          <a:lstStyle/>
          <a:p>
            <a:endParaRPr lang="en-GB"/>
          </a:p>
        </p:txBody>
      </p:sp>
      <p:sp>
        <p:nvSpPr>
          <p:cNvPr id="47" name="Shape 45"/>
          <p:cNvSpPr/>
          <p:nvPr/>
        </p:nvSpPr>
        <p:spPr>
          <a:xfrm>
            <a:off x="4286250" y="5029200"/>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F59E0B"/>
          </a:solidFill>
          <a:ln/>
        </p:spPr>
        <p:txBody>
          <a:bodyPr/>
          <a:lstStyle/>
          <a:p>
            <a:endParaRPr lang="en-GB"/>
          </a:p>
        </p:txBody>
      </p:sp>
      <p:sp>
        <p:nvSpPr>
          <p:cNvPr id="48" name="Shape 46"/>
          <p:cNvSpPr/>
          <p:nvPr/>
        </p:nvSpPr>
        <p:spPr>
          <a:xfrm>
            <a:off x="4533900" y="5257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59E0B">
              <a:alpha val="20000"/>
            </a:srgbClr>
          </a:solidFill>
          <a:ln/>
        </p:spPr>
        <p:txBody>
          <a:bodyPr/>
          <a:lstStyle/>
          <a:p>
            <a:endParaRPr lang="en-GB"/>
          </a:p>
        </p:txBody>
      </p:sp>
      <p:sp>
        <p:nvSpPr>
          <p:cNvPr id="49" name="Text 47"/>
          <p:cNvSpPr/>
          <p:nvPr/>
        </p:nvSpPr>
        <p:spPr>
          <a:xfrm>
            <a:off x="4619327" y="5334000"/>
            <a:ext cx="400050" cy="304800"/>
          </a:xfrm>
          <a:prstGeom prst="rect">
            <a:avLst/>
          </a:prstGeom>
          <a:noFill/>
          <a:ln/>
        </p:spPr>
        <p:txBody>
          <a:bodyPr wrap="square" lIns="0" tIns="0" rIns="0" bIns="0" rtlCol="0" anchor="ctr"/>
          <a:lstStyle/>
          <a:p>
            <a:pPr>
              <a:lnSpc>
                <a:spcPct val="110000"/>
              </a:lnSpc>
            </a:pPr>
            <a:r>
              <a:rPr lang="en-US" sz="1800" b="1" dirty="0">
                <a:solidFill>
                  <a:srgbClr val="F59E0B"/>
                </a:solidFill>
                <a:latin typeface="Liter" pitchFamily="34" charset="0"/>
                <a:ea typeface="Liter" pitchFamily="34" charset="-122"/>
                <a:cs typeface="Liter" pitchFamily="34" charset="-120"/>
              </a:rPr>
              <a:t>08</a:t>
            </a:r>
            <a:endParaRPr lang="en-US" sz="1600" dirty="0"/>
          </a:p>
        </p:txBody>
      </p:sp>
      <p:sp>
        <p:nvSpPr>
          <p:cNvPr id="50" name="Text 48"/>
          <p:cNvSpPr/>
          <p:nvPr/>
        </p:nvSpPr>
        <p:spPr>
          <a:xfrm>
            <a:off x="5143500" y="5353050"/>
            <a:ext cx="22002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Sustainability Leadership</a:t>
            </a:r>
            <a:endParaRPr lang="en-US" sz="1600" dirty="0"/>
          </a:p>
        </p:txBody>
      </p:sp>
      <p:sp>
        <p:nvSpPr>
          <p:cNvPr id="51" name="Text 49"/>
          <p:cNvSpPr/>
          <p:nvPr/>
        </p:nvSpPr>
        <p:spPr>
          <a:xfrm>
            <a:off x="4533900" y="58293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Decarbonization roadmap and ZEROe hydrogen program</a:t>
            </a:r>
            <a:endParaRPr lang="en-US" sz="1600" dirty="0"/>
          </a:p>
        </p:txBody>
      </p:sp>
      <p:sp>
        <p:nvSpPr>
          <p:cNvPr id="52" name="Shape 50"/>
          <p:cNvSpPr/>
          <p:nvPr/>
        </p:nvSpPr>
        <p:spPr>
          <a:xfrm>
            <a:off x="8172450" y="5029200"/>
            <a:ext cx="3638550" cy="1524000"/>
          </a:xfrm>
          <a:custGeom>
            <a:avLst/>
            <a:gdLst/>
            <a:ahLst/>
            <a:cxnLst/>
            <a:rect l="l" t="t" r="r" b="b"/>
            <a:pathLst>
              <a:path w="3638550" h="1524000">
                <a:moveTo>
                  <a:pt x="38100" y="0"/>
                </a:moveTo>
                <a:lnTo>
                  <a:pt x="3524250" y="0"/>
                </a:lnTo>
                <a:cubicBezTo>
                  <a:pt x="3587334" y="0"/>
                  <a:pt x="3638550" y="51216"/>
                  <a:pt x="3638550" y="114300"/>
                </a:cubicBezTo>
                <a:lnTo>
                  <a:pt x="3638550" y="1409700"/>
                </a:lnTo>
                <a:cubicBezTo>
                  <a:pt x="3638550" y="1472784"/>
                  <a:pt x="3587334" y="1524000"/>
                  <a:pt x="3524250" y="1524000"/>
                </a:cubicBezTo>
                <a:lnTo>
                  <a:pt x="38100" y="1524000"/>
                </a:lnTo>
                <a:cubicBezTo>
                  <a:pt x="17072" y="1524000"/>
                  <a:pt x="0" y="1506928"/>
                  <a:pt x="0" y="1485900"/>
                </a:cubicBezTo>
                <a:lnTo>
                  <a:pt x="0" y="38100"/>
                </a:lnTo>
                <a:cubicBezTo>
                  <a:pt x="0" y="17072"/>
                  <a:pt x="17072" y="0"/>
                  <a:pt x="38100" y="0"/>
                </a:cubicBezTo>
                <a:close/>
              </a:path>
            </a:pathLst>
          </a:custGeom>
          <a:solidFill>
            <a:srgbClr val="1E293B"/>
          </a:solidFill>
          <a:ln/>
        </p:spPr>
        <p:txBody>
          <a:bodyPr/>
          <a:lstStyle/>
          <a:p>
            <a:endParaRPr lang="en-GB"/>
          </a:p>
        </p:txBody>
      </p:sp>
      <p:sp>
        <p:nvSpPr>
          <p:cNvPr id="53" name="Shape 51"/>
          <p:cNvSpPr/>
          <p:nvPr/>
        </p:nvSpPr>
        <p:spPr>
          <a:xfrm>
            <a:off x="8172450" y="5029200"/>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38BDF8"/>
          </a:solidFill>
          <a:ln/>
        </p:spPr>
        <p:txBody>
          <a:bodyPr/>
          <a:lstStyle/>
          <a:p>
            <a:endParaRPr lang="en-GB"/>
          </a:p>
        </p:txBody>
      </p:sp>
      <p:sp>
        <p:nvSpPr>
          <p:cNvPr id="54" name="Shape 52"/>
          <p:cNvSpPr/>
          <p:nvPr/>
        </p:nvSpPr>
        <p:spPr>
          <a:xfrm>
            <a:off x="8420100" y="5257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20000"/>
            </a:srgbClr>
          </a:solidFill>
          <a:ln/>
        </p:spPr>
        <p:txBody>
          <a:bodyPr/>
          <a:lstStyle/>
          <a:p>
            <a:endParaRPr lang="en-GB"/>
          </a:p>
        </p:txBody>
      </p:sp>
      <p:sp>
        <p:nvSpPr>
          <p:cNvPr id="55" name="Text 53"/>
          <p:cNvSpPr/>
          <p:nvPr/>
        </p:nvSpPr>
        <p:spPr>
          <a:xfrm>
            <a:off x="8507313" y="5334000"/>
            <a:ext cx="400050" cy="304800"/>
          </a:xfrm>
          <a:prstGeom prst="rect">
            <a:avLst/>
          </a:prstGeom>
          <a:noFill/>
          <a:ln/>
        </p:spPr>
        <p:txBody>
          <a:bodyPr wrap="square" lIns="0" tIns="0" rIns="0" bIns="0" rtlCol="0" anchor="ctr"/>
          <a:lstStyle/>
          <a:p>
            <a:pPr>
              <a:lnSpc>
                <a:spcPct val="110000"/>
              </a:lnSpc>
            </a:pPr>
            <a:r>
              <a:rPr lang="en-US" sz="1800" b="1" dirty="0">
                <a:solidFill>
                  <a:srgbClr val="38BDF8"/>
                </a:solidFill>
                <a:latin typeface="Liter" pitchFamily="34" charset="0"/>
                <a:ea typeface="Liter" pitchFamily="34" charset="-122"/>
                <a:cs typeface="Liter" pitchFamily="34" charset="-120"/>
              </a:rPr>
              <a:t>09</a:t>
            </a:r>
            <a:endParaRPr lang="en-US" sz="1600" dirty="0"/>
          </a:p>
        </p:txBody>
      </p:sp>
      <p:sp>
        <p:nvSpPr>
          <p:cNvPr id="56" name="Text 54"/>
          <p:cNvSpPr/>
          <p:nvPr/>
        </p:nvSpPr>
        <p:spPr>
          <a:xfrm>
            <a:off x="9029700" y="5353050"/>
            <a:ext cx="15621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Strategic Outlook</a:t>
            </a:r>
            <a:endParaRPr lang="en-US" sz="1600" dirty="0"/>
          </a:p>
        </p:txBody>
      </p:sp>
      <p:sp>
        <p:nvSpPr>
          <p:cNvPr id="57" name="Text 55"/>
          <p:cNvSpPr/>
          <p:nvPr/>
        </p:nvSpPr>
        <p:spPr>
          <a:xfrm>
            <a:off x="8420100" y="5829300"/>
            <a:ext cx="3238500" cy="49530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Growth targets and transformation priorities through 2030</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38BDF8"/>
                </a:solidFill>
                <a:latin typeface="Quattrocento Sans" pitchFamily="34" charset="0"/>
                <a:ea typeface="Quattrocento Sans" pitchFamily="34" charset="-122"/>
                <a:cs typeface="Quattrocento Sans" pitchFamily="34" charset="-120"/>
              </a:rPr>
              <a:t>COMPANY FOUNDATION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FFFFF"/>
                </a:solidFill>
                <a:latin typeface="Liter" pitchFamily="34" charset="0"/>
                <a:ea typeface="Liter" pitchFamily="34" charset="-122"/>
                <a:cs typeface="Liter" pitchFamily="34" charset="-120"/>
              </a:rPr>
              <a:t>A European Aviation Champion</a:t>
            </a:r>
            <a:endParaRPr lang="en-US" sz="1600" dirty="0"/>
          </a:p>
        </p:txBody>
      </p:sp>
      <p:sp>
        <p:nvSpPr>
          <p:cNvPr id="4" name="Shape 2"/>
          <p:cNvSpPr/>
          <p:nvPr/>
        </p:nvSpPr>
        <p:spPr>
          <a:xfrm>
            <a:off x="400050" y="1295400"/>
            <a:ext cx="5581650" cy="2362200"/>
          </a:xfrm>
          <a:custGeom>
            <a:avLst/>
            <a:gdLst/>
            <a:ahLst/>
            <a:cxnLst/>
            <a:rect l="l" t="t" r="r" b="b"/>
            <a:pathLst>
              <a:path w="5581650" h="2362200">
                <a:moveTo>
                  <a:pt x="38100" y="0"/>
                </a:moveTo>
                <a:lnTo>
                  <a:pt x="5467343" y="0"/>
                </a:lnTo>
                <a:cubicBezTo>
                  <a:pt x="5530431" y="0"/>
                  <a:pt x="5581650" y="51219"/>
                  <a:pt x="5581650" y="114307"/>
                </a:cubicBezTo>
                <a:lnTo>
                  <a:pt x="5581650" y="2247893"/>
                </a:lnTo>
                <a:cubicBezTo>
                  <a:pt x="5581650" y="2310981"/>
                  <a:pt x="5530431" y="2362200"/>
                  <a:pt x="5467343" y="2362200"/>
                </a:cubicBezTo>
                <a:lnTo>
                  <a:pt x="38100" y="2362200"/>
                </a:lnTo>
                <a:cubicBezTo>
                  <a:pt x="17072" y="2362200"/>
                  <a:pt x="0" y="2345128"/>
                  <a:pt x="0" y="2324100"/>
                </a:cubicBezTo>
                <a:lnTo>
                  <a:pt x="0" y="38100"/>
                </a:lnTo>
                <a:cubicBezTo>
                  <a:pt x="0" y="17072"/>
                  <a:pt x="17072" y="0"/>
                  <a:pt x="38100" y="0"/>
                </a:cubicBezTo>
                <a:close/>
              </a:path>
            </a:pathLst>
          </a:custGeom>
          <a:solidFill>
            <a:srgbClr val="1E293B"/>
          </a:solidFill>
          <a:ln/>
        </p:spPr>
        <p:txBody>
          <a:bodyPr/>
          <a:lstStyle/>
          <a:p>
            <a:endParaRPr lang="en-GB"/>
          </a:p>
        </p:txBody>
      </p:sp>
      <p:sp>
        <p:nvSpPr>
          <p:cNvPr id="5" name="Shape 3"/>
          <p:cNvSpPr/>
          <p:nvPr/>
        </p:nvSpPr>
        <p:spPr>
          <a:xfrm>
            <a:off x="400050" y="12954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38BDF8"/>
          </a:solidFill>
          <a:ln/>
        </p:spPr>
        <p:txBody>
          <a:bodyPr/>
          <a:lstStyle/>
          <a:p>
            <a:endParaRPr lang="en-GB"/>
          </a:p>
        </p:txBody>
      </p:sp>
      <p:sp>
        <p:nvSpPr>
          <p:cNvPr id="6" name="Text 4"/>
          <p:cNvSpPr/>
          <p:nvPr/>
        </p:nvSpPr>
        <p:spPr>
          <a:xfrm>
            <a:off x="609600" y="1485900"/>
            <a:ext cx="52768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Founding Vision</a:t>
            </a:r>
            <a:endParaRPr lang="en-US" sz="1600" dirty="0"/>
          </a:p>
        </p:txBody>
      </p:sp>
      <p:sp>
        <p:nvSpPr>
          <p:cNvPr id="7" name="Text 5"/>
          <p:cNvSpPr/>
          <p:nvPr/>
        </p:nvSpPr>
        <p:spPr>
          <a:xfrm>
            <a:off x="609600" y="1866900"/>
            <a:ext cx="5257800" cy="742950"/>
          </a:xfrm>
          <a:prstGeom prst="rect">
            <a:avLst/>
          </a:prstGeom>
          <a:noFill/>
          <a:ln/>
        </p:spPr>
        <p:txBody>
          <a:bodyPr wrap="square" lIns="0" tIns="0" rIns="0" bIns="0" rtlCol="0" anchor="ctr"/>
          <a:lstStyle/>
          <a:p>
            <a:pPr>
              <a:lnSpc>
                <a:spcPct val="140000"/>
              </a:lnSpc>
            </a:pPr>
            <a:r>
              <a:rPr lang="en-US" sz="1200" b="1" dirty="0">
                <a:solidFill>
                  <a:srgbClr val="38BDF8"/>
                </a:solidFill>
                <a:latin typeface="Quattrocento Sans" pitchFamily="34" charset="0"/>
                <a:ea typeface="Quattrocento Sans" pitchFamily="34" charset="-122"/>
                <a:cs typeface="Quattrocento Sans" pitchFamily="34" charset="-120"/>
              </a:rPr>
              <a:t>Founded December 18, 1970</a:t>
            </a:r>
            <a:r>
              <a:rPr lang="en-US" sz="1200" dirty="0">
                <a:solidFill>
                  <a:srgbClr val="E2E8F0"/>
                </a:solidFill>
                <a:latin typeface="Quattrocento Sans" pitchFamily="34" charset="0"/>
                <a:ea typeface="Quattrocento Sans" pitchFamily="34" charset="-122"/>
                <a:cs typeface="Quattrocento Sans" pitchFamily="34" charset="-120"/>
              </a:rPr>
              <a:t> as a Franco-German economic consortium (GIE), Airbus emerged from European collaboration to challenge American dominance in commercial aviation.</a:t>
            </a:r>
            <a:endParaRPr lang="en-US" sz="1600" dirty="0"/>
          </a:p>
        </p:txBody>
      </p:sp>
      <p:sp>
        <p:nvSpPr>
          <p:cNvPr id="8" name="Text 6"/>
          <p:cNvSpPr/>
          <p:nvPr/>
        </p:nvSpPr>
        <p:spPr>
          <a:xfrm>
            <a:off x="609600" y="2724150"/>
            <a:ext cx="5257800" cy="742950"/>
          </a:xfrm>
          <a:prstGeom prst="rect">
            <a:avLst/>
          </a:prstGeom>
          <a:noFill/>
          <a:ln/>
        </p:spPr>
        <p:txBody>
          <a:bodyPr wrap="square" lIns="0" tIns="0" rIns="0" bIns="0" rtlCol="0" anchor="ctr"/>
          <a:lstStyle/>
          <a:p>
            <a:pP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Initial funding from French and German governments launched the A300B, the world's first twin-engine widebody airliner, establishing Airbus as a credible competitor to Boeing's 700-series jets.</a:t>
            </a:r>
            <a:endParaRPr lang="en-US" sz="1600" dirty="0"/>
          </a:p>
        </p:txBody>
      </p:sp>
      <p:sp>
        <p:nvSpPr>
          <p:cNvPr id="9" name="Shape 7"/>
          <p:cNvSpPr/>
          <p:nvPr/>
        </p:nvSpPr>
        <p:spPr>
          <a:xfrm>
            <a:off x="381000" y="3810000"/>
            <a:ext cx="5600700" cy="2838450"/>
          </a:xfrm>
          <a:custGeom>
            <a:avLst/>
            <a:gdLst/>
            <a:ahLst/>
            <a:cxnLst/>
            <a:rect l="l" t="t" r="r" b="b"/>
            <a:pathLst>
              <a:path w="5600700" h="2838450">
                <a:moveTo>
                  <a:pt x="114304" y="0"/>
                </a:moveTo>
                <a:lnTo>
                  <a:pt x="5486396" y="0"/>
                </a:lnTo>
                <a:cubicBezTo>
                  <a:pt x="5549524" y="0"/>
                  <a:pt x="5600700" y="51176"/>
                  <a:pt x="5600700" y="114304"/>
                </a:cubicBezTo>
                <a:lnTo>
                  <a:pt x="5600700" y="2724146"/>
                </a:lnTo>
                <a:cubicBezTo>
                  <a:pt x="5600700" y="2787274"/>
                  <a:pt x="5549524" y="2838450"/>
                  <a:pt x="5486396" y="2838450"/>
                </a:cubicBezTo>
                <a:lnTo>
                  <a:pt x="114304" y="2838450"/>
                </a:lnTo>
                <a:cubicBezTo>
                  <a:pt x="51176" y="2838450"/>
                  <a:pt x="0" y="2787274"/>
                  <a:pt x="0" y="2724146"/>
                </a:cubicBezTo>
                <a:lnTo>
                  <a:pt x="0" y="114304"/>
                </a:lnTo>
                <a:cubicBezTo>
                  <a:pt x="0" y="51218"/>
                  <a:pt x="51218" y="0"/>
                  <a:pt x="114304" y="0"/>
                </a:cubicBezTo>
                <a:close/>
              </a:path>
            </a:pathLst>
          </a:custGeom>
          <a:solidFill>
            <a:srgbClr val="1E293B"/>
          </a:solidFill>
          <a:ln/>
        </p:spPr>
        <p:txBody>
          <a:bodyPr/>
          <a:lstStyle/>
          <a:p>
            <a:endParaRPr lang="en-GB"/>
          </a:p>
        </p:txBody>
      </p:sp>
      <p:sp>
        <p:nvSpPr>
          <p:cNvPr id="10" name="Text 8"/>
          <p:cNvSpPr/>
          <p:nvPr/>
        </p:nvSpPr>
        <p:spPr>
          <a:xfrm>
            <a:off x="571500" y="4048125"/>
            <a:ext cx="53149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Evolution Timeline</a:t>
            </a:r>
            <a:endParaRPr lang="en-US" sz="1600" dirty="0"/>
          </a:p>
        </p:txBody>
      </p:sp>
      <p:sp>
        <p:nvSpPr>
          <p:cNvPr id="11" name="Text 9"/>
          <p:cNvSpPr/>
          <p:nvPr/>
        </p:nvSpPr>
        <p:spPr>
          <a:xfrm>
            <a:off x="571500" y="4467225"/>
            <a:ext cx="8382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1970</a:t>
            </a:r>
            <a:endParaRPr lang="en-US" sz="1600" dirty="0"/>
          </a:p>
        </p:txBody>
      </p:sp>
      <p:sp>
        <p:nvSpPr>
          <p:cNvPr id="12" name="Text 10"/>
          <p:cNvSpPr/>
          <p:nvPr/>
        </p:nvSpPr>
        <p:spPr>
          <a:xfrm>
            <a:off x="1447800" y="4467225"/>
            <a:ext cx="2495550"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Airbus Industrie GIE formally created</a:t>
            </a:r>
            <a:endParaRPr lang="en-US" sz="1600" dirty="0"/>
          </a:p>
        </p:txBody>
      </p:sp>
      <p:sp>
        <p:nvSpPr>
          <p:cNvPr id="13" name="Text 11"/>
          <p:cNvSpPr/>
          <p:nvPr/>
        </p:nvSpPr>
        <p:spPr>
          <a:xfrm>
            <a:off x="571500" y="4810125"/>
            <a:ext cx="8382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1972</a:t>
            </a:r>
            <a:endParaRPr lang="en-US" sz="1600" dirty="0"/>
          </a:p>
        </p:txBody>
      </p:sp>
      <p:sp>
        <p:nvSpPr>
          <p:cNvPr id="14" name="Text 12"/>
          <p:cNvSpPr/>
          <p:nvPr/>
        </p:nvSpPr>
        <p:spPr>
          <a:xfrm>
            <a:off x="1447800" y="4810125"/>
            <a:ext cx="33242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First A300 flight - twin-engine widebody pioneer</a:t>
            </a:r>
            <a:endParaRPr lang="en-US" sz="1600" dirty="0"/>
          </a:p>
        </p:txBody>
      </p:sp>
      <p:sp>
        <p:nvSpPr>
          <p:cNvPr id="15" name="Text 13"/>
          <p:cNvSpPr/>
          <p:nvPr/>
        </p:nvSpPr>
        <p:spPr>
          <a:xfrm>
            <a:off x="571500" y="5153025"/>
            <a:ext cx="8382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1987</a:t>
            </a:r>
            <a:endParaRPr lang="en-US" sz="1600" dirty="0"/>
          </a:p>
        </p:txBody>
      </p:sp>
      <p:sp>
        <p:nvSpPr>
          <p:cNvPr id="16" name="Text 14"/>
          <p:cNvSpPr/>
          <p:nvPr/>
        </p:nvSpPr>
        <p:spPr>
          <a:xfrm>
            <a:off x="1447800" y="5153025"/>
            <a:ext cx="353377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A320 maiden flight - revolutionized with fly-by-wire</a:t>
            </a:r>
            <a:endParaRPr lang="en-US" sz="1600" dirty="0"/>
          </a:p>
        </p:txBody>
      </p:sp>
      <p:sp>
        <p:nvSpPr>
          <p:cNvPr id="17" name="Text 15"/>
          <p:cNvSpPr/>
          <p:nvPr/>
        </p:nvSpPr>
        <p:spPr>
          <a:xfrm>
            <a:off x="571500" y="5495925"/>
            <a:ext cx="8382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2000</a:t>
            </a:r>
            <a:endParaRPr lang="en-US" sz="1600" dirty="0"/>
          </a:p>
        </p:txBody>
      </p:sp>
      <p:sp>
        <p:nvSpPr>
          <p:cNvPr id="18" name="Text 16"/>
          <p:cNvSpPr/>
          <p:nvPr/>
        </p:nvSpPr>
        <p:spPr>
          <a:xfrm>
            <a:off x="1447800" y="5495925"/>
            <a:ext cx="383857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Transformed into single integrated company (Airbus SAS)</a:t>
            </a:r>
            <a:endParaRPr lang="en-US" sz="1600" dirty="0"/>
          </a:p>
        </p:txBody>
      </p:sp>
      <p:sp>
        <p:nvSpPr>
          <p:cNvPr id="19" name="Text 17"/>
          <p:cNvSpPr/>
          <p:nvPr/>
        </p:nvSpPr>
        <p:spPr>
          <a:xfrm>
            <a:off x="571500" y="5838825"/>
            <a:ext cx="8382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2005</a:t>
            </a:r>
            <a:endParaRPr lang="en-US" sz="1600" dirty="0"/>
          </a:p>
        </p:txBody>
      </p:sp>
      <p:sp>
        <p:nvSpPr>
          <p:cNvPr id="20" name="Text 18"/>
          <p:cNvSpPr/>
          <p:nvPr/>
        </p:nvSpPr>
        <p:spPr>
          <a:xfrm>
            <a:off x="1447800" y="5838825"/>
            <a:ext cx="3390900"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A380 first flight - world's largest passenger airliner</a:t>
            </a:r>
            <a:endParaRPr lang="en-US" sz="1600" dirty="0"/>
          </a:p>
        </p:txBody>
      </p:sp>
      <p:sp>
        <p:nvSpPr>
          <p:cNvPr id="21" name="Text 19"/>
          <p:cNvSpPr/>
          <p:nvPr/>
        </p:nvSpPr>
        <p:spPr>
          <a:xfrm>
            <a:off x="571500" y="6181725"/>
            <a:ext cx="8382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2019</a:t>
            </a:r>
            <a:endParaRPr lang="en-US" sz="1600" dirty="0"/>
          </a:p>
        </p:txBody>
      </p:sp>
      <p:sp>
        <p:nvSpPr>
          <p:cNvPr id="22" name="Text 20"/>
          <p:cNvSpPr/>
          <p:nvPr/>
        </p:nvSpPr>
        <p:spPr>
          <a:xfrm>
            <a:off x="1447800" y="6181725"/>
            <a:ext cx="2171700"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Guillaume Faury appointed CEO</a:t>
            </a:r>
            <a:endParaRPr lang="en-US" sz="1600" dirty="0"/>
          </a:p>
        </p:txBody>
      </p:sp>
      <p:sp>
        <p:nvSpPr>
          <p:cNvPr id="23" name="Shape 21"/>
          <p:cNvSpPr/>
          <p:nvPr/>
        </p:nvSpPr>
        <p:spPr>
          <a:xfrm>
            <a:off x="6215063" y="1300163"/>
            <a:ext cx="5591175" cy="2257425"/>
          </a:xfrm>
          <a:custGeom>
            <a:avLst/>
            <a:gdLst/>
            <a:ahLst/>
            <a:cxnLst/>
            <a:rect l="l" t="t" r="r" b="b"/>
            <a:pathLst>
              <a:path w="5591175" h="2257425">
                <a:moveTo>
                  <a:pt x="114293" y="0"/>
                </a:moveTo>
                <a:lnTo>
                  <a:pt x="5476882" y="0"/>
                </a:lnTo>
                <a:cubicBezTo>
                  <a:pt x="5539962" y="0"/>
                  <a:pt x="5591175" y="51213"/>
                  <a:pt x="5591175" y="114293"/>
                </a:cubicBezTo>
                <a:lnTo>
                  <a:pt x="5591175" y="2143132"/>
                </a:lnTo>
                <a:cubicBezTo>
                  <a:pt x="5591175" y="2206212"/>
                  <a:pt x="5539962" y="2257425"/>
                  <a:pt x="5476882" y="2257425"/>
                </a:cubicBezTo>
                <a:lnTo>
                  <a:pt x="114293" y="2257425"/>
                </a:lnTo>
                <a:cubicBezTo>
                  <a:pt x="51213" y="2257425"/>
                  <a:pt x="0" y="2206212"/>
                  <a:pt x="0" y="2143132"/>
                </a:cubicBezTo>
                <a:lnTo>
                  <a:pt x="0" y="114293"/>
                </a:lnTo>
                <a:cubicBezTo>
                  <a:pt x="0" y="51213"/>
                  <a:pt x="51213" y="0"/>
                  <a:pt x="114293"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24" name="Text 22"/>
          <p:cNvSpPr/>
          <p:nvPr/>
        </p:nvSpPr>
        <p:spPr>
          <a:xfrm>
            <a:off x="6410325" y="1495425"/>
            <a:ext cx="12382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Current Scale</a:t>
            </a:r>
            <a:endParaRPr lang="en-US" sz="1600" dirty="0"/>
          </a:p>
        </p:txBody>
      </p:sp>
      <p:sp>
        <p:nvSpPr>
          <p:cNvPr id="25" name="Shape 23"/>
          <p:cNvSpPr/>
          <p:nvPr/>
        </p:nvSpPr>
        <p:spPr>
          <a:xfrm>
            <a:off x="11353800" y="1514475"/>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38BDF8"/>
          </a:solidFill>
          <a:ln/>
        </p:spPr>
        <p:txBody>
          <a:bodyPr/>
          <a:lstStyle/>
          <a:p>
            <a:endParaRPr lang="en-GB"/>
          </a:p>
        </p:txBody>
      </p:sp>
      <p:sp>
        <p:nvSpPr>
          <p:cNvPr id="26" name="Text 24"/>
          <p:cNvSpPr/>
          <p:nvPr/>
        </p:nvSpPr>
        <p:spPr>
          <a:xfrm>
            <a:off x="6324600" y="1914525"/>
            <a:ext cx="2695575" cy="381000"/>
          </a:xfrm>
          <a:prstGeom prst="rect">
            <a:avLst/>
          </a:prstGeom>
          <a:noFill/>
          <a:ln/>
        </p:spPr>
        <p:txBody>
          <a:bodyPr wrap="square" lIns="0" tIns="0" rIns="0" bIns="0" rtlCol="0" anchor="ctr"/>
          <a:lstStyle/>
          <a:p>
            <a:pPr algn="ctr">
              <a:lnSpc>
                <a:spcPct val="90000"/>
              </a:lnSpc>
            </a:pPr>
            <a:r>
              <a:rPr lang="en-US" sz="2700" b="1" dirty="0">
                <a:solidFill>
                  <a:srgbClr val="38BDF8"/>
                </a:solidFill>
                <a:latin typeface="Liter" pitchFamily="34" charset="0"/>
                <a:ea typeface="Liter" pitchFamily="34" charset="-122"/>
                <a:cs typeface="Liter" pitchFamily="34" charset="-120"/>
              </a:rPr>
              <a:t>159K+</a:t>
            </a:r>
            <a:endParaRPr lang="en-US" sz="1600" dirty="0"/>
          </a:p>
        </p:txBody>
      </p:sp>
      <p:sp>
        <p:nvSpPr>
          <p:cNvPr id="27" name="Text 25"/>
          <p:cNvSpPr/>
          <p:nvPr/>
        </p:nvSpPr>
        <p:spPr>
          <a:xfrm>
            <a:off x="6372225" y="2333625"/>
            <a:ext cx="26003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Employees Worldwide</a:t>
            </a:r>
            <a:endParaRPr lang="en-US" sz="1600" dirty="0"/>
          </a:p>
        </p:txBody>
      </p:sp>
      <p:sp>
        <p:nvSpPr>
          <p:cNvPr id="28" name="Text 26"/>
          <p:cNvSpPr/>
          <p:nvPr/>
        </p:nvSpPr>
        <p:spPr>
          <a:xfrm>
            <a:off x="9001125" y="1914525"/>
            <a:ext cx="2695575" cy="381000"/>
          </a:xfrm>
          <a:prstGeom prst="rect">
            <a:avLst/>
          </a:prstGeom>
          <a:noFill/>
          <a:ln/>
        </p:spPr>
        <p:txBody>
          <a:bodyPr wrap="square" lIns="0" tIns="0" rIns="0" bIns="0" rtlCol="0" anchor="ctr"/>
          <a:lstStyle/>
          <a:p>
            <a:pPr algn="ctr">
              <a:lnSpc>
                <a:spcPct val="90000"/>
              </a:lnSpc>
            </a:pPr>
            <a:r>
              <a:rPr lang="en-US" sz="2700" b="1" dirty="0">
                <a:solidFill>
                  <a:srgbClr val="F59E0B"/>
                </a:solidFill>
                <a:latin typeface="Liter" pitchFamily="34" charset="0"/>
                <a:ea typeface="Liter" pitchFamily="34" charset="-122"/>
                <a:cs typeface="Liter" pitchFamily="34" charset="-120"/>
              </a:rPr>
              <a:t>180+</a:t>
            </a:r>
            <a:endParaRPr lang="en-US" sz="1600" dirty="0"/>
          </a:p>
        </p:txBody>
      </p:sp>
      <p:sp>
        <p:nvSpPr>
          <p:cNvPr id="29" name="Text 27"/>
          <p:cNvSpPr/>
          <p:nvPr/>
        </p:nvSpPr>
        <p:spPr>
          <a:xfrm>
            <a:off x="9048750" y="2333625"/>
            <a:ext cx="26003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Countries &amp; Locations</a:t>
            </a:r>
            <a:endParaRPr lang="en-US" sz="1600" dirty="0"/>
          </a:p>
        </p:txBody>
      </p:sp>
      <p:sp>
        <p:nvSpPr>
          <p:cNvPr id="30" name="Text 28"/>
          <p:cNvSpPr/>
          <p:nvPr/>
        </p:nvSpPr>
        <p:spPr>
          <a:xfrm>
            <a:off x="6324600" y="2714625"/>
            <a:ext cx="2695575" cy="381000"/>
          </a:xfrm>
          <a:prstGeom prst="rect">
            <a:avLst/>
          </a:prstGeom>
          <a:noFill/>
          <a:ln/>
        </p:spPr>
        <p:txBody>
          <a:bodyPr wrap="square" lIns="0" tIns="0" rIns="0" bIns="0" rtlCol="0" anchor="ctr"/>
          <a:lstStyle/>
          <a:p>
            <a:pPr algn="ctr">
              <a:lnSpc>
                <a:spcPct val="90000"/>
              </a:lnSpc>
            </a:pPr>
            <a:r>
              <a:rPr lang="en-US" sz="2700" b="1" dirty="0">
                <a:solidFill>
                  <a:srgbClr val="38BDF8"/>
                </a:solidFill>
                <a:latin typeface="Liter" pitchFamily="34" charset="0"/>
                <a:ea typeface="Liter" pitchFamily="34" charset="-122"/>
                <a:cs typeface="Liter" pitchFamily="34" charset="-120"/>
              </a:rPr>
              <a:t>12K+</a:t>
            </a:r>
            <a:endParaRPr lang="en-US" sz="1600" dirty="0"/>
          </a:p>
        </p:txBody>
      </p:sp>
      <p:sp>
        <p:nvSpPr>
          <p:cNvPr id="31" name="Text 29"/>
          <p:cNvSpPr/>
          <p:nvPr/>
        </p:nvSpPr>
        <p:spPr>
          <a:xfrm>
            <a:off x="6372225" y="3133725"/>
            <a:ext cx="26003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Direct Suppliers</a:t>
            </a:r>
            <a:endParaRPr lang="en-US" sz="1600" dirty="0"/>
          </a:p>
        </p:txBody>
      </p:sp>
      <p:sp>
        <p:nvSpPr>
          <p:cNvPr id="32" name="Text 30"/>
          <p:cNvSpPr/>
          <p:nvPr/>
        </p:nvSpPr>
        <p:spPr>
          <a:xfrm>
            <a:off x="9001125" y="2714625"/>
            <a:ext cx="2695575" cy="381000"/>
          </a:xfrm>
          <a:prstGeom prst="rect">
            <a:avLst/>
          </a:prstGeom>
          <a:noFill/>
          <a:ln/>
        </p:spPr>
        <p:txBody>
          <a:bodyPr wrap="square" lIns="0" tIns="0" rIns="0" bIns="0" rtlCol="0" anchor="ctr"/>
          <a:lstStyle/>
          <a:p>
            <a:pPr algn="ctr">
              <a:lnSpc>
                <a:spcPct val="90000"/>
              </a:lnSpc>
            </a:pPr>
            <a:r>
              <a:rPr lang="en-US" sz="2700" b="1" dirty="0">
                <a:solidFill>
                  <a:srgbClr val="F59E0B"/>
                </a:solidFill>
                <a:latin typeface="Liter" pitchFamily="34" charset="0"/>
                <a:ea typeface="Liter" pitchFamily="34" charset="-122"/>
                <a:cs typeface="Liter" pitchFamily="34" charset="-120"/>
              </a:rPr>
              <a:t>€47.4B</a:t>
            </a:r>
            <a:endParaRPr lang="en-US" sz="1600" dirty="0"/>
          </a:p>
        </p:txBody>
      </p:sp>
      <p:sp>
        <p:nvSpPr>
          <p:cNvPr id="33" name="Text 31"/>
          <p:cNvSpPr/>
          <p:nvPr/>
        </p:nvSpPr>
        <p:spPr>
          <a:xfrm>
            <a:off x="9048750" y="3133725"/>
            <a:ext cx="26003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9M 2025 Revenue</a:t>
            </a:r>
            <a:endParaRPr lang="en-US" sz="1600" dirty="0"/>
          </a:p>
        </p:txBody>
      </p:sp>
      <p:sp>
        <p:nvSpPr>
          <p:cNvPr id="34" name="Shape 32"/>
          <p:cNvSpPr/>
          <p:nvPr/>
        </p:nvSpPr>
        <p:spPr>
          <a:xfrm>
            <a:off x="6210300" y="3714750"/>
            <a:ext cx="5600700" cy="2933700"/>
          </a:xfrm>
          <a:custGeom>
            <a:avLst/>
            <a:gdLst/>
            <a:ahLst/>
            <a:cxnLst/>
            <a:rect l="l" t="t" r="r" b="b"/>
            <a:pathLst>
              <a:path w="5600700" h="2933700">
                <a:moveTo>
                  <a:pt x="114297" y="0"/>
                </a:moveTo>
                <a:lnTo>
                  <a:pt x="5486403" y="0"/>
                </a:lnTo>
                <a:cubicBezTo>
                  <a:pt x="5549528" y="0"/>
                  <a:pt x="5600700" y="51172"/>
                  <a:pt x="5600700" y="114297"/>
                </a:cubicBezTo>
                <a:lnTo>
                  <a:pt x="5600700" y="2819403"/>
                </a:lnTo>
                <a:cubicBezTo>
                  <a:pt x="5600700" y="2882528"/>
                  <a:pt x="5549528" y="2933700"/>
                  <a:pt x="5486403" y="2933700"/>
                </a:cubicBezTo>
                <a:lnTo>
                  <a:pt x="114297" y="2933700"/>
                </a:lnTo>
                <a:cubicBezTo>
                  <a:pt x="51172" y="2933700"/>
                  <a:pt x="0" y="2882528"/>
                  <a:pt x="0" y="2819403"/>
                </a:cubicBezTo>
                <a:lnTo>
                  <a:pt x="0" y="114297"/>
                </a:lnTo>
                <a:cubicBezTo>
                  <a:pt x="0" y="51172"/>
                  <a:pt x="51172" y="0"/>
                  <a:pt x="114297" y="0"/>
                </a:cubicBezTo>
                <a:close/>
              </a:path>
            </a:pathLst>
          </a:custGeom>
          <a:solidFill>
            <a:srgbClr val="1E293B"/>
          </a:solidFill>
          <a:ln/>
        </p:spPr>
        <p:txBody>
          <a:bodyPr/>
          <a:lstStyle/>
          <a:p>
            <a:endParaRPr lang="en-GB"/>
          </a:p>
        </p:txBody>
      </p:sp>
      <p:sp>
        <p:nvSpPr>
          <p:cNvPr id="35" name="Text 33"/>
          <p:cNvSpPr/>
          <p:nvPr/>
        </p:nvSpPr>
        <p:spPr>
          <a:xfrm>
            <a:off x="6400800" y="3905250"/>
            <a:ext cx="53149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Global Headquarters</a:t>
            </a:r>
            <a:endParaRPr lang="en-US" sz="1600" dirty="0"/>
          </a:p>
        </p:txBody>
      </p:sp>
      <p:sp>
        <p:nvSpPr>
          <p:cNvPr id="36" name="Shape 34"/>
          <p:cNvSpPr/>
          <p:nvPr/>
        </p:nvSpPr>
        <p:spPr>
          <a:xfrm>
            <a:off x="6448425" y="4419600"/>
            <a:ext cx="142875" cy="190500"/>
          </a:xfrm>
          <a:custGeom>
            <a:avLst/>
            <a:gdLst/>
            <a:ahLst/>
            <a:cxnLst/>
            <a:rect l="l" t="t" r="r" b="b"/>
            <a:pathLst>
              <a:path w="142875" h="190500">
                <a:moveTo>
                  <a:pt x="0" y="70172"/>
                </a:moveTo>
                <a:cubicBezTo>
                  <a:pt x="0" y="31403"/>
                  <a:pt x="31998" y="0"/>
                  <a:pt x="71438" y="0"/>
                </a:cubicBezTo>
                <a:cubicBezTo>
                  <a:pt x="110877" y="0"/>
                  <a:pt x="142875" y="31403"/>
                  <a:pt x="142875" y="70172"/>
                </a:cubicBezTo>
                <a:cubicBezTo>
                  <a:pt x="142875" y="114560"/>
                  <a:pt x="98152" y="167767"/>
                  <a:pt x="79474" y="188044"/>
                </a:cubicBezTo>
                <a:cubicBezTo>
                  <a:pt x="75084" y="192807"/>
                  <a:pt x="67754" y="192807"/>
                  <a:pt x="63364" y="188044"/>
                </a:cubicBezTo>
                <a:cubicBezTo>
                  <a:pt x="44686" y="167767"/>
                  <a:pt x="-37" y="114560"/>
                  <a:pt x="-37" y="70172"/>
                </a:cubicBezTo>
                <a:close/>
                <a:moveTo>
                  <a:pt x="71438" y="95250"/>
                </a:moveTo>
                <a:cubicBezTo>
                  <a:pt x="84580" y="95250"/>
                  <a:pt x="95250" y="84580"/>
                  <a:pt x="95250" y="71438"/>
                </a:cubicBezTo>
                <a:cubicBezTo>
                  <a:pt x="95250" y="58295"/>
                  <a:pt x="84580" y="47625"/>
                  <a:pt x="71438" y="47625"/>
                </a:cubicBezTo>
                <a:cubicBezTo>
                  <a:pt x="58295" y="47625"/>
                  <a:pt x="47625" y="58295"/>
                  <a:pt x="47625" y="71438"/>
                </a:cubicBezTo>
                <a:cubicBezTo>
                  <a:pt x="47625" y="84580"/>
                  <a:pt x="58295" y="95250"/>
                  <a:pt x="71438" y="95250"/>
                </a:cubicBezTo>
                <a:close/>
              </a:path>
            </a:pathLst>
          </a:custGeom>
          <a:solidFill>
            <a:srgbClr val="38BDF8"/>
          </a:solidFill>
          <a:ln/>
        </p:spPr>
        <p:txBody>
          <a:bodyPr/>
          <a:lstStyle/>
          <a:p>
            <a:endParaRPr lang="en-GB"/>
          </a:p>
        </p:txBody>
      </p:sp>
      <p:sp>
        <p:nvSpPr>
          <p:cNvPr id="37" name="Text 35"/>
          <p:cNvSpPr/>
          <p:nvPr/>
        </p:nvSpPr>
        <p:spPr>
          <a:xfrm>
            <a:off x="6753225" y="4286250"/>
            <a:ext cx="200977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Toulouse, France</a:t>
            </a:r>
            <a:endParaRPr lang="en-US" sz="1600" dirty="0"/>
          </a:p>
        </p:txBody>
      </p:sp>
      <p:sp>
        <p:nvSpPr>
          <p:cNvPr id="38" name="Text 36"/>
          <p:cNvSpPr/>
          <p:nvPr/>
        </p:nvSpPr>
        <p:spPr>
          <a:xfrm>
            <a:off x="6753225" y="4514850"/>
            <a:ext cx="200977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Primary HQ &amp; Final Assembly</a:t>
            </a:r>
            <a:endParaRPr lang="en-US" sz="1600" dirty="0"/>
          </a:p>
        </p:txBody>
      </p:sp>
      <p:sp>
        <p:nvSpPr>
          <p:cNvPr id="39" name="Shape 37"/>
          <p:cNvSpPr/>
          <p:nvPr/>
        </p:nvSpPr>
        <p:spPr>
          <a:xfrm>
            <a:off x="6424613" y="4991100"/>
            <a:ext cx="190500" cy="190500"/>
          </a:xfrm>
          <a:custGeom>
            <a:avLst/>
            <a:gdLst/>
            <a:ahLst/>
            <a:cxnLst/>
            <a:rect l="l" t="t" r="r" b="b"/>
            <a:pathLst>
              <a:path w="190500" h="190500">
                <a:moveTo>
                  <a:pt x="11906" y="11906"/>
                </a:moveTo>
                <a:cubicBezTo>
                  <a:pt x="5321" y="11906"/>
                  <a:pt x="0" y="17227"/>
                  <a:pt x="0" y="23812"/>
                </a:cubicBezTo>
                <a:lnTo>
                  <a:pt x="0" y="160734"/>
                </a:lnTo>
                <a:cubicBezTo>
                  <a:pt x="0" y="170594"/>
                  <a:pt x="8000" y="178594"/>
                  <a:pt x="17859" y="178594"/>
                </a:cubicBezTo>
                <a:lnTo>
                  <a:pt x="172641" y="178594"/>
                </a:lnTo>
                <a:cubicBezTo>
                  <a:pt x="182500" y="178594"/>
                  <a:pt x="190500" y="170594"/>
                  <a:pt x="190500" y="160734"/>
                </a:cubicBezTo>
                <a:lnTo>
                  <a:pt x="190500" y="56629"/>
                </a:lnTo>
                <a:cubicBezTo>
                  <a:pt x="190500" y="49857"/>
                  <a:pt x="183282" y="45579"/>
                  <a:pt x="177329" y="48778"/>
                </a:cubicBezTo>
                <a:lnTo>
                  <a:pt x="119063" y="80144"/>
                </a:lnTo>
                <a:lnTo>
                  <a:pt x="119063" y="56629"/>
                </a:lnTo>
                <a:cubicBezTo>
                  <a:pt x="119063" y="49857"/>
                  <a:pt x="111844" y="45579"/>
                  <a:pt x="105891" y="48778"/>
                </a:cubicBezTo>
                <a:lnTo>
                  <a:pt x="47625" y="80144"/>
                </a:lnTo>
                <a:lnTo>
                  <a:pt x="47625" y="23812"/>
                </a:lnTo>
                <a:cubicBezTo>
                  <a:pt x="47625" y="17227"/>
                  <a:pt x="42304" y="11906"/>
                  <a:pt x="35719" y="11906"/>
                </a:cubicBezTo>
                <a:lnTo>
                  <a:pt x="11906" y="11906"/>
                </a:lnTo>
                <a:close/>
              </a:path>
            </a:pathLst>
          </a:custGeom>
          <a:solidFill>
            <a:srgbClr val="F59E0B"/>
          </a:solidFill>
          <a:ln/>
        </p:spPr>
        <p:txBody>
          <a:bodyPr/>
          <a:lstStyle/>
          <a:p>
            <a:endParaRPr lang="en-GB"/>
          </a:p>
        </p:txBody>
      </p:sp>
      <p:sp>
        <p:nvSpPr>
          <p:cNvPr id="40" name="Text 38"/>
          <p:cNvSpPr/>
          <p:nvPr/>
        </p:nvSpPr>
        <p:spPr>
          <a:xfrm>
            <a:off x="6753225" y="4857750"/>
            <a:ext cx="16002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Hamburg, Germany</a:t>
            </a:r>
            <a:endParaRPr lang="en-US" sz="1600" dirty="0"/>
          </a:p>
        </p:txBody>
      </p:sp>
      <p:sp>
        <p:nvSpPr>
          <p:cNvPr id="41" name="Text 39"/>
          <p:cNvSpPr/>
          <p:nvPr/>
        </p:nvSpPr>
        <p:spPr>
          <a:xfrm>
            <a:off x="6753225" y="5086350"/>
            <a:ext cx="160020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Major A320 Family FAL</a:t>
            </a:r>
            <a:endParaRPr lang="en-US" sz="1600" dirty="0"/>
          </a:p>
        </p:txBody>
      </p:sp>
      <p:sp>
        <p:nvSpPr>
          <p:cNvPr id="42" name="Shape 40"/>
          <p:cNvSpPr/>
          <p:nvPr/>
        </p:nvSpPr>
        <p:spPr>
          <a:xfrm>
            <a:off x="6436519" y="5562600"/>
            <a:ext cx="166688" cy="190500"/>
          </a:xfrm>
          <a:custGeom>
            <a:avLst/>
            <a:gdLst/>
            <a:ahLst/>
            <a:cxnLst/>
            <a:rect l="l" t="t" r="r" b="b"/>
            <a:pathLst>
              <a:path w="166688" h="190500">
                <a:moveTo>
                  <a:pt x="11906" y="0"/>
                </a:moveTo>
                <a:cubicBezTo>
                  <a:pt x="18492" y="0"/>
                  <a:pt x="23812" y="5321"/>
                  <a:pt x="23812" y="11906"/>
                </a:cubicBezTo>
                <a:lnTo>
                  <a:pt x="23812" y="17859"/>
                </a:lnTo>
                <a:lnTo>
                  <a:pt x="49485" y="11460"/>
                </a:lnTo>
                <a:cubicBezTo>
                  <a:pt x="63661" y="7925"/>
                  <a:pt x="78618" y="9562"/>
                  <a:pt x="91715" y="16111"/>
                </a:cubicBezTo>
                <a:cubicBezTo>
                  <a:pt x="108942" y="24743"/>
                  <a:pt x="129220" y="24743"/>
                  <a:pt x="146447" y="16111"/>
                </a:cubicBezTo>
                <a:lnTo>
                  <a:pt x="150019" y="14325"/>
                </a:lnTo>
                <a:cubicBezTo>
                  <a:pt x="157683" y="10455"/>
                  <a:pt x="166688" y="16036"/>
                  <a:pt x="166688" y="24594"/>
                </a:cubicBezTo>
                <a:lnTo>
                  <a:pt x="166688" y="38026"/>
                </a:lnTo>
                <a:lnTo>
                  <a:pt x="150056" y="44053"/>
                </a:lnTo>
                <a:cubicBezTo>
                  <a:pt x="134131" y="49857"/>
                  <a:pt x="116570" y="49225"/>
                  <a:pt x="101092" y="42342"/>
                </a:cubicBezTo>
                <a:lnTo>
                  <a:pt x="95101" y="39663"/>
                </a:lnTo>
                <a:cubicBezTo>
                  <a:pt x="87548" y="36314"/>
                  <a:pt x="79549" y="34193"/>
                  <a:pt x="71438" y="33375"/>
                </a:cubicBezTo>
                <a:lnTo>
                  <a:pt x="71438" y="45355"/>
                </a:lnTo>
                <a:cubicBezTo>
                  <a:pt x="77912" y="46137"/>
                  <a:pt x="84237" y="47848"/>
                  <a:pt x="90264" y="50527"/>
                </a:cubicBezTo>
                <a:lnTo>
                  <a:pt x="96255" y="53206"/>
                </a:lnTo>
                <a:cubicBezTo>
                  <a:pt x="114560" y="61354"/>
                  <a:pt x="135322" y="62061"/>
                  <a:pt x="154149" y="55215"/>
                </a:cubicBezTo>
                <a:lnTo>
                  <a:pt x="166688" y="50639"/>
                </a:lnTo>
                <a:lnTo>
                  <a:pt x="166688" y="73707"/>
                </a:lnTo>
                <a:lnTo>
                  <a:pt x="150056" y="79735"/>
                </a:lnTo>
                <a:cubicBezTo>
                  <a:pt x="134131" y="85539"/>
                  <a:pt x="116570" y="84906"/>
                  <a:pt x="101092" y="78023"/>
                </a:cubicBezTo>
                <a:lnTo>
                  <a:pt x="95101" y="75344"/>
                </a:lnTo>
                <a:cubicBezTo>
                  <a:pt x="80144" y="68684"/>
                  <a:pt x="63475" y="66973"/>
                  <a:pt x="47439" y="70396"/>
                </a:cubicBezTo>
                <a:lnTo>
                  <a:pt x="23813" y="75456"/>
                </a:lnTo>
                <a:lnTo>
                  <a:pt x="23813" y="87623"/>
                </a:lnTo>
                <a:lnTo>
                  <a:pt x="49932" y="82004"/>
                </a:lnTo>
                <a:cubicBezTo>
                  <a:pt x="63475" y="79102"/>
                  <a:pt x="77577" y="80553"/>
                  <a:pt x="90264" y="86209"/>
                </a:cubicBezTo>
                <a:lnTo>
                  <a:pt x="96255" y="88888"/>
                </a:lnTo>
                <a:cubicBezTo>
                  <a:pt x="114560" y="97036"/>
                  <a:pt x="135322" y="97743"/>
                  <a:pt x="154149" y="90897"/>
                </a:cubicBezTo>
                <a:lnTo>
                  <a:pt x="166688" y="86320"/>
                </a:lnTo>
                <a:lnTo>
                  <a:pt x="166688" y="109351"/>
                </a:lnTo>
                <a:lnTo>
                  <a:pt x="150056" y="115379"/>
                </a:lnTo>
                <a:cubicBezTo>
                  <a:pt x="134131" y="121183"/>
                  <a:pt x="116570" y="120551"/>
                  <a:pt x="101092" y="113667"/>
                </a:cubicBezTo>
                <a:lnTo>
                  <a:pt x="95101" y="110989"/>
                </a:lnTo>
                <a:cubicBezTo>
                  <a:pt x="80144" y="104329"/>
                  <a:pt x="63475" y="102617"/>
                  <a:pt x="47439" y="106040"/>
                </a:cubicBezTo>
                <a:lnTo>
                  <a:pt x="23813" y="111100"/>
                </a:lnTo>
                <a:lnTo>
                  <a:pt x="23813" y="123267"/>
                </a:lnTo>
                <a:lnTo>
                  <a:pt x="49932" y="117649"/>
                </a:lnTo>
                <a:cubicBezTo>
                  <a:pt x="63475" y="114746"/>
                  <a:pt x="77577" y="116198"/>
                  <a:pt x="90264" y="121853"/>
                </a:cubicBezTo>
                <a:lnTo>
                  <a:pt x="96255" y="124532"/>
                </a:lnTo>
                <a:cubicBezTo>
                  <a:pt x="114560" y="132680"/>
                  <a:pt x="135322" y="133387"/>
                  <a:pt x="154149" y="126541"/>
                </a:cubicBezTo>
                <a:lnTo>
                  <a:pt x="166688" y="121965"/>
                </a:lnTo>
                <a:lnTo>
                  <a:pt x="166688" y="134429"/>
                </a:lnTo>
                <a:cubicBezTo>
                  <a:pt x="166688" y="139378"/>
                  <a:pt x="163599" y="143842"/>
                  <a:pt x="158948" y="145591"/>
                </a:cubicBezTo>
                <a:lnTo>
                  <a:pt x="146038" y="150428"/>
                </a:lnTo>
                <a:cubicBezTo>
                  <a:pt x="128848" y="156865"/>
                  <a:pt x="109724" y="155860"/>
                  <a:pt x="93315" y="147675"/>
                </a:cubicBezTo>
                <a:cubicBezTo>
                  <a:pt x="79214" y="140605"/>
                  <a:pt x="63029" y="138857"/>
                  <a:pt x="47737" y="142689"/>
                </a:cubicBezTo>
                <a:lnTo>
                  <a:pt x="23812" y="148828"/>
                </a:lnTo>
                <a:lnTo>
                  <a:pt x="23812" y="178594"/>
                </a:lnTo>
                <a:cubicBezTo>
                  <a:pt x="23812" y="185179"/>
                  <a:pt x="18492" y="190500"/>
                  <a:pt x="11906" y="190500"/>
                </a:cubicBezTo>
                <a:cubicBezTo>
                  <a:pt x="5321" y="190500"/>
                  <a:pt x="0" y="185179"/>
                  <a:pt x="0" y="178594"/>
                </a:cubicBezTo>
                <a:lnTo>
                  <a:pt x="0" y="11906"/>
                </a:lnTo>
                <a:cubicBezTo>
                  <a:pt x="0" y="5321"/>
                  <a:pt x="5321" y="0"/>
                  <a:pt x="11906" y="0"/>
                </a:cubicBezTo>
                <a:close/>
                <a:moveTo>
                  <a:pt x="41672" y="35719"/>
                </a:moveTo>
                <a:cubicBezTo>
                  <a:pt x="41672" y="32433"/>
                  <a:pt x="39004" y="29766"/>
                  <a:pt x="35719" y="29766"/>
                </a:cubicBezTo>
                <a:cubicBezTo>
                  <a:pt x="32433" y="29766"/>
                  <a:pt x="29766" y="32433"/>
                  <a:pt x="29766" y="35719"/>
                </a:cubicBezTo>
                <a:cubicBezTo>
                  <a:pt x="29766" y="39004"/>
                  <a:pt x="32433" y="41672"/>
                  <a:pt x="35719" y="41672"/>
                </a:cubicBezTo>
                <a:cubicBezTo>
                  <a:pt x="39004" y="41672"/>
                  <a:pt x="41672" y="39004"/>
                  <a:pt x="41672" y="35719"/>
                </a:cubicBezTo>
                <a:close/>
                <a:moveTo>
                  <a:pt x="53578" y="35719"/>
                </a:moveTo>
                <a:cubicBezTo>
                  <a:pt x="56864" y="35719"/>
                  <a:pt x="59531" y="33051"/>
                  <a:pt x="59531" y="29766"/>
                </a:cubicBezTo>
                <a:cubicBezTo>
                  <a:pt x="59531" y="26480"/>
                  <a:pt x="56864" y="23812"/>
                  <a:pt x="53578" y="23812"/>
                </a:cubicBezTo>
                <a:cubicBezTo>
                  <a:pt x="50293" y="23812"/>
                  <a:pt x="47625" y="26480"/>
                  <a:pt x="47625" y="29766"/>
                </a:cubicBezTo>
                <a:cubicBezTo>
                  <a:pt x="47625" y="33051"/>
                  <a:pt x="50293" y="35719"/>
                  <a:pt x="53578" y="35719"/>
                </a:cubicBezTo>
                <a:close/>
                <a:moveTo>
                  <a:pt x="41672" y="53578"/>
                </a:moveTo>
                <a:cubicBezTo>
                  <a:pt x="41672" y="50293"/>
                  <a:pt x="39004" y="47625"/>
                  <a:pt x="35719" y="47625"/>
                </a:cubicBezTo>
                <a:cubicBezTo>
                  <a:pt x="32433" y="47625"/>
                  <a:pt x="29766" y="50293"/>
                  <a:pt x="29766" y="53578"/>
                </a:cubicBezTo>
                <a:cubicBezTo>
                  <a:pt x="29766" y="56864"/>
                  <a:pt x="32433" y="59531"/>
                  <a:pt x="35719" y="59531"/>
                </a:cubicBezTo>
                <a:cubicBezTo>
                  <a:pt x="39004" y="59531"/>
                  <a:pt x="41672" y="56864"/>
                  <a:pt x="41672" y="53578"/>
                </a:cubicBezTo>
                <a:close/>
                <a:moveTo>
                  <a:pt x="53578" y="53578"/>
                </a:moveTo>
                <a:cubicBezTo>
                  <a:pt x="56864" y="53578"/>
                  <a:pt x="59531" y="50911"/>
                  <a:pt x="59531" y="47625"/>
                </a:cubicBezTo>
                <a:cubicBezTo>
                  <a:pt x="59531" y="44339"/>
                  <a:pt x="56864" y="41672"/>
                  <a:pt x="53578" y="41672"/>
                </a:cubicBezTo>
                <a:cubicBezTo>
                  <a:pt x="50293" y="41672"/>
                  <a:pt x="47625" y="44339"/>
                  <a:pt x="47625" y="47625"/>
                </a:cubicBezTo>
                <a:cubicBezTo>
                  <a:pt x="47625" y="50911"/>
                  <a:pt x="50293" y="53578"/>
                  <a:pt x="53578" y="53578"/>
                </a:cubicBezTo>
                <a:close/>
              </a:path>
            </a:pathLst>
          </a:custGeom>
          <a:solidFill>
            <a:srgbClr val="38BDF8"/>
          </a:solidFill>
          <a:ln/>
        </p:spPr>
        <p:txBody>
          <a:bodyPr/>
          <a:lstStyle/>
          <a:p>
            <a:endParaRPr lang="en-GB"/>
          </a:p>
        </p:txBody>
      </p:sp>
      <p:sp>
        <p:nvSpPr>
          <p:cNvPr id="43" name="Text 41"/>
          <p:cNvSpPr/>
          <p:nvPr/>
        </p:nvSpPr>
        <p:spPr>
          <a:xfrm>
            <a:off x="6753225" y="5429250"/>
            <a:ext cx="15621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Mobile, Alabama</a:t>
            </a:r>
            <a:endParaRPr lang="en-US" sz="1600" dirty="0"/>
          </a:p>
        </p:txBody>
      </p:sp>
      <p:sp>
        <p:nvSpPr>
          <p:cNvPr id="44" name="Text 42"/>
          <p:cNvSpPr/>
          <p:nvPr/>
        </p:nvSpPr>
        <p:spPr>
          <a:xfrm>
            <a:off x="6753225" y="5657850"/>
            <a:ext cx="156210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US Manufacturing Hub</a:t>
            </a:r>
            <a:endParaRPr lang="en-US" sz="1600" dirty="0"/>
          </a:p>
        </p:txBody>
      </p:sp>
      <p:sp>
        <p:nvSpPr>
          <p:cNvPr id="45" name="Shape 43"/>
          <p:cNvSpPr/>
          <p:nvPr/>
        </p:nvSpPr>
        <p:spPr>
          <a:xfrm>
            <a:off x="6436519" y="6134100"/>
            <a:ext cx="166688" cy="190500"/>
          </a:xfrm>
          <a:custGeom>
            <a:avLst/>
            <a:gdLst/>
            <a:ahLst/>
            <a:cxnLst/>
            <a:rect l="l" t="t" r="r" b="b"/>
            <a:pathLst>
              <a:path w="166688" h="190500">
                <a:moveTo>
                  <a:pt x="23812" y="11906"/>
                </a:moveTo>
                <a:cubicBezTo>
                  <a:pt x="23812" y="5321"/>
                  <a:pt x="18492" y="0"/>
                  <a:pt x="11906" y="0"/>
                </a:cubicBezTo>
                <a:cubicBezTo>
                  <a:pt x="5321" y="0"/>
                  <a:pt x="0" y="5321"/>
                  <a:pt x="0" y="11906"/>
                </a:cubicBezTo>
                <a:lnTo>
                  <a:pt x="0" y="178594"/>
                </a:lnTo>
                <a:cubicBezTo>
                  <a:pt x="0" y="185179"/>
                  <a:pt x="5321" y="190500"/>
                  <a:pt x="11906" y="190500"/>
                </a:cubicBezTo>
                <a:cubicBezTo>
                  <a:pt x="18492" y="190500"/>
                  <a:pt x="23812" y="185179"/>
                  <a:pt x="23812" y="178594"/>
                </a:cubicBezTo>
                <a:lnTo>
                  <a:pt x="23812" y="133350"/>
                </a:lnTo>
                <a:lnTo>
                  <a:pt x="47141" y="126355"/>
                </a:lnTo>
                <a:cubicBezTo>
                  <a:pt x="62731" y="121667"/>
                  <a:pt x="79549" y="123118"/>
                  <a:pt x="94097" y="130411"/>
                </a:cubicBezTo>
                <a:cubicBezTo>
                  <a:pt x="109984" y="138373"/>
                  <a:pt x="128513" y="139340"/>
                  <a:pt x="145145" y="133090"/>
                </a:cubicBezTo>
                <a:lnTo>
                  <a:pt x="158948" y="127918"/>
                </a:lnTo>
                <a:cubicBezTo>
                  <a:pt x="163599" y="126169"/>
                  <a:pt x="166688" y="121741"/>
                  <a:pt x="166688" y="116756"/>
                </a:cubicBezTo>
                <a:lnTo>
                  <a:pt x="166688" y="24594"/>
                </a:lnTo>
                <a:cubicBezTo>
                  <a:pt x="166688" y="16036"/>
                  <a:pt x="157683" y="10455"/>
                  <a:pt x="150019" y="14287"/>
                </a:cubicBezTo>
                <a:lnTo>
                  <a:pt x="145628" y="16483"/>
                </a:lnTo>
                <a:cubicBezTo>
                  <a:pt x="128922" y="24854"/>
                  <a:pt x="109240" y="24854"/>
                  <a:pt x="92497" y="16483"/>
                </a:cubicBezTo>
                <a:cubicBezTo>
                  <a:pt x="78953" y="9711"/>
                  <a:pt x="63364" y="8372"/>
                  <a:pt x="48890" y="12725"/>
                </a:cubicBezTo>
                <a:lnTo>
                  <a:pt x="23812" y="20241"/>
                </a:lnTo>
                <a:lnTo>
                  <a:pt x="23812" y="11906"/>
                </a:lnTo>
                <a:close/>
              </a:path>
            </a:pathLst>
          </a:custGeom>
          <a:solidFill>
            <a:srgbClr val="F59E0B"/>
          </a:solidFill>
          <a:ln/>
        </p:spPr>
        <p:txBody>
          <a:bodyPr/>
          <a:lstStyle/>
          <a:p>
            <a:endParaRPr lang="en-GB"/>
          </a:p>
        </p:txBody>
      </p:sp>
      <p:sp>
        <p:nvSpPr>
          <p:cNvPr id="46" name="Text 44"/>
          <p:cNvSpPr/>
          <p:nvPr/>
        </p:nvSpPr>
        <p:spPr>
          <a:xfrm>
            <a:off x="6753225" y="6000750"/>
            <a:ext cx="166687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Tianjin, China</a:t>
            </a:r>
            <a:endParaRPr lang="en-US" sz="1600" dirty="0"/>
          </a:p>
        </p:txBody>
      </p:sp>
      <p:sp>
        <p:nvSpPr>
          <p:cNvPr id="47" name="Text 45"/>
          <p:cNvSpPr/>
          <p:nvPr/>
        </p:nvSpPr>
        <p:spPr>
          <a:xfrm>
            <a:off x="6753225" y="6229350"/>
            <a:ext cx="166687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Asian Production Center</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29291" y="329291"/>
            <a:ext cx="11599276" cy="197575"/>
          </a:xfrm>
          <a:prstGeom prst="rect">
            <a:avLst/>
          </a:prstGeom>
          <a:noFill/>
          <a:ln/>
        </p:spPr>
        <p:txBody>
          <a:bodyPr wrap="square" lIns="0" tIns="0" rIns="0" bIns="0" rtlCol="0" anchor="ctr"/>
          <a:lstStyle/>
          <a:p>
            <a:pPr>
              <a:lnSpc>
                <a:spcPct val="130000"/>
              </a:lnSpc>
            </a:pPr>
            <a:r>
              <a:rPr lang="en-US" sz="1037" b="1" kern="0" spc="52" dirty="0">
                <a:solidFill>
                  <a:srgbClr val="38BDF8"/>
                </a:solidFill>
                <a:latin typeface="Quattrocento Sans" pitchFamily="34" charset="0"/>
                <a:ea typeface="Quattrocento Sans" pitchFamily="34" charset="-122"/>
                <a:cs typeface="Quattrocento Sans" pitchFamily="34" charset="-120"/>
              </a:rPr>
              <a:t>FINANCIAL HIGHLIGHTS</a:t>
            </a:r>
            <a:endParaRPr lang="en-US" sz="1600" dirty="0"/>
          </a:p>
        </p:txBody>
      </p:sp>
      <p:sp>
        <p:nvSpPr>
          <p:cNvPr id="3" name="Text 1"/>
          <p:cNvSpPr/>
          <p:nvPr/>
        </p:nvSpPr>
        <p:spPr>
          <a:xfrm>
            <a:off x="329291" y="592724"/>
            <a:ext cx="11681599" cy="329291"/>
          </a:xfrm>
          <a:prstGeom prst="rect">
            <a:avLst/>
          </a:prstGeom>
          <a:noFill/>
          <a:ln/>
        </p:spPr>
        <p:txBody>
          <a:bodyPr wrap="square" lIns="0" tIns="0" rIns="0" bIns="0" rtlCol="0" anchor="ctr"/>
          <a:lstStyle/>
          <a:p>
            <a:pPr>
              <a:lnSpc>
                <a:spcPct val="90000"/>
              </a:lnSpc>
            </a:pPr>
            <a:r>
              <a:rPr lang="en-US" sz="2334" b="1" dirty="0">
                <a:solidFill>
                  <a:srgbClr val="FFFFFF"/>
                </a:solidFill>
                <a:latin typeface="Liter" pitchFamily="34" charset="0"/>
                <a:ea typeface="Liter" pitchFamily="34" charset="-122"/>
                <a:cs typeface="Liter" pitchFamily="34" charset="-120"/>
              </a:rPr>
              <a:t>Strong Growth Trajectory</a:t>
            </a:r>
            <a:endParaRPr lang="en-US" sz="1600" dirty="0"/>
          </a:p>
        </p:txBody>
      </p:sp>
      <p:sp>
        <p:nvSpPr>
          <p:cNvPr id="4" name="Text 2"/>
          <p:cNvSpPr/>
          <p:nvPr/>
        </p:nvSpPr>
        <p:spPr>
          <a:xfrm>
            <a:off x="329291" y="987873"/>
            <a:ext cx="11599276"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Nine-Month 2025 Results Demonstrate Operational Resilience</a:t>
            </a:r>
            <a:endParaRPr lang="en-US" sz="1600" dirty="0"/>
          </a:p>
        </p:txBody>
      </p:sp>
      <p:sp>
        <p:nvSpPr>
          <p:cNvPr id="5" name="Shape 3"/>
          <p:cNvSpPr/>
          <p:nvPr/>
        </p:nvSpPr>
        <p:spPr>
          <a:xfrm>
            <a:off x="333407" y="1387138"/>
            <a:ext cx="2444986" cy="1160751"/>
          </a:xfrm>
          <a:custGeom>
            <a:avLst/>
            <a:gdLst/>
            <a:ahLst/>
            <a:cxnLst/>
            <a:rect l="l" t="t" r="r" b="b"/>
            <a:pathLst>
              <a:path w="2444986" h="1160751">
                <a:moveTo>
                  <a:pt x="98792" y="0"/>
                </a:moveTo>
                <a:lnTo>
                  <a:pt x="2346194" y="0"/>
                </a:lnTo>
                <a:cubicBezTo>
                  <a:pt x="2400755" y="0"/>
                  <a:pt x="2444986" y="44230"/>
                  <a:pt x="2444986" y="98792"/>
                </a:cubicBezTo>
                <a:lnTo>
                  <a:pt x="2444986" y="1061959"/>
                </a:lnTo>
                <a:cubicBezTo>
                  <a:pt x="2444986" y="1116520"/>
                  <a:pt x="2400755" y="1160751"/>
                  <a:pt x="2346194" y="1160751"/>
                </a:cubicBezTo>
                <a:lnTo>
                  <a:pt x="98792" y="1160751"/>
                </a:lnTo>
                <a:cubicBezTo>
                  <a:pt x="44230" y="1160751"/>
                  <a:pt x="0" y="1116520"/>
                  <a:pt x="0" y="1061959"/>
                </a:cubicBezTo>
                <a:lnTo>
                  <a:pt x="0" y="98792"/>
                </a:lnTo>
                <a:cubicBezTo>
                  <a:pt x="0" y="44267"/>
                  <a:pt x="44267" y="0"/>
                  <a:pt x="98792"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6" name="Text 4"/>
          <p:cNvSpPr/>
          <p:nvPr/>
        </p:nvSpPr>
        <p:spPr>
          <a:xfrm>
            <a:off x="502169" y="1555900"/>
            <a:ext cx="559795"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Revenue</a:t>
            </a:r>
            <a:endParaRPr lang="en-US" sz="1600" dirty="0"/>
          </a:p>
        </p:txBody>
      </p:sp>
      <p:sp>
        <p:nvSpPr>
          <p:cNvPr id="7" name="Shape 5"/>
          <p:cNvSpPr/>
          <p:nvPr/>
        </p:nvSpPr>
        <p:spPr>
          <a:xfrm>
            <a:off x="2434438" y="1572365"/>
            <a:ext cx="144065" cy="164646"/>
          </a:xfrm>
          <a:custGeom>
            <a:avLst/>
            <a:gdLst/>
            <a:ahLst/>
            <a:cxnLst/>
            <a:rect l="l" t="t" r="r" b="b"/>
            <a:pathLst>
              <a:path w="144065" h="164646">
                <a:moveTo>
                  <a:pt x="23571" y="61742"/>
                </a:moveTo>
                <a:cubicBezTo>
                  <a:pt x="32415" y="31997"/>
                  <a:pt x="59973" y="10290"/>
                  <a:pt x="92613" y="10290"/>
                </a:cubicBezTo>
                <a:lnTo>
                  <a:pt x="113194" y="10290"/>
                </a:lnTo>
                <a:cubicBezTo>
                  <a:pt x="118886" y="10290"/>
                  <a:pt x="123484" y="14889"/>
                  <a:pt x="123484" y="20581"/>
                </a:cubicBezTo>
                <a:cubicBezTo>
                  <a:pt x="123484" y="26273"/>
                  <a:pt x="118886" y="30871"/>
                  <a:pt x="113194" y="30871"/>
                </a:cubicBezTo>
                <a:lnTo>
                  <a:pt x="92613" y="30871"/>
                </a:lnTo>
                <a:cubicBezTo>
                  <a:pt x="71518" y="30871"/>
                  <a:pt x="53381" y="43573"/>
                  <a:pt x="45438" y="61742"/>
                </a:cubicBezTo>
                <a:lnTo>
                  <a:pt x="87468" y="61742"/>
                </a:lnTo>
                <a:cubicBezTo>
                  <a:pt x="91745" y="61742"/>
                  <a:pt x="95186" y="65183"/>
                  <a:pt x="95186" y="69460"/>
                </a:cubicBezTo>
                <a:cubicBezTo>
                  <a:pt x="95186" y="73737"/>
                  <a:pt x="91745" y="77178"/>
                  <a:pt x="87468" y="77178"/>
                </a:cubicBezTo>
                <a:lnTo>
                  <a:pt x="41419" y="77178"/>
                </a:lnTo>
                <a:cubicBezTo>
                  <a:pt x="41258" y="78882"/>
                  <a:pt x="41161" y="80586"/>
                  <a:pt x="41161" y="82323"/>
                </a:cubicBezTo>
                <a:cubicBezTo>
                  <a:pt x="41161" y="84059"/>
                  <a:pt x="41258" y="85764"/>
                  <a:pt x="41419" y="87468"/>
                </a:cubicBezTo>
                <a:lnTo>
                  <a:pt x="87468" y="87468"/>
                </a:lnTo>
                <a:cubicBezTo>
                  <a:pt x="91745" y="87468"/>
                  <a:pt x="95186" y="90909"/>
                  <a:pt x="95186" y="95186"/>
                </a:cubicBezTo>
                <a:cubicBezTo>
                  <a:pt x="95186" y="99463"/>
                  <a:pt x="91745" y="102903"/>
                  <a:pt x="87468" y="102903"/>
                </a:cubicBezTo>
                <a:lnTo>
                  <a:pt x="45438" y="102903"/>
                </a:lnTo>
                <a:cubicBezTo>
                  <a:pt x="53381" y="121072"/>
                  <a:pt x="71518" y="133774"/>
                  <a:pt x="92613" y="133774"/>
                </a:cubicBezTo>
                <a:lnTo>
                  <a:pt x="113194" y="133774"/>
                </a:lnTo>
                <a:cubicBezTo>
                  <a:pt x="118886" y="133774"/>
                  <a:pt x="123484" y="138373"/>
                  <a:pt x="123484" y="144065"/>
                </a:cubicBezTo>
                <a:cubicBezTo>
                  <a:pt x="123484" y="149757"/>
                  <a:pt x="118886" y="154355"/>
                  <a:pt x="113194" y="154355"/>
                </a:cubicBezTo>
                <a:lnTo>
                  <a:pt x="92613" y="154355"/>
                </a:lnTo>
                <a:cubicBezTo>
                  <a:pt x="59973" y="154355"/>
                  <a:pt x="32415" y="132649"/>
                  <a:pt x="23571" y="102903"/>
                </a:cubicBezTo>
                <a:lnTo>
                  <a:pt x="12863" y="102903"/>
                </a:lnTo>
                <a:cubicBezTo>
                  <a:pt x="8586" y="102903"/>
                  <a:pt x="5145" y="99463"/>
                  <a:pt x="5145" y="95186"/>
                </a:cubicBezTo>
                <a:cubicBezTo>
                  <a:pt x="5145" y="90909"/>
                  <a:pt x="8586" y="87468"/>
                  <a:pt x="12863" y="87468"/>
                </a:cubicBezTo>
                <a:lnTo>
                  <a:pt x="20774" y="87468"/>
                </a:lnTo>
                <a:cubicBezTo>
                  <a:pt x="20549" y="84091"/>
                  <a:pt x="20549" y="80554"/>
                  <a:pt x="20774" y="77178"/>
                </a:cubicBezTo>
                <a:lnTo>
                  <a:pt x="12863" y="77178"/>
                </a:lnTo>
                <a:cubicBezTo>
                  <a:pt x="8586" y="77178"/>
                  <a:pt x="5145" y="73737"/>
                  <a:pt x="5145" y="69460"/>
                </a:cubicBezTo>
                <a:cubicBezTo>
                  <a:pt x="5145" y="65183"/>
                  <a:pt x="8586" y="61742"/>
                  <a:pt x="12863" y="61742"/>
                </a:cubicBezTo>
                <a:lnTo>
                  <a:pt x="23571" y="61742"/>
                </a:lnTo>
                <a:close/>
              </a:path>
            </a:pathLst>
          </a:custGeom>
          <a:solidFill>
            <a:srgbClr val="38BDF8"/>
          </a:solidFill>
          <a:ln/>
        </p:spPr>
        <p:txBody>
          <a:bodyPr/>
          <a:lstStyle/>
          <a:p>
            <a:endParaRPr lang="en-GB"/>
          </a:p>
        </p:txBody>
      </p:sp>
      <p:sp>
        <p:nvSpPr>
          <p:cNvPr id="8" name="Text 6"/>
          <p:cNvSpPr/>
          <p:nvPr/>
        </p:nvSpPr>
        <p:spPr>
          <a:xfrm>
            <a:off x="502169" y="1819333"/>
            <a:ext cx="2255643" cy="329291"/>
          </a:xfrm>
          <a:prstGeom prst="rect">
            <a:avLst/>
          </a:prstGeom>
          <a:noFill/>
          <a:ln/>
        </p:spPr>
        <p:txBody>
          <a:bodyPr wrap="square" lIns="0" tIns="0" rIns="0" bIns="0" rtlCol="0" anchor="ctr"/>
          <a:lstStyle/>
          <a:p>
            <a:pPr>
              <a:lnSpc>
                <a:spcPct val="90000"/>
              </a:lnSpc>
            </a:pPr>
            <a:r>
              <a:rPr lang="en-US" sz="2334" b="1" dirty="0">
                <a:solidFill>
                  <a:srgbClr val="FFFFFF"/>
                </a:solidFill>
                <a:latin typeface="Liter" pitchFamily="34" charset="0"/>
                <a:ea typeface="Liter" pitchFamily="34" charset="-122"/>
                <a:cs typeface="Liter" pitchFamily="34" charset="-120"/>
              </a:rPr>
              <a:t>€47.4B</a:t>
            </a:r>
            <a:endParaRPr lang="en-US" sz="1600" dirty="0"/>
          </a:p>
        </p:txBody>
      </p:sp>
      <p:sp>
        <p:nvSpPr>
          <p:cNvPr id="9" name="Text 7"/>
          <p:cNvSpPr/>
          <p:nvPr/>
        </p:nvSpPr>
        <p:spPr>
          <a:xfrm>
            <a:off x="502169" y="2181553"/>
            <a:ext cx="296362" cy="197575"/>
          </a:xfrm>
          <a:prstGeom prst="rect">
            <a:avLst/>
          </a:prstGeom>
          <a:noFill/>
          <a:ln/>
        </p:spPr>
        <p:txBody>
          <a:bodyPr wrap="square" lIns="0" tIns="0" rIns="0" bIns="0" rtlCol="0" anchor="ctr"/>
          <a:lstStyle/>
          <a:p>
            <a:pPr>
              <a:lnSpc>
                <a:spcPct val="130000"/>
              </a:lnSpc>
            </a:pPr>
            <a:r>
              <a:rPr lang="en-US" sz="1037" b="1" dirty="0">
                <a:solidFill>
                  <a:srgbClr val="38BDF8"/>
                </a:solidFill>
                <a:latin typeface="Quattrocento Sans" pitchFamily="34" charset="0"/>
                <a:ea typeface="Quattrocento Sans" pitchFamily="34" charset="-122"/>
                <a:cs typeface="Quattrocento Sans" pitchFamily="34" charset="-120"/>
              </a:rPr>
              <a:t>+7%</a:t>
            </a:r>
            <a:endParaRPr lang="en-US" sz="1600" dirty="0"/>
          </a:p>
        </p:txBody>
      </p:sp>
      <p:sp>
        <p:nvSpPr>
          <p:cNvPr id="10" name="Text 8"/>
          <p:cNvSpPr/>
          <p:nvPr/>
        </p:nvSpPr>
        <p:spPr>
          <a:xfrm>
            <a:off x="801489" y="2181553"/>
            <a:ext cx="724440"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vs 9M 2024</a:t>
            </a:r>
            <a:endParaRPr lang="en-US" sz="1600" dirty="0"/>
          </a:p>
        </p:txBody>
      </p:sp>
      <p:sp>
        <p:nvSpPr>
          <p:cNvPr id="11" name="Shape 9"/>
          <p:cNvSpPr/>
          <p:nvPr/>
        </p:nvSpPr>
        <p:spPr>
          <a:xfrm>
            <a:off x="2918084" y="1387138"/>
            <a:ext cx="2444986" cy="1160751"/>
          </a:xfrm>
          <a:custGeom>
            <a:avLst/>
            <a:gdLst/>
            <a:ahLst/>
            <a:cxnLst/>
            <a:rect l="l" t="t" r="r" b="b"/>
            <a:pathLst>
              <a:path w="2444986" h="1160751">
                <a:moveTo>
                  <a:pt x="98792" y="0"/>
                </a:moveTo>
                <a:lnTo>
                  <a:pt x="2346194" y="0"/>
                </a:lnTo>
                <a:cubicBezTo>
                  <a:pt x="2400755" y="0"/>
                  <a:pt x="2444986" y="44230"/>
                  <a:pt x="2444986" y="98792"/>
                </a:cubicBezTo>
                <a:lnTo>
                  <a:pt x="2444986" y="1061959"/>
                </a:lnTo>
                <a:cubicBezTo>
                  <a:pt x="2444986" y="1116520"/>
                  <a:pt x="2400755" y="1160751"/>
                  <a:pt x="2346194" y="1160751"/>
                </a:cubicBezTo>
                <a:lnTo>
                  <a:pt x="98792" y="1160751"/>
                </a:lnTo>
                <a:cubicBezTo>
                  <a:pt x="44230" y="1160751"/>
                  <a:pt x="0" y="1116520"/>
                  <a:pt x="0" y="1061959"/>
                </a:cubicBezTo>
                <a:lnTo>
                  <a:pt x="0" y="98792"/>
                </a:lnTo>
                <a:cubicBezTo>
                  <a:pt x="0" y="44267"/>
                  <a:pt x="44267" y="0"/>
                  <a:pt x="98792"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12" name="Text 10"/>
          <p:cNvSpPr/>
          <p:nvPr/>
        </p:nvSpPr>
        <p:spPr>
          <a:xfrm>
            <a:off x="3086846" y="1555900"/>
            <a:ext cx="847924"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EBIT Adjusted</a:t>
            </a:r>
            <a:endParaRPr lang="en-US" sz="1600" dirty="0"/>
          </a:p>
        </p:txBody>
      </p:sp>
      <p:sp>
        <p:nvSpPr>
          <p:cNvPr id="13" name="Shape 11"/>
          <p:cNvSpPr/>
          <p:nvPr/>
        </p:nvSpPr>
        <p:spPr>
          <a:xfrm>
            <a:off x="5008825" y="1572365"/>
            <a:ext cx="164646" cy="164646"/>
          </a:xfrm>
          <a:custGeom>
            <a:avLst/>
            <a:gdLst/>
            <a:ahLst/>
            <a:cxnLst/>
            <a:rect l="l" t="t" r="r" b="b"/>
            <a:pathLst>
              <a:path w="164646" h="164646">
                <a:moveTo>
                  <a:pt x="20581" y="20581"/>
                </a:moveTo>
                <a:cubicBezTo>
                  <a:pt x="20581" y="14889"/>
                  <a:pt x="15982" y="10290"/>
                  <a:pt x="10290" y="10290"/>
                </a:cubicBezTo>
                <a:cubicBezTo>
                  <a:pt x="4598" y="10290"/>
                  <a:pt x="0" y="14889"/>
                  <a:pt x="0" y="20581"/>
                </a:cubicBezTo>
                <a:lnTo>
                  <a:pt x="0" y="128629"/>
                </a:lnTo>
                <a:cubicBezTo>
                  <a:pt x="0" y="142843"/>
                  <a:pt x="11512" y="154355"/>
                  <a:pt x="25726" y="154355"/>
                </a:cubicBezTo>
                <a:lnTo>
                  <a:pt x="154355" y="154355"/>
                </a:lnTo>
                <a:cubicBezTo>
                  <a:pt x="160047" y="154355"/>
                  <a:pt x="164646" y="149757"/>
                  <a:pt x="164646" y="144065"/>
                </a:cubicBezTo>
                <a:cubicBezTo>
                  <a:pt x="164646" y="138373"/>
                  <a:pt x="160047" y="133774"/>
                  <a:pt x="154355" y="133774"/>
                </a:cubicBezTo>
                <a:lnTo>
                  <a:pt x="25726" y="133774"/>
                </a:lnTo>
                <a:cubicBezTo>
                  <a:pt x="22896" y="133774"/>
                  <a:pt x="20581" y="131459"/>
                  <a:pt x="20581" y="128629"/>
                </a:cubicBezTo>
                <a:lnTo>
                  <a:pt x="20581" y="20581"/>
                </a:lnTo>
                <a:close/>
                <a:moveTo>
                  <a:pt x="151332" y="48429"/>
                </a:moveTo>
                <a:cubicBezTo>
                  <a:pt x="155352" y="44409"/>
                  <a:pt x="155352" y="37881"/>
                  <a:pt x="151332" y="33862"/>
                </a:cubicBezTo>
                <a:cubicBezTo>
                  <a:pt x="147313" y="29842"/>
                  <a:pt x="140785" y="29842"/>
                  <a:pt x="136765" y="33862"/>
                </a:cubicBezTo>
                <a:lnTo>
                  <a:pt x="102903" y="67755"/>
                </a:lnTo>
                <a:lnTo>
                  <a:pt x="84445" y="49329"/>
                </a:lnTo>
                <a:cubicBezTo>
                  <a:pt x="80425" y="45310"/>
                  <a:pt x="73898" y="45310"/>
                  <a:pt x="69878" y="49329"/>
                </a:cubicBezTo>
                <a:lnTo>
                  <a:pt x="39007" y="80200"/>
                </a:lnTo>
                <a:cubicBezTo>
                  <a:pt x="34987" y="84220"/>
                  <a:pt x="34987" y="90748"/>
                  <a:pt x="39007" y="94768"/>
                </a:cubicBezTo>
                <a:cubicBezTo>
                  <a:pt x="43027" y="98787"/>
                  <a:pt x="49554" y="98787"/>
                  <a:pt x="53574" y="94768"/>
                </a:cubicBezTo>
                <a:lnTo>
                  <a:pt x="77178" y="71164"/>
                </a:lnTo>
                <a:lnTo>
                  <a:pt x="95636" y="89622"/>
                </a:lnTo>
                <a:cubicBezTo>
                  <a:pt x="99656" y="93642"/>
                  <a:pt x="106183" y="93642"/>
                  <a:pt x="110203" y="89622"/>
                </a:cubicBezTo>
                <a:lnTo>
                  <a:pt x="151365" y="48461"/>
                </a:lnTo>
                <a:close/>
              </a:path>
            </a:pathLst>
          </a:custGeom>
          <a:solidFill>
            <a:srgbClr val="F59E0B"/>
          </a:solidFill>
          <a:ln/>
        </p:spPr>
        <p:txBody>
          <a:bodyPr/>
          <a:lstStyle/>
          <a:p>
            <a:endParaRPr lang="en-GB"/>
          </a:p>
        </p:txBody>
      </p:sp>
      <p:sp>
        <p:nvSpPr>
          <p:cNvPr id="14" name="Text 12"/>
          <p:cNvSpPr/>
          <p:nvPr/>
        </p:nvSpPr>
        <p:spPr>
          <a:xfrm>
            <a:off x="3086846" y="1819333"/>
            <a:ext cx="2255643" cy="329291"/>
          </a:xfrm>
          <a:prstGeom prst="rect">
            <a:avLst/>
          </a:prstGeom>
          <a:noFill/>
          <a:ln/>
        </p:spPr>
        <p:txBody>
          <a:bodyPr wrap="square" lIns="0" tIns="0" rIns="0" bIns="0" rtlCol="0" anchor="ctr"/>
          <a:lstStyle/>
          <a:p>
            <a:pPr>
              <a:lnSpc>
                <a:spcPct val="90000"/>
              </a:lnSpc>
            </a:pPr>
            <a:r>
              <a:rPr lang="en-US" sz="2334" b="1" dirty="0">
                <a:solidFill>
                  <a:srgbClr val="FFFFFF"/>
                </a:solidFill>
                <a:latin typeface="Liter" pitchFamily="34" charset="0"/>
                <a:ea typeface="Liter" pitchFamily="34" charset="-122"/>
                <a:cs typeface="Liter" pitchFamily="34" charset="-120"/>
              </a:rPr>
              <a:t>€4.1B</a:t>
            </a:r>
            <a:endParaRPr lang="en-US" sz="1600" dirty="0"/>
          </a:p>
        </p:txBody>
      </p:sp>
      <p:sp>
        <p:nvSpPr>
          <p:cNvPr id="15" name="Text 13"/>
          <p:cNvSpPr/>
          <p:nvPr/>
        </p:nvSpPr>
        <p:spPr>
          <a:xfrm>
            <a:off x="3086846" y="2181553"/>
            <a:ext cx="378685" cy="197575"/>
          </a:xfrm>
          <a:prstGeom prst="rect">
            <a:avLst/>
          </a:prstGeom>
          <a:noFill/>
          <a:ln/>
        </p:spPr>
        <p:txBody>
          <a:bodyPr wrap="square" lIns="0" tIns="0" rIns="0" bIns="0" rtlCol="0" anchor="ctr"/>
          <a:lstStyle/>
          <a:p>
            <a:pPr>
              <a:lnSpc>
                <a:spcPct val="130000"/>
              </a:lnSpc>
            </a:pPr>
            <a:r>
              <a:rPr lang="en-US" sz="1037" b="1" dirty="0">
                <a:solidFill>
                  <a:srgbClr val="F59E0B"/>
                </a:solidFill>
                <a:latin typeface="Quattrocento Sans" pitchFamily="34" charset="0"/>
                <a:ea typeface="Quattrocento Sans" pitchFamily="34" charset="-122"/>
                <a:cs typeface="Quattrocento Sans" pitchFamily="34" charset="-120"/>
              </a:rPr>
              <a:t>+48%</a:t>
            </a:r>
            <a:endParaRPr lang="en-US" sz="1600" dirty="0"/>
          </a:p>
        </p:txBody>
      </p:sp>
      <p:sp>
        <p:nvSpPr>
          <p:cNvPr id="16" name="Text 14"/>
          <p:cNvSpPr/>
          <p:nvPr/>
        </p:nvSpPr>
        <p:spPr>
          <a:xfrm>
            <a:off x="3466431" y="2181553"/>
            <a:ext cx="724440"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vs 9M 2024</a:t>
            </a:r>
            <a:endParaRPr lang="en-US" sz="1600" dirty="0"/>
          </a:p>
        </p:txBody>
      </p:sp>
      <p:sp>
        <p:nvSpPr>
          <p:cNvPr id="17" name="Shape 15"/>
          <p:cNvSpPr/>
          <p:nvPr/>
        </p:nvSpPr>
        <p:spPr>
          <a:xfrm>
            <a:off x="5502762" y="1387138"/>
            <a:ext cx="2444986" cy="1160751"/>
          </a:xfrm>
          <a:custGeom>
            <a:avLst/>
            <a:gdLst/>
            <a:ahLst/>
            <a:cxnLst/>
            <a:rect l="l" t="t" r="r" b="b"/>
            <a:pathLst>
              <a:path w="2444986" h="1160751">
                <a:moveTo>
                  <a:pt x="98792" y="0"/>
                </a:moveTo>
                <a:lnTo>
                  <a:pt x="2346194" y="0"/>
                </a:lnTo>
                <a:cubicBezTo>
                  <a:pt x="2400755" y="0"/>
                  <a:pt x="2444986" y="44230"/>
                  <a:pt x="2444986" y="98792"/>
                </a:cubicBezTo>
                <a:lnTo>
                  <a:pt x="2444986" y="1061959"/>
                </a:lnTo>
                <a:cubicBezTo>
                  <a:pt x="2444986" y="1116520"/>
                  <a:pt x="2400755" y="1160751"/>
                  <a:pt x="2346194" y="1160751"/>
                </a:cubicBezTo>
                <a:lnTo>
                  <a:pt x="98792" y="1160751"/>
                </a:lnTo>
                <a:cubicBezTo>
                  <a:pt x="44230" y="1160751"/>
                  <a:pt x="0" y="1116520"/>
                  <a:pt x="0" y="1061959"/>
                </a:cubicBezTo>
                <a:lnTo>
                  <a:pt x="0" y="98792"/>
                </a:lnTo>
                <a:cubicBezTo>
                  <a:pt x="0" y="44267"/>
                  <a:pt x="44267" y="0"/>
                  <a:pt x="98792"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18" name="Text 16"/>
          <p:cNvSpPr/>
          <p:nvPr/>
        </p:nvSpPr>
        <p:spPr>
          <a:xfrm>
            <a:off x="5671523" y="1555900"/>
            <a:ext cx="732673"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Net Income</a:t>
            </a:r>
            <a:endParaRPr lang="en-US" sz="1600" dirty="0"/>
          </a:p>
        </p:txBody>
      </p:sp>
      <p:sp>
        <p:nvSpPr>
          <p:cNvPr id="19" name="Shape 17"/>
          <p:cNvSpPr/>
          <p:nvPr/>
        </p:nvSpPr>
        <p:spPr>
          <a:xfrm>
            <a:off x="7593502" y="1572365"/>
            <a:ext cx="164646" cy="164646"/>
          </a:xfrm>
          <a:custGeom>
            <a:avLst/>
            <a:gdLst/>
            <a:ahLst/>
            <a:cxnLst/>
            <a:rect l="l" t="t" r="r" b="b"/>
            <a:pathLst>
              <a:path w="164646" h="164646">
                <a:moveTo>
                  <a:pt x="41161" y="30871"/>
                </a:moveTo>
                <a:lnTo>
                  <a:pt x="41161" y="25726"/>
                </a:lnTo>
                <a:cubicBezTo>
                  <a:pt x="41161" y="11512"/>
                  <a:pt x="68817" y="0"/>
                  <a:pt x="102903" y="0"/>
                </a:cubicBezTo>
                <a:cubicBezTo>
                  <a:pt x="136990" y="0"/>
                  <a:pt x="164646" y="11512"/>
                  <a:pt x="164646" y="25726"/>
                </a:cubicBezTo>
                <a:lnTo>
                  <a:pt x="164646" y="30871"/>
                </a:lnTo>
                <a:cubicBezTo>
                  <a:pt x="164646" y="40711"/>
                  <a:pt x="151365" y="49265"/>
                  <a:pt x="131845" y="53606"/>
                </a:cubicBezTo>
                <a:cubicBezTo>
                  <a:pt x="131073" y="52706"/>
                  <a:pt x="130269" y="51838"/>
                  <a:pt x="129465" y="51034"/>
                </a:cubicBezTo>
                <a:cubicBezTo>
                  <a:pt x="124481" y="46114"/>
                  <a:pt x="118050" y="42383"/>
                  <a:pt x="111329" y="39618"/>
                </a:cubicBezTo>
                <a:cubicBezTo>
                  <a:pt x="97855" y="33990"/>
                  <a:pt x="80297" y="30903"/>
                  <a:pt x="61742" y="30903"/>
                </a:cubicBezTo>
                <a:cubicBezTo>
                  <a:pt x="54700" y="30903"/>
                  <a:pt x="47818" y="31353"/>
                  <a:pt x="41226" y="32222"/>
                </a:cubicBezTo>
                <a:cubicBezTo>
                  <a:pt x="41161" y="31804"/>
                  <a:pt x="41161" y="31353"/>
                  <a:pt x="41161" y="30903"/>
                </a:cubicBezTo>
                <a:close/>
                <a:moveTo>
                  <a:pt x="138920" y="113515"/>
                </a:moveTo>
                <a:lnTo>
                  <a:pt x="138920" y="98659"/>
                </a:lnTo>
                <a:cubicBezTo>
                  <a:pt x="143775" y="97405"/>
                  <a:pt x="148342" y="95925"/>
                  <a:pt x="152490" y="94189"/>
                </a:cubicBezTo>
                <a:cubicBezTo>
                  <a:pt x="156735" y="92420"/>
                  <a:pt x="160883" y="90266"/>
                  <a:pt x="164646" y="87661"/>
                </a:cubicBezTo>
                <a:lnTo>
                  <a:pt x="164646" y="92613"/>
                </a:lnTo>
                <a:cubicBezTo>
                  <a:pt x="164646" y="101231"/>
                  <a:pt x="154516" y="108853"/>
                  <a:pt x="138920" y="113515"/>
                </a:cubicBezTo>
                <a:close/>
                <a:moveTo>
                  <a:pt x="138920" y="82644"/>
                </a:moveTo>
                <a:lnTo>
                  <a:pt x="138920" y="72032"/>
                </a:lnTo>
                <a:cubicBezTo>
                  <a:pt x="138920" y="70585"/>
                  <a:pt x="138791" y="69203"/>
                  <a:pt x="138598" y="67852"/>
                </a:cubicBezTo>
                <a:cubicBezTo>
                  <a:pt x="143582" y="66598"/>
                  <a:pt x="148245" y="65086"/>
                  <a:pt x="152490" y="63286"/>
                </a:cubicBezTo>
                <a:cubicBezTo>
                  <a:pt x="156735" y="61485"/>
                  <a:pt x="160883" y="59362"/>
                  <a:pt x="164646" y="56758"/>
                </a:cubicBezTo>
                <a:lnTo>
                  <a:pt x="164646" y="61710"/>
                </a:lnTo>
                <a:cubicBezTo>
                  <a:pt x="164646" y="70328"/>
                  <a:pt x="154516" y="77949"/>
                  <a:pt x="138920" y="82612"/>
                </a:cubicBezTo>
                <a:close/>
                <a:moveTo>
                  <a:pt x="0" y="77178"/>
                </a:moveTo>
                <a:lnTo>
                  <a:pt x="0" y="72032"/>
                </a:lnTo>
                <a:cubicBezTo>
                  <a:pt x="0" y="57819"/>
                  <a:pt x="27655" y="46307"/>
                  <a:pt x="61742" y="46307"/>
                </a:cubicBezTo>
                <a:cubicBezTo>
                  <a:pt x="95829" y="46307"/>
                  <a:pt x="123484" y="57819"/>
                  <a:pt x="123484" y="72032"/>
                </a:cubicBezTo>
                <a:lnTo>
                  <a:pt x="123484" y="77178"/>
                </a:lnTo>
                <a:cubicBezTo>
                  <a:pt x="123484" y="91391"/>
                  <a:pt x="95829" y="102903"/>
                  <a:pt x="61742" y="102903"/>
                </a:cubicBezTo>
                <a:cubicBezTo>
                  <a:pt x="27655" y="102903"/>
                  <a:pt x="0" y="91391"/>
                  <a:pt x="0" y="77178"/>
                </a:cubicBezTo>
                <a:close/>
                <a:moveTo>
                  <a:pt x="123484" y="108049"/>
                </a:moveTo>
                <a:cubicBezTo>
                  <a:pt x="123484" y="122262"/>
                  <a:pt x="95829" y="133774"/>
                  <a:pt x="61742" y="133774"/>
                </a:cubicBezTo>
                <a:cubicBezTo>
                  <a:pt x="27655" y="133774"/>
                  <a:pt x="0" y="122262"/>
                  <a:pt x="0" y="108049"/>
                </a:cubicBezTo>
                <a:lnTo>
                  <a:pt x="0" y="103096"/>
                </a:lnTo>
                <a:cubicBezTo>
                  <a:pt x="3730" y="105701"/>
                  <a:pt x="7879" y="107824"/>
                  <a:pt x="12155" y="109624"/>
                </a:cubicBezTo>
                <a:cubicBezTo>
                  <a:pt x="25629" y="115252"/>
                  <a:pt x="43187" y="118339"/>
                  <a:pt x="61742" y="118339"/>
                </a:cubicBezTo>
                <a:cubicBezTo>
                  <a:pt x="80297" y="118339"/>
                  <a:pt x="97855" y="115220"/>
                  <a:pt x="111329" y="109624"/>
                </a:cubicBezTo>
                <a:cubicBezTo>
                  <a:pt x="115573" y="107856"/>
                  <a:pt x="119722" y="105701"/>
                  <a:pt x="123484" y="103096"/>
                </a:cubicBezTo>
                <a:lnTo>
                  <a:pt x="123484" y="108049"/>
                </a:lnTo>
                <a:close/>
                <a:moveTo>
                  <a:pt x="123484" y="133967"/>
                </a:moveTo>
                <a:lnTo>
                  <a:pt x="123484" y="138920"/>
                </a:lnTo>
                <a:cubicBezTo>
                  <a:pt x="123484" y="153133"/>
                  <a:pt x="95829" y="164646"/>
                  <a:pt x="61742" y="164646"/>
                </a:cubicBezTo>
                <a:cubicBezTo>
                  <a:pt x="27655" y="164646"/>
                  <a:pt x="0" y="153133"/>
                  <a:pt x="0" y="138920"/>
                </a:cubicBezTo>
                <a:lnTo>
                  <a:pt x="0" y="133967"/>
                </a:lnTo>
                <a:cubicBezTo>
                  <a:pt x="3730" y="136572"/>
                  <a:pt x="7879" y="138695"/>
                  <a:pt x="12155" y="140495"/>
                </a:cubicBezTo>
                <a:cubicBezTo>
                  <a:pt x="25629" y="146123"/>
                  <a:pt x="43187" y="149210"/>
                  <a:pt x="61742" y="149210"/>
                </a:cubicBezTo>
                <a:cubicBezTo>
                  <a:pt x="80297" y="149210"/>
                  <a:pt x="97855" y="146091"/>
                  <a:pt x="111329" y="140495"/>
                </a:cubicBezTo>
                <a:cubicBezTo>
                  <a:pt x="115573" y="138727"/>
                  <a:pt x="119722" y="136572"/>
                  <a:pt x="123484" y="133967"/>
                </a:cubicBezTo>
                <a:close/>
              </a:path>
            </a:pathLst>
          </a:custGeom>
          <a:solidFill>
            <a:srgbClr val="38BDF8"/>
          </a:solidFill>
          <a:ln/>
        </p:spPr>
        <p:txBody>
          <a:bodyPr/>
          <a:lstStyle/>
          <a:p>
            <a:endParaRPr lang="en-GB"/>
          </a:p>
        </p:txBody>
      </p:sp>
      <p:sp>
        <p:nvSpPr>
          <p:cNvPr id="20" name="Text 18"/>
          <p:cNvSpPr/>
          <p:nvPr/>
        </p:nvSpPr>
        <p:spPr>
          <a:xfrm>
            <a:off x="5671523" y="1819333"/>
            <a:ext cx="2255643" cy="329291"/>
          </a:xfrm>
          <a:prstGeom prst="rect">
            <a:avLst/>
          </a:prstGeom>
          <a:noFill/>
          <a:ln/>
        </p:spPr>
        <p:txBody>
          <a:bodyPr wrap="square" lIns="0" tIns="0" rIns="0" bIns="0" rtlCol="0" anchor="ctr"/>
          <a:lstStyle/>
          <a:p>
            <a:pPr>
              <a:lnSpc>
                <a:spcPct val="90000"/>
              </a:lnSpc>
            </a:pPr>
            <a:r>
              <a:rPr lang="en-US" sz="2334" b="1" dirty="0">
                <a:solidFill>
                  <a:srgbClr val="FFFFFF"/>
                </a:solidFill>
                <a:latin typeface="Liter" pitchFamily="34" charset="0"/>
                <a:ea typeface="Liter" pitchFamily="34" charset="-122"/>
                <a:cs typeface="Liter" pitchFamily="34" charset="-120"/>
              </a:rPr>
              <a:t>€2.64B</a:t>
            </a:r>
            <a:endParaRPr lang="en-US" sz="1600" dirty="0"/>
          </a:p>
        </p:txBody>
      </p:sp>
      <p:sp>
        <p:nvSpPr>
          <p:cNvPr id="21" name="Text 19"/>
          <p:cNvSpPr/>
          <p:nvPr/>
        </p:nvSpPr>
        <p:spPr>
          <a:xfrm>
            <a:off x="5671523" y="2181553"/>
            <a:ext cx="378685" cy="197575"/>
          </a:xfrm>
          <a:prstGeom prst="rect">
            <a:avLst/>
          </a:prstGeom>
          <a:noFill/>
          <a:ln/>
        </p:spPr>
        <p:txBody>
          <a:bodyPr wrap="square" lIns="0" tIns="0" rIns="0" bIns="0" rtlCol="0" anchor="ctr"/>
          <a:lstStyle/>
          <a:p>
            <a:pPr>
              <a:lnSpc>
                <a:spcPct val="130000"/>
              </a:lnSpc>
            </a:pPr>
            <a:r>
              <a:rPr lang="en-US" sz="1037" b="1" dirty="0">
                <a:solidFill>
                  <a:srgbClr val="38BDF8"/>
                </a:solidFill>
                <a:latin typeface="Quattrocento Sans" pitchFamily="34" charset="0"/>
                <a:ea typeface="Quattrocento Sans" pitchFamily="34" charset="-122"/>
                <a:cs typeface="Quattrocento Sans" pitchFamily="34" charset="-120"/>
              </a:rPr>
              <a:t>+46%</a:t>
            </a:r>
            <a:endParaRPr lang="en-US" sz="1600" dirty="0"/>
          </a:p>
        </p:txBody>
      </p:sp>
      <p:sp>
        <p:nvSpPr>
          <p:cNvPr id="22" name="Text 20"/>
          <p:cNvSpPr/>
          <p:nvPr/>
        </p:nvSpPr>
        <p:spPr>
          <a:xfrm>
            <a:off x="6050079" y="2181553"/>
            <a:ext cx="724440"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vs 9M 2024</a:t>
            </a:r>
            <a:endParaRPr lang="en-US" sz="1600" dirty="0"/>
          </a:p>
        </p:txBody>
      </p:sp>
      <p:sp>
        <p:nvSpPr>
          <p:cNvPr id="23" name="Shape 21"/>
          <p:cNvSpPr/>
          <p:nvPr/>
        </p:nvSpPr>
        <p:spPr>
          <a:xfrm>
            <a:off x="329291" y="2749580"/>
            <a:ext cx="7623087" cy="3967957"/>
          </a:xfrm>
          <a:custGeom>
            <a:avLst/>
            <a:gdLst/>
            <a:ahLst/>
            <a:cxnLst/>
            <a:rect l="l" t="t" r="r" b="b"/>
            <a:pathLst>
              <a:path w="7623087" h="4857043">
                <a:moveTo>
                  <a:pt x="98792" y="0"/>
                </a:moveTo>
                <a:lnTo>
                  <a:pt x="7524295" y="0"/>
                </a:lnTo>
                <a:cubicBezTo>
                  <a:pt x="7578856" y="0"/>
                  <a:pt x="7623087" y="44231"/>
                  <a:pt x="7623087" y="98792"/>
                </a:cubicBezTo>
                <a:lnTo>
                  <a:pt x="7623087" y="4758250"/>
                </a:lnTo>
                <a:cubicBezTo>
                  <a:pt x="7623087" y="4812812"/>
                  <a:pt x="7578856" y="4857043"/>
                  <a:pt x="7524295" y="4857043"/>
                </a:cubicBezTo>
                <a:lnTo>
                  <a:pt x="98792" y="4857043"/>
                </a:lnTo>
                <a:cubicBezTo>
                  <a:pt x="44231" y="4857043"/>
                  <a:pt x="0" y="4812812"/>
                  <a:pt x="0" y="4758250"/>
                </a:cubicBezTo>
                <a:lnTo>
                  <a:pt x="0" y="98792"/>
                </a:lnTo>
                <a:cubicBezTo>
                  <a:pt x="0" y="44267"/>
                  <a:pt x="44267" y="0"/>
                  <a:pt x="98792" y="0"/>
                </a:cubicBezTo>
                <a:close/>
              </a:path>
            </a:pathLst>
          </a:custGeom>
          <a:solidFill>
            <a:srgbClr val="1E293B"/>
          </a:solidFill>
          <a:ln/>
        </p:spPr>
        <p:txBody>
          <a:bodyPr/>
          <a:lstStyle/>
          <a:p>
            <a:endParaRPr lang="en-GB"/>
          </a:p>
        </p:txBody>
      </p:sp>
      <p:sp>
        <p:nvSpPr>
          <p:cNvPr id="24" name="Text 22"/>
          <p:cNvSpPr/>
          <p:nvPr/>
        </p:nvSpPr>
        <p:spPr>
          <a:xfrm>
            <a:off x="493937" y="2914226"/>
            <a:ext cx="7376119" cy="230504"/>
          </a:xfrm>
          <a:prstGeom prst="rect">
            <a:avLst/>
          </a:prstGeom>
          <a:noFill/>
          <a:ln/>
        </p:spPr>
        <p:txBody>
          <a:bodyPr wrap="square" lIns="0" tIns="0" rIns="0" bIns="0" rtlCol="0" anchor="ctr"/>
          <a:lstStyle/>
          <a:p>
            <a:pPr>
              <a:lnSpc>
                <a:spcPct val="120000"/>
              </a:lnSpc>
            </a:pPr>
            <a:r>
              <a:rPr lang="en-US" sz="1296" b="1" dirty="0">
                <a:solidFill>
                  <a:srgbClr val="FFFFFF"/>
                </a:solidFill>
                <a:latin typeface="Liter" pitchFamily="34" charset="0"/>
                <a:ea typeface="Liter" pitchFamily="34" charset="-122"/>
                <a:cs typeface="Liter" pitchFamily="34" charset="-120"/>
              </a:rPr>
              <a:t>Quarterly Progression (€ Billions)</a:t>
            </a:r>
            <a:endParaRPr lang="en-US" sz="1600" dirty="0"/>
          </a:p>
        </p:txBody>
      </p:sp>
      <p:pic>
        <p:nvPicPr>
          <p:cNvPr id="25" name="Image 0" descr="https://kimi-img.moonshot.cn/pub/slides/26-01-29-09:48:19-d5tbooo7aa33o6ra2gag.png"/>
          <p:cNvPicPr>
            <a:picLocks noChangeAspect="1"/>
          </p:cNvPicPr>
          <p:nvPr/>
        </p:nvPicPr>
        <p:blipFill>
          <a:blip r:embed="rId3"/>
          <a:srcRect/>
          <a:stretch/>
        </p:blipFill>
        <p:spPr>
          <a:xfrm>
            <a:off x="493937" y="3243517"/>
            <a:ext cx="6190671" cy="3449323"/>
          </a:xfrm>
          <a:prstGeom prst="roundRect">
            <a:avLst>
              <a:gd name="adj" fmla="val 0"/>
            </a:avLst>
          </a:prstGeom>
        </p:spPr>
      </p:pic>
      <p:sp>
        <p:nvSpPr>
          <p:cNvPr id="26" name="Shape 23"/>
          <p:cNvSpPr/>
          <p:nvPr/>
        </p:nvSpPr>
        <p:spPr>
          <a:xfrm>
            <a:off x="8165646" y="1383022"/>
            <a:ext cx="3696292" cy="2436754"/>
          </a:xfrm>
          <a:custGeom>
            <a:avLst/>
            <a:gdLst/>
            <a:ahLst/>
            <a:cxnLst/>
            <a:rect l="l" t="t" r="r" b="b"/>
            <a:pathLst>
              <a:path w="3696292" h="2436754">
                <a:moveTo>
                  <a:pt x="32929" y="0"/>
                </a:moveTo>
                <a:lnTo>
                  <a:pt x="3597506" y="0"/>
                </a:lnTo>
                <a:cubicBezTo>
                  <a:pt x="3652064" y="0"/>
                  <a:pt x="3696292" y="44228"/>
                  <a:pt x="3696292" y="98786"/>
                </a:cubicBezTo>
                <a:lnTo>
                  <a:pt x="3696292" y="2337968"/>
                </a:lnTo>
                <a:cubicBezTo>
                  <a:pt x="3696292" y="2392526"/>
                  <a:pt x="3652064" y="2436754"/>
                  <a:pt x="3597506" y="2436754"/>
                </a:cubicBezTo>
                <a:lnTo>
                  <a:pt x="32929" y="2436754"/>
                </a:lnTo>
                <a:cubicBezTo>
                  <a:pt x="14743" y="2436754"/>
                  <a:pt x="0" y="2422011"/>
                  <a:pt x="0" y="2403824"/>
                </a:cubicBezTo>
                <a:lnTo>
                  <a:pt x="0" y="32929"/>
                </a:lnTo>
                <a:cubicBezTo>
                  <a:pt x="0" y="14755"/>
                  <a:pt x="14755" y="0"/>
                  <a:pt x="32929" y="0"/>
                </a:cubicBezTo>
                <a:close/>
              </a:path>
            </a:pathLst>
          </a:custGeom>
          <a:solidFill>
            <a:srgbClr val="1E293B"/>
          </a:solidFill>
          <a:ln/>
        </p:spPr>
        <p:txBody>
          <a:bodyPr/>
          <a:lstStyle/>
          <a:p>
            <a:endParaRPr lang="en-GB"/>
          </a:p>
        </p:txBody>
      </p:sp>
      <p:sp>
        <p:nvSpPr>
          <p:cNvPr id="27" name="Shape 24"/>
          <p:cNvSpPr/>
          <p:nvPr/>
        </p:nvSpPr>
        <p:spPr>
          <a:xfrm>
            <a:off x="8165646" y="1383022"/>
            <a:ext cx="32929" cy="2436754"/>
          </a:xfrm>
          <a:custGeom>
            <a:avLst/>
            <a:gdLst/>
            <a:ahLst/>
            <a:cxnLst/>
            <a:rect l="l" t="t" r="r" b="b"/>
            <a:pathLst>
              <a:path w="32929" h="2436754">
                <a:moveTo>
                  <a:pt x="32929" y="0"/>
                </a:moveTo>
                <a:lnTo>
                  <a:pt x="32929" y="0"/>
                </a:lnTo>
                <a:lnTo>
                  <a:pt x="32929" y="2436754"/>
                </a:lnTo>
                <a:lnTo>
                  <a:pt x="32929" y="2436754"/>
                </a:lnTo>
                <a:cubicBezTo>
                  <a:pt x="14743" y="2436754"/>
                  <a:pt x="0" y="2422011"/>
                  <a:pt x="0" y="2403824"/>
                </a:cubicBezTo>
                <a:lnTo>
                  <a:pt x="0" y="32929"/>
                </a:lnTo>
                <a:cubicBezTo>
                  <a:pt x="0" y="14755"/>
                  <a:pt x="14755" y="0"/>
                  <a:pt x="32929" y="0"/>
                </a:cubicBezTo>
                <a:close/>
              </a:path>
            </a:pathLst>
          </a:custGeom>
          <a:solidFill>
            <a:srgbClr val="38BDF8"/>
          </a:solidFill>
          <a:ln/>
        </p:spPr>
        <p:txBody>
          <a:bodyPr/>
          <a:lstStyle/>
          <a:p>
            <a:endParaRPr lang="en-GB"/>
          </a:p>
        </p:txBody>
      </p:sp>
      <p:sp>
        <p:nvSpPr>
          <p:cNvPr id="28" name="Text 25"/>
          <p:cNvSpPr/>
          <p:nvPr/>
        </p:nvSpPr>
        <p:spPr>
          <a:xfrm>
            <a:off x="8346756" y="1547668"/>
            <a:ext cx="3424627" cy="230504"/>
          </a:xfrm>
          <a:prstGeom prst="rect">
            <a:avLst/>
          </a:prstGeom>
          <a:noFill/>
          <a:ln/>
        </p:spPr>
        <p:txBody>
          <a:bodyPr wrap="square" lIns="0" tIns="0" rIns="0" bIns="0" rtlCol="0" anchor="ctr"/>
          <a:lstStyle/>
          <a:p>
            <a:pPr>
              <a:lnSpc>
                <a:spcPct val="130000"/>
              </a:lnSpc>
            </a:pPr>
            <a:r>
              <a:rPr lang="en-US" sz="1167" b="1" dirty="0">
                <a:solidFill>
                  <a:srgbClr val="FFFFFF"/>
                </a:solidFill>
                <a:latin typeface="Liter" pitchFamily="34" charset="0"/>
                <a:ea typeface="Liter" pitchFamily="34" charset="-122"/>
                <a:cs typeface="Liter" pitchFamily="34" charset="-120"/>
              </a:rPr>
              <a:t>2025 Guidance</a:t>
            </a:r>
            <a:endParaRPr lang="en-US" sz="1600" dirty="0"/>
          </a:p>
        </p:txBody>
      </p:sp>
      <p:sp>
        <p:nvSpPr>
          <p:cNvPr id="29" name="Text 26"/>
          <p:cNvSpPr/>
          <p:nvPr/>
        </p:nvSpPr>
        <p:spPr>
          <a:xfrm>
            <a:off x="8346756" y="1876959"/>
            <a:ext cx="1078428" cy="197575"/>
          </a:xfrm>
          <a:prstGeom prst="rect">
            <a:avLst/>
          </a:prstGeom>
          <a:noFill/>
          <a:ln/>
        </p:spPr>
        <p:txBody>
          <a:bodyPr wrap="square" lIns="0" tIns="0" rIns="0" bIns="0" rtlCol="0" anchor="ctr"/>
          <a:lstStyle/>
          <a:p>
            <a:pPr>
              <a:lnSpc>
                <a:spcPct val="130000"/>
              </a:lnSpc>
            </a:pPr>
            <a:r>
              <a:rPr lang="en-US" sz="1037" dirty="0">
                <a:solidFill>
                  <a:srgbClr val="E2E8F0"/>
                </a:solidFill>
                <a:latin typeface="Quattrocento Sans" pitchFamily="34" charset="0"/>
                <a:ea typeface="Quattrocento Sans" pitchFamily="34" charset="-122"/>
                <a:cs typeface="Quattrocento Sans" pitchFamily="34" charset="-120"/>
              </a:rPr>
              <a:t>Aircraft Deliveries</a:t>
            </a:r>
            <a:endParaRPr lang="en-US" sz="1600" dirty="0"/>
          </a:p>
        </p:txBody>
      </p:sp>
      <p:sp>
        <p:nvSpPr>
          <p:cNvPr id="30" name="Text 27"/>
          <p:cNvSpPr/>
          <p:nvPr/>
        </p:nvSpPr>
        <p:spPr>
          <a:xfrm>
            <a:off x="11470904" y="1876959"/>
            <a:ext cx="288130" cy="197575"/>
          </a:xfrm>
          <a:prstGeom prst="rect">
            <a:avLst/>
          </a:prstGeom>
          <a:noFill/>
          <a:ln/>
        </p:spPr>
        <p:txBody>
          <a:bodyPr wrap="square" lIns="0" tIns="0" rIns="0" bIns="0" rtlCol="0" anchor="ctr"/>
          <a:lstStyle/>
          <a:p>
            <a:pPr>
              <a:lnSpc>
                <a:spcPct val="130000"/>
              </a:lnSpc>
            </a:pPr>
            <a:r>
              <a:rPr lang="en-US" sz="1037" b="1" dirty="0">
                <a:solidFill>
                  <a:srgbClr val="38BDF8"/>
                </a:solidFill>
                <a:latin typeface="Quattrocento Sans" pitchFamily="34" charset="0"/>
                <a:ea typeface="Quattrocento Sans" pitchFamily="34" charset="-122"/>
                <a:cs typeface="Quattrocento Sans" pitchFamily="34" charset="-120"/>
              </a:rPr>
              <a:t>820</a:t>
            </a:r>
            <a:endParaRPr lang="en-US" sz="1600" dirty="0"/>
          </a:p>
        </p:txBody>
      </p:sp>
      <p:sp>
        <p:nvSpPr>
          <p:cNvPr id="31" name="Shape 28"/>
          <p:cNvSpPr/>
          <p:nvPr/>
        </p:nvSpPr>
        <p:spPr>
          <a:xfrm>
            <a:off x="8346756" y="2107463"/>
            <a:ext cx="3350536" cy="65858"/>
          </a:xfrm>
          <a:custGeom>
            <a:avLst/>
            <a:gdLst/>
            <a:ahLst/>
            <a:cxnLst/>
            <a:rect l="l" t="t" r="r" b="b"/>
            <a:pathLst>
              <a:path w="3350536" h="65858">
                <a:moveTo>
                  <a:pt x="32929" y="0"/>
                </a:moveTo>
                <a:lnTo>
                  <a:pt x="3317607" y="0"/>
                </a:lnTo>
                <a:cubicBezTo>
                  <a:pt x="3335793" y="0"/>
                  <a:pt x="3350536" y="14743"/>
                  <a:pt x="3350536" y="32929"/>
                </a:cubicBezTo>
                <a:lnTo>
                  <a:pt x="3350536" y="32929"/>
                </a:lnTo>
                <a:cubicBezTo>
                  <a:pt x="3350536" y="51115"/>
                  <a:pt x="3335793" y="65858"/>
                  <a:pt x="3317607" y="65858"/>
                </a:cubicBezTo>
                <a:lnTo>
                  <a:pt x="32929" y="65858"/>
                </a:lnTo>
                <a:cubicBezTo>
                  <a:pt x="14755" y="65858"/>
                  <a:pt x="0" y="51103"/>
                  <a:pt x="0" y="32929"/>
                </a:cubicBezTo>
                <a:lnTo>
                  <a:pt x="0" y="32929"/>
                </a:lnTo>
                <a:cubicBezTo>
                  <a:pt x="0" y="14755"/>
                  <a:pt x="14755" y="0"/>
                  <a:pt x="32929" y="0"/>
                </a:cubicBezTo>
                <a:close/>
              </a:path>
            </a:pathLst>
          </a:custGeom>
          <a:solidFill>
            <a:srgbClr val="475569"/>
          </a:solidFill>
          <a:ln/>
        </p:spPr>
        <p:txBody>
          <a:bodyPr/>
          <a:lstStyle/>
          <a:p>
            <a:endParaRPr lang="en-GB"/>
          </a:p>
        </p:txBody>
      </p:sp>
      <p:sp>
        <p:nvSpPr>
          <p:cNvPr id="32" name="Shape 29"/>
          <p:cNvSpPr/>
          <p:nvPr/>
        </p:nvSpPr>
        <p:spPr>
          <a:xfrm>
            <a:off x="8346756" y="2107463"/>
            <a:ext cx="3251749" cy="65858"/>
          </a:xfrm>
          <a:custGeom>
            <a:avLst/>
            <a:gdLst/>
            <a:ahLst/>
            <a:cxnLst/>
            <a:rect l="l" t="t" r="r" b="b"/>
            <a:pathLst>
              <a:path w="3251749" h="65858">
                <a:moveTo>
                  <a:pt x="32929" y="0"/>
                </a:moveTo>
                <a:lnTo>
                  <a:pt x="3218820" y="0"/>
                </a:lnTo>
                <a:cubicBezTo>
                  <a:pt x="3237006" y="0"/>
                  <a:pt x="3251749" y="14743"/>
                  <a:pt x="3251749" y="32929"/>
                </a:cubicBezTo>
                <a:lnTo>
                  <a:pt x="3251749" y="32929"/>
                </a:lnTo>
                <a:cubicBezTo>
                  <a:pt x="3251749" y="51115"/>
                  <a:pt x="3237006" y="65858"/>
                  <a:pt x="3218820" y="65858"/>
                </a:cubicBezTo>
                <a:lnTo>
                  <a:pt x="32929" y="65858"/>
                </a:lnTo>
                <a:cubicBezTo>
                  <a:pt x="14755" y="65858"/>
                  <a:pt x="0" y="51103"/>
                  <a:pt x="0" y="32929"/>
                </a:cubicBezTo>
                <a:lnTo>
                  <a:pt x="0" y="32929"/>
                </a:lnTo>
                <a:cubicBezTo>
                  <a:pt x="0" y="14755"/>
                  <a:pt x="14755" y="0"/>
                  <a:pt x="32929" y="0"/>
                </a:cubicBezTo>
                <a:close/>
              </a:path>
            </a:pathLst>
          </a:custGeom>
          <a:solidFill>
            <a:srgbClr val="38BDF8"/>
          </a:solidFill>
          <a:ln/>
        </p:spPr>
        <p:txBody>
          <a:bodyPr/>
          <a:lstStyle/>
          <a:p>
            <a:endParaRPr lang="en-GB"/>
          </a:p>
        </p:txBody>
      </p:sp>
      <p:sp>
        <p:nvSpPr>
          <p:cNvPr id="33" name="Text 30"/>
          <p:cNvSpPr/>
          <p:nvPr/>
        </p:nvSpPr>
        <p:spPr>
          <a:xfrm>
            <a:off x="8346756" y="2206250"/>
            <a:ext cx="3416394"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793 delivered (97%)</a:t>
            </a:r>
            <a:endParaRPr lang="en-US" sz="1600" dirty="0"/>
          </a:p>
        </p:txBody>
      </p:sp>
      <p:sp>
        <p:nvSpPr>
          <p:cNvPr id="34" name="Text 31"/>
          <p:cNvSpPr/>
          <p:nvPr/>
        </p:nvSpPr>
        <p:spPr>
          <a:xfrm>
            <a:off x="8346756" y="2502612"/>
            <a:ext cx="847924" cy="197575"/>
          </a:xfrm>
          <a:prstGeom prst="rect">
            <a:avLst/>
          </a:prstGeom>
          <a:noFill/>
          <a:ln/>
        </p:spPr>
        <p:txBody>
          <a:bodyPr wrap="square" lIns="0" tIns="0" rIns="0" bIns="0" rtlCol="0" anchor="ctr"/>
          <a:lstStyle/>
          <a:p>
            <a:pPr>
              <a:lnSpc>
                <a:spcPct val="130000"/>
              </a:lnSpc>
            </a:pPr>
            <a:r>
              <a:rPr lang="en-US" sz="1037" dirty="0">
                <a:solidFill>
                  <a:srgbClr val="E2E8F0"/>
                </a:solidFill>
                <a:latin typeface="Quattrocento Sans" pitchFamily="34" charset="0"/>
                <a:ea typeface="Quattrocento Sans" pitchFamily="34" charset="-122"/>
                <a:cs typeface="Quattrocento Sans" pitchFamily="34" charset="-120"/>
              </a:rPr>
              <a:t>EBIT Adjusted</a:t>
            </a:r>
            <a:endParaRPr lang="en-US" sz="1600" dirty="0"/>
          </a:p>
        </p:txBody>
      </p:sp>
      <p:sp>
        <p:nvSpPr>
          <p:cNvPr id="35" name="Text 32"/>
          <p:cNvSpPr/>
          <p:nvPr/>
        </p:nvSpPr>
        <p:spPr>
          <a:xfrm>
            <a:off x="11364656" y="2502612"/>
            <a:ext cx="395149" cy="197575"/>
          </a:xfrm>
          <a:prstGeom prst="rect">
            <a:avLst/>
          </a:prstGeom>
          <a:noFill/>
          <a:ln/>
        </p:spPr>
        <p:txBody>
          <a:bodyPr wrap="square" lIns="0" tIns="0" rIns="0" bIns="0" rtlCol="0" anchor="ctr"/>
          <a:lstStyle/>
          <a:p>
            <a:pPr>
              <a:lnSpc>
                <a:spcPct val="130000"/>
              </a:lnSpc>
            </a:pPr>
            <a:r>
              <a:rPr lang="en-US" sz="1037" b="1" dirty="0">
                <a:solidFill>
                  <a:srgbClr val="F59E0B"/>
                </a:solidFill>
                <a:latin typeface="Quattrocento Sans" pitchFamily="34" charset="0"/>
                <a:ea typeface="Quattrocento Sans" pitchFamily="34" charset="-122"/>
                <a:cs typeface="Quattrocento Sans" pitchFamily="34" charset="-120"/>
              </a:rPr>
              <a:t>€7.0B</a:t>
            </a:r>
            <a:endParaRPr lang="en-US" sz="1600" dirty="0"/>
          </a:p>
        </p:txBody>
      </p:sp>
      <p:sp>
        <p:nvSpPr>
          <p:cNvPr id="36" name="Shape 33"/>
          <p:cNvSpPr/>
          <p:nvPr/>
        </p:nvSpPr>
        <p:spPr>
          <a:xfrm>
            <a:off x="8346756" y="2733115"/>
            <a:ext cx="3350536" cy="65858"/>
          </a:xfrm>
          <a:custGeom>
            <a:avLst/>
            <a:gdLst/>
            <a:ahLst/>
            <a:cxnLst/>
            <a:rect l="l" t="t" r="r" b="b"/>
            <a:pathLst>
              <a:path w="3350536" h="65858">
                <a:moveTo>
                  <a:pt x="32929" y="0"/>
                </a:moveTo>
                <a:lnTo>
                  <a:pt x="3317607" y="0"/>
                </a:lnTo>
                <a:cubicBezTo>
                  <a:pt x="3335793" y="0"/>
                  <a:pt x="3350536" y="14743"/>
                  <a:pt x="3350536" y="32929"/>
                </a:cubicBezTo>
                <a:lnTo>
                  <a:pt x="3350536" y="32929"/>
                </a:lnTo>
                <a:cubicBezTo>
                  <a:pt x="3350536" y="51115"/>
                  <a:pt x="3335793" y="65858"/>
                  <a:pt x="3317607" y="65858"/>
                </a:cubicBezTo>
                <a:lnTo>
                  <a:pt x="32929" y="65858"/>
                </a:lnTo>
                <a:cubicBezTo>
                  <a:pt x="14755" y="65858"/>
                  <a:pt x="0" y="51103"/>
                  <a:pt x="0" y="32929"/>
                </a:cubicBezTo>
                <a:lnTo>
                  <a:pt x="0" y="32929"/>
                </a:lnTo>
                <a:cubicBezTo>
                  <a:pt x="0" y="14755"/>
                  <a:pt x="14755" y="0"/>
                  <a:pt x="32929" y="0"/>
                </a:cubicBezTo>
                <a:close/>
              </a:path>
            </a:pathLst>
          </a:custGeom>
          <a:solidFill>
            <a:srgbClr val="475569"/>
          </a:solidFill>
          <a:ln/>
        </p:spPr>
        <p:txBody>
          <a:bodyPr/>
          <a:lstStyle/>
          <a:p>
            <a:endParaRPr lang="en-GB"/>
          </a:p>
        </p:txBody>
      </p:sp>
      <p:sp>
        <p:nvSpPr>
          <p:cNvPr id="37" name="Shape 34"/>
          <p:cNvSpPr/>
          <p:nvPr/>
        </p:nvSpPr>
        <p:spPr>
          <a:xfrm>
            <a:off x="8346756" y="2733115"/>
            <a:ext cx="1975746" cy="65858"/>
          </a:xfrm>
          <a:custGeom>
            <a:avLst/>
            <a:gdLst/>
            <a:ahLst/>
            <a:cxnLst/>
            <a:rect l="l" t="t" r="r" b="b"/>
            <a:pathLst>
              <a:path w="1975746" h="65858">
                <a:moveTo>
                  <a:pt x="32929" y="0"/>
                </a:moveTo>
                <a:lnTo>
                  <a:pt x="1942817" y="0"/>
                </a:lnTo>
                <a:cubicBezTo>
                  <a:pt x="1961003" y="0"/>
                  <a:pt x="1975746" y="14743"/>
                  <a:pt x="1975746" y="32929"/>
                </a:cubicBezTo>
                <a:lnTo>
                  <a:pt x="1975746" y="32929"/>
                </a:lnTo>
                <a:cubicBezTo>
                  <a:pt x="1975746" y="51115"/>
                  <a:pt x="1961003" y="65858"/>
                  <a:pt x="1942817" y="65858"/>
                </a:cubicBezTo>
                <a:lnTo>
                  <a:pt x="32929" y="65858"/>
                </a:lnTo>
                <a:cubicBezTo>
                  <a:pt x="14755" y="65858"/>
                  <a:pt x="0" y="51103"/>
                  <a:pt x="0" y="32929"/>
                </a:cubicBezTo>
                <a:lnTo>
                  <a:pt x="0" y="32929"/>
                </a:lnTo>
                <a:cubicBezTo>
                  <a:pt x="0" y="14755"/>
                  <a:pt x="14755" y="0"/>
                  <a:pt x="32929" y="0"/>
                </a:cubicBezTo>
                <a:close/>
              </a:path>
            </a:pathLst>
          </a:custGeom>
          <a:solidFill>
            <a:srgbClr val="F59E0B"/>
          </a:solidFill>
          <a:ln/>
        </p:spPr>
        <p:txBody>
          <a:bodyPr/>
          <a:lstStyle/>
          <a:p>
            <a:endParaRPr lang="en-GB"/>
          </a:p>
        </p:txBody>
      </p:sp>
      <p:sp>
        <p:nvSpPr>
          <p:cNvPr id="38" name="Text 35"/>
          <p:cNvSpPr/>
          <p:nvPr/>
        </p:nvSpPr>
        <p:spPr>
          <a:xfrm>
            <a:off x="8346756" y="2831903"/>
            <a:ext cx="3416394"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€4.1B achieved (9M)</a:t>
            </a:r>
            <a:endParaRPr lang="en-US" sz="1600" dirty="0"/>
          </a:p>
        </p:txBody>
      </p:sp>
      <p:sp>
        <p:nvSpPr>
          <p:cNvPr id="39" name="Text 36"/>
          <p:cNvSpPr/>
          <p:nvPr/>
        </p:nvSpPr>
        <p:spPr>
          <a:xfrm>
            <a:off x="8346756" y="3128265"/>
            <a:ext cx="1177215" cy="197575"/>
          </a:xfrm>
          <a:prstGeom prst="rect">
            <a:avLst/>
          </a:prstGeom>
          <a:noFill/>
          <a:ln/>
        </p:spPr>
        <p:txBody>
          <a:bodyPr wrap="square" lIns="0" tIns="0" rIns="0" bIns="0" rtlCol="0" anchor="ctr"/>
          <a:lstStyle/>
          <a:p>
            <a:pPr>
              <a:lnSpc>
                <a:spcPct val="130000"/>
              </a:lnSpc>
            </a:pPr>
            <a:r>
              <a:rPr lang="en-US" sz="1037" dirty="0">
                <a:solidFill>
                  <a:srgbClr val="E2E8F0"/>
                </a:solidFill>
                <a:latin typeface="Quattrocento Sans" pitchFamily="34" charset="0"/>
                <a:ea typeface="Quattrocento Sans" pitchFamily="34" charset="-122"/>
                <a:cs typeface="Quattrocento Sans" pitchFamily="34" charset="-120"/>
              </a:rPr>
              <a:t>FCF (Pre-Financing)</a:t>
            </a:r>
            <a:endParaRPr lang="en-US" sz="1600" dirty="0"/>
          </a:p>
        </p:txBody>
      </p:sp>
      <p:sp>
        <p:nvSpPr>
          <p:cNvPr id="40" name="Text 37"/>
          <p:cNvSpPr/>
          <p:nvPr/>
        </p:nvSpPr>
        <p:spPr>
          <a:xfrm>
            <a:off x="11372503" y="3128265"/>
            <a:ext cx="386917" cy="197575"/>
          </a:xfrm>
          <a:prstGeom prst="rect">
            <a:avLst/>
          </a:prstGeom>
          <a:noFill/>
          <a:ln/>
        </p:spPr>
        <p:txBody>
          <a:bodyPr wrap="square" lIns="0" tIns="0" rIns="0" bIns="0" rtlCol="0" anchor="ctr"/>
          <a:lstStyle/>
          <a:p>
            <a:pPr>
              <a:lnSpc>
                <a:spcPct val="130000"/>
              </a:lnSpc>
            </a:pPr>
            <a:r>
              <a:rPr lang="en-US" sz="1037" b="1" dirty="0">
                <a:solidFill>
                  <a:srgbClr val="38BDF8"/>
                </a:solidFill>
                <a:latin typeface="Quattrocento Sans" pitchFamily="34" charset="0"/>
                <a:ea typeface="Quattrocento Sans" pitchFamily="34" charset="-122"/>
                <a:cs typeface="Quattrocento Sans" pitchFamily="34" charset="-120"/>
              </a:rPr>
              <a:t>€4.5B</a:t>
            </a:r>
            <a:endParaRPr lang="en-US" sz="1600" dirty="0"/>
          </a:p>
        </p:txBody>
      </p:sp>
      <p:sp>
        <p:nvSpPr>
          <p:cNvPr id="41" name="Shape 38"/>
          <p:cNvSpPr/>
          <p:nvPr/>
        </p:nvSpPr>
        <p:spPr>
          <a:xfrm>
            <a:off x="8346756" y="3358768"/>
            <a:ext cx="3350536" cy="65858"/>
          </a:xfrm>
          <a:custGeom>
            <a:avLst/>
            <a:gdLst/>
            <a:ahLst/>
            <a:cxnLst/>
            <a:rect l="l" t="t" r="r" b="b"/>
            <a:pathLst>
              <a:path w="3350536" h="65858">
                <a:moveTo>
                  <a:pt x="32929" y="0"/>
                </a:moveTo>
                <a:lnTo>
                  <a:pt x="3317607" y="0"/>
                </a:lnTo>
                <a:cubicBezTo>
                  <a:pt x="3335793" y="0"/>
                  <a:pt x="3350536" y="14743"/>
                  <a:pt x="3350536" y="32929"/>
                </a:cubicBezTo>
                <a:lnTo>
                  <a:pt x="3350536" y="32929"/>
                </a:lnTo>
                <a:cubicBezTo>
                  <a:pt x="3350536" y="51115"/>
                  <a:pt x="3335793" y="65858"/>
                  <a:pt x="3317607" y="65858"/>
                </a:cubicBezTo>
                <a:lnTo>
                  <a:pt x="32929" y="65858"/>
                </a:lnTo>
                <a:cubicBezTo>
                  <a:pt x="14755" y="65858"/>
                  <a:pt x="0" y="51103"/>
                  <a:pt x="0" y="32929"/>
                </a:cubicBezTo>
                <a:lnTo>
                  <a:pt x="0" y="32929"/>
                </a:lnTo>
                <a:cubicBezTo>
                  <a:pt x="0" y="14755"/>
                  <a:pt x="14755" y="0"/>
                  <a:pt x="32929" y="0"/>
                </a:cubicBezTo>
                <a:close/>
              </a:path>
            </a:pathLst>
          </a:custGeom>
          <a:solidFill>
            <a:srgbClr val="475569"/>
          </a:solidFill>
          <a:ln/>
        </p:spPr>
        <p:txBody>
          <a:bodyPr/>
          <a:lstStyle/>
          <a:p>
            <a:endParaRPr lang="en-GB"/>
          </a:p>
        </p:txBody>
      </p:sp>
      <p:sp>
        <p:nvSpPr>
          <p:cNvPr id="42" name="Shape 39"/>
          <p:cNvSpPr/>
          <p:nvPr/>
        </p:nvSpPr>
        <p:spPr>
          <a:xfrm>
            <a:off x="8346756" y="3358768"/>
            <a:ext cx="0" cy="65858"/>
          </a:xfrm>
          <a:custGeom>
            <a:avLst/>
            <a:gdLst/>
            <a:ahLst/>
            <a:cxnLst/>
            <a:rect l="l" t="t" r="r" b="b"/>
            <a:pathLst>
              <a:path h="65858">
                <a:moveTo>
                  <a:pt x="0" y="0"/>
                </a:moveTo>
                <a:lnTo>
                  <a:pt x="0" y="0"/>
                </a:lnTo>
                <a:lnTo>
                  <a:pt x="0" y="65858"/>
                </a:lnTo>
                <a:lnTo>
                  <a:pt x="0" y="65858"/>
                </a:lnTo>
                <a:lnTo>
                  <a:pt x="0" y="0"/>
                </a:lnTo>
                <a:close/>
              </a:path>
            </a:pathLst>
          </a:custGeom>
          <a:solidFill>
            <a:srgbClr val="38BDF8"/>
          </a:solidFill>
          <a:ln/>
        </p:spPr>
        <p:txBody>
          <a:bodyPr/>
          <a:lstStyle/>
          <a:p>
            <a:endParaRPr lang="en-GB"/>
          </a:p>
        </p:txBody>
      </p:sp>
      <p:sp>
        <p:nvSpPr>
          <p:cNvPr id="43" name="Text 40"/>
          <p:cNvSpPr/>
          <p:nvPr/>
        </p:nvSpPr>
        <p:spPr>
          <a:xfrm>
            <a:off x="8346756" y="3457556"/>
            <a:ext cx="3416394"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€-0.9B (9M, backloaded)</a:t>
            </a:r>
            <a:endParaRPr lang="en-US" sz="1600" dirty="0"/>
          </a:p>
        </p:txBody>
      </p:sp>
      <p:sp>
        <p:nvSpPr>
          <p:cNvPr id="44" name="Shape 41"/>
          <p:cNvSpPr/>
          <p:nvPr/>
        </p:nvSpPr>
        <p:spPr>
          <a:xfrm>
            <a:off x="8149181" y="4017350"/>
            <a:ext cx="3712756" cy="1934585"/>
          </a:xfrm>
          <a:custGeom>
            <a:avLst/>
            <a:gdLst/>
            <a:ahLst/>
            <a:cxnLst/>
            <a:rect l="l" t="t" r="r" b="b"/>
            <a:pathLst>
              <a:path w="3712756" h="1934585">
                <a:moveTo>
                  <a:pt x="98780" y="0"/>
                </a:moveTo>
                <a:lnTo>
                  <a:pt x="3613976" y="0"/>
                </a:lnTo>
                <a:cubicBezTo>
                  <a:pt x="3668531" y="0"/>
                  <a:pt x="3712756" y="44225"/>
                  <a:pt x="3712756" y="98780"/>
                </a:cubicBezTo>
                <a:lnTo>
                  <a:pt x="3712756" y="1835805"/>
                </a:lnTo>
                <a:cubicBezTo>
                  <a:pt x="3712756" y="1890359"/>
                  <a:pt x="3668531" y="1934585"/>
                  <a:pt x="3613976" y="1934585"/>
                </a:cubicBezTo>
                <a:lnTo>
                  <a:pt x="98780" y="1934585"/>
                </a:lnTo>
                <a:cubicBezTo>
                  <a:pt x="44225" y="1934585"/>
                  <a:pt x="0" y="1890359"/>
                  <a:pt x="0" y="1835805"/>
                </a:cubicBezTo>
                <a:lnTo>
                  <a:pt x="0" y="98780"/>
                </a:lnTo>
                <a:cubicBezTo>
                  <a:pt x="0" y="44262"/>
                  <a:pt x="44262" y="0"/>
                  <a:pt x="98780" y="0"/>
                </a:cubicBezTo>
                <a:close/>
              </a:path>
            </a:pathLst>
          </a:custGeom>
          <a:solidFill>
            <a:srgbClr val="1E293B"/>
          </a:solidFill>
          <a:ln/>
        </p:spPr>
        <p:txBody>
          <a:bodyPr/>
          <a:lstStyle/>
          <a:p>
            <a:endParaRPr lang="en-GB"/>
          </a:p>
        </p:txBody>
      </p:sp>
      <p:sp>
        <p:nvSpPr>
          <p:cNvPr id="45" name="Text 42"/>
          <p:cNvSpPr/>
          <p:nvPr/>
        </p:nvSpPr>
        <p:spPr>
          <a:xfrm>
            <a:off x="8313826" y="4181996"/>
            <a:ext cx="3457556" cy="230504"/>
          </a:xfrm>
          <a:prstGeom prst="rect">
            <a:avLst/>
          </a:prstGeom>
          <a:noFill/>
          <a:ln/>
        </p:spPr>
        <p:txBody>
          <a:bodyPr wrap="square" lIns="0" tIns="0" rIns="0" bIns="0" rtlCol="0" anchor="ctr"/>
          <a:lstStyle/>
          <a:p>
            <a:pPr>
              <a:lnSpc>
                <a:spcPct val="130000"/>
              </a:lnSpc>
            </a:pPr>
            <a:r>
              <a:rPr lang="en-US" sz="1167" b="1" dirty="0">
                <a:solidFill>
                  <a:srgbClr val="FFFFFF"/>
                </a:solidFill>
                <a:latin typeface="Liter" pitchFamily="34" charset="0"/>
                <a:ea typeface="Liter" pitchFamily="34" charset="-122"/>
                <a:cs typeface="Liter" pitchFamily="34" charset="-120"/>
              </a:rPr>
              <a:t>Key Metrics</a:t>
            </a:r>
            <a:endParaRPr lang="en-US" sz="1600" dirty="0"/>
          </a:p>
        </p:txBody>
      </p:sp>
      <p:sp>
        <p:nvSpPr>
          <p:cNvPr id="46" name="Shape 43"/>
          <p:cNvSpPr/>
          <p:nvPr/>
        </p:nvSpPr>
        <p:spPr>
          <a:xfrm>
            <a:off x="8313826" y="4778836"/>
            <a:ext cx="3383465" cy="8232"/>
          </a:xfrm>
          <a:custGeom>
            <a:avLst/>
            <a:gdLst/>
            <a:ahLst/>
            <a:cxnLst/>
            <a:rect l="l" t="t" r="r" b="b"/>
            <a:pathLst>
              <a:path w="3383465" h="8232">
                <a:moveTo>
                  <a:pt x="0" y="0"/>
                </a:moveTo>
                <a:lnTo>
                  <a:pt x="3383465" y="0"/>
                </a:lnTo>
                <a:lnTo>
                  <a:pt x="3383465" y="8232"/>
                </a:lnTo>
                <a:lnTo>
                  <a:pt x="0" y="8232"/>
                </a:lnTo>
                <a:lnTo>
                  <a:pt x="0" y="0"/>
                </a:lnTo>
                <a:close/>
              </a:path>
            </a:pathLst>
          </a:custGeom>
          <a:solidFill>
            <a:srgbClr val="475569"/>
          </a:solidFill>
          <a:ln/>
        </p:spPr>
        <p:txBody>
          <a:bodyPr/>
          <a:lstStyle/>
          <a:p>
            <a:endParaRPr lang="en-GB"/>
          </a:p>
        </p:txBody>
      </p:sp>
      <p:sp>
        <p:nvSpPr>
          <p:cNvPr id="47" name="Text 44"/>
          <p:cNvSpPr/>
          <p:nvPr/>
        </p:nvSpPr>
        <p:spPr>
          <a:xfrm>
            <a:off x="8313826" y="4544216"/>
            <a:ext cx="922015"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EPS (Reported)</a:t>
            </a:r>
            <a:endParaRPr lang="en-US" sz="1600" dirty="0"/>
          </a:p>
        </p:txBody>
      </p:sp>
      <p:sp>
        <p:nvSpPr>
          <p:cNvPr id="48" name="Text 45"/>
          <p:cNvSpPr/>
          <p:nvPr/>
        </p:nvSpPr>
        <p:spPr>
          <a:xfrm>
            <a:off x="11376104" y="4544216"/>
            <a:ext cx="386917" cy="197575"/>
          </a:xfrm>
          <a:prstGeom prst="rect">
            <a:avLst/>
          </a:prstGeom>
          <a:noFill/>
          <a:ln/>
        </p:spPr>
        <p:txBody>
          <a:bodyPr wrap="square" lIns="0" tIns="0" rIns="0" bIns="0" rtlCol="0" anchor="ctr"/>
          <a:lstStyle/>
          <a:p>
            <a:pPr>
              <a:lnSpc>
                <a:spcPct val="130000"/>
              </a:lnSpc>
            </a:pPr>
            <a:r>
              <a:rPr lang="en-US" sz="1037" b="1" dirty="0">
                <a:solidFill>
                  <a:srgbClr val="FFFFFF"/>
                </a:solidFill>
                <a:latin typeface="Quattrocento Sans" pitchFamily="34" charset="0"/>
                <a:ea typeface="Quattrocento Sans" pitchFamily="34" charset="-122"/>
                <a:cs typeface="Quattrocento Sans" pitchFamily="34" charset="-120"/>
              </a:rPr>
              <a:t>€3.34</a:t>
            </a:r>
            <a:endParaRPr lang="en-US" sz="1600" dirty="0"/>
          </a:p>
        </p:txBody>
      </p:sp>
      <p:sp>
        <p:nvSpPr>
          <p:cNvPr id="49" name="Shape 46"/>
          <p:cNvSpPr/>
          <p:nvPr/>
        </p:nvSpPr>
        <p:spPr>
          <a:xfrm>
            <a:off x="8313826" y="5116359"/>
            <a:ext cx="3383465" cy="8232"/>
          </a:xfrm>
          <a:custGeom>
            <a:avLst/>
            <a:gdLst/>
            <a:ahLst/>
            <a:cxnLst/>
            <a:rect l="l" t="t" r="r" b="b"/>
            <a:pathLst>
              <a:path w="3383465" h="8232">
                <a:moveTo>
                  <a:pt x="0" y="0"/>
                </a:moveTo>
                <a:lnTo>
                  <a:pt x="3383465" y="0"/>
                </a:lnTo>
                <a:lnTo>
                  <a:pt x="3383465" y="8232"/>
                </a:lnTo>
                <a:lnTo>
                  <a:pt x="0" y="8232"/>
                </a:lnTo>
                <a:lnTo>
                  <a:pt x="0" y="0"/>
                </a:lnTo>
                <a:close/>
              </a:path>
            </a:pathLst>
          </a:custGeom>
          <a:solidFill>
            <a:srgbClr val="475569"/>
          </a:solidFill>
          <a:ln/>
        </p:spPr>
        <p:txBody>
          <a:bodyPr/>
          <a:lstStyle/>
          <a:p>
            <a:endParaRPr lang="en-GB"/>
          </a:p>
        </p:txBody>
      </p:sp>
      <p:sp>
        <p:nvSpPr>
          <p:cNvPr id="50" name="Text 47"/>
          <p:cNvSpPr/>
          <p:nvPr/>
        </p:nvSpPr>
        <p:spPr>
          <a:xfrm>
            <a:off x="8313826" y="4881739"/>
            <a:ext cx="897318"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R&amp;D Expenses</a:t>
            </a:r>
            <a:endParaRPr lang="en-US" sz="1600" dirty="0"/>
          </a:p>
        </p:txBody>
      </p:sp>
      <p:sp>
        <p:nvSpPr>
          <p:cNvPr id="51" name="Text 48"/>
          <p:cNvSpPr/>
          <p:nvPr/>
        </p:nvSpPr>
        <p:spPr>
          <a:xfrm>
            <a:off x="11401573" y="4881739"/>
            <a:ext cx="362220" cy="197575"/>
          </a:xfrm>
          <a:prstGeom prst="rect">
            <a:avLst/>
          </a:prstGeom>
          <a:noFill/>
          <a:ln/>
        </p:spPr>
        <p:txBody>
          <a:bodyPr wrap="square" lIns="0" tIns="0" rIns="0" bIns="0" rtlCol="0" anchor="ctr"/>
          <a:lstStyle/>
          <a:p>
            <a:pPr>
              <a:lnSpc>
                <a:spcPct val="130000"/>
              </a:lnSpc>
            </a:pPr>
            <a:r>
              <a:rPr lang="en-US" sz="1037" b="1" dirty="0">
                <a:solidFill>
                  <a:srgbClr val="FFFFFF"/>
                </a:solidFill>
                <a:latin typeface="Quattrocento Sans" pitchFamily="34" charset="0"/>
                <a:ea typeface="Quattrocento Sans" pitchFamily="34" charset="-122"/>
                <a:cs typeface="Quattrocento Sans" pitchFamily="34" charset="-120"/>
              </a:rPr>
              <a:t>€2.1B</a:t>
            </a:r>
            <a:endParaRPr lang="en-US" sz="1600" dirty="0"/>
          </a:p>
        </p:txBody>
      </p:sp>
      <p:sp>
        <p:nvSpPr>
          <p:cNvPr id="52" name="Shape 49"/>
          <p:cNvSpPr/>
          <p:nvPr/>
        </p:nvSpPr>
        <p:spPr>
          <a:xfrm>
            <a:off x="8313826" y="5453883"/>
            <a:ext cx="3383465" cy="8232"/>
          </a:xfrm>
          <a:custGeom>
            <a:avLst/>
            <a:gdLst/>
            <a:ahLst/>
            <a:cxnLst/>
            <a:rect l="l" t="t" r="r" b="b"/>
            <a:pathLst>
              <a:path w="3383465" h="8232">
                <a:moveTo>
                  <a:pt x="0" y="0"/>
                </a:moveTo>
                <a:lnTo>
                  <a:pt x="3383465" y="0"/>
                </a:lnTo>
                <a:lnTo>
                  <a:pt x="3383465" y="8232"/>
                </a:lnTo>
                <a:lnTo>
                  <a:pt x="0" y="8232"/>
                </a:lnTo>
                <a:lnTo>
                  <a:pt x="0" y="0"/>
                </a:lnTo>
                <a:close/>
              </a:path>
            </a:pathLst>
          </a:custGeom>
          <a:solidFill>
            <a:srgbClr val="475569"/>
          </a:solidFill>
          <a:ln/>
        </p:spPr>
        <p:txBody>
          <a:bodyPr/>
          <a:lstStyle/>
          <a:p>
            <a:endParaRPr lang="en-GB"/>
          </a:p>
        </p:txBody>
      </p:sp>
      <p:sp>
        <p:nvSpPr>
          <p:cNvPr id="53" name="Text 50"/>
          <p:cNvSpPr/>
          <p:nvPr/>
        </p:nvSpPr>
        <p:spPr>
          <a:xfrm>
            <a:off x="8313826" y="5219263"/>
            <a:ext cx="1061964"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Net Cash Position</a:t>
            </a:r>
            <a:endParaRPr lang="en-US" sz="1600" dirty="0"/>
          </a:p>
        </p:txBody>
      </p:sp>
      <p:sp>
        <p:nvSpPr>
          <p:cNvPr id="54" name="Text 51"/>
          <p:cNvSpPr/>
          <p:nvPr/>
        </p:nvSpPr>
        <p:spPr>
          <a:xfrm>
            <a:off x="11364656" y="5219263"/>
            <a:ext cx="395149" cy="197575"/>
          </a:xfrm>
          <a:prstGeom prst="rect">
            <a:avLst/>
          </a:prstGeom>
          <a:noFill/>
          <a:ln/>
        </p:spPr>
        <p:txBody>
          <a:bodyPr wrap="square" lIns="0" tIns="0" rIns="0" bIns="0" rtlCol="0" anchor="ctr"/>
          <a:lstStyle/>
          <a:p>
            <a:pPr>
              <a:lnSpc>
                <a:spcPct val="130000"/>
              </a:lnSpc>
            </a:pPr>
            <a:r>
              <a:rPr lang="en-US" sz="1037" b="1" dirty="0">
                <a:solidFill>
                  <a:srgbClr val="FFFFFF"/>
                </a:solidFill>
                <a:latin typeface="Quattrocento Sans" pitchFamily="34" charset="0"/>
                <a:ea typeface="Quattrocento Sans" pitchFamily="34" charset="-122"/>
                <a:cs typeface="Quattrocento Sans" pitchFamily="34" charset="-120"/>
              </a:rPr>
              <a:t>€7.0B</a:t>
            </a:r>
            <a:endParaRPr lang="en-US" sz="1600" dirty="0"/>
          </a:p>
        </p:txBody>
      </p:sp>
      <p:sp>
        <p:nvSpPr>
          <p:cNvPr id="55" name="Text 52"/>
          <p:cNvSpPr/>
          <p:nvPr/>
        </p:nvSpPr>
        <p:spPr>
          <a:xfrm>
            <a:off x="8313826" y="5556786"/>
            <a:ext cx="707976" cy="197575"/>
          </a:xfrm>
          <a:prstGeom prst="rect">
            <a:avLst/>
          </a:prstGeom>
          <a:noFill/>
          <a:ln/>
        </p:spPr>
        <p:txBody>
          <a:bodyPr wrap="square" lIns="0" tIns="0" rIns="0" bIns="0" rtlCol="0" anchor="ctr"/>
          <a:lstStyle/>
          <a:p>
            <a:pPr>
              <a:lnSpc>
                <a:spcPct val="130000"/>
              </a:lnSpc>
            </a:pPr>
            <a:r>
              <a:rPr lang="en-US" sz="1037" dirty="0">
                <a:solidFill>
                  <a:srgbClr val="94A3B8"/>
                </a:solidFill>
                <a:latin typeface="Quattrocento Sans" pitchFamily="34" charset="0"/>
                <a:ea typeface="Quattrocento Sans" pitchFamily="34" charset="-122"/>
                <a:cs typeface="Quattrocento Sans" pitchFamily="34" charset="-120"/>
              </a:rPr>
              <a:t>Gross Cash</a:t>
            </a:r>
            <a:endParaRPr lang="en-US" sz="1600" dirty="0"/>
          </a:p>
        </p:txBody>
      </p:sp>
      <p:sp>
        <p:nvSpPr>
          <p:cNvPr id="56" name="Text 53"/>
          <p:cNvSpPr/>
          <p:nvPr/>
        </p:nvSpPr>
        <p:spPr>
          <a:xfrm>
            <a:off x="11331084" y="5556786"/>
            <a:ext cx="428078" cy="197575"/>
          </a:xfrm>
          <a:prstGeom prst="rect">
            <a:avLst/>
          </a:prstGeom>
          <a:noFill/>
          <a:ln/>
        </p:spPr>
        <p:txBody>
          <a:bodyPr wrap="square" lIns="0" tIns="0" rIns="0" bIns="0" rtlCol="0" anchor="ctr"/>
          <a:lstStyle/>
          <a:p>
            <a:pPr>
              <a:lnSpc>
                <a:spcPct val="130000"/>
              </a:lnSpc>
            </a:pPr>
            <a:r>
              <a:rPr lang="en-US" sz="1037" b="1" dirty="0">
                <a:solidFill>
                  <a:srgbClr val="FFFFFF"/>
                </a:solidFill>
                <a:latin typeface="Quattrocento Sans" pitchFamily="34" charset="0"/>
                <a:ea typeface="Quattrocento Sans" pitchFamily="34" charset="-122"/>
                <a:cs typeface="Quattrocento Sans" pitchFamily="34" charset="-120"/>
              </a:rPr>
              <a:t>€21.3B</a:t>
            </a:r>
            <a:endParaRPr lang="en-US" sz="1600" dirty="0"/>
          </a:p>
        </p:txBody>
      </p:sp>
      <p:sp>
        <p:nvSpPr>
          <p:cNvPr id="57" name="Shape 54"/>
          <p:cNvSpPr/>
          <p:nvPr/>
        </p:nvSpPr>
        <p:spPr>
          <a:xfrm>
            <a:off x="8149181" y="6038374"/>
            <a:ext cx="3704524" cy="699743"/>
          </a:xfrm>
          <a:custGeom>
            <a:avLst/>
            <a:gdLst/>
            <a:ahLst/>
            <a:cxnLst/>
            <a:rect l="l" t="t" r="r" b="b"/>
            <a:pathLst>
              <a:path w="3704524" h="699743">
                <a:moveTo>
                  <a:pt x="98790" y="0"/>
                </a:moveTo>
                <a:lnTo>
                  <a:pt x="3605734" y="0"/>
                </a:lnTo>
                <a:cubicBezTo>
                  <a:pt x="3660294" y="0"/>
                  <a:pt x="3704524" y="44230"/>
                  <a:pt x="3704524" y="98790"/>
                </a:cubicBezTo>
                <a:lnTo>
                  <a:pt x="3704524" y="600954"/>
                </a:lnTo>
                <a:cubicBezTo>
                  <a:pt x="3704524" y="655514"/>
                  <a:pt x="3660294" y="699743"/>
                  <a:pt x="3605734" y="699743"/>
                </a:cubicBezTo>
                <a:lnTo>
                  <a:pt x="98790" y="699743"/>
                </a:lnTo>
                <a:cubicBezTo>
                  <a:pt x="44230" y="699743"/>
                  <a:pt x="0" y="655514"/>
                  <a:pt x="0" y="600954"/>
                </a:cubicBezTo>
                <a:lnTo>
                  <a:pt x="0" y="98790"/>
                </a:lnTo>
                <a:cubicBezTo>
                  <a:pt x="0" y="44266"/>
                  <a:pt x="44266" y="0"/>
                  <a:pt x="98790" y="0"/>
                </a:cubicBezTo>
                <a:close/>
              </a:path>
            </a:pathLst>
          </a:custGeom>
          <a:gradFill flip="none" rotWithShape="1">
            <a:gsLst>
              <a:gs pos="0">
                <a:srgbClr val="F59E0B">
                  <a:alpha val="20000"/>
                </a:srgbClr>
              </a:gs>
              <a:gs pos="100000">
                <a:srgbClr val="0F172A"/>
              </a:gs>
            </a:gsLst>
            <a:lin ang="0" scaled="1"/>
          </a:gradFill>
          <a:ln w="12700">
            <a:solidFill>
              <a:srgbClr val="F59E0B">
                <a:alpha val="30196"/>
              </a:srgbClr>
            </a:solidFill>
            <a:prstDash val="solid"/>
          </a:ln>
        </p:spPr>
        <p:txBody>
          <a:bodyPr/>
          <a:lstStyle/>
          <a:p>
            <a:endParaRPr lang="en-GB"/>
          </a:p>
        </p:txBody>
      </p:sp>
      <p:sp>
        <p:nvSpPr>
          <p:cNvPr id="58" name="Shape 55"/>
          <p:cNvSpPr/>
          <p:nvPr/>
        </p:nvSpPr>
        <p:spPr>
          <a:xfrm>
            <a:off x="8301478" y="6207136"/>
            <a:ext cx="131716" cy="131716"/>
          </a:xfrm>
          <a:custGeom>
            <a:avLst/>
            <a:gdLst/>
            <a:ahLst/>
            <a:cxnLst/>
            <a:rect l="l" t="t" r="r" b="b"/>
            <a:pathLst>
              <a:path w="131716" h="131716">
                <a:moveTo>
                  <a:pt x="65858" y="131716"/>
                </a:moveTo>
                <a:cubicBezTo>
                  <a:pt x="102206" y="131716"/>
                  <a:pt x="131716" y="102206"/>
                  <a:pt x="131716" y="65858"/>
                </a:cubicBezTo>
                <a:cubicBezTo>
                  <a:pt x="131716" y="29510"/>
                  <a:pt x="102206" y="0"/>
                  <a:pt x="65858" y="0"/>
                </a:cubicBezTo>
                <a:cubicBezTo>
                  <a:pt x="29510" y="0"/>
                  <a:pt x="0" y="29510"/>
                  <a:pt x="0" y="65858"/>
                </a:cubicBezTo>
                <a:cubicBezTo>
                  <a:pt x="0" y="102206"/>
                  <a:pt x="29510" y="131716"/>
                  <a:pt x="65858" y="131716"/>
                </a:cubicBezTo>
                <a:close/>
                <a:moveTo>
                  <a:pt x="57626" y="41161"/>
                </a:moveTo>
                <a:cubicBezTo>
                  <a:pt x="57626" y="36618"/>
                  <a:pt x="61315" y="32929"/>
                  <a:pt x="65858" y="32929"/>
                </a:cubicBezTo>
                <a:cubicBezTo>
                  <a:pt x="70402" y="32929"/>
                  <a:pt x="74090" y="36618"/>
                  <a:pt x="74090" y="41161"/>
                </a:cubicBezTo>
                <a:cubicBezTo>
                  <a:pt x="74090" y="45705"/>
                  <a:pt x="70402" y="49394"/>
                  <a:pt x="65858" y="49394"/>
                </a:cubicBezTo>
                <a:cubicBezTo>
                  <a:pt x="61315" y="49394"/>
                  <a:pt x="57626" y="45705"/>
                  <a:pt x="57626" y="41161"/>
                </a:cubicBezTo>
                <a:close/>
                <a:moveTo>
                  <a:pt x="55568" y="57626"/>
                </a:moveTo>
                <a:lnTo>
                  <a:pt x="67916" y="57626"/>
                </a:lnTo>
                <a:cubicBezTo>
                  <a:pt x="71338" y="57626"/>
                  <a:pt x="74090" y="60379"/>
                  <a:pt x="74090" y="63800"/>
                </a:cubicBezTo>
                <a:lnTo>
                  <a:pt x="74090" y="86439"/>
                </a:lnTo>
                <a:lnTo>
                  <a:pt x="76149" y="86439"/>
                </a:lnTo>
                <a:cubicBezTo>
                  <a:pt x="79570" y="86439"/>
                  <a:pt x="82323" y="89192"/>
                  <a:pt x="82323" y="92613"/>
                </a:cubicBezTo>
                <a:cubicBezTo>
                  <a:pt x="82323" y="96035"/>
                  <a:pt x="79570" y="98787"/>
                  <a:pt x="76149" y="98787"/>
                </a:cubicBezTo>
                <a:lnTo>
                  <a:pt x="55568" y="98787"/>
                </a:lnTo>
                <a:cubicBezTo>
                  <a:pt x="52146" y="98787"/>
                  <a:pt x="49394" y="96035"/>
                  <a:pt x="49394" y="92613"/>
                </a:cubicBezTo>
                <a:cubicBezTo>
                  <a:pt x="49394" y="89192"/>
                  <a:pt x="52146" y="86439"/>
                  <a:pt x="55568" y="86439"/>
                </a:cubicBezTo>
                <a:lnTo>
                  <a:pt x="61742" y="86439"/>
                </a:lnTo>
                <a:lnTo>
                  <a:pt x="61742" y="69974"/>
                </a:lnTo>
                <a:lnTo>
                  <a:pt x="55568" y="69974"/>
                </a:lnTo>
                <a:cubicBezTo>
                  <a:pt x="52146" y="69974"/>
                  <a:pt x="49394" y="67222"/>
                  <a:pt x="49394" y="63800"/>
                </a:cubicBezTo>
                <a:cubicBezTo>
                  <a:pt x="49394" y="60379"/>
                  <a:pt x="52146" y="57626"/>
                  <a:pt x="55568" y="57626"/>
                </a:cubicBezTo>
                <a:close/>
              </a:path>
            </a:pathLst>
          </a:custGeom>
          <a:solidFill>
            <a:srgbClr val="F59E0B"/>
          </a:solidFill>
          <a:ln/>
        </p:spPr>
        <p:txBody>
          <a:bodyPr/>
          <a:lstStyle/>
          <a:p>
            <a:endParaRPr lang="en-GB"/>
          </a:p>
        </p:txBody>
      </p:sp>
      <p:sp>
        <p:nvSpPr>
          <p:cNvPr id="59" name="Text 56"/>
          <p:cNvSpPr/>
          <p:nvPr/>
        </p:nvSpPr>
        <p:spPr>
          <a:xfrm>
            <a:off x="8492349" y="6174206"/>
            <a:ext cx="3291382" cy="197575"/>
          </a:xfrm>
          <a:prstGeom prst="rect">
            <a:avLst/>
          </a:prstGeom>
          <a:noFill/>
          <a:ln/>
        </p:spPr>
        <p:txBody>
          <a:bodyPr wrap="square" lIns="0" tIns="0" rIns="0" bIns="0" rtlCol="0" anchor="ctr"/>
          <a:lstStyle/>
          <a:p>
            <a:pPr>
              <a:lnSpc>
                <a:spcPct val="130000"/>
              </a:lnSpc>
            </a:pPr>
            <a:r>
              <a:rPr lang="en-US" sz="1037" b="1" dirty="0">
                <a:solidFill>
                  <a:srgbClr val="F59E0B"/>
                </a:solidFill>
                <a:latin typeface="Quattrocento Sans" pitchFamily="34" charset="0"/>
                <a:ea typeface="Quattrocento Sans" pitchFamily="34" charset="-122"/>
                <a:cs typeface="Quattrocento Sans" pitchFamily="34" charset="-120"/>
              </a:rPr>
              <a:t>Credit Ratings</a:t>
            </a:r>
            <a:endParaRPr lang="en-US" sz="1600" dirty="0"/>
          </a:p>
        </p:txBody>
      </p:sp>
      <p:sp>
        <p:nvSpPr>
          <p:cNvPr id="60" name="Text 57"/>
          <p:cNvSpPr/>
          <p:nvPr/>
        </p:nvSpPr>
        <p:spPr>
          <a:xfrm>
            <a:off x="8285014" y="6404710"/>
            <a:ext cx="922015" cy="197575"/>
          </a:xfrm>
          <a:prstGeom prst="rect">
            <a:avLst/>
          </a:prstGeom>
          <a:noFill/>
          <a:ln/>
        </p:spPr>
        <p:txBody>
          <a:bodyPr wrap="square" lIns="0" tIns="0" rIns="0" bIns="0" rtlCol="0" anchor="ctr"/>
          <a:lstStyle/>
          <a:p>
            <a:pPr>
              <a:lnSpc>
                <a:spcPct val="130000"/>
              </a:lnSpc>
            </a:pPr>
            <a:r>
              <a:rPr lang="en-US" sz="1037" dirty="0">
                <a:solidFill>
                  <a:srgbClr val="E2E8F0"/>
                </a:solidFill>
                <a:latin typeface="Quattrocento Sans" pitchFamily="34" charset="0"/>
                <a:ea typeface="Quattrocento Sans" pitchFamily="34" charset="-122"/>
                <a:cs typeface="Quattrocento Sans" pitchFamily="34" charset="-120"/>
              </a:rPr>
              <a:t>S&amp;P: A (Stable)</a:t>
            </a:r>
            <a:endParaRPr lang="en-US" sz="1600" dirty="0"/>
          </a:p>
        </p:txBody>
      </p:sp>
      <p:sp>
        <p:nvSpPr>
          <p:cNvPr id="61" name="Text 58"/>
          <p:cNvSpPr/>
          <p:nvPr/>
        </p:nvSpPr>
        <p:spPr>
          <a:xfrm>
            <a:off x="10571400" y="6404710"/>
            <a:ext cx="1210144" cy="197575"/>
          </a:xfrm>
          <a:prstGeom prst="rect">
            <a:avLst/>
          </a:prstGeom>
          <a:noFill/>
          <a:ln/>
        </p:spPr>
        <p:txBody>
          <a:bodyPr wrap="square" lIns="0" tIns="0" rIns="0" bIns="0" rtlCol="0" anchor="ctr"/>
          <a:lstStyle/>
          <a:p>
            <a:pPr>
              <a:lnSpc>
                <a:spcPct val="130000"/>
              </a:lnSpc>
            </a:pPr>
            <a:r>
              <a:rPr lang="en-US" sz="1037" dirty="0">
                <a:solidFill>
                  <a:srgbClr val="E2E8F0"/>
                </a:solidFill>
                <a:latin typeface="Quattrocento Sans" pitchFamily="34" charset="0"/>
                <a:ea typeface="Quattrocento Sans" pitchFamily="34" charset="-122"/>
                <a:cs typeface="Quattrocento Sans" pitchFamily="34" charset="-120"/>
              </a:rPr>
              <a:t>Moody's: A1 (Stable)</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38BDF8"/>
                </a:solidFill>
                <a:latin typeface="Quattrocento Sans" pitchFamily="34" charset="0"/>
                <a:ea typeface="Quattrocento Sans" pitchFamily="34" charset="-122"/>
                <a:cs typeface="Quattrocento Sans" pitchFamily="34" charset="-120"/>
              </a:rPr>
              <a:t>OPERATIONAL DIVISIONS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FFFFF"/>
                </a:solidFill>
                <a:latin typeface="Liter" pitchFamily="34" charset="0"/>
                <a:ea typeface="Liter" pitchFamily="34" charset="-122"/>
                <a:cs typeface="Liter" pitchFamily="34" charset="-120"/>
              </a:rPr>
              <a:t>Business Segment Performance</a:t>
            </a:r>
            <a:endParaRPr lang="en-US" sz="1600" dirty="0"/>
          </a:p>
        </p:txBody>
      </p:sp>
      <p:sp>
        <p:nvSpPr>
          <p:cNvPr id="4" name="Text 2"/>
          <p:cNvSpPr/>
          <p:nvPr/>
        </p:nvSpPr>
        <p:spPr>
          <a:xfrm>
            <a:off x="381000" y="1143000"/>
            <a:ext cx="1150620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Three Divisions Driving Comprehensive Aerospace Leadership</a:t>
            </a:r>
            <a:endParaRPr lang="en-US" sz="1600" dirty="0"/>
          </a:p>
        </p:txBody>
      </p:sp>
      <p:sp>
        <p:nvSpPr>
          <p:cNvPr id="5" name="Shape 3"/>
          <p:cNvSpPr/>
          <p:nvPr/>
        </p:nvSpPr>
        <p:spPr>
          <a:xfrm>
            <a:off x="385763" y="1604963"/>
            <a:ext cx="3648075" cy="4962525"/>
          </a:xfrm>
          <a:custGeom>
            <a:avLst/>
            <a:gdLst/>
            <a:ahLst/>
            <a:cxnLst/>
            <a:rect l="l" t="t" r="r" b="b"/>
            <a:pathLst>
              <a:path w="3648075" h="4962525">
                <a:moveTo>
                  <a:pt x="114294" y="0"/>
                </a:moveTo>
                <a:lnTo>
                  <a:pt x="3533781" y="0"/>
                </a:lnTo>
                <a:cubicBezTo>
                  <a:pt x="3596904" y="0"/>
                  <a:pt x="3648075" y="51171"/>
                  <a:pt x="3648075" y="114294"/>
                </a:cubicBezTo>
                <a:lnTo>
                  <a:pt x="3648075" y="4848231"/>
                </a:lnTo>
                <a:cubicBezTo>
                  <a:pt x="3648075" y="4911354"/>
                  <a:pt x="3596904" y="4962525"/>
                  <a:pt x="3533781" y="4962525"/>
                </a:cubicBezTo>
                <a:lnTo>
                  <a:pt x="114294" y="4962525"/>
                </a:lnTo>
                <a:cubicBezTo>
                  <a:pt x="51171" y="4962525"/>
                  <a:pt x="0" y="4911354"/>
                  <a:pt x="0" y="4848231"/>
                </a:cubicBezTo>
                <a:lnTo>
                  <a:pt x="0" y="114294"/>
                </a:lnTo>
                <a:cubicBezTo>
                  <a:pt x="0" y="51214"/>
                  <a:pt x="51214" y="0"/>
                  <a:pt x="114294"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6" name="Shape 4"/>
          <p:cNvSpPr/>
          <p:nvPr/>
        </p:nvSpPr>
        <p:spPr>
          <a:xfrm>
            <a:off x="619125" y="18573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30196"/>
            </a:srgbClr>
          </a:solidFill>
          <a:ln/>
        </p:spPr>
        <p:txBody>
          <a:bodyPr/>
          <a:lstStyle/>
          <a:p>
            <a:endParaRPr lang="en-GB"/>
          </a:p>
        </p:txBody>
      </p:sp>
      <p:sp>
        <p:nvSpPr>
          <p:cNvPr id="7" name="Shape 5"/>
          <p:cNvSpPr/>
          <p:nvPr/>
        </p:nvSpPr>
        <p:spPr>
          <a:xfrm>
            <a:off x="740569" y="1990725"/>
            <a:ext cx="214313" cy="190500"/>
          </a:xfrm>
          <a:custGeom>
            <a:avLst/>
            <a:gdLst/>
            <a:ahLst/>
            <a:cxnLst/>
            <a:rect l="l" t="t" r="r" b="b"/>
            <a:pathLst>
              <a:path w="214313" h="190500">
                <a:moveTo>
                  <a:pt x="193477" y="74414"/>
                </a:moveTo>
                <a:cubicBezTo>
                  <a:pt x="204974" y="74414"/>
                  <a:pt x="214313" y="83753"/>
                  <a:pt x="214313" y="95250"/>
                </a:cubicBezTo>
                <a:cubicBezTo>
                  <a:pt x="214313" y="106747"/>
                  <a:pt x="204974" y="116086"/>
                  <a:pt x="193477" y="116086"/>
                </a:cubicBezTo>
                <a:lnTo>
                  <a:pt x="146112" y="116086"/>
                </a:lnTo>
                <a:lnTo>
                  <a:pt x="86878" y="180677"/>
                </a:lnTo>
                <a:cubicBezTo>
                  <a:pt x="84609" y="183133"/>
                  <a:pt x="81446" y="184547"/>
                  <a:pt x="78098" y="184547"/>
                </a:cubicBezTo>
                <a:lnTo>
                  <a:pt x="61838" y="184547"/>
                </a:lnTo>
                <a:cubicBezTo>
                  <a:pt x="57783" y="184547"/>
                  <a:pt x="54918" y="180566"/>
                  <a:pt x="56183" y="176696"/>
                </a:cubicBezTo>
                <a:lnTo>
                  <a:pt x="76386" y="116086"/>
                </a:lnTo>
                <a:lnTo>
                  <a:pt x="39291" y="116086"/>
                </a:lnTo>
                <a:lnTo>
                  <a:pt x="19645" y="140643"/>
                </a:lnTo>
                <a:cubicBezTo>
                  <a:pt x="18529" y="142056"/>
                  <a:pt x="16818" y="142875"/>
                  <a:pt x="14994" y="142875"/>
                </a:cubicBezTo>
                <a:lnTo>
                  <a:pt x="7627" y="142875"/>
                </a:lnTo>
                <a:cubicBezTo>
                  <a:pt x="3758" y="142875"/>
                  <a:pt x="930" y="139229"/>
                  <a:pt x="1860" y="135471"/>
                </a:cubicBezTo>
                <a:lnTo>
                  <a:pt x="11906" y="95250"/>
                </a:lnTo>
                <a:lnTo>
                  <a:pt x="1860" y="55029"/>
                </a:lnTo>
                <a:cubicBezTo>
                  <a:pt x="893" y="51271"/>
                  <a:pt x="3758" y="47625"/>
                  <a:pt x="7627" y="47625"/>
                </a:cubicBezTo>
                <a:lnTo>
                  <a:pt x="14994" y="47625"/>
                </a:lnTo>
                <a:cubicBezTo>
                  <a:pt x="16818" y="47625"/>
                  <a:pt x="18529" y="48444"/>
                  <a:pt x="19645" y="49857"/>
                </a:cubicBezTo>
                <a:lnTo>
                  <a:pt x="39291" y="74414"/>
                </a:lnTo>
                <a:lnTo>
                  <a:pt x="76386" y="74414"/>
                </a:lnTo>
                <a:lnTo>
                  <a:pt x="56183" y="13804"/>
                </a:lnTo>
                <a:cubicBezTo>
                  <a:pt x="54918" y="9934"/>
                  <a:pt x="57783" y="5953"/>
                  <a:pt x="61838" y="5953"/>
                </a:cubicBezTo>
                <a:lnTo>
                  <a:pt x="78098" y="5953"/>
                </a:lnTo>
                <a:cubicBezTo>
                  <a:pt x="81446" y="5953"/>
                  <a:pt x="84609" y="7367"/>
                  <a:pt x="86878" y="9823"/>
                </a:cubicBezTo>
                <a:lnTo>
                  <a:pt x="146112" y="74414"/>
                </a:lnTo>
                <a:lnTo>
                  <a:pt x="193477" y="74414"/>
                </a:lnTo>
                <a:close/>
              </a:path>
            </a:pathLst>
          </a:custGeom>
          <a:solidFill>
            <a:srgbClr val="38BDF8"/>
          </a:solidFill>
          <a:ln/>
        </p:spPr>
        <p:txBody>
          <a:bodyPr/>
          <a:lstStyle/>
          <a:p>
            <a:endParaRPr lang="en-GB"/>
          </a:p>
        </p:txBody>
      </p:sp>
      <p:sp>
        <p:nvSpPr>
          <p:cNvPr id="8" name="Text 6"/>
          <p:cNvSpPr/>
          <p:nvPr/>
        </p:nvSpPr>
        <p:spPr>
          <a:xfrm>
            <a:off x="1190625" y="1838325"/>
            <a:ext cx="17811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Commercial Aircraft</a:t>
            </a:r>
            <a:endParaRPr lang="en-US" sz="1600" dirty="0"/>
          </a:p>
        </p:txBody>
      </p:sp>
      <p:sp>
        <p:nvSpPr>
          <p:cNvPr id="9" name="Text 7"/>
          <p:cNvSpPr/>
          <p:nvPr/>
        </p:nvSpPr>
        <p:spPr>
          <a:xfrm>
            <a:off x="1190625" y="2105025"/>
            <a:ext cx="176212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Core Business</a:t>
            </a:r>
            <a:endParaRPr lang="en-US" sz="1600" dirty="0"/>
          </a:p>
        </p:txBody>
      </p:sp>
      <p:sp>
        <p:nvSpPr>
          <p:cNvPr id="10" name="Shape 8"/>
          <p:cNvSpPr/>
          <p:nvPr/>
        </p:nvSpPr>
        <p:spPr>
          <a:xfrm>
            <a:off x="619125" y="2486025"/>
            <a:ext cx="1533525" cy="990600"/>
          </a:xfrm>
          <a:custGeom>
            <a:avLst/>
            <a:gdLst/>
            <a:ahLst/>
            <a:cxnLst/>
            <a:rect l="l" t="t" r="r" b="b"/>
            <a:pathLst>
              <a:path w="1533525" h="990600">
                <a:moveTo>
                  <a:pt x="76197" y="0"/>
                </a:moveTo>
                <a:lnTo>
                  <a:pt x="1457328" y="0"/>
                </a:lnTo>
                <a:cubicBezTo>
                  <a:pt x="1499410" y="0"/>
                  <a:pt x="1533525" y="34115"/>
                  <a:pt x="1533525" y="76197"/>
                </a:cubicBezTo>
                <a:lnTo>
                  <a:pt x="1533525" y="914403"/>
                </a:lnTo>
                <a:cubicBezTo>
                  <a:pt x="1533525" y="956485"/>
                  <a:pt x="1499410" y="990600"/>
                  <a:pt x="14573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11" name="Text 9"/>
          <p:cNvSpPr/>
          <p:nvPr/>
        </p:nvSpPr>
        <p:spPr>
          <a:xfrm>
            <a:off x="676275" y="2600325"/>
            <a:ext cx="1419225" cy="304800"/>
          </a:xfrm>
          <a:prstGeom prst="rect">
            <a:avLst/>
          </a:prstGeom>
          <a:noFill/>
          <a:ln/>
        </p:spPr>
        <p:txBody>
          <a:bodyPr wrap="square" lIns="0" tIns="0" rIns="0" bIns="0" rtlCol="0" anchor="ctr"/>
          <a:lstStyle/>
          <a:p>
            <a:pPr algn="ctr">
              <a:lnSpc>
                <a:spcPct val="110000"/>
              </a:lnSpc>
            </a:pPr>
            <a:r>
              <a:rPr lang="en-US" sz="1800" b="1" dirty="0">
                <a:solidFill>
                  <a:srgbClr val="38BDF8"/>
                </a:solidFill>
                <a:latin typeface="Liter" pitchFamily="34" charset="0"/>
                <a:ea typeface="Liter" pitchFamily="34" charset="-122"/>
                <a:cs typeface="Liter" pitchFamily="34" charset="-120"/>
              </a:rPr>
              <a:t>€33.9B</a:t>
            </a:r>
            <a:endParaRPr lang="en-US" sz="1600" dirty="0"/>
          </a:p>
        </p:txBody>
      </p:sp>
      <p:sp>
        <p:nvSpPr>
          <p:cNvPr id="12" name="Text 10"/>
          <p:cNvSpPr/>
          <p:nvPr/>
        </p:nvSpPr>
        <p:spPr>
          <a:xfrm>
            <a:off x="695325" y="2905125"/>
            <a:ext cx="13811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Revenue</a:t>
            </a:r>
            <a:endParaRPr lang="en-US" sz="1600" dirty="0"/>
          </a:p>
        </p:txBody>
      </p:sp>
      <p:sp>
        <p:nvSpPr>
          <p:cNvPr id="13" name="Text 11"/>
          <p:cNvSpPr/>
          <p:nvPr/>
        </p:nvSpPr>
        <p:spPr>
          <a:xfrm>
            <a:off x="695325" y="3133725"/>
            <a:ext cx="1381125" cy="228600"/>
          </a:xfrm>
          <a:prstGeom prst="rect">
            <a:avLst/>
          </a:prstGeom>
          <a:noFill/>
          <a:ln/>
        </p:spPr>
        <p:txBody>
          <a:bodyPr wrap="square" lIns="0" tIns="0" rIns="0" bIns="0" rtlCol="0" anchor="ctr"/>
          <a:lstStyle/>
          <a:p>
            <a:pPr algn="ctr">
              <a:lnSpc>
                <a:spcPct val="130000"/>
              </a:lnSpc>
            </a:pPr>
            <a:r>
              <a:rPr lang="en-US" sz="1200" b="1" dirty="0">
                <a:solidFill>
                  <a:srgbClr val="38BDF8"/>
                </a:solidFill>
                <a:latin typeface="Quattrocento Sans" pitchFamily="34" charset="0"/>
                <a:ea typeface="Quattrocento Sans" pitchFamily="34" charset="-122"/>
                <a:cs typeface="Quattrocento Sans" pitchFamily="34" charset="-120"/>
              </a:rPr>
              <a:t>+3% YoY</a:t>
            </a:r>
            <a:endParaRPr lang="en-US" sz="1600" dirty="0"/>
          </a:p>
        </p:txBody>
      </p:sp>
      <p:sp>
        <p:nvSpPr>
          <p:cNvPr id="14" name="Shape 12"/>
          <p:cNvSpPr/>
          <p:nvPr/>
        </p:nvSpPr>
        <p:spPr>
          <a:xfrm>
            <a:off x="2266950" y="2486025"/>
            <a:ext cx="1533525" cy="990600"/>
          </a:xfrm>
          <a:custGeom>
            <a:avLst/>
            <a:gdLst/>
            <a:ahLst/>
            <a:cxnLst/>
            <a:rect l="l" t="t" r="r" b="b"/>
            <a:pathLst>
              <a:path w="1533525" h="990600">
                <a:moveTo>
                  <a:pt x="76197" y="0"/>
                </a:moveTo>
                <a:lnTo>
                  <a:pt x="1457328" y="0"/>
                </a:lnTo>
                <a:cubicBezTo>
                  <a:pt x="1499410" y="0"/>
                  <a:pt x="1533525" y="34115"/>
                  <a:pt x="1533525" y="76197"/>
                </a:cubicBezTo>
                <a:lnTo>
                  <a:pt x="1533525" y="914403"/>
                </a:lnTo>
                <a:cubicBezTo>
                  <a:pt x="1533525" y="956485"/>
                  <a:pt x="1499410" y="990600"/>
                  <a:pt x="14573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15" name="Text 13"/>
          <p:cNvSpPr/>
          <p:nvPr/>
        </p:nvSpPr>
        <p:spPr>
          <a:xfrm>
            <a:off x="2324100" y="2600325"/>
            <a:ext cx="1419225" cy="304800"/>
          </a:xfrm>
          <a:prstGeom prst="rect">
            <a:avLst/>
          </a:prstGeom>
          <a:noFill/>
          <a:ln/>
        </p:spPr>
        <p:txBody>
          <a:bodyPr wrap="square" lIns="0" tIns="0" rIns="0" bIns="0" rtlCol="0" anchor="ctr"/>
          <a:lstStyle/>
          <a:p>
            <a:pPr algn="ctr">
              <a:lnSpc>
                <a:spcPct val="110000"/>
              </a:lnSpc>
            </a:pPr>
            <a:r>
              <a:rPr lang="en-US" sz="1800" b="1" dirty="0">
                <a:solidFill>
                  <a:srgbClr val="F59E0B"/>
                </a:solidFill>
                <a:latin typeface="Liter" pitchFamily="34" charset="0"/>
                <a:ea typeface="Liter" pitchFamily="34" charset="-122"/>
                <a:cs typeface="Liter" pitchFamily="34" charset="-120"/>
              </a:rPr>
              <a:t>€3.27B</a:t>
            </a:r>
            <a:endParaRPr lang="en-US" sz="1600" dirty="0"/>
          </a:p>
        </p:txBody>
      </p:sp>
      <p:sp>
        <p:nvSpPr>
          <p:cNvPr id="16" name="Text 14"/>
          <p:cNvSpPr/>
          <p:nvPr/>
        </p:nvSpPr>
        <p:spPr>
          <a:xfrm>
            <a:off x="2343150" y="2905125"/>
            <a:ext cx="13811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EBIT Adj.</a:t>
            </a:r>
            <a:endParaRPr lang="en-US" sz="1600" dirty="0"/>
          </a:p>
        </p:txBody>
      </p:sp>
      <p:sp>
        <p:nvSpPr>
          <p:cNvPr id="17" name="Text 15"/>
          <p:cNvSpPr/>
          <p:nvPr/>
        </p:nvSpPr>
        <p:spPr>
          <a:xfrm>
            <a:off x="2343150" y="3133725"/>
            <a:ext cx="1381125" cy="228600"/>
          </a:xfrm>
          <a:prstGeom prst="rect">
            <a:avLst/>
          </a:prstGeom>
          <a:noFill/>
          <a:ln/>
        </p:spPr>
        <p:txBody>
          <a:bodyPr wrap="square" lIns="0" tIns="0" rIns="0" bIns="0" rtlCol="0" anchor="ctr"/>
          <a:lstStyle/>
          <a:p>
            <a:pPr algn="ct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+8% YoY</a:t>
            </a:r>
            <a:endParaRPr lang="en-US" sz="1600" dirty="0"/>
          </a:p>
        </p:txBody>
      </p:sp>
      <p:sp>
        <p:nvSpPr>
          <p:cNvPr id="18" name="Shape 16"/>
          <p:cNvSpPr/>
          <p:nvPr/>
        </p:nvSpPr>
        <p:spPr>
          <a:xfrm>
            <a:off x="619125" y="3629025"/>
            <a:ext cx="3181350" cy="1562100"/>
          </a:xfrm>
          <a:custGeom>
            <a:avLst/>
            <a:gdLst/>
            <a:ahLst/>
            <a:cxnLst/>
            <a:rect l="l" t="t" r="r" b="b"/>
            <a:pathLst>
              <a:path w="3181350" h="1562100">
                <a:moveTo>
                  <a:pt x="76199" y="0"/>
                </a:moveTo>
                <a:lnTo>
                  <a:pt x="3105151" y="0"/>
                </a:lnTo>
                <a:cubicBezTo>
                  <a:pt x="3147234" y="0"/>
                  <a:pt x="3181350" y="34116"/>
                  <a:pt x="3181350" y="76199"/>
                </a:cubicBezTo>
                <a:lnTo>
                  <a:pt x="3181350" y="1485901"/>
                </a:lnTo>
                <a:cubicBezTo>
                  <a:pt x="3181350" y="1527984"/>
                  <a:pt x="3147234" y="1562100"/>
                  <a:pt x="3105151" y="1562100"/>
                </a:cubicBezTo>
                <a:lnTo>
                  <a:pt x="76199" y="1562100"/>
                </a:lnTo>
                <a:cubicBezTo>
                  <a:pt x="34116" y="1562100"/>
                  <a:pt x="0" y="1527984"/>
                  <a:pt x="0" y="1485901"/>
                </a:cubicBezTo>
                <a:lnTo>
                  <a:pt x="0" y="76199"/>
                </a:lnTo>
                <a:cubicBezTo>
                  <a:pt x="0" y="34144"/>
                  <a:pt x="34144" y="0"/>
                  <a:pt x="76199" y="0"/>
                </a:cubicBezTo>
                <a:close/>
              </a:path>
            </a:pathLst>
          </a:custGeom>
          <a:solidFill>
            <a:srgbClr val="0F172A">
              <a:alpha val="50196"/>
            </a:srgbClr>
          </a:solidFill>
          <a:ln/>
        </p:spPr>
        <p:txBody>
          <a:bodyPr/>
          <a:lstStyle/>
          <a:p>
            <a:endParaRPr lang="en-GB"/>
          </a:p>
        </p:txBody>
      </p:sp>
      <p:sp>
        <p:nvSpPr>
          <p:cNvPr id="19" name="Text 17"/>
          <p:cNvSpPr/>
          <p:nvPr/>
        </p:nvSpPr>
        <p:spPr>
          <a:xfrm>
            <a:off x="733425" y="3743325"/>
            <a:ext cx="1066800"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Deliveries (9M)</a:t>
            </a:r>
            <a:endParaRPr lang="en-US" sz="1600" dirty="0"/>
          </a:p>
        </p:txBody>
      </p:sp>
      <p:sp>
        <p:nvSpPr>
          <p:cNvPr id="20" name="Text 18"/>
          <p:cNvSpPr/>
          <p:nvPr/>
        </p:nvSpPr>
        <p:spPr>
          <a:xfrm>
            <a:off x="3082975" y="3743325"/>
            <a:ext cx="67627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507 units</a:t>
            </a:r>
            <a:endParaRPr lang="en-US" sz="1600" dirty="0"/>
          </a:p>
        </p:txBody>
      </p:sp>
      <p:sp>
        <p:nvSpPr>
          <p:cNvPr id="21" name="Text 19"/>
          <p:cNvSpPr/>
          <p:nvPr/>
        </p:nvSpPr>
        <p:spPr>
          <a:xfrm>
            <a:off x="733425" y="4048125"/>
            <a:ext cx="42862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A220</a:t>
            </a:r>
            <a:endParaRPr lang="en-US" sz="1600" dirty="0"/>
          </a:p>
        </p:txBody>
      </p:sp>
      <p:sp>
        <p:nvSpPr>
          <p:cNvPr id="22" name="Text 20"/>
          <p:cNvSpPr/>
          <p:nvPr/>
        </p:nvSpPr>
        <p:spPr>
          <a:xfrm>
            <a:off x="3524548" y="4048125"/>
            <a:ext cx="2381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62</a:t>
            </a:r>
            <a:endParaRPr lang="en-US" sz="1600" dirty="0"/>
          </a:p>
        </p:txBody>
      </p:sp>
      <p:sp>
        <p:nvSpPr>
          <p:cNvPr id="23" name="Text 21"/>
          <p:cNvSpPr/>
          <p:nvPr/>
        </p:nvSpPr>
        <p:spPr>
          <a:xfrm>
            <a:off x="733425" y="4314825"/>
            <a:ext cx="8953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A320 Family</a:t>
            </a:r>
            <a:endParaRPr lang="en-US" sz="1600" dirty="0"/>
          </a:p>
        </p:txBody>
      </p:sp>
      <p:sp>
        <p:nvSpPr>
          <p:cNvPr id="24" name="Text 22"/>
          <p:cNvSpPr/>
          <p:nvPr/>
        </p:nvSpPr>
        <p:spPr>
          <a:xfrm>
            <a:off x="3442841" y="4314825"/>
            <a:ext cx="323850"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392</a:t>
            </a:r>
            <a:endParaRPr lang="en-US" sz="1600" dirty="0"/>
          </a:p>
        </p:txBody>
      </p:sp>
      <p:sp>
        <p:nvSpPr>
          <p:cNvPr id="25" name="Text 23"/>
          <p:cNvSpPr/>
          <p:nvPr/>
        </p:nvSpPr>
        <p:spPr>
          <a:xfrm>
            <a:off x="733425" y="4581525"/>
            <a:ext cx="4381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A330</a:t>
            </a:r>
            <a:endParaRPr lang="en-US" sz="1600" dirty="0"/>
          </a:p>
        </p:txBody>
      </p:sp>
      <p:sp>
        <p:nvSpPr>
          <p:cNvPr id="26" name="Text 24"/>
          <p:cNvSpPr/>
          <p:nvPr/>
        </p:nvSpPr>
        <p:spPr>
          <a:xfrm>
            <a:off x="3509665" y="4581525"/>
            <a:ext cx="25717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20</a:t>
            </a:r>
            <a:endParaRPr lang="en-US" sz="1600" dirty="0"/>
          </a:p>
        </p:txBody>
      </p:sp>
      <p:sp>
        <p:nvSpPr>
          <p:cNvPr id="27" name="Text 25"/>
          <p:cNvSpPr/>
          <p:nvPr/>
        </p:nvSpPr>
        <p:spPr>
          <a:xfrm>
            <a:off x="733425" y="4848225"/>
            <a:ext cx="4381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A350</a:t>
            </a:r>
            <a:endParaRPr lang="en-US" sz="1600" dirty="0"/>
          </a:p>
        </p:txBody>
      </p:sp>
      <p:sp>
        <p:nvSpPr>
          <p:cNvPr id="28" name="Text 26"/>
          <p:cNvSpPr/>
          <p:nvPr/>
        </p:nvSpPr>
        <p:spPr>
          <a:xfrm>
            <a:off x="3523059" y="4848225"/>
            <a:ext cx="2381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33</a:t>
            </a:r>
            <a:endParaRPr lang="en-US" sz="1600" dirty="0"/>
          </a:p>
        </p:txBody>
      </p:sp>
      <p:sp>
        <p:nvSpPr>
          <p:cNvPr id="29" name="Shape 27"/>
          <p:cNvSpPr/>
          <p:nvPr/>
        </p:nvSpPr>
        <p:spPr>
          <a:xfrm>
            <a:off x="619125" y="5343525"/>
            <a:ext cx="3181350" cy="723900"/>
          </a:xfrm>
          <a:custGeom>
            <a:avLst/>
            <a:gdLst/>
            <a:ahLst/>
            <a:cxnLst/>
            <a:rect l="l" t="t" r="r" b="b"/>
            <a:pathLst>
              <a:path w="3181350" h="723900">
                <a:moveTo>
                  <a:pt x="76198" y="0"/>
                </a:moveTo>
                <a:lnTo>
                  <a:pt x="3105152" y="0"/>
                </a:lnTo>
                <a:cubicBezTo>
                  <a:pt x="3147207" y="0"/>
                  <a:pt x="3181350" y="34143"/>
                  <a:pt x="3181350" y="76198"/>
                </a:cubicBezTo>
                <a:lnTo>
                  <a:pt x="3181350" y="647702"/>
                </a:lnTo>
                <a:cubicBezTo>
                  <a:pt x="3181350" y="689757"/>
                  <a:pt x="3147207" y="723900"/>
                  <a:pt x="310515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alpha val="50196"/>
            </a:srgbClr>
          </a:solidFill>
          <a:ln/>
        </p:spPr>
        <p:txBody>
          <a:bodyPr/>
          <a:lstStyle/>
          <a:p>
            <a:endParaRPr lang="en-GB"/>
          </a:p>
        </p:txBody>
      </p:sp>
      <p:sp>
        <p:nvSpPr>
          <p:cNvPr id="30" name="Text 28"/>
          <p:cNvSpPr/>
          <p:nvPr/>
        </p:nvSpPr>
        <p:spPr>
          <a:xfrm>
            <a:off x="733425" y="5457825"/>
            <a:ext cx="8096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Net Orders</a:t>
            </a:r>
            <a:endParaRPr lang="en-US" sz="1600" dirty="0"/>
          </a:p>
        </p:txBody>
      </p:sp>
      <p:sp>
        <p:nvSpPr>
          <p:cNvPr id="31" name="Text 29"/>
          <p:cNvSpPr/>
          <p:nvPr/>
        </p:nvSpPr>
        <p:spPr>
          <a:xfrm>
            <a:off x="2976711" y="5457825"/>
            <a:ext cx="781050" cy="228600"/>
          </a:xfrm>
          <a:prstGeom prst="rect">
            <a:avLst/>
          </a:prstGeom>
          <a:noFill/>
          <a:ln/>
        </p:spPr>
        <p:txBody>
          <a:bodyPr wrap="square" lIns="0" tIns="0" rIns="0" bIns="0" rtlCol="0" anchor="ctr"/>
          <a:lstStyle/>
          <a:p>
            <a:pPr>
              <a:lnSpc>
                <a:spcPct val="130000"/>
              </a:lnSpc>
            </a:pPr>
            <a:r>
              <a:rPr lang="en-US" sz="1200" b="1" dirty="0">
                <a:solidFill>
                  <a:srgbClr val="38BDF8"/>
                </a:solidFill>
                <a:latin typeface="Quattrocento Sans" pitchFamily="34" charset="0"/>
                <a:ea typeface="Quattrocento Sans" pitchFamily="34" charset="-122"/>
                <a:cs typeface="Quattrocento Sans" pitchFamily="34" charset="-120"/>
              </a:rPr>
              <a:t>514 aircraft</a:t>
            </a:r>
            <a:endParaRPr lang="en-US" sz="1600" dirty="0"/>
          </a:p>
        </p:txBody>
      </p:sp>
      <p:sp>
        <p:nvSpPr>
          <p:cNvPr id="32" name="Text 30"/>
          <p:cNvSpPr/>
          <p:nvPr/>
        </p:nvSpPr>
        <p:spPr>
          <a:xfrm>
            <a:off x="733425" y="5724525"/>
            <a:ext cx="5810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Backlog</a:t>
            </a:r>
            <a:endParaRPr lang="en-US" sz="1600" dirty="0"/>
          </a:p>
        </p:txBody>
      </p:sp>
      <p:sp>
        <p:nvSpPr>
          <p:cNvPr id="33" name="Text 31"/>
          <p:cNvSpPr/>
          <p:nvPr/>
        </p:nvSpPr>
        <p:spPr>
          <a:xfrm>
            <a:off x="2961382" y="5724525"/>
            <a:ext cx="8001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8,665 units</a:t>
            </a:r>
            <a:endParaRPr lang="en-US" sz="1600" dirty="0"/>
          </a:p>
        </p:txBody>
      </p:sp>
      <p:sp>
        <p:nvSpPr>
          <p:cNvPr id="34" name="Shape 32"/>
          <p:cNvSpPr/>
          <p:nvPr/>
        </p:nvSpPr>
        <p:spPr>
          <a:xfrm>
            <a:off x="4271963" y="1604963"/>
            <a:ext cx="3648075" cy="4962525"/>
          </a:xfrm>
          <a:custGeom>
            <a:avLst/>
            <a:gdLst/>
            <a:ahLst/>
            <a:cxnLst/>
            <a:rect l="l" t="t" r="r" b="b"/>
            <a:pathLst>
              <a:path w="3648075" h="4962525">
                <a:moveTo>
                  <a:pt x="114294" y="0"/>
                </a:moveTo>
                <a:lnTo>
                  <a:pt x="3533781" y="0"/>
                </a:lnTo>
                <a:cubicBezTo>
                  <a:pt x="3596904" y="0"/>
                  <a:pt x="3648075" y="51171"/>
                  <a:pt x="3648075" y="114294"/>
                </a:cubicBezTo>
                <a:lnTo>
                  <a:pt x="3648075" y="4848231"/>
                </a:lnTo>
                <a:cubicBezTo>
                  <a:pt x="3648075" y="4911354"/>
                  <a:pt x="3596904" y="4962525"/>
                  <a:pt x="3533781" y="4962525"/>
                </a:cubicBezTo>
                <a:lnTo>
                  <a:pt x="114294" y="4962525"/>
                </a:lnTo>
                <a:cubicBezTo>
                  <a:pt x="51171" y="4962525"/>
                  <a:pt x="0" y="4911354"/>
                  <a:pt x="0" y="4848231"/>
                </a:cubicBezTo>
                <a:lnTo>
                  <a:pt x="0" y="114294"/>
                </a:lnTo>
                <a:cubicBezTo>
                  <a:pt x="0" y="51214"/>
                  <a:pt x="51214" y="0"/>
                  <a:pt x="114294"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35" name="Shape 33"/>
          <p:cNvSpPr/>
          <p:nvPr/>
        </p:nvSpPr>
        <p:spPr>
          <a:xfrm>
            <a:off x="4505325" y="18573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59E0B">
              <a:alpha val="30196"/>
            </a:srgbClr>
          </a:solidFill>
          <a:ln/>
        </p:spPr>
        <p:txBody>
          <a:bodyPr/>
          <a:lstStyle/>
          <a:p>
            <a:endParaRPr lang="en-GB"/>
          </a:p>
        </p:txBody>
      </p:sp>
      <p:sp>
        <p:nvSpPr>
          <p:cNvPr id="36" name="Shape 34"/>
          <p:cNvSpPr/>
          <p:nvPr/>
        </p:nvSpPr>
        <p:spPr>
          <a:xfrm>
            <a:off x="4626769" y="1990725"/>
            <a:ext cx="214313" cy="190500"/>
          </a:xfrm>
          <a:custGeom>
            <a:avLst/>
            <a:gdLst/>
            <a:ahLst/>
            <a:cxnLst/>
            <a:rect l="l" t="t" r="r" b="b"/>
            <a:pathLst>
              <a:path w="214313" h="190500">
                <a:moveTo>
                  <a:pt x="65484" y="11906"/>
                </a:moveTo>
                <a:cubicBezTo>
                  <a:pt x="60536" y="11906"/>
                  <a:pt x="56555" y="15887"/>
                  <a:pt x="56555" y="20836"/>
                </a:cubicBezTo>
                <a:cubicBezTo>
                  <a:pt x="56555" y="25784"/>
                  <a:pt x="60536" y="29766"/>
                  <a:pt x="65484" y="29766"/>
                </a:cubicBezTo>
                <a:lnTo>
                  <a:pt x="122039" y="29766"/>
                </a:lnTo>
                <a:lnTo>
                  <a:pt x="122039" y="47625"/>
                </a:lnTo>
                <a:lnTo>
                  <a:pt x="39886" y="47625"/>
                </a:lnTo>
                <a:lnTo>
                  <a:pt x="27682" y="32965"/>
                </a:lnTo>
                <a:cubicBezTo>
                  <a:pt x="26008" y="30956"/>
                  <a:pt x="23478" y="29766"/>
                  <a:pt x="20836" y="29766"/>
                </a:cubicBezTo>
                <a:lnTo>
                  <a:pt x="8930" y="29766"/>
                </a:lnTo>
                <a:cubicBezTo>
                  <a:pt x="5842" y="29766"/>
                  <a:pt x="2977" y="31366"/>
                  <a:pt x="1339" y="34007"/>
                </a:cubicBezTo>
                <a:cubicBezTo>
                  <a:pt x="-298" y="36649"/>
                  <a:pt x="-446" y="39923"/>
                  <a:pt x="930" y="42714"/>
                </a:cubicBezTo>
                <a:lnTo>
                  <a:pt x="18790" y="78432"/>
                </a:lnTo>
                <a:cubicBezTo>
                  <a:pt x="20315" y="81446"/>
                  <a:pt x="23403" y="83344"/>
                  <a:pt x="26789" y="83344"/>
                </a:cubicBezTo>
                <a:lnTo>
                  <a:pt x="66898" y="83344"/>
                </a:lnTo>
                <a:lnTo>
                  <a:pt x="105594" y="136587"/>
                </a:lnTo>
                <a:cubicBezTo>
                  <a:pt x="111212" y="144289"/>
                  <a:pt x="120142" y="148828"/>
                  <a:pt x="129667" y="148828"/>
                </a:cubicBezTo>
                <a:lnTo>
                  <a:pt x="157758" y="148828"/>
                </a:lnTo>
                <a:cubicBezTo>
                  <a:pt x="185700" y="148828"/>
                  <a:pt x="208359" y="126169"/>
                  <a:pt x="208359" y="98227"/>
                </a:cubicBezTo>
                <a:cubicBezTo>
                  <a:pt x="208359" y="70284"/>
                  <a:pt x="185700" y="47625"/>
                  <a:pt x="157758" y="47625"/>
                </a:cubicBezTo>
                <a:lnTo>
                  <a:pt x="139898" y="47625"/>
                </a:lnTo>
                <a:lnTo>
                  <a:pt x="139898" y="29766"/>
                </a:lnTo>
                <a:lnTo>
                  <a:pt x="196453" y="29766"/>
                </a:lnTo>
                <a:cubicBezTo>
                  <a:pt x="201402" y="29766"/>
                  <a:pt x="205383" y="25784"/>
                  <a:pt x="205383" y="20836"/>
                </a:cubicBezTo>
                <a:cubicBezTo>
                  <a:pt x="205383" y="15887"/>
                  <a:pt x="201402" y="11906"/>
                  <a:pt x="196453" y="11906"/>
                </a:cubicBezTo>
                <a:lnTo>
                  <a:pt x="65484" y="11906"/>
                </a:lnTo>
                <a:close/>
                <a:moveTo>
                  <a:pt x="139898" y="71438"/>
                </a:moveTo>
                <a:lnTo>
                  <a:pt x="157758" y="71438"/>
                </a:lnTo>
                <a:cubicBezTo>
                  <a:pt x="172566" y="71438"/>
                  <a:pt x="184547" y="83418"/>
                  <a:pt x="184547" y="98227"/>
                </a:cubicBezTo>
                <a:cubicBezTo>
                  <a:pt x="184547" y="113035"/>
                  <a:pt x="172566" y="125016"/>
                  <a:pt x="157758" y="125016"/>
                </a:cubicBezTo>
                <a:lnTo>
                  <a:pt x="139898" y="125016"/>
                </a:lnTo>
                <a:lnTo>
                  <a:pt x="139898" y="71438"/>
                </a:lnTo>
                <a:close/>
                <a:moveTo>
                  <a:pt x="205383" y="154781"/>
                </a:moveTo>
                <a:cubicBezTo>
                  <a:pt x="200434" y="154781"/>
                  <a:pt x="196453" y="158762"/>
                  <a:pt x="196453" y="163711"/>
                </a:cubicBezTo>
                <a:cubicBezTo>
                  <a:pt x="196453" y="165348"/>
                  <a:pt x="195114" y="166688"/>
                  <a:pt x="193477" y="166688"/>
                </a:cubicBezTo>
                <a:lnTo>
                  <a:pt x="92273" y="166688"/>
                </a:lnTo>
                <a:cubicBezTo>
                  <a:pt x="87325" y="166688"/>
                  <a:pt x="83344" y="170669"/>
                  <a:pt x="83344" y="175617"/>
                </a:cubicBezTo>
                <a:cubicBezTo>
                  <a:pt x="83344" y="180566"/>
                  <a:pt x="87325" y="184547"/>
                  <a:pt x="92273" y="184547"/>
                </a:cubicBezTo>
                <a:lnTo>
                  <a:pt x="193477" y="184547"/>
                </a:lnTo>
                <a:cubicBezTo>
                  <a:pt x="204974" y="184547"/>
                  <a:pt x="214313" y="175208"/>
                  <a:pt x="214313" y="163711"/>
                </a:cubicBezTo>
                <a:cubicBezTo>
                  <a:pt x="214313" y="158762"/>
                  <a:pt x="210331" y="154781"/>
                  <a:pt x="205383" y="154781"/>
                </a:cubicBezTo>
                <a:close/>
              </a:path>
            </a:pathLst>
          </a:custGeom>
          <a:solidFill>
            <a:srgbClr val="F59E0B"/>
          </a:solidFill>
          <a:ln/>
        </p:spPr>
        <p:txBody>
          <a:bodyPr/>
          <a:lstStyle/>
          <a:p>
            <a:endParaRPr lang="en-GB"/>
          </a:p>
        </p:txBody>
      </p:sp>
      <p:sp>
        <p:nvSpPr>
          <p:cNvPr id="37" name="Text 35"/>
          <p:cNvSpPr/>
          <p:nvPr/>
        </p:nvSpPr>
        <p:spPr>
          <a:xfrm>
            <a:off x="5076825" y="1838325"/>
            <a:ext cx="12477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Helicopters</a:t>
            </a:r>
            <a:endParaRPr lang="en-US" sz="1600" dirty="0"/>
          </a:p>
        </p:txBody>
      </p:sp>
      <p:sp>
        <p:nvSpPr>
          <p:cNvPr id="38" name="Text 36"/>
          <p:cNvSpPr/>
          <p:nvPr/>
        </p:nvSpPr>
        <p:spPr>
          <a:xfrm>
            <a:off x="5076825" y="2105025"/>
            <a:ext cx="122872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Rotorcraft Leader</a:t>
            </a:r>
            <a:endParaRPr lang="en-US" sz="1600" dirty="0"/>
          </a:p>
        </p:txBody>
      </p:sp>
      <p:sp>
        <p:nvSpPr>
          <p:cNvPr id="39" name="Shape 37"/>
          <p:cNvSpPr/>
          <p:nvPr/>
        </p:nvSpPr>
        <p:spPr>
          <a:xfrm>
            <a:off x="4505325" y="2486025"/>
            <a:ext cx="1533525" cy="990600"/>
          </a:xfrm>
          <a:custGeom>
            <a:avLst/>
            <a:gdLst/>
            <a:ahLst/>
            <a:cxnLst/>
            <a:rect l="l" t="t" r="r" b="b"/>
            <a:pathLst>
              <a:path w="1533525" h="990600">
                <a:moveTo>
                  <a:pt x="76197" y="0"/>
                </a:moveTo>
                <a:lnTo>
                  <a:pt x="1457328" y="0"/>
                </a:lnTo>
                <a:cubicBezTo>
                  <a:pt x="1499410" y="0"/>
                  <a:pt x="1533525" y="34115"/>
                  <a:pt x="1533525" y="76197"/>
                </a:cubicBezTo>
                <a:lnTo>
                  <a:pt x="1533525" y="914403"/>
                </a:lnTo>
                <a:cubicBezTo>
                  <a:pt x="1533525" y="956485"/>
                  <a:pt x="1499410" y="990600"/>
                  <a:pt x="14573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40" name="Text 38"/>
          <p:cNvSpPr/>
          <p:nvPr/>
        </p:nvSpPr>
        <p:spPr>
          <a:xfrm>
            <a:off x="4562475" y="2600325"/>
            <a:ext cx="1419225" cy="304800"/>
          </a:xfrm>
          <a:prstGeom prst="rect">
            <a:avLst/>
          </a:prstGeom>
          <a:noFill/>
          <a:ln/>
        </p:spPr>
        <p:txBody>
          <a:bodyPr wrap="square" lIns="0" tIns="0" rIns="0" bIns="0" rtlCol="0" anchor="ctr"/>
          <a:lstStyle/>
          <a:p>
            <a:pPr algn="ctr">
              <a:lnSpc>
                <a:spcPct val="110000"/>
              </a:lnSpc>
            </a:pPr>
            <a:r>
              <a:rPr lang="en-US" sz="1800" b="1" dirty="0">
                <a:solidFill>
                  <a:srgbClr val="38BDF8"/>
                </a:solidFill>
                <a:latin typeface="Liter" pitchFamily="34" charset="0"/>
                <a:ea typeface="Liter" pitchFamily="34" charset="-122"/>
                <a:cs typeface="Liter" pitchFamily="34" charset="-120"/>
              </a:rPr>
              <a:t>€5.7B</a:t>
            </a:r>
            <a:endParaRPr lang="en-US" sz="1600" dirty="0"/>
          </a:p>
        </p:txBody>
      </p:sp>
      <p:sp>
        <p:nvSpPr>
          <p:cNvPr id="41" name="Text 39"/>
          <p:cNvSpPr/>
          <p:nvPr/>
        </p:nvSpPr>
        <p:spPr>
          <a:xfrm>
            <a:off x="4581525" y="2905125"/>
            <a:ext cx="13811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Revenue</a:t>
            </a:r>
            <a:endParaRPr lang="en-US" sz="1600" dirty="0"/>
          </a:p>
        </p:txBody>
      </p:sp>
      <p:sp>
        <p:nvSpPr>
          <p:cNvPr id="42" name="Text 40"/>
          <p:cNvSpPr/>
          <p:nvPr/>
        </p:nvSpPr>
        <p:spPr>
          <a:xfrm>
            <a:off x="4581525" y="3133725"/>
            <a:ext cx="1381125" cy="228600"/>
          </a:xfrm>
          <a:prstGeom prst="rect">
            <a:avLst/>
          </a:prstGeom>
          <a:noFill/>
          <a:ln/>
        </p:spPr>
        <p:txBody>
          <a:bodyPr wrap="square" lIns="0" tIns="0" rIns="0" bIns="0" rtlCol="0" anchor="ctr"/>
          <a:lstStyle/>
          <a:p>
            <a:pPr algn="ctr">
              <a:lnSpc>
                <a:spcPct val="130000"/>
              </a:lnSpc>
            </a:pPr>
            <a:r>
              <a:rPr lang="en-US" sz="1200" b="1" dirty="0">
                <a:solidFill>
                  <a:srgbClr val="38BDF8"/>
                </a:solidFill>
                <a:latin typeface="Quattrocento Sans" pitchFamily="34" charset="0"/>
                <a:ea typeface="Quattrocento Sans" pitchFamily="34" charset="-122"/>
                <a:cs typeface="Quattrocento Sans" pitchFamily="34" charset="-120"/>
              </a:rPr>
              <a:t>+16% YoY</a:t>
            </a:r>
            <a:endParaRPr lang="en-US" sz="1600" dirty="0"/>
          </a:p>
        </p:txBody>
      </p:sp>
      <p:sp>
        <p:nvSpPr>
          <p:cNvPr id="43" name="Shape 41"/>
          <p:cNvSpPr/>
          <p:nvPr/>
        </p:nvSpPr>
        <p:spPr>
          <a:xfrm>
            <a:off x="6153150" y="2486025"/>
            <a:ext cx="1533525" cy="990600"/>
          </a:xfrm>
          <a:custGeom>
            <a:avLst/>
            <a:gdLst/>
            <a:ahLst/>
            <a:cxnLst/>
            <a:rect l="l" t="t" r="r" b="b"/>
            <a:pathLst>
              <a:path w="1533525" h="990600">
                <a:moveTo>
                  <a:pt x="76197" y="0"/>
                </a:moveTo>
                <a:lnTo>
                  <a:pt x="1457328" y="0"/>
                </a:lnTo>
                <a:cubicBezTo>
                  <a:pt x="1499410" y="0"/>
                  <a:pt x="1533525" y="34115"/>
                  <a:pt x="1533525" y="76197"/>
                </a:cubicBezTo>
                <a:lnTo>
                  <a:pt x="1533525" y="914403"/>
                </a:lnTo>
                <a:cubicBezTo>
                  <a:pt x="1533525" y="956485"/>
                  <a:pt x="1499410" y="990600"/>
                  <a:pt x="14573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44" name="Text 42"/>
          <p:cNvSpPr/>
          <p:nvPr/>
        </p:nvSpPr>
        <p:spPr>
          <a:xfrm>
            <a:off x="6210300" y="2600325"/>
            <a:ext cx="1419225" cy="304800"/>
          </a:xfrm>
          <a:prstGeom prst="rect">
            <a:avLst/>
          </a:prstGeom>
          <a:noFill/>
          <a:ln/>
        </p:spPr>
        <p:txBody>
          <a:bodyPr wrap="square" lIns="0" tIns="0" rIns="0" bIns="0" rtlCol="0" anchor="ctr"/>
          <a:lstStyle/>
          <a:p>
            <a:pPr algn="ctr">
              <a:lnSpc>
                <a:spcPct val="110000"/>
              </a:lnSpc>
            </a:pPr>
            <a:r>
              <a:rPr lang="en-US" sz="1800" b="1" dirty="0">
                <a:solidFill>
                  <a:srgbClr val="F59E0B"/>
                </a:solidFill>
                <a:latin typeface="Liter" pitchFamily="34" charset="0"/>
                <a:ea typeface="Liter" pitchFamily="34" charset="-122"/>
                <a:cs typeface="Liter" pitchFamily="34" charset="-120"/>
              </a:rPr>
              <a:t>€495M</a:t>
            </a:r>
            <a:endParaRPr lang="en-US" sz="1600" dirty="0"/>
          </a:p>
        </p:txBody>
      </p:sp>
      <p:sp>
        <p:nvSpPr>
          <p:cNvPr id="45" name="Text 43"/>
          <p:cNvSpPr/>
          <p:nvPr/>
        </p:nvSpPr>
        <p:spPr>
          <a:xfrm>
            <a:off x="6229350" y="2905125"/>
            <a:ext cx="13811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EBIT Adj.</a:t>
            </a:r>
            <a:endParaRPr lang="en-US" sz="1600" dirty="0"/>
          </a:p>
        </p:txBody>
      </p:sp>
      <p:sp>
        <p:nvSpPr>
          <p:cNvPr id="46" name="Text 44"/>
          <p:cNvSpPr/>
          <p:nvPr/>
        </p:nvSpPr>
        <p:spPr>
          <a:xfrm>
            <a:off x="6229350" y="3133725"/>
            <a:ext cx="1381125" cy="228600"/>
          </a:xfrm>
          <a:prstGeom prst="rect">
            <a:avLst/>
          </a:prstGeom>
          <a:noFill/>
          <a:ln/>
        </p:spPr>
        <p:txBody>
          <a:bodyPr wrap="square" lIns="0" tIns="0" rIns="0" bIns="0" rtlCol="0" anchor="ctr"/>
          <a:lstStyle/>
          <a:p>
            <a:pPr algn="ct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+18% YoY</a:t>
            </a:r>
            <a:endParaRPr lang="en-US" sz="1600" dirty="0"/>
          </a:p>
        </p:txBody>
      </p:sp>
      <p:sp>
        <p:nvSpPr>
          <p:cNvPr id="47" name="Shape 45"/>
          <p:cNvSpPr/>
          <p:nvPr/>
        </p:nvSpPr>
        <p:spPr>
          <a:xfrm>
            <a:off x="4505325" y="3629025"/>
            <a:ext cx="3181350" cy="1257300"/>
          </a:xfrm>
          <a:custGeom>
            <a:avLst/>
            <a:gdLst/>
            <a:ahLst/>
            <a:cxnLst/>
            <a:rect l="l" t="t" r="r" b="b"/>
            <a:pathLst>
              <a:path w="3181350" h="1257300">
                <a:moveTo>
                  <a:pt x="76205" y="0"/>
                </a:moveTo>
                <a:lnTo>
                  <a:pt x="3105145" y="0"/>
                </a:lnTo>
                <a:cubicBezTo>
                  <a:pt x="3147232" y="0"/>
                  <a:pt x="3181350" y="34118"/>
                  <a:pt x="3181350" y="76205"/>
                </a:cubicBezTo>
                <a:lnTo>
                  <a:pt x="3181350" y="1181095"/>
                </a:lnTo>
                <a:cubicBezTo>
                  <a:pt x="3181350" y="1223182"/>
                  <a:pt x="3147232" y="1257300"/>
                  <a:pt x="3105145" y="1257300"/>
                </a:cubicBezTo>
                <a:lnTo>
                  <a:pt x="76205" y="1257300"/>
                </a:lnTo>
                <a:cubicBezTo>
                  <a:pt x="34118" y="1257300"/>
                  <a:pt x="0" y="1223182"/>
                  <a:pt x="0" y="1181095"/>
                </a:cubicBezTo>
                <a:lnTo>
                  <a:pt x="0" y="76205"/>
                </a:lnTo>
                <a:cubicBezTo>
                  <a:pt x="0" y="34146"/>
                  <a:pt x="34146" y="0"/>
                  <a:pt x="76205" y="0"/>
                </a:cubicBezTo>
                <a:close/>
              </a:path>
            </a:pathLst>
          </a:custGeom>
          <a:solidFill>
            <a:srgbClr val="0F172A">
              <a:alpha val="50196"/>
            </a:srgbClr>
          </a:solidFill>
          <a:ln/>
        </p:spPr>
        <p:txBody>
          <a:bodyPr/>
          <a:lstStyle/>
          <a:p>
            <a:endParaRPr lang="en-GB"/>
          </a:p>
        </p:txBody>
      </p:sp>
      <p:sp>
        <p:nvSpPr>
          <p:cNvPr id="48" name="Text 46"/>
          <p:cNvSpPr/>
          <p:nvPr/>
        </p:nvSpPr>
        <p:spPr>
          <a:xfrm>
            <a:off x="4619625" y="3743325"/>
            <a:ext cx="1066800"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Deliveries (9M)</a:t>
            </a:r>
            <a:endParaRPr lang="en-US" sz="1600" dirty="0"/>
          </a:p>
        </p:txBody>
      </p:sp>
      <p:sp>
        <p:nvSpPr>
          <p:cNvPr id="49" name="Text 47"/>
          <p:cNvSpPr/>
          <p:nvPr/>
        </p:nvSpPr>
        <p:spPr>
          <a:xfrm>
            <a:off x="7008763" y="3743325"/>
            <a:ext cx="63817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218 units</a:t>
            </a:r>
            <a:endParaRPr lang="en-US" sz="1600" dirty="0"/>
          </a:p>
        </p:txBody>
      </p:sp>
      <p:sp>
        <p:nvSpPr>
          <p:cNvPr id="50" name="Text 48"/>
          <p:cNvSpPr/>
          <p:nvPr/>
        </p:nvSpPr>
        <p:spPr>
          <a:xfrm>
            <a:off x="4619625" y="4048125"/>
            <a:ext cx="3028950" cy="4572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Strong performance in civil &amp; military markets</a:t>
            </a:r>
            <a:endParaRPr lang="en-US" sz="1600" dirty="0"/>
          </a:p>
        </p:txBody>
      </p:sp>
      <p:sp>
        <p:nvSpPr>
          <p:cNvPr id="51" name="Text 49"/>
          <p:cNvSpPr/>
          <p:nvPr/>
        </p:nvSpPr>
        <p:spPr>
          <a:xfrm>
            <a:off x="4619625" y="4543425"/>
            <a:ext cx="30289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Services growth driving profitability</a:t>
            </a:r>
            <a:endParaRPr lang="en-US" sz="1600" dirty="0"/>
          </a:p>
        </p:txBody>
      </p:sp>
      <p:sp>
        <p:nvSpPr>
          <p:cNvPr id="52" name="Shape 50"/>
          <p:cNvSpPr/>
          <p:nvPr/>
        </p:nvSpPr>
        <p:spPr>
          <a:xfrm>
            <a:off x="4505325" y="5038725"/>
            <a:ext cx="3181350" cy="723900"/>
          </a:xfrm>
          <a:custGeom>
            <a:avLst/>
            <a:gdLst/>
            <a:ahLst/>
            <a:cxnLst/>
            <a:rect l="l" t="t" r="r" b="b"/>
            <a:pathLst>
              <a:path w="3181350" h="723900">
                <a:moveTo>
                  <a:pt x="76198" y="0"/>
                </a:moveTo>
                <a:lnTo>
                  <a:pt x="3105152" y="0"/>
                </a:lnTo>
                <a:cubicBezTo>
                  <a:pt x="3147207" y="0"/>
                  <a:pt x="3181350" y="34143"/>
                  <a:pt x="3181350" y="76198"/>
                </a:cubicBezTo>
                <a:lnTo>
                  <a:pt x="3181350" y="647702"/>
                </a:lnTo>
                <a:cubicBezTo>
                  <a:pt x="3181350" y="689757"/>
                  <a:pt x="3147207" y="723900"/>
                  <a:pt x="310515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alpha val="50196"/>
            </a:srgbClr>
          </a:solidFill>
          <a:ln/>
        </p:spPr>
        <p:txBody>
          <a:bodyPr/>
          <a:lstStyle/>
          <a:p>
            <a:endParaRPr lang="en-GB"/>
          </a:p>
        </p:txBody>
      </p:sp>
      <p:sp>
        <p:nvSpPr>
          <p:cNvPr id="53" name="Text 51"/>
          <p:cNvSpPr/>
          <p:nvPr/>
        </p:nvSpPr>
        <p:spPr>
          <a:xfrm>
            <a:off x="4619625" y="5153025"/>
            <a:ext cx="8096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Net Orders</a:t>
            </a:r>
            <a:endParaRPr lang="en-US" sz="1600" dirty="0"/>
          </a:p>
        </p:txBody>
      </p:sp>
      <p:sp>
        <p:nvSpPr>
          <p:cNvPr id="54" name="Text 52"/>
          <p:cNvSpPr/>
          <p:nvPr/>
        </p:nvSpPr>
        <p:spPr>
          <a:xfrm>
            <a:off x="6955185" y="5153025"/>
            <a:ext cx="695325" cy="228600"/>
          </a:xfrm>
          <a:prstGeom prst="rect">
            <a:avLst/>
          </a:prstGeom>
          <a:noFill/>
          <a:ln/>
        </p:spPr>
        <p:txBody>
          <a:bodyPr wrap="square" lIns="0" tIns="0" rIns="0" bIns="0" rtlCol="0" anchor="ctr"/>
          <a:lstStyle/>
          <a:p>
            <a:pPr>
              <a:lnSpc>
                <a:spcPct val="130000"/>
              </a:lnSpc>
            </a:pPr>
            <a:r>
              <a:rPr lang="en-US" sz="1200" b="1" dirty="0">
                <a:solidFill>
                  <a:srgbClr val="38BDF8"/>
                </a:solidFill>
                <a:latin typeface="Quattrocento Sans" pitchFamily="34" charset="0"/>
                <a:ea typeface="Quattrocento Sans" pitchFamily="34" charset="-122"/>
                <a:cs typeface="Quattrocento Sans" pitchFamily="34" charset="-120"/>
              </a:rPr>
              <a:t>306 units</a:t>
            </a:r>
            <a:endParaRPr lang="en-US" sz="1600" dirty="0"/>
          </a:p>
        </p:txBody>
      </p:sp>
      <p:sp>
        <p:nvSpPr>
          <p:cNvPr id="55" name="Text 53"/>
          <p:cNvSpPr/>
          <p:nvPr/>
        </p:nvSpPr>
        <p:spPr>
          <a:xfrm>
            <a:off x="4619625" y="5419725"/>
            <a:ext cx="58102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Backlog</a:t>
            </a:r>
            <a:endParaRPr lang="en-US" sz="1600" dirty="0"/>
          </a:p>
        </p:txBody>
      </p:sp>
      <p:sp>
        <p:nvSpPr>
          <p:cNvPr id="56" name="Text 54"/>
          <p:cNvSpPr/>
          <p:nvPr/>
        </p:nvSpPr>
        <p:spPr>
          <a:xfrm>
            <a:off x="7002214" y="5419725"/>
            <a:ext cx="647700"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981 units</a:t>
            </a:r>
            <a:endParaRPr lang="en-US" sz="1600" dirty="0"/>
          </a:p>
        </p:txBody>
      </p:sp>
      <p:sp>
        <p:nvSpPr>
          <p:cNvPr id="57" name="Shape 55"/>
          <p:cNvSpPr/>
          <p:nvPr/>
        </p:nvSpPr>
        <p:spPr>
          <a:xfrm>
            <a:off x="8158163" y="1604963"/>
            <a:ext cx="3648075" cy="4962525"/>
          </a:xfrm>
          <a:custGeom>
            <a:avLst/>
            <a:gdLst/>
            <a:ahLst/>
            <a:cxnLst/>
            <a:rect l="l" t="t" r="r" b="b"/>
            <a:pathLst>
              <a:path w="3648075" h="4962525">
                <a:moveTo>
                  <a:pt x="114294" y="0"/>
                </a:moveTo>
                <a:lnTo>
                  <a:pt x="3533781" y="0"/>
                </a:lnTo>
                <a:cubicBezTo>
                  <a:pt x="3596904" y="0"/>
                  <a:pt x="3648075" y="51171"/>
                  <a:pt x="3648075" y="114294"/>
                </a:cubicBezTo>
                <a:lnTo>
                  <a:pt x="3648075" y="4848231"/>
                </a:lnTo>
                <a:cubicBezTo>
                  <a:pt x="3648075" y="4911354"/>
                  <a:pt x="3596904" y="4962525"/>
                  <a:pt x="3533781" y="4962525"/>
                </a:cubicBezTo>
                <a:lnTo>
                  <a:pt x="114294" y="4962525"/>
                </a:lnTo>
                <a:cubicBezTo>
                  <a:pt x="51171" y="4962525"/>
                  <a:pt x="0" y="4911354"/>
                  <a:pt x="0" y="4848231"/>
                </a:cubicBezTo>
                <a:lnTo>
                  <a:pt x="0" y="114294"/>
                </a:lnTo>
                <a:cubicBezTo>
                  <a:pt x="0" y="51214"/>
                  <a:pt x="51214" y="0"/>
                  <a:pt x="114294"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58" name="Shape 56"/>
          <p:cNvSpPr/>
          <p:nvPr/>
        </p:nvSpPr>
        <p:spPr>
          <a:xfrm>
            <a:off x="8391525" y="18573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8BDF8">
              <a:alpha val="30196"/>
            </a:srgbClr>
          </a:solidFill>
          <a:ln/>
        </p:spPr>
        <p:txBody>
          <a:bodyPr/>
          <a:lstStyle/>
          <a:p>
            <a:endParaRPr lang="en-GB"/>
          </a:p>
        </p:txBody>
      </p:sp>
      <p:sp>
        <p:nvSpPr>
          <p:cNvPr id="59" name="Shape 57"/>
          <p:cNvSpPr/>
          <p:nvPr/>
        </p:nvSpPr>
        <p:spPr>
          <a:xfrm>
            <a:off x="8524875" y="1990725"/>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38BDF8"/>
          </a:solidFill>
          <a:ln/>
        </p:spPr>
        <p:txBody>
          <a:bodyPr/>
          <a:lstStyle/>
          <a:p>
            <a:endParaRPr lang="en-GB"/>
          </a:p>
        </p:txBody>
      </p:sp>
      <p:sp>
        <p:nvSpPr>
          <p:cNvPr id="60" name="Text 58"/>
          <p:cNvSpPr/>
          <p:nvPr/>
        </p:nvSpPr>
        <p:spPr>
          <a:xfrm>
            <a:off x="8963025" y="1838325"/>
            <a:ext cx="15525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Defence &amp; Space</a:t>
            </a:r>
            <a:endParaRPr lang="en-US" sz="1600" dirty="0"/>
          </a:p>
        </p:txBody>
      </p:sp>
      <p:sp>
        <p:nvSpPr>
          <p:cNvPr id="61" name="Text 59"/>
          <p:cNvSpPr/>
          <p:nvPr/>
        </p:nvSpPr>
        <p:spPr>
          <a:xfrm>
            <a:off x="8963025" y="2105025"/>
            <a:ext cx="1533525"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Security Solutions</a:t>
            </a:r>
            <a:endParaRPr lang="en-US" sz="1600" dirty="0"/>
          </a:p>
        </p:txBody>
      </p:sp>
      <p:sp>
        <p:nvSpPr>
          <p:cNvPr id="62" name="Shape 60"/>
          <p:cNvSpPr/>
          <p:nvPr/>
        </p:nvSpPr>
        <p:spPr>
          <a:xfrm>
            <a:off x="8391525" y="2486025"/>
            <a:ext cx="1533525" cy="990600"/>
          </a:xfrm>
          <a:custGeom>
            <a:avLst/>
            <a:gdLst/>
            <a:ahLst/>
            <a:cxnLst/>
            <a:rect l="l" t="t" r="r" b="b"/>
            <a:pathLst>
              <a:path w="1533525" h="990600">
                <a:moveTo>
                  <a:pt x="76197" y="0"/>
                </a:moveTo>
                <a:lnTo>
                  <a:pt x="1457328" y="0"/>
                </a:lnTo>
                <a:cubicBezTo>
                  <a:pt x="1499410" y="0"/>
                  <a:pt x="1533525" y="34115"/>
                  <a:pt x="1533525" y="76197"/>
                </a:cubicBezTo>
                <a:lnTo>
                  <a:pt x="1533525" y="914403"/>
                </a:lnTo>
                <a:cubicBezTo>
                  <a:pt x="1533525" y="956485"/>
                  <a:pt x="1499410" y="990600"/>
                  <a:pt x="14573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63" name="Text 61"/>
          <p:cNvSpPr/>
          <p:nvPr/>
        </p:nvSpPr>
        <p:spPr>
          <a:xfrm>
            <a:off x="8448675" y="2600325"/>
            <a:ext cx="1419225" cy="304800"/>
          </a:xfrm>
          <a:prstGeom prst="rect">
            <a:avLst/>
          </a:prstGeom>
          <a:noFill/>
          <a:ln/>
        </p:spPr>
        <p:txBody>
          <a:bodyPr wrap="square" lIns="0" tIns="0" rIns="0" bIns="0" rtlCol="0" anchor="ctr"/>
          <a:lstStyle/>
          <a:p>
            <a:pPr algn="ctr">
              <a:lnSpc>
                <a:spcPct val="110000"/>
              </a:lnSpc>
            </a:pPr>
            <a:r>
              <a:rPr lang="en-US" sz="1800" b="1" dirty="0">
                <a:solidFill>
                  <a:srgbClr val="38BDF8"/>
                </a:solidFill>
                <a:latin typeface="Liter" pitchFamily="34" charset="0"/>
                <a:ea typeface="Liter" pitchFamily="34" charset="-122"/>
                <a:cs typeface="Liter" pitchFamily="34" charset="-120"/>
              </a:rPr>
              <a:t>€8.9B</a:t>
            </a:r>
            <a:endParaRPr lang="en-US" sz="1600" dirty="0"/>
          </a:p>
        </p:txBody>
      </p:sp>
      <p:sp>
        <p:nvSpPr>
          <p:cNvPr id="64" name="Text 62"/>
          <p:cNvSpPr/>
          <p:nvPr/>
        </p:nvSpPr>
        <p:spPr>
          <a:xfrm>
            <a:off x="8467725" y="2905125"/>
            <a:ext cx="13811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Revenue</a:t>
            </a:r>
            <a:endParaRPr lang="en-US" sz="1600" dirty="0"/>
          </a:p>
        </p:txBody>
      </p:sp>
      <p:sp>
        <p:nvSpPr>
          <p:cNvPr id="65" name="Text 63"/>
          <p:cNvSpPr/>
          <p:nvPr/>
        </p:nvSpPr>
        <p:spPr>
          <a:xfrm>
            <a:off x="8467725" y="3133725"/>
            <a:ext cx="1381125" cy="228600"/>
          </a:xfrm>
          <a:prstGeom prst="rect">
            <a:avLst/>
          </a:prstGeom>
          <a:noFill/>
          <a:ln/>
        </p:spPr>
        <p:txBody>
          <a:bodyPr wrap="square" lIns="0" tIns="0" rIns="0" bIns="0" rtlCol="0" anchor="ctr"/>
          <a:lstStyle/>
          <a:p>
            <a:pPr algn="ctr">
              <a:lnSpc>
                <a:spcPct val="130000"/>
              </a:lnSpc>
            </a:pPr>
            <a:r>
              <a:rPr lang="en-US" sz="1200" b="1" dirty="0">
                <a:solidFill>
                  <a:srgbClr val="38BDF8"/>
                </a:solidFill>
                <a:latin typeface="Quattrocento Sans" pitchFamily="34" charset="0"/>
                <a:ea typeface="Quattrocento Sans" pitchFamily="34" charset="-122"/>
                <a:cs typeface="Quattrocento Sans" pitchFamily="34" charset="-120"/>
              </a:rPr>
              <a:t>+17% YoY</a:t>
            </a:r>
            <a:endParaRPr lang="en-US" sz="1600" dirty="0"/>
          </a:p>
        </p:txBody>
      </p:sp>
      <p:sp>
        <p:nvSpPr>
          <p:cNvPr id="66" name="Shape 64"/>
          <p:cNvSpPr/>
          <p:nvPr/>
        </p:nvSpPr>
        <p:spPr>
          <a:xfrm>
            <a:off x="10039350" y="2486025"/>
            <a:ext cx="1533525" cy="990600"/>
          </a:xfrm>
          <a:custGeom>
            <a:avLst/>
            <a:gdLst/>
            <a:ahLst/>
            <a:cxnLst/>
            <a:rect l="l" t="t" r="r" b="b"/>
            <a:pathLst>
              <a:path w="1533525" h="990600">
                <a:moveTo>
                  <a:pt x="76197" y="0"/>
                </a:moveTo>
                <a:lnTo>
                  <a:pt x="1457328" y="0"/>
                </a:lnTo>
                <a:cubicBezTo>
                  <a:pt x="1499410" y="0"/>
                  <a:pt x="1533525" y="34115"/>
                  <a:pt x="1533525" y="76197"/>
                </a:cubicBezTo>
                <a:lnTo>
                  <a:pt x="1533525" y="914403"/>
                </a:lnTo>
                <a:cubicBezTo>
                  <a:pt x="1533525" y="956485"/>
                  <a:pt x="1499410" y="990600"/>
                  <a:pt x="1457328"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67" name="Text 65"/>
          <p:cNvSpPr/>
          <p:nvPr/>
        </p:nvSpPr>
        <p:spPr>
          <a:xfrm>
            <a:off x="10096500" y="2600325"/>
            <a:ext cx="1419225" cy="304800"/>
          </a:xfrm>
          <a:prstGeom prst="rect">
            <a:avLst/>
          </a:prstGeom>
          <a:noFill/>
          <a:ln/>
        </p:spPr>
        <p:txBody>
          <a:bodyPr wrap="square" lIns="0" tIns="0" rIns="0" bIns="0" rtlCol="0" anchor="ctr"/>
          <a:lstStyle/>
          <a:p>
            <a:pPr algn="ctr">
              <a:lnSpc>
                <a:spcPct val="110000"/>
              </a:lnSpc>
            </a:pPr>
            <a:r>
              <a:rPr lang="en-US" sz="1800" b="1" dirty="0">
                <a:solidFill>
                  <a:srgbClr val="F59E0B"/>
                </a:solidFill>
                <a:latin typeface="Liter" pitchFamily="34" charset="0"/>
                <a:ea typeface="Liter" pitchFamily="34" charset="-122"/>
                <a:cs typeface="Liter" pitchFamily="34" charset="-120"/>
              </a:rPr>
              <a:t>€420M</a:t>
            </a:r>
            <a:endParaRPr lang="en-US" sz="1600" dirty="0"/>
          </a:p>
        </p:txBody>
      </p:sp>
      <p:sp>
        <p:nvSpPr>
          <p:cNvPr id="68" name="Text 66"/>
          <p:cNvSpPr/>
          <p:nvPr/>
        </p:nvSpPr>
        <p:spPr>
          <a:xfrm>
            <a:off x="10115550" y="2905125"/>
            <a:ext cx="1381125" cy="228600"/>
          </a:xfrm>
          <a:prstGeom prst="rect">
            <a:avLst/>
          </a:prstGeom>
          <a:noFill/>
          <a:ln/>
        </p:spPr>
        <p:txBody>
          <a:bodyPr wrap="square" lIns="0" tIns="0" rIns="0" bIns="0" rtlCol="0" anchor="ctr"/>
          <a:lstStyle/>
          <a:p>
            <a:pPr algn="ct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EBIT Adj.</a:t>
            </a:r>
            <a:endParaRPr lang="en-US" sz="1600" dirty="0"/>
          </a:p>
        </p:txBody>
      </p:sp>
      <p:sp>
        <p:nvSpPr>
          <p:cNvPr id="69" name="Text 67"/>
          <p:cNvSpPr/>
          <p:nvPr/>
        </p:nvSpPr>
        <p:spPr>
          <a:xfrm>
            <a:off x="10115550" y="3133725"/>
            <a:ext cx="1381125" cy="228600"/>
          </a:xfrm>
          <a:prstGeom prst="rect">
            <a:avLst/>
          </a:prstGeom>
          <a:noFill/>
          <a:ln/>
        </p:spPr>
        <p:txBody>
          <a:bodyPr wrap="square" lIns="0" tIns="0" rIns="0" bIns="0" rtlCol="0" anchor="ctr"/>
          <a:lstStyle/>
          <a:p>
            <a:pPr algn="ctr">
              <a:lnSpc>
                <a:spcPct val="130000"/>
              </a:lnSpc>
            </a:pPr>
            <a:r>
              <a:rPr lang="en-US" sz="1200" b="1" dirty="0">
                <a:solidFill>
                  <a:srgbClr val="F59E0B"/>
                </a:solidFill>
                <a:latin typeface="Quattrocento Sans" pitchFamily="34" charset="0"/>
                <a:ea typeface="Quattrocento Sans" pitchFamily="34" charset="-122"/>
                <a:cs typeface="Quattrocento Sans" pitchFamily="34" charset="-120"/>
              </a:rPr>
              <a:t>Turnaround</a:t>
            </a:r>
            <a:endParaRPr lang="en-US" sz="1600" dirty="0"/>
          </a:p>
        </p:txBody>
      </p:sp>
      <p:sp>
        <p:nvSpPr>
          <p:cNvPr id="70" name="Shape 68"/>
          <p:cNvSpPr/>
          <p:nvPr/>
        </p:nvSpPr>
        <p:spPr>
          <a:xfrm>
            <a:off x="8391525" y="3629025"/>
            <a:ext cx="3181350" cy="1562100"/>
          </a:xfrm>
          <a:custGeom>
            <a:avLst/>
            <a:gdLst/>
            <a:ahLst/>
            <a:cxnLst/>
            <a:rect l="l" t="t" r="r" b="b"/>
            <a:pathLst>
              <a:path w="3181350" h="1562100">
                <a:moveTo>
                  <a:pt x="76199" y="0"/>
                </a:moveTo>
                <a:lnTo>
                  <a:pt x="3105151" y="0"/>
                </a:lnTo>
                <a:cubicBezTo>
                  <a:pt x="3147234" y="0"/>
                  <a:pt x="3181350" y="34116"/>
                  <a:pt x="3181350" y="76199"/>
                </a:cubicBezTo>
                <a:lnTo>
                  <a:pt x="3181350" y="1485901"/>
                </a:lnTo>
                <a:cubicBezTo>
                  <a:pt x="3181350" y="1527984"/>
                  <a:pt x="3147234" y="1562100"/>
                  <a:pt x="3105151" y="1562100"/>
                </a:cubicBezTo>
                <a:lnTo>
                  <a:pt x="76199" y="1562100"/>
                </a:lnTo>
                <a:cubicBezTo>
                  <a:pt x="34116" y="1562100"/>
                  <a:pt x="0" y="1527984"/>
                  <a:pt x="0" y="1485901"/>
                </a:cubicBezTo>
                <a:lnTo>
                  <a:pt x="0" y="76199"/>
                </a:lnTo>
                <a:cubicBezTo>
                  <a:pt x="0" y="34144"/>
                  <a:pt x="34144" y="0"/>
                  <a:pt x="76199" y="0"/>
                </a:cubicBezTo>
                <a:close/>
              </a:path>
            </a:pathLst>
          </a:custGeom>
          <a:solidFill>
            <a:srgbClr val="0F172A">
              <a:alpha val="50196"/>
            </a:srgbClr>
          </a:solidFill>
          <a:ln/>
        </p:spPr>
        <p:txBody>
          <a:bodyPr/>
          <a:lstStyle/>
          <a:p>
            <a:endParaRPr lang="en-GB"/>
          </a:p>
        </p:txBody>
      </p:sp>
      <p:sp>
        <p:nvSpPr>
          <p:cNvPr id="71" name="Text 69"/>
          <p:cNvSpPr/>
          <p:nvPr/>
        </p:nvSpPr>
        <p:spPr>
          <a:xfrm>
            <a:off x="8505825" y="3743325"/>
            <a:ext cx="3028950" cy="228600"/>
          </a:xfrm>
          <a:prstGeom prst="rect">
            <a:avLst/>
          </a:prstGeom>
          <a:noFill/>
          <a:ln/>
        </p:spPr>
        <p:txBody>
          <a:bodyPr wrap="square" lIns="0" tIns="0" rIns="0" bIns="0" rtlCol="0" anchor="ctr"/>
          <a:lstStyle/>
          <a:p>
            <a:pPr>
              <a:lnSpc>
                <a:spcPct val="130000"/>
              </a:lnSpc>
            </a:pPr>
            <a:r>
              <a:rPr lang="en-US" sz="1200" b="1" dirty="0">
                <a:solidFill>
                  <a:srgbClr val="E2E8F0"/>
                </a:solidFill>
                <a:latin typeface="Quattrocento Sans" pitchFamily="34" charset="0"/>
                <a:ea typeface="Quattrocento Sans" pitchFamily="34" charset="-122"/>
                <a:cs typeface="Quattrocento Sans" pitchFamily="34" charset="-120"/>
              </a:rPr>
              <a:t>Key Programs:</a:t>
            </a:r>
            <a:endParaRPr lang="en-US" sz="1600" dirty="0"/>
          </a:p>
        </p:txBody>
      </p:sp>
      <p:sp>
        <p:nvSpPr>
          <p:cNvPr id="72" name="Text 70"/>
          <p:cNvSpPr/>
          <p:nvPr/>
        </p:nvSpPr>
        <p:spPr>
          <a:xfrm>
            <a:off x="8505825" y="4048125"/>
            <a:ext cx="30289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 A400M military transport</a:t>
            </a:r>
            <a:endParaRPr lang="en-US" sz="1600" dirty="0"/>
          </a:p>
        </p:txBody>
      </p:sp>
      <p:sp>
        <p:nvSpPr>
          <p:cNvPr id="73" name="Text 71"/>
          <p:cNvSpPr/>
          <p:nvPr/>
        </p:nvSpPr>
        <p:spPr>
          <a:xfrm>
            <a:off x="8505825" y="4314825"/>
            <a:ext cx="30289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 Eurofighter Typhoon</a:t>
            </a:r>
            <a:endParaRPr lang="en-US" sz="1600" dirty="0"/>
          </a:p>
        </p:txBody>
      </p:sp>
      <p:sp>
        <p:nvSpPr>
          <p:cNvPr id="74" name="Text 72"/>
          <p:cNvSpPr/>
          <p:nvPr/>
        </p:nvSpPr>
        <p:spPr>
          <a:xfrm>
            <a:off x="8505825" y="4581525"/>
            <a:ext cx="30289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 Satellite systems</a:t>
            </a:r>
            <a:endParaRPr lang="en-US" sz="1600" dirty="0"/>
          </a:p>
        </p:txBody>
      </p:sp>
      <p:sp>
        <p:nvSpPr>
          <p:cNvPr id="75" name="Text 73"/>
          <p:cNvSpPr/>
          <p:nvPr/>
        </p:nvSpPr>
        <p:spPr>
          <a:xfrm>
            <a:off x="8505825" y="4848225"/>
            <a:ext cx="3028950" cy="2286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 Space exploration</a:t>
            </a:r>
            <a:endParaRPr lang="en-US" sz="1600" dirty="0"/>
          </a:p>
        </p:txBody>
      </p:sp>
      <p:sp>
        <p:nvSpPr>
          <p:cNvPr id="76" name="Shape 74"/>
          <p:cNvSpPr/>
          <p:nvPr/>
        </p:nvSpPr>
        <p:spPr>
          <a:xfrm>
            <a:off x="8391525" y="5343525"/>
            <a:ext cx="3181350" cy="990600"/>
          </a:xfrm>
          <a:custGeom>
            <a:avLst/>
            <a:gdLst/>
            <a:ahLst/>
            <a:cxnLst/>
            <a:rect l="l" t="t" r="r" b="b"/>
            <a:pathLst>
              <a:path w="3181350" h="990600">
                <a:moveTo>
                  <a:pt x="76197" y="0"/>
                </a:moveTo>
                <a:lnTo>
                  <a:pt x="3105153" y="0"/>
                </a:lnTo>
                <a:cubicBezTo>
                  <a:pt x="3147235" y="0"/>
                  <a:pt x="3181350" y="34115"/>
                  <a:pt x="3181350" y="76197"/>
                </a:cubicBezTo>
                <a:lnTo>
                  <a:pt x="3181350" y="914403"/>
                </a:lnTo>
                <a:cubicBezTo>
                  <a:pt x="3181350" y="956485"/>
                  <a:pt x="3147235" y="990600"/>
                  <a:pt x="3105153"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alpha val="50196"/>
            </a:srgbClr>
          </a:solidFill>
          <a:ln/>
        </p:spPr>
        <p:txBody>
          <a:bodyPr/>
          <a:lstStyle/>
          <a:p>
            <a:endParaRPr lang="en-GB"/>
          </a:p>
        </p:txBody>
      </p:sp>
      <p:sp>
        <p:nvSpPr>
          <p:cNvPr id="77" name="Text 75"/>
          <p:cNvSpPr/>
          <p:nvPr/>
        </p:nvSpPr>
        <p:spPr>
          <a:xfrm>
            <a:off x="8505825" y="5457825"/>
            <a:ext cx="904875" cy="228600"/>
          </a:xfrm>
          <a:prstGeom prst="rect">
            <a:avLst/>
          </a:prstGeom>
          <a:noFill/>
          <a:ln/>
        </p:spPr>
        <p:txBody>
          <a:bodyPr wrap="square" lIns="0" tIns="0" rIns="0" bIns="0" rtlCol="0" anchor="ctr"/>
          <a:lstStyle/>
          <a:p>
            <a:pPr>
              <a:lnSpc>
                <a:spcPct val="130000"/>
              </a:lnSpc>
            </a:pPr>
            <a:r>
              <a:rPr lang="en-US" sz="1200" dirty="0">
                <a:solidFill>
                  <a:srgbClr val="E2E8F0"/>
                </a:solidFill>
                <a:latin typeface="Quattrocento Sans" pitchFamily="34" charset="0"/>
                <a:ea typeface="Quattrocento Sans" pitchFamily="34" charset="-122"/>
                <a:cs typeface="Quattrocento Sans" pitchFamily="34" charset="-120"/>
              </a:rPr>
              <a:t>Order Intake</a:t>
            </a:r>
            <a:endParaRPr lang="en-US" sz="1600" dirty="0"/>
          </a:p>
        </p:txBody>
      </p:sp>
      <p:sp>
        <p:nvSpPr>
          <p:cNvPr id="78" name="Text 76"/>
          <p:cNvSpPr/>
          <p:nvPr/>
        </p:nvSpPr>
        <p:spPr>
          <a:xfrm>
            <a:off x="11073557" y="5457825"/>
            <a:ext cx="457200" cy="228600"/>
          </a:xfrm>
          <a:prstGeom prst="rect">
            <a:avLst/>
          </a:prstGeom>
          <a:noFill/>
          <a:ln/>
        </p:spPr>
        <p:txBody>
          <a:bodyPr wrap="square" lIns="0" tIns="0" rIns="0" bIns="0" rtlCol="0" anchor="ctr"/>
          <a:lstStyle/>
          <a:p>
            <a:pPr>
              <a:lnSpc>
                <a:spcPct val="130000"/>
              </a:lnSpc>
            </a:pPr>
            <a:r>
              <a:rPr lang="en-US" sz="1200" b="1" dirty="0">
                <a:solidFill>
                  <a:srgbClr val="38BDF8"/>
                </a:solidFill>
                <a:latin typeface="Quattrocento Sans" pitchFamily="34" charset="0"/>
                <a:ea typeface="Quattrocento Sans" pitchFamily="34" charset="-122"/>
                <a:cs typeface="Quattrocento Sans" pitchFamily="34" charset="-120"/>
              </a:rPr>
              <a:t>€6.8B</a:t>
            </a:r>
            <a:endParaRPr lang="en-US" sz="1600" dirty="0"/>
          </a:p>
        </p:txBody>
      </p:sp>
      <p:sp>
        <p:nvSpPr>
          <p:cNvPr id="79" name="Text 77"/>
          <p:cNvSpPr/>
          <p:nvPr/>
        </p:nvSpPr>
        <p:spPr>
          <a:xfrm>
            <a:off x="8505825" y="5762625"/>
            <a:ext cx="3028950" cy="457200"/>
          </a:xfrm>
          <a:prstGeom prst="rect">
            <a:avLst/>
          </a:prstGeom>
          <a:noFill/>
          <a:ln/>
        </p:spPr>
        <p:txBody>
          <a:bodyPr wrap="square" lIns="0" tIns="0" rIns="0" bIns="0" rtlCol="0" anchor="ctr"/>
          <a:lstStyle/>
          <a:p>
            <a:pPr>
              <a:lnSpc>
                <a:spcPct val="130000"/>
              </a:lnSpc>
            </a:pPr>
            <a:r>
              <a:rPr lang="en-US" sz="1200" dirty="0">
                <a:solidFill>
                  <a:srgbClr val="94A3B8"/>
                </a:solidFill>
                <a:latin typeface="Quattrocento Sans" pitchFamily="34" charset="0"/>
                <a:ea typeface="Quattrocento Sans" pitchFamily="34" charset="-122"/>
                <a:cs typeface="Quattrocento Sans" pitchFamily="34" charset="-120"/>
              </a:rPr>
              <a:t>Space consolidation with Leonardo &amp; Thales progressing</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62857" y="362857"/>
            <a:ext cx="11538857" cy="217714"/>
          </a:xfrm>
          <a:prstGeom prst="rect">
            <a:avLst/>
          </a:prstGeom>
          <a:noFill/>
          <a:ln/>
        </p:spPr>
        <p:txBody>
          <a:bodyPr wrap="square" lIns="0" tIns="0" rIns="0" bIns="0" rtlCol="0" anchor="ctr"/>
          <a:lstStyle/>
          <a:p>
            <a:pPr>
              <a:lnSpc>
                <a:spcPct val="120000"/>
              </a:lnSpc>
            </a:pPr>
            <a:r>
              <a:rPr lang="en-US" sz="1143" b="1" kern="0" spc="57" dirty="0">
                <a:solidFill>
                  <a:srgbClr val="38BDF8"/>
                </a:solidFill>
                <a:latin typeface="Quattrocento Sans" pitchFamily="34" charset="0"/>
                <a:ea typeface="Quattrocento Sans" pitchFamily="34" charset="-122"/>
                <a:cs typeface="Quattrocento Sans" pitchFamily="34" charset="-120"/>
              </a:rPr>
              <a:t>AIRCRAFT FAMILIES</a:t>
            </a:r>
            <a:endParaRPr lang="en-US" sz="1600" dirty="0"/>
          </a:p>
        </p:txBody>
      </p:sp>
      <p:sp>
        <p:nvSpPr>
          <p:cNvPr id="3" name="Text 1"/>
          <p:cNvSpPr/>
          <p:nvPr/>
        </p:nvSpPr>
        <p:spPr>
          <a:xfrm>
            <a:off x="362857" y="653143"/>
            <a:ext cx="11629571" cy="362857"/>
          </a:xfrm>
          <a:prstGeom prst="rect">
            <a:avLst/>
          </a:prstGeom>
          <a:noFill/>
          <a:ln/>
        </p:spPr>
        <p:txBody>
          <a:bodyPr wrap="square" lIns="0" tIns="0" rIns="0" bIns="0" rtlCol="0" anchor="ctr"/>
          <a:lstStyle/>
          <a:p>
            <a:pPr>
              <a:lnSpc>
                <a:spcPct val="90000"/>
              </a:lnSpc>
            </a:pPr>
            <a:r>
              <a:rPr lang="en-US" sz="2571" b="1" dirty="0">
                <a:solidFill>
                  <a:srgbClr val="FFFFFF"/>
                </a:solidFill>
                <a:latin typeface="Liter" pitchFamily="34" charset="0"/>
                <a:ea typeface="Liter" pitchFamily="34" charset="-122"/>
                <a:cs typeface="Liter" pitchFamily="34" charset="-120"/>
              </a:rPr>
              <a:t>Commercial Aircraft Portfolio</a:t>
            </a:r>
            <a:endParaRPr lang="en-US" sz="1600" dirty="0"/>
          </a:p>
        </p:txBody>
      </p:sp>
      <p:sp>
        <p:nvSpPr>
          <p:cNvPr id="4" name="Text 2"/>
          <p:cNvSpPr/>
          <p:nvPr/>
        </p:nvSpPr>
        <p:spPr>
          <a:xfrm>
            <a:off x="362857" y="1012371"/>
            <a:ext cx="11538857" cy="217714"/>
          </a:xfrm>
          <a:prstGeom prst="rect">
            <a:avLst/>
          </a:prstGeom>
          <a:noFill/>
          <a:ln/>
        </p:spPr>
        <p:txBody>
          <a:bodyPr wrap="square" lIns="0" tIns="0" rIns="0" bIns="0" rtlCol="0" anchor="ctr"/>
          <a:lstStyle/>
          <a:p>
            <a:pP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Market-Leading Products Serving All Market Segments</a:t>
            </a:r>
            <a:endParaRPr lang="en-US" sz="1600" dirty="0"/>
          </a:p>
        </p:txBody>
      </p:sp>
      <p:sp>
        <p:nvSpPr>
          <p:cNvPr id="5" name="Shape 3"/>
          <p:cNvSpPr/>
          <p:nvPr/>
        </p:nvSpPr>
        <p:spPr>
          <a:xfrm>
            <a:off x="367393" y="1379764"/>
            <a:ext cx="5651500" cy="2258786"/>
          </a:xfrm>
          <a:custGeom>
            <a:avLst/>
            <a:gdLst/>
            <a:ahLst/>
            <a:cxnLst/>
            <a:rect l="l" t="t" r="r" b="b"/>
            <a:pathLst>
              <a:path w="5651500" h="2258786">
                <a:moveTo>
                  <a:pt x="108851" y="0"/>
                </a:moveTo>
                <a:lnTo>
                  <a:pt x="5542649" y="0"/>
                </a:lnTo>
                <a:cubicBezTo>
                  <a:pt x="5602766" y="0"/>
                  <a:pt x="5651500" y="48734"/>
                  <a:pt x="5651500" y="108851"/>
                </a:cubicBezTo>
                <a:lnTo>
                  <a:pt x="5651500" y="2149935"/>
                </a:lnTo>
                <a:cubicBezTo>
                  <a:pt x="5651500" y="2210052"/>
                  <a:pt x="5602766" y="2258786"/>
                  <a:pt x="5542649" y="2258786"/>
                </a:cubicBezTo>
                <a:lnTo>
                  <a:pt x="108851" y="2258786"/>
                </a:lnTo>
                <a:cubicBezTo>
                  <a:pt x="48734" y="2258786"/>
                  <a:pt x="0" y="2210052"/>
                  <a:pt x="0" y="2149935"/>
                </a:cubicBezTo>
                <a:lnTo>
                  <a:pt x="0" y="108851"/>
                </a:lnTo>
                <a:cubicBezTo>
                  <a:pt x="0" y="48774"/>
                  <a:pt x="48774" y="0"/>
                  <a:pt x="108851"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6" name="Text 4"/>
          <p:cNvSpPr/>
          <p:nvPr/>
        </p:nvSpPr>
        <p:spPr>
          <a:xfrm>
            <a:off x="517071" y="1547586"/>
            <a:ext cx="1505857" cy="290286"/>
          </a:xfrm>
          <a:prstGeom prst="rect">
            <a:avLst/>
          </a:prstGeom>
          <a:noFill/>
          <a:ln/>
        </p:spPr>
        <p:txBody>
          <a:bodyPr wrap="square" lIns="0" tIns="0" rIns="0" bIns="0" rtlCol="0" anchor="ctr"/>
          <a:lstStyle/>
          <a:p>
            <a:pPr>
              <a:lnSpc>
                <a:spcPct val="110000"/>
              </a:lnSpc>
            </a:pPr>
            <a:r>
              <a:rPr lang="en-US" sz="1714" b="1" dirty="0">
                <a:solidFill>
                  <a:srgbClr val="FFFFFF"/>
                </a:solidFill>
                <a:latin typeface="Liter" pitchFamily="34" charset="0"/>
                <a:ea typeface="Liter" pitchFamily="34" charset="-122"/>
                <a:cs typeface="Liter" pitchFamily="34" charset="-120"/>
              </a:rPr>
              <a:t>A220 Family</a:t>
            </a:r>
            <a:endParaRPr lang="en-US" sz="1600" dirty="0"/>
          </a:p>
        </p:txBody>
      </p:sp>
      <p:sp>
        <p:nvSpPr>
          <p:cNvPr id="7" name="Text 5"/>
          <p:cNvSpPr/>
          <p:nvPr/>
        </p:nvSpPr>
        <p:spPr>
          <a:xfrm>
            <a:off x="517071" y="1837871"/>
            <a:ext cx="1469571" cy="217714"/>
          </a:xfrm>
          <a:prstGeom prst="rect">
            <a:avLst/>
          </a:prstGeom>
          <a:noFill/>
          <a:ln/>
        </p:spPr>
        <p:txBody>
          <a:bodyPr wrap="square" lIns="0" tIns="0" rIns="0" bIns="0" rtlCol="0" anchor="ctr"/>
          <a:lstStyle/>
          <a:p>
            <a:pPr>
              <a:lnSpc>
                <a:spcPct val="120000"/>
              </a:lnSpc>
            </a:pPr>
            <a:r>
              <a:rPr lang="en-US" sz="1143" dirty="0">
                <a:solidFill>
                  <a:srgbClr val="38BDF8"/>
                </a:solidFill>
                <a:latin typeface="Quattrocento Sans" pitchFamily="34" charset="0"/>
                <a:ea typeface="Quattrocento Sans" pitchFamily="34" charset="-122"/>
                <a:cs typeface="Quattrocento Sans" pitchFamily="34" charset="-120"/>
              </a:rPr>
              <a:t>The Small Single-Aisle</a:t>
            </a:r>
            <a:endParaRPr lang="en-US" sz="1600" dirty="0"/>
          </a:p>
        </p:txBody>
      </p:sp>
      <p:sp>
        <p:nvSpPr>
          <p:cNvPr id="8" name="Text 6"/>
          <p:cNvSpPr/>
          <p:nvPr/>
        </p:nvSpPr>
        <p:spPr>
          <a:xfrm>
            <a:off x="4771997" y="1529443"/>
            <a:ext cx="1097643" cy="326571"/>
          </a:xfrm>
          <a:prstGeom prst="rect">
            <a:avLst/>
          </a:prstGeom>
          <a:noFill/>
          <a:ln/>
        </p:spPr>
        <p:txBody>
          <a:bodyPr wrap="square" lIns="0" tIns="0" rIns="0" bIns="0" rtlCol="0" anchor="ctr"/>
          <a:lstStyle/>
          <a:p>
            <a:pPr algn="r">
              <a:lnSpc>
                <a:spcPct val="100000"/>
              </a:lnSpc>
            </a:pPr>
            <a:r>
              <a:rPr lang="en-US" sz="2143" b="1" dirty="0">
                <a:solidFill>
                  <a:srgbClr val="38BDF8"/>
                </a:solidFill>
                <a:latin typeface="Liter" pitchFamily="34" charset="0"/>
                <a:ea typeface="Liter" pitchFamily="34" charset="-122"/>
                <a:cs typeface="Liter" pitchFamily="34" charset="-120"/>
              </a:rPr>
              <a:t>93</a:t>
            </a:r>
            <a:endParaRPr lang="en-US" sz="1600" dirty="0"/>
          </a:p>
        </p:txBody>
      </p:sp>
      <p:sp>
        <p:nvSpPr>
          <p:cNvPr id="9" name="Text 7"/>
          <p:cNvSpPr/>
          <p:nvPr/>
        </p:nvSpPr>
        <p:spPr>
          <a:xfrm>
            <a:off x="4835497" y="1856014"/>
            <a:ext cx="1034143" cy="217714"/>
          </a:xfrm>
          <a:prstGeom prst="rect">
            <a:avLst/>
          </a:prstGeom>
          <a:noFill/>
          <a:ln/>
        </p:spPr>
        <p:txBody>
          <a:bodyPr wrap="square" lIns="0" tIns="0" rIns="0" bIns="0" rtlCol="0" anchor="ctr"/>
          <a:lstStyle/>
          <a:p>
            <a:pPr algn="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Delivered 2025</a:t>
            </a:r>
            <a:endParaRPr lang="en-US" sz="1600" dirty="0"/>
          </a:p>
        </p:txBody>
      </p:sp>
      <p:sp>
        <p:nvSpPr>
          <p:cNvPr id="10" name="Shape 8"/>
          <p:cNvSpPr/>
          <p:nvPr/>
        </p:nvSpPr>
        <p:spPr>
          <a:xfrm>
            <a:off x="517071" y="2255157"/>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11" name="Text 9"/>
          <p:cNvSpPr/>
          <p:nvPr/>
        </p:nvSpPr>
        <p:spPr>
          <a:xfrm>
            <a:off x="589643" y="2364014"/>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Capacity</a:t>
            </a:r>
            <a:endParaRPr lang="en-US" sz="1600" dirty="0"/>
          </a:p>
        </p:txBody>
      </p:sp>
      <p:sp>
        <p:nvSpPr>
          <p:cNvPr id="12" name="Text 10"/>
          <p:cNvSpPr/>
          <p:nvPr/>
        </p:nvSpPr>
        <p:spPr>
          <a:xfrm>
            <a:off x="589643" y="2618014"/>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100-150 seats</a:t>
            </a:r>
            <a:endParaRPr lang="en-US" sz="1600" dirty="0"/>
          </a:p>
        </p:txBody>
      </p:sp>
      <p:sp>
        <p:nvSpPr>
          <p:cNvPr id="13" name="Shape 11"/>
          <p:cNvSpPr/>
          <p:nvPr/>
        </p:nvSpPr>
        <p:spPr>
          <a:xfrm>
            <a:off x="3247571" y="2255157"/>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14" name="Text 12"/>
          <p:cNvSpPr/>
          <p:nvPr/>
        </p:nvSpPr>
        <p:spPr>
          <a:xfrm>
            <a:off x="3320143" y="2364014"/>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Range</a:t>
            </a:r>
            <a:endParaRPr lang="en-US" sz="1600" dirty="0"/>
          </a:p>
        </p:txBody>
      </p:sp>
      <p:sp>
        <p:nvSpPr>
          <p:cNvPr id="15" name="Text 13"/>
          <p:cNvSpPr/>
          <p:nvPr/>
        </p:nvSpPr>
        <p:spPr>
          <a:xfrm>
            <a:off x="3320143" y="2618014"/>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3,600 nm</a:t>
            </a:r>
            <a:endParaRPr lang="en-US" sz="1600" dirty="0"/>
          </a:p>
        </p:txBody>
      </p:sp>
      <p:sp>
        <p:nvSpPr>
          <p:cNvPr id="16" name="Text 14"/>
          <p:cNvSpPr/>
          <p:nvPr/>
        </p:nvSpPr>
        <p:spPr>
          <a:xfrm>
            <a:off x="517071" y="3017157"/>
            <a:ext cx="5424714" cy="471714"/>
          </a:xfrm>
          <a:prstGeom prst="rect">
            <a:avLst/>
          </a:prstGeom>
          <a:noFill/>
          <a:ln/>
        </p:spPr>
        <p:txBody>
          <a:bodyPr wrap="square" lIns="0" tIns="0" rIns="0" bIns="0" rtlCol="0" anchor="ctr"/>
          <a:lstStyle/>
          <a:p>
            <a:pPr>
              <a:lnSpc>
                <a:spcPct val="140000"/>
              </a:lnSpc>
            </a:pPr>
            <a:r>
              <a:rPr lang="en-US" sz="1143" dirty="0">
                <a:solidFill>
                  <a:srgbClr val="E2E8F0"/>
                </a:solidFill>
                <a:latin typeface="Quattrocento Sans" pitchFamily="34" charset="0"/>
                <a:ea typeface="Quattrocento Sans" pitchFamily="34" charset="-122"/>
                <a:cs typeface="Quattrocento Sans" pitchFamily="34" charset="-120"/>
              </a:rPr>
              <a:t>Acquired from Bombardier in 2018, the A220 offers superior economics for regional and thin routes. Production target: 12/month by 2026.</a:t>
            </a:r>
            <a:endParaRPr lang="en-US" sz="1600" dirty="0"/>
          </a:p>
        </p:txBody>
      </p:sp>
      <p:sp>
        <p:nvSpPr>
          <p:cNvPr id="17" name="Shape 15"/>
          <p:cNvSpPr/>
          <p:nvPr/>
        </p:nvSpPr>
        <p:spPr>
          <a:xfrm>
            <a:off x="367393" y="3756479"/>
            <a:ext cx="5651500" cy="2258786"/>
          </a:xfrm>
          <a:custGeom>
            <a:avLst/>
            <a:gdLst/>
            <a:ahLst/>
            <a:cxnLst/>
            <a:rect l="l" t="t" r="r" b="b"/>
            <a:pathLst>
              <a:path w="5651500" h="2258786">
                <a:moveTo>
                  <a:pt x="108851" y="0"/>
                </a:moveTo>
                <a:lnTo>
                  <a:pt x="5542649" y="0"/>
                </a:lnTo>
                <a:cubicBezTo>
                  <a:pt x="5602766" y="0"/>
                  <a:pt x="5651500" y="48734"/>
                  <a:pt x="5651500" y="108851"/>
                </a:cubicBezTo>
                <a:lnTo>
                  <a:pt x="5651500" y="2149935"/>
                </a:lnTo>
                <a:cubicBezTo>
                  <a:pt x="5651500" y="2210052"/>
                  <a:pt x="5602766" y="2258786"/>
                  <a:pt x="5542649" y="2258786"/>
                </a:cubicBezTo>
                <a:lnTo>
                  <a:pt x="108851" y="2258786"/>
                </a:lnTo>
                <a:cubicBezTo>
                  <a:pt x="48734" y="2258786"/>
                  <a:pt x="0" y="2210052"/>
                  <a:pt x="0" y="2149935"/>
                </a:cubicBezTo>
                <a:lnTo>
                  <a:pt x="0" y="108851"/>
                </a:lnTo>
                <a:cubicBezTo>
                  <a:pt x="0" y="48774"/>
                  <a:pt x="48774" y="0"/>
                  <a:pt x="108851"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18" name="Text 16"/>
          <p:cNvSpPr/>
          <p:nvPr/>
        </p:nvSpPr>
        <p:spPr>
          <a:xfrm>
            <a:off x="517071" y="3924300"/>
            <a:ext cx="1324429" cy="290286"/>
          </a:xfrm>
          <a:prstGeom prst="rect">
            <a:avLst/>
          </a:prstGeom>
          <a:noFill/>
          <a:ln/>
        </p:spPr>
        <p:txBody>
          <a:bodyPr wrap="square" lIns="0" tIns="0" rIns="0" bIns="0" rtlCol="0" anchor="ctr"/>
          <a:lstStyle/>
          <a:p>
            <a:pPr>
              <a:lnSpc>
                <a:spcPct val="110000"/>
              </a:lnSpc>
            </a:pPr>
            <a:r>
              <a:rPr lang="en-US" sz="1714" b="1" dirty="0">
                <a:solidFill>
                  <a:srgbClr val="FFFFFF"/>
                </a:solidFill>
                <a:latin typeface="Liter" pitchFamily="34" charset="0"/>
                <a:ea typeface="Liter" pitchFamily="34" charset="-122"/>
                <a:cs typeface="Liter" pitchFamily="34" charset="-120"/>
              </a:rPr>
              <a:t>A320 Family</a:t>
            </a:r>
            <a:endParaRPr lang="en-US" sz="1600" dirty="0"/>
          </a:p>
        </p:txBody>
      </p:sp>
      <p:sp>
        <p:nvSpPr>
          <p:cNvPr id="19" name="Text 17"/>
          <p:cNvSpPr/>
          <p:nvPr/>
        </p:nvSpPr>
        <p:spPr>
          <a:xfrm>
            <a:off x="517071" y="4214586"/>
            <a:ext cx="1288143" cy="217714"/>
          </a:xfrm>
          <a:prstGeom prst="rect">
            <a:avLst/>
          </a:prstGeom>
          <a:noFill/>
          <a:ln/>
        </p:spPr>
        <p:txBody>
          <a:bodyPr wrap="square" lIns="0" tIns="0" rIns="0" bIns="0" rtlCol="0" anchor="ctr"/>
          <a:lstStyle/>
          <a:p>
            <a:pPr>
              <a:lnSpc>
                <a:spcPct val="120000"/>
              </a:lnSpc>
            </a:pPr>
            <a:r>
              <a:rPr lang="en-US" sz="1143" dirty="0">
                <a:solidFill>
                  <a:srgbClr val="F59E0B"/>
                </a:solidFill>
                <a:latin typeface="Quattrocento Sans" pitchFamily="34" charset="0"/>
                <a:ea typeface="Quattrocento Sans" pitchFamily="34" charset="-122"/>
                <a:cs typeface="Quattrocento Sans" pitchFamily="34" charset="-120"/>
              </a:rPr>
              <a:t>The Best-Selling Jet</a:t>
            </a:r>
            <a:endParaRPr lang="en-US" sz="1600" dirty="0"/>
          </a:p>
        </p:txBody>
      </p:sp>
      <p:sp>
        <p:nvSpPr>
          <p:cNvPr id="20" name="Text 18"/>
          <p:cNvSpPr/>
          <p:nvPr/>
        </p:nvSpPr>
        <p:spPr>
          <a:xfrm>
            <a:off x="4771997" y="3906157"/>
            <a:ext cx="1097643" cy="326571"/>
          </a:xfrm>
          <a:prstGeom prst="rect">
            <a:avLst/>
          </a:prstGeom>
          <a:noFill/>
          <a:ln/>
        </p:spPr>
        <p:txBody>
          <a:bodyPr wrap="square" lIns="0" tIns="0" rIns="0" bIns="0" rtlCol="0" anchor="ctr"/>
          <a:lstStyle/>
          <a:p>
            <a:pPr algn="r">
              <a:lnSpc>
                <a:spcPct val="100000"/>
              </a:lnSpc>
            </a:pPr>
            <a:r>
              <a:rPr lang="en-US" sz="2143" b="1" dirty="0">
                <a:solidFill>
                  <a:srgbClr val="F59E0B"/>
                </a:solidFill>
                <a:latin typeface="Liter" pitchFamily="34" charset="0"/>
                <a:ea typeface="Liter" pitchFamily="34" charset="-122"/>
                <a:cs typeface="Liter" pitchFamily="34" charset="-120"/>
              </a:rPr>
              <a:t>607</a:t>
            </a:r>
            <a:endParaRPr lang="en-US" sz="1600" dirty="0"/>
          </a:p>
        </p:txBody>
      </p:sp>
      <p:sp>
        <p:nvSpPr>
          <p:cNvPr id="21" name="Text 19"/>
          <p:cNvSpPr/>
          <p:nvPr/>
        </p:nvSpPr>
        <p:spPr>
          <a:xfrm>
            <a:off x="4835497" y="4232729"/>
            <a:ext cx="1034143" cy="217714"/>
          </a:xfrm>
          <a:prstGeom prst="rect">
            <a:avLst/>
          </a:prstGeom>
          <a:noFill/>
          <a:ln/>
        </p:spPr>
        <p:txBody>
          <a:bodyPr wrap="square" lIns="0" tIns="0" rIns="0" bIns="0" rtlCol="0" anchor="ctr"/>
          <a:lstStyle/>
          <a:p>
            <a:pPr algn="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Delivered 2025</a:t>
            </a:r>
            <a:endParaRPr lang="en-US" sz="1600" dirty="0"/>
          </a:p>
        </p:txBody>
      </p:sp>
      <p:sp>
        <p:nvSpPr>
          <p:cNvPr id="22" name="Shape 20"/>
          <p:cNvSpPr/>
          <p:nvPr/>
        </p:nvSpPr>
        <p:spPr>
          <a:xfrm>
            <a:off x="517071" y="4631871"/>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23" name="Text 21"/>
          <p:cNvSpPr/>
          <p:nvPr/>
        </p:nvSpPr>
        <p:spPr>
          <a:xfrm>
            <a:off x="589643" y="4740729"/>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Capacity</a:t>
            </a:r>
            <a:endParaRPr lang="en-US" sz="1600" dirty="0"/>
          </a:p>
        </p:txBody>
      </p:sp>
      <p:sp>
        <p:nvSpPr>
          <p:cNvPr id="24" name="Text 22"/>
          <p:cNvSpPr/>
          <p:nvPr/>
        </p:nvSpPr>
        <p:spPr>
          <a:xfrm>
            <a:off x="589643" y="4994729"/>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120-244 seats</a:t>
            </a:r>
            <a:endParaRPr lang="en-US" sz="1600" dirty="0"/>
          </a:p>
        </p:txBody>
      </p:sp>
      <p:sp>
        <p:nvSpPr>
          <p:cNvPr id="25" name="Shape 23"/>
          <p:cNvSpPr/>
          <p:nvPr/>
        </p:nvSpPr>
        <p:spPr>
          <a:xfrm>
            <a:off x="3247571" y="4631871"/>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26" name="Text 24"/>
          <p:cNvSpPr/>
          <p:nvPr/>
        </p:nvSpPr>
        <p:spPr>
          <a:xfrm>
            <a:off x="3320143" y="4740729"/>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A321XLR Range</a:t>
            </a:r>
            <a:endParaRPr lang="en-US" sz="1600" dirty="0"/>
          </a:p>
        </p:txBody>
      </p:sp>
      <p:sp>
        <p:nvSpPr>
          <p:cNvPr id="27" name="Text 25"/>
          <p:cNvSpPr/>
          <p:nvPr/>
        </p:nvSpPr>
        <p:spPr>
          <a:xfrm>
            <a:off x="3320143" y="4994729"/>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4,700 nm</a:t>
            </a:r>
            <a:endParaRPr lang="en-US" sz="1600" dirty="0"/>
          </a:p>
        </p:txBody>
      </p:sp>
      <p:sp>
        <p:nvSpPr>
          <p:cNvPr id="28" name="Text 26"/>
          <p:cNvSpPr/>
          <p:nvPr/>
        </p:nvSpPr>
        <p:spPr>
          <a:xfrm>
            <a:off x="517071" y="5393871"/>
            <a:ext cx="5424714" cy="471714"/>
          </a:xfrm>
          <a:prstGeom prst="rect">
            <a:avLst/>
          </a:prstGeom>
          <a:noFill/>
          <a:ln/>
        </p:spPr>
        <p:txBody>
          <a:bodyPr wrap="square" lIns="0" tIns="0" rIns="0" bIns="0" rtlCol="0" anchor="ctr"/>
          <a:lstStyle/>
          <a:p>
            <a:pPr>
              <a:lnSpc>
                <a:spcPct val="140000"/>
              </a:lnSpc>
            </a:pPr>
            <a:r>
              <a:rPr lang="en-US" sz="1143" dirty="0">
                <a:solidFill>
                  <a:srgbClr val="E2E8F0"/>
                </a:solidFill>
                <a:latin typeface="Quattrocento Sans" pitchFamily="34" charset="0"/>
                <a:ea typeface="Quattrocento Sans" pitchFamily="34" charset="-122"/>
                <a:cs typeface="Quattrocento Sans" pitchFamily="34" charset="-120"/>
              </a:rPr>
              <a:t>The industry's workhorse with 80% of Airbus deliveries. Revolutionary fly-by-wire technology. Production ramping to 75/month by 2027.</a:t>
            </a:r>
            <a:endParaRPr lang="en-US" sz="1600" dirty="0"/>
          </a:p>
        </p:txBody>
      </p:sp>
      <p:sp>
        <p:nvSpPr>
          <p:cNvPr id="29" name="Shape 27"/>
          <p:cNvSpPr/>
          <p:nvPr/>
        </p:nvSpPr>
        <p:spPr>
          <a:xfrm>
            <a:off x="6173107" y="1379764"/>
            <a:ext cx="5651500" cy="2258786"/>
          </a:xfrm>
          <a:custGeom>
            <a:avLst/>
            <a:gdLst/>
            <a:ahLst/>
            <a:cxnLst/>
            <a:rect l="l" t="t" r="r" b="b"/>
            <a:pathLst>
              <a:path w="5651500" h="2258786">
                <a:moveTo>
                  <a:pt x="108851" y="0"/>
                </a:moveTo>
                <a:lnTo>
                  <a:pt x="5542649" y="0"/>
                </a:lnTo>
                <a:cubicBezTo>
                  <a:pt x="5602766" y="0"/>
                  <a:pt x="5651500" y="48734"/>
                  <a:pt x="5651500" y="108851"/>
                </a:cubicBezTo>
                <a:lnTo>
                  <a:pt x="5651500" y="2149935"/>
                </a:lnTo>
                <a:cubicBezTo>
                  <a:pt x="5651500" y="2210052"/>
                  <a:pt x="5602766" y="2258786"/>
                  <a:pt x="5542649" y="2258786"/>
                </a:cubicBezTo>
                <a:lnTo>
                  <a:pt x="108851" y="2258786"/>
                </a:lnTo>
                <a:cubicBezTo>
                  <a:pt x="48734" y="2258786"/>
                  <a:pt x="0" y="2210052"/>
                  <a:pt x="0" y="2149935"/>
                </a:cubicBezTo>
                <a:lnTo>
                  <a:pt x="0" y="108851"/>
                </a:lnTo>
                <a:cubicBezTo>
                  <a:pt x="0" y="48774"/>
                  <a:pt x="48774" y="0"/>
                  <a:pt x="108851"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30" name="Text 28"/>
          <p:cNvSpPr/>
          <p:nvPr/>
        </p:nvSpPr>
        <p:spPr>
          <a:xfrm>
            <a:off x="6322786" y="1547586"/>
            <a:ext cx="1360714" cy="290286"/>
          </a:xfrm>
          <a:prstGeom prst="rect">
            <a:avLst/>
          </a:prstGeom>
          <a:noFill/>
          <a:ln/>
        </p:spPr>
        <p:txBody>
          <a:bodyPr wrap="square" lIns="0" tIns="0" rIns="0" bIns="0" rtlCol="0" anchor="ctr"/>
          <a:lstStyle/>
          <a:p>
            <a:pPr>
              <a:lnSpc>
                <a:spcPct val="110000"/>
              </a:lnSpc>
            </a:pPr>
            <a:r>
              <a:rPr lang="en-US" sz="1714" b="1" dirty="0">
                <a:solidFill>
                  <a:srgbClr val="FFFFFF"/>
                </a:solidFill>
                <a:latin typeface="Liter" pitchFamily="34" charset="0"/>
                <a:ea typeface="Liter" pitchFamily="34" charset="-122"/>
                <a:cs typeface="Liter" pitchFamily="34" charset="-120"/>
              </a:rPr>
              <a:t>A330 Family</a:t>
            </a:r>
            <a:endParaRPr lang="en-US" sz="1600" dirty="0"/>
          </a:p>
        </p:txBody>
      </p:sp>
      <p:sp>
        <p:nvSpPr>
          <p:cNvPr id="31" name="Text 29"/>
          <p:cNvSpPr/>
          <p:nvPr/>
        </p:nvSpPr>
        <p:spPr>
          <a:xfrm>
            <a:off x="6322786" y="1837871"/>
            <a:ext cx="1324429" cy="217714"/>
          </a:xfrm>
          <a:prstGeom prst="rect">
            <a:avLst/>
          </a:prstGeom>
          <a:noFill/>
          <a:ln/>
        </p:spPr>
        <p:txBody>
          <a:bodyPr wrap="square" lIns="0" tIns="0" rIns="0" bIns="0" rtlCol="0" anchor="ctr"/>
          <a:lstStyle/>
          <a:p>
            <a:pPr>
              <a:lnSpc>
                <a:spcPct val="120000"/>
              </a:lnSpc>
            </a:pPr>
            <a:r>
              <a:rPr lang="en-US" sz="1143" dirty="0">
                <a:solidFill>
                  <a:srgbClr val="38BDF8"/>
                </a:solidFill>
                <a:latin typeface="Quattrocento Sans" pitchFamily="34" charset="0"/>
                <a:ea typeface="Quattrocento Sans" pitchFamily="34" charset="-122"/>
                <a:cs typeface="Quattrocento Sans" pitchFamily="34" charset="-120"/>
              </a:rPr>
              <a:t>Versatile Widebody</a:t>
            </a:r>
            <a:endParaRPr lang="en-US" sz="1600" dirty="0"/>
          </a:p>
        </p:txBody>
      </p:sp>
      <p:sp>
        <p:nvSpPr>
          <p:cNvPr id="32" name="Text 30"/>
          <p:cNvSpPr/>
          <p:nvPr/>
        </p:nvSpPr>
        <p:spPr>
          <a:xfrm>
            <a:off x="10577711" y="1529443"/>
            <a:ext cx="1097643" cy="326571"/>
          </a:xfrm>
          <a:prstGeom prst="rect">
            <a:avLst/>
          </a:prstGeom>
          <a:noFill/>
          <a:ln/>
        </p:spPr>
        <p:txBody>
          <a:bodyPr wrap="square" lIns="0" tIns="0" rIns="0" bIns="0" rtlCol="0" anchor="ctr"/>
          <a:lstStyle/>
          <a:p>
            <a:pPr algn="r">
              <a:lnSpc>
                <a:spcPct val="100000"/>
              </a:lnSpc>
            </a:pPr>
            <a:r>
              <a:rPr lang="en-US" sz="2143" b="1" dirty="0">
                <a:solidFill>
                  <a:srgbClr val="38BDF8"/>
                </a:solidFill>
                <a:latin typeface="Liter" pitchFamily="34" charset="0"/>
                <a:ea typeface="Liter" pitchFamily="34" charset="-122"/>
                <a:cs typeface="Liter" pitchFamily="34" charset="-120"/>
              </a:rPr>
              <a:t>36</a:t>
            </a:r>
            <a:endParaRPr lang="en-US" sz="1600" dirty="0"/>
          </a:p>
        </p:txBody>
      </p:sp>
      <p:sp>
        <p:nvSpPr>
          <p:cNvPr id="33" name="Text 31"/>
          <p:cNvSpPr/>
          <p:nvPr/>
        </p:nvSpPr>
        <p:spPr>
          <a:xfrm>
            <a:off x="10641211" y="1856014"/>
            <a:ext cx="1034143" cy="217714"/>
          </a:xfrm>
          <a:prstGeom prst="rect">
            <a:avLst/>
          </a:prstGeom>
          <a:noFill/>
          <a:ln/>
        </p:spPr>
        <p:txBody>
          <a:bodyPr wrap="square" lIns="0" tIns="0" rIns="0" bIns="0" rtlCol="0" anchor="ctr"/>
          <a:lstStyle/>
          <a:p>
            <a:pPr algn="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Delivered 2025</a:t>
            </a:r>
            <a:endParaRPr lang="en-US" sz="1600" dirty="0"/>
          </a:p>
        </p:txBody>
      </p:sp>
      <p:sp>
        <p:nvSpPr>
          <p:cNvPr id="34" name="Shape 32"/>
          <p:cNvSpPr/>
          <p:nvPr/>
        </p:nvSpPr>
        <p:spPr>
          <a:xfrm>
            <a:off x="6322786" y="2255157"/>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35" name="Text 33"/>
          <p:cNvSpPr/>
          <p:nvPr/>
        </p:nvSpPr>
        <p:spPr>
          <a:xfrm>
            <a:off x="6395357" y="2364014"/>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Capacity</a:t>
            </a:r>
            <a:endParaRPr lang="en-US" sz="1600" dirty="0"/>
          </a:p>
        </p:txBody>
      </p:sp>
      <p:sp>
        <p:nvSpPr>
          <p:cNvPr id="36" name="Text 34"/>
          <p:cNvSpPr/>
          <p:nvPr/>
        </p:nvSpPr>
        <p:spPr>
          <a:xfrm>
            <a:off x="6395357" y="2618014"/>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260-300 seats</a:t>
            </a:r>
            <a:endParaRPr lang="en-US" sz="1600" dirty="0"/>
          </a:p>
        </p:txBody>
      </p:sp>
      <p:sp>
        <p:nvSpPr>
          <p:cNvPr id="37" name="Shape 35"/>
          <p:cNvSpPr/>
          <p:nvPr/>
        </p:nvSpPr>
        <p:spPr>
          <a:xfrm>
            <a:off x="9053286" y="2255157"/>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38" name="Text 36"/>
          <p:cNvSpPr/>
          <p:nvPr/>
        </p:nvSpPr>
        <p:spPr>
          <a:xfrm>
            <a:off x="9125857" y="2364014"/>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Range</a:t>
            </a:r>
            <a:endParaRPr lang="en-US" sz="1600" dirty="0"/>
          </a:p>
        </p:txBody>
      </p:sp>
      <p:sp>
        <p:nvSpPr>
          <p:cNvPr id="39" name="Text 37"/>
          <p:cNvSpPr/>
          <p:nvPr/>
        </p:nvSpPr>
        <p:spPr>
          <a:xfrm>
            <a:off x="9125857" y="2618014"/>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7,200 nm</a:t>
            </a:r>
            <a:endParaRPr lang="en-US" sz="1600" dirty="0"/>
          </a:p>
        </p:txBody>
      </p:sp>
      <p:sp>
        <p:nvSpPr>
          <p:cNvPr id="40" name="Text 38"/>
          <p:cNvSpPr/>
          <p:nvPr/>
        </p:nvSpPr>
        <p:spPr>
          <a:xfrm>
            <a:off x="6322786" y="3017157"/>
            <a:ext cx="5424714" cy="471714"/>
          </a:xfrm>
          <a:prstGeom prst="rect">
            <a:avLst/>
          </a:prstGeom>
          <a:noFill/>
          <a:ln/>
        </p:spPr>
        <p:txBody>
          <a:bodyPr wrap="square" lIns="0" tIns="0" rIns="0" bIns="0" rtlCol="0" anchor="ctr"/>
          <a:lstStyle/>
          <a:p>
            <a:pPr>
              <a:lnSpc>
                <a:spcPct val="140000"/>
              </a:lnSpc>
            </a:pPr>
            <a:r>
              <a:rPr lang="en-US" sz="1143" dirty="0">
                <a:solidFill>
                  <a:srgbClr val="E2E8F0"/>
                </a:solidFill>
                <a:latin typeface="Quattrocento Sans" pitchFamily="34" charset="0"/>
                <a:ea typeface="Quattrocento Sans" pitchFamily="34" charset="-122"/>
                <a:cs typeface="Quattrocento Sans" pitchFamily="34" charset="-120"/>
              </a:rPr>
              <a:t>The A330neo delivers 25% better fuel efficiency than previous generation. Ideal for medium- to long-haul routes. Rate: 4/month, moving to 5 by 2029.</a:t>
            </a:r>
            <a:endParaRPr lang="en-US" sz="1600" dirty="0"/>
          </a:p>
        </p:txBody>
      </p:sp>
      <p:sp>
        <p:nvSpPr>
          <p:cNvPr id="41" name="Shape 39"/>
          <p:cNvSpPr/>
          <p:nvPr/>
        </p:nvSpPr>
        <p:spPr>
          <a:xfrm>
            <a:off x="6173107" y="3756479"/>
            <a:ext cx="5651500" cy="2258786"/>
          </a:xfrm>
          <a:custGeom>
            <a:avLst/>
            <a:gdLst/>
            <a:ahLst/>
            <a:cxnLst/>
            <a:rect l="l" t="t" r="r" b="b"/>
            <a:pathLst>
              <a:path w="5651500" h="2258786">
                <a:moveTo>
                  <a:pt x="108851" y="0"/>
                </a:moveTo>
                <a:lnTo>
                  <a:pt x="5542649" y="0"/>
                </a:lnTo>
                <a:cubicBezTo>
                  <a:pt x="5602766" y="0"/>
                  <a:pt x="5651500" y="48734"/>
                  <a:pt x="5651500" y="108851"/>
                </a:cubicBezTo>
                <a:lnTo>
                  <a:pt x="5651500" y="2149935"/>
                </a:lnTo>
                <a:cubicBezTo>
                  <a:pt x="5651500" y="2210052"/>
                  <a:pt x="5602766" y="2258786"/>
                  <a:pt x="5542649" y="2258786"/>
                </a:cubicBezTo>
                <a:lnTo>
                  <a:pt x="108851" y="2258786"/>
                </a:lnTo>
                <a:cubicBezTo>
                  <a:pt x="48734" y="2258786"/>
                  <a:pt x="0" y="2210052"/>
                  <a:pt x="0" y="2149935"/>
                </a:cubicBezTo>
                <a:lnTo>
                  <a:pt x="0" y="108851"/>
                </a:lnTo>
                <a:cubicBezTo>
                  <a:pt x="0" y="48774"/>
                  <a:pt x="48774" y="0"/>
                  <a:pt x="108851"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42" name="Text 40"/>
          <p:cNvSpPr/>
          <p:nvPr/>
        </p:nvSpPr>
        <p:spPr>
          <a:xfrm>
            <a:off x="6322786" y="3924300"/>
            <a:ext cx="1324429" cy="290286"/>
          </a:xfrm>
          <a:prstGeom prst="rect">
            <a:avLst/>
          </a:prstGeom>
          <a:noFill/>
          <a:ln/>
        </p:spPr>
        <p:txBody>
          <a:bodyPr wrap="square" lIns="0" tIns="0" rIns="0" bIns="0" rtlCol="0" anchor="ctr"/>
          <a:lstStyle/>
          <a:p>
            <a:pPr>
              <a:lnSpc>
                <a:spcPct val="110000"/>
              </a:lnSpc>
            </a:pPr>
            <a:r>
              <a:rPr lang="en-US" sz="1714" b="1" dirty="0">
                <a:solidFill>
                  <a:srgbClr val="FFFFFF"/>
                </a:solidFill>
                <a:latin typeface="Liter" pitchFamily="34" charset="0"/>
                <a:ea typeface="Liter" pitchFamily="34" charset="-122"/>
                <a:cs typeface="Liter" pitchFamily="34" charset="-120"/>
              </a:rPr>
              <a:t>A350 Family</a:t>
            </a:r>
            <a:endParaRPr lang="en-US" sz="1600" dirty="0"/>
          </a:p>
        </p:txBody>
      </p:sp>
      <p:sp>
        <p:nvSpPr>
          <p:cNvPr id="43" name="Text 41"/>
          <p:cNvSpPr/>
          <p:nvPr/>
        </p:nvSpPr>
        <p:spPr>
          <a:xfrm>
            <a:off x="6322786" y="4214586"/>
            <a:ext cx="1288143" cy="217714"/>
          </a:xfrm>
          <a:prstGeom prst="rect">
            <a:avLst/>
          </a:prstGeom>
          <a:noFill/>
          <a:ln/>
        </p:spPr>
        <p:txBody>
          <a:bodyPr wrap="square" lIns="0" tIns="0" rIns="0" bIns="0" rtlCol="0" anchor="ctr"/>
          <a:lstStyle/>
          <a:p>
            <a:pPr>
              <a:lnSpc>
                <a:spcPct val="120000"/>
              </a:lnSpc>
            </a:pPr>
            <a:r>
              <a:rPr lang="en-US" sz="1143" dirty="0">
                <a:solidFill>
                  <a:srgbClr val="F59E0B"/>
                </a:solidFill>
                <a:latin typeface="Quattrocento Sans" pitchFamily="34" charset="0"/>
                <a:ea typeface="Quattrocento Sans" pitchFamily="34" charset="-122"/>
                <a:cs typeface="Quattrocento Sans" pitchFamily="34" charset="-120"/>
              </a:rPr>
              <a:t>Flagship Widebody</a:t>
            </a:r>
            <a:endParaRPr lang="en-US" sz="1600" dirty="0"/>
          </a:p>
        </p:txBody>
      </p:sp>
      <p:sp>
        <p:nvSpPr>
          <p:cNvPr id="44" name="Text 42"/>
          <p:cNvSpPr/>
          <p:nvPr/>
        </p:nvSpPr>
        <p:spPr>
          <a:xfrm>
            <a:off x="10577711" y="3906157"/>
            <a:ext cx="1097643" cy="326571"/>
          </a:xfrm>
          <a:prstGeom prst="rect">
            <a:avLst/>
          </a:prstGeom>
          <a:noFill/>
          <a:ln/>
        </p:spPr>
        <p:txBody>
          <a:bodyPr wrap="square" lIns="0" tIns="0" rIns="0" bIns="0" rtlCol="0" anchor="ctr"/>
          <a:lstStyle/>
          <a:p>
            <a:pPr algn="r">
              <a:lnSpc>
                <a:spcPct val="100000"/>
              </a:lnSpc>
            </a:pPr>
            <a:r>
              <a:rPr lang="en-US" sz="2143" b="1" dirty="0">
                <a:solidFill>
                  <a:srgbClr val="F59E0B"/>
                </a:solidFill>
                <a:latin typeface="Liter" pitchFamily="34" charset="0"/>
                <a:ea typeface="Liter" pitchFamily="34" charset="-122"/>
                <a:cs typeface="Liter" pitchFamily="34" charset="-120"/>
              </a:rPr>
              <a:t>57</a:t>
            </a:r>
            <a:endParaRPr lang="en-US" sz="1600" dirty="0"/>
          </a:p>
        </p:txBody>
      </p:sp>
      <p:sp>
        <p:nvSpPr>
          <p:cNvPr id="45" name="Text 43"/>
          <p:cNvSpPr/>
          <p:nvPr/>
        </p:nvSpPr>
        <p:spPr>
          <a:xfrm>
            <a:off x="10641211" y="4232729"/>
            <a:ext cx="1034143" cy="217714"/>
          </a:xfrm>
          <a:prstGeom prst="rect">
            <a:avLst/>
          </a:prstGeom>
          <a:noFill/>
          <a:ln/>
        </p:spPr>
        <p:txBody>
          <a:bodyPr wrap="square" lIns="0" tIns="0" rIns="0" bIns="0" rtlCol="0" anchor="ctr"/>
          <a:lstStyle/>
          <a:p>
            <a:pPr algn="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Delivered 2025</a:t>
            </a:r>
            <a:endParaRPr lang="en-US" sz="1600" dirty="0"/>
          </a:p>
        </p:txBody>
      </p:sp>
      <p:sp>
        <p:nvSpPr>
          <p:cNvPr id="46" name="Shape 44"/>
          <p:cNvSpPr/>
          <p:nvPr/>
        </p:nvSpPr>
        <p:spPr>
          <a:xfrm>
            <a:off x="6322786" y="4631871"/>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47" name="Text 45"/>
          <p:cNvSpPr/>
          <p:nvPr/>
        </p:nvSpPr>
        <p:spPr>
          <a:xfrm>
            <a:off x="6395357" y="4740729"/>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Capacity</a:t>
            </a:r>
            <a:endParaRPr lang="en-US" sz="1600" dirty="0"/>
          </a:p>
        </p:txBody>
      </p:sp>
      <p:sp>
        <p:nvSpPr>
          <p:cNvPr id="48" name="Text 46"/>
          <p:cNvSpPr/>
          <p:nvPr/>
        </p:nvSpPr>
        <p:spPr>
          <a:xfrm>
            <a:off x="6395357" y="4994729"/>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300-410 seats</a:t>
            </a:r>
            <a:endParaRPr lang="en-US" sz="1600" dirty="0"/>
          </a:p>
        </p:txBody>
      </p:sp>
      <p:sp>
        <p:nvSpPr>
          <p:cNvPr id="49" name="Shape 47"/>
          <p:cNvSpPr/>
          <p:nvPr/>
        </p:nvSpPr>
        <p:spPr>
          <a:xfrm>
            <a:off x="9053286" y="4631871"/>
            <a:ext cx="2621643" cy="689429"/>
          </a:xfrm>
          <a:custGeom>
            <a:avLst/>
            <a:gdLst/>
            <a:ahLst/>
            <a:cxnLst/>
            <a:rect l="l" t="t" r="r" b="b"/>
            <a:pathLst>
              <a:path w="2621643" h="689429">
                <a:moveTo>
                  <a:pt x="72569" y="0"/>
                </a:moveTo>
                <a:lnTo>
                  <a:pt x="2549074" y="0"/>
                </a:lnTo>
                <a:cubicBezTo>
                  <a:pt x="2589152" y="0"/>
                  <a:pt x="2621643" y="32490"/>
                  <a:pt x="2621643" y="72569"/>
                </a:cubicBezTo>
                <a:lnTo>
                  <a:pt x="2621643" y="616859"/>
                </a:lnTo>
                <a:cubicBezTo>
                  <a:pt x="2621643" y="656938"/>
                  <a:pt x="2589152" y="689429"/>
                  <a:pt x="2549074" y="689429"/>
                </a:cubicBezTo>
                <a:lnTo>
                  <a:pt x="72569" y="689429"/>
                </a:lnTo>
                <a:cubicBezTo>
                  <a:pt x="32490" y="689429"/>
                  <a:pt x="0" y="656938"/>
                  <a:pt x="0" y="616859"/>
                </a:cubicBezTo>
                <a:lnTo>
                  <a:pt x="0" y="72569"/>
                </a:lnTo>
                <a:cubicBezTo>
                  <a:pt x="0" y="32517"/>
                  <a:pt x="32517" y="0"/>
                  <a:pt x="72569" y="0"/>
                </a:cubicBezTo>
                <a:close/>
              </a:path>
            </a:pathLst>
          </a:custGeom>
          <a:solidFill>
            <a:srgbClr val="0F172A">
              <a:alpha val="50196"/>
            </a:srgbClr>
          </a:solidFill>
          <a:ln/>
        </p:spPr>
        <p:txBody>
          <a:bodyPr/>
          <a:lstStyle/>
          <a:p>
            <a:endParaRPr lang="en-GB"/>
          </a:p>
        </p:txBody>
      </p:sp>
      <p:sp>
        <p:nvSpPr>
          <p:cNvPr id="50" name="Text 48"/>
          <p:cNvSpPr/>
          <p:nvPr/>
        </p:nvSpPr>
        <p:spPr>
          <a:xfrm>
            <a:off x="9125857" y="4740729"/>
            <a:ext cx="2476500" cy="217714"/>
          </a:xfrm>
          <a:prstGeom prst="rect">
            <a:avLst/>
          </a:prstGeom>
          <a:noFill/>
          <a:ln/>
        </p:spPr>
        <p:txBody>
          <a:bodyPr wrap="square" lIns="0" tIns="0" rIns="0" bIns="0" rtlCol="0" anchor="ctr"/>
          <a:lstStyle/>
          <a:p>
            <a:pPr algn="ct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Range</a:t>
            </a:r>
            <a:endParaRPr lang="en-US" sz="1600" dirty="0"/>
          </a:p>
        </p:txBody>
      </p:sp>
      <p:sp>
        <p:nvSpPr>
          <p:cNvPr id="51" name="Text 49"/>
          <p:cNvSpPr/>
          <p:nvPr/>
        </p:nvSpPr>
        <p:spPr>
          <a:xfrm>
            <a:off x="9125857" y="4994729"/>
            <a:ext cx="2476500" cy="217714"/>
          </a:xfrm>
          <a:prstGeom prst="rect">
            <a:avLst/>
          </a:prstGeom>
          <a:noFill/>
          <a:ln/>
        </p:spPr>
        <p:txBody>
          <a:bodyPr wrap="square" lIns="0" tIns="0" rIns="0" bIns="0" rtlCol="0" anchor="ctr"/>
          <a:lstStyle/>
          <a:p>
            <a:pPr algn="ct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8,700 nm</a:t>
            </a:r>
            <a:endParaRPr lang="en-US" sz="1600" dirty="0"/>
          </a:p>
        </p:txBody>
      </p:sp>
      <p:sp>
        <p:nvSpPr>
          <p:cNvPr id="52" name="Text 50"/>
          <p:cNvSpPr/>
          <p:nvPr/>
        </p:nvSpPr>
        <p:spPr>
          <a:xfrm>
            <a:off x="6322786" y="5393871"/>
            <a:ext cx="5424714" cy="471714"/>
          </a:xfrm>
          <a:prstGeom prst="rect">
            <a:avLst/>
          </a:prstGeom>
          <a:noFill/>
          <a:ln/>
        </p:spPr>
        <p:txBody>
          <a:bodyPr wrap="square" lIns="0" tIns="0" rIns="0" bIns="0" rtlCol="0" anchor="ctr"/>
          <a:lstStyle/>
          <a:p>
            <a:pPr>
              <a:lnSpc>
                <a:spcPct val="140000"/>
              </a:lnSpc>
            </a:pPr>
            <a:r>
              <a:rPr lang="en-US" sz="1143" dirty="0">
                <a:solidFill>
                  <a:srgbClr val="E2E8F0"/>
                </a:solidFill>
                <a:latin typeface="Quattrocento Sans" pitchFamily="34" charset="0"/>
                <a:ea typeface="Quattrocento Sans" pitchFamily="34" charset="-122"/>
                <a:cs typeface="Quattrocento Sans" pitchFamily="34" charset="-120"/>
              </a:rPr>
              <a:t>Built with advanced composites, the A350 offers unmatched passenger comfort and efficiency. Target: 12/month by 2028. A350F freighter gaining traction.</a:t>
            </a:r>
            <a:endParaRPr lang="en-US" sz="1600" dirty="0"/>
          </a:p>
        </p:txBody>
      </p:sp>
      <p:sp>
        <p:nvSpPr>
          <p:cNvPr id="53" name="Shape 51"/>
          <p:cNvSpPr/>
          <p:nvPr/>
        </p:nvSpPr>
        <p:spPr>
          <a:xfrm>
            <a:off x="381000" y="6128657"/>
            <a:ext cx="11448143" cy="653143"/>
          </a:xfrm>
          <a:custGeom>
            <a:avLst/>
            <a:gdLst/>
            <a:ahLst/>
            <a:cxnLst/>
            <a:rect l="l" t="t" r="r" b="b"/>
            <a:pathLst>
              <a:path w="11448143" h="653143">
                <a:moveTo>
                  <a:pt x="36286" y="0"/>
                </a:moveTo>
                <a:lnTo>
                  <a:pt x="11339284" y="0"/>
                </a:lnTo>
                <a:cubicBezTo>
                  <a:pt x="11399405" y="0"/>
                  <a:pt x="11448143" y="48738"/>
                  <a:pt x="11448143" y="108859"/>
                </a:cubicBezTo>
                <a:lnTo>
                  <a:pt x="11448143" y="544284"/>
                </a:lnTo>
                <a:cubicBezTo>
                  <a:pt x="11448143" y="604405"/>
                  <a:pt x="11399405" y="653143"/>
                  <a:pt x="11339284" y="653143"/>
                </a:cubicBezTo>
                <a:lnTo>
                  <a:pt x="36286" y="653143"/>
                </a:lnTo>
                <a:cubicBezTo>
                  <a:pt x="16246" y="653143"/>
                  <a:pt x="0" y="636897"/>
                  <a:pt x="0" y="616857"/>
                </a:cubicBezTo>
                <a:lnTo>
                  <a:pt x="0" y="36286"/>
                </a:lnTo>
                <a:cubicBezTo>
                  <a:pt x="0" y="16259"/>
                  <a:pt x="16259" y="0"/>
                  <a:pt x="36286" y="0"/>
                </a:cubicBezTo>
                <a:close/>
              </a:path>
            </a:pathLst>
          </a:custGeom>
          <a:solidFill>
            <a:srgbClr val="1E293B"/>
          </a:solidFill>
          <a:ln/>
        </p:spPr>
        <p:txBody>
          <a:bodyPr/>
          <a:lstStyle/>
          <a:p>
            <a:endParaRPr lang="en-GB"/>
          </a:p>
        </p:txBody>
      </p:sp>
      <p:sp>
        <p:nvSpPr>
          <p:cNvPr id="54" name="Shape 52"/>
          <p:cNvSpPr/>
          <p:nvPr/>
        </p:nvSpPr>
        <p:spPr>
          <a:xfrm>
            <a:off x="381000" y="6128657"/>
            <a:ext cx="36286" cy="653143"/>
          </a:xfrm>
          <a:custGeom>
            <a:avLst/>
            <a:gdLst/>
            <a:ahLst/>
            <a:cxnLst/>
            <a:rect l="l" t="t" r="r" b="b"/>
            <a:pathLst>
              <a:path w="36286" h="653143">
                <a:moveTo>
                  <a:pt x="36286" y="0"/>
                </a:moveTo>
                <a:lnTo>
                  <a:pt x="36286" y="0"/>
                </a:lnTo>
                <a:lnTo>
                  <a:pt x="36286" y="653143"/>
                </a:lnTo>
                <a:lnTo>
                  <a:pt x="36286" y="653143"/>
                </a:lnTo>
                <a:cubicBezTo>
                  <a:pt x="16246" y="653143"/>
                  <a:pt x="0" y="636897"/>
                  <a:pt x="0" y="616857"/>
                </a:cubicBezTo>
                <a:lnTo>
                  <a:pt x="0" y="36286"/>
                </a:lnTo>
                <a:cubicBezTo>
                  <a:pt x="0" y="16259"/>
                  <a:pt x="16259" y="0"/>
                  <a:pt x="36286" y="0"/>
                </a:cubicBezTo>
                <a:close/>
              </a:path>
            </a:pathLst>
          </a:custGeom>
          <a:solidFill>
            <a:srgbClr val="38BDF8"/>
          </a:solidFill>
          <a:ln/>
        </p:spPr>
        <p:txBody>
          <a:bodyPr/>
          <a:lstStyle/>
          <a:p>
            <a:endParaRPr lang="en-GB"/>
          </a:p>
        </p:txBody>
      </p:sp>
      <p:sp>
        <p:nvSpPr>
          <p:cNvPr id="55" name="Shape 53"/>
          <p:cNvSpPr/>
          <p:nvPr/>
        </p:nvSpPr>
        <p:spPr>
          <a:xfrm>
            <a:off x="530679" y="6364514"/>
            <a:ext cx="181429" cy="181429"/>
          </a:xfrm>
          <a:custGeom>
            <a:avLst/>
            <a:gdLst/>
            <a:ahLst/>
            <a:cxnLst/>
            <a:rect l="l" t="t" r="r" b="b"/>
            <a:pathLst>
              <a:path w="181429" h="181429">
                <a:moveTo>
                  <a:pt x="167006" y="2374"/>
                </a:moveTo>
                <a:cubicBezTo>
                  <a:pt x="169274" y="213"/>
                  <a:pt x="172570" y="-567"/>
                  <a:pt x="175617" y="425"/>
                </a:cubicBezTo>
                <a:cubicBezTo>
                  <a:pt x="179090" y="1595"/>
                  <a:pt x="181429" y="4855"/>
                  <a:pt x="181429" y="8504"/>
                </a:cubicBezTo>
                <a:lnTo>
                  <a:pt x="181429" y="74733"/>
                </a:lnTo>
                <a:cubicBezTo>
                  <a:pt x="181429" y="121224"/>
                  <a:pt x="143123" y="158750"/>
                  <a:pt x="96809" y="158750"/>
                </a:cubicBezTo>
                <a:cubicBezTo>
                  <a:pt x="69524" y="158750"/>
                  <a:pt x="45995" y="141210"/>
                  <a:pt x="37455" y="116688"/>
                </a:cubicBezTo>
                <a:cubicBezTo>
                  <a:pt x="24911" y="127602"/>
                  <a:pt x="17009" y="143655"/>
                  <a:pt x="17009" y="161585"/>
                </a:cubicBezTo>
                <a:cubicBezTo>
                  <a:pt x="17009" y="166298"/>
                  <a:pt x="13217" y="170089"/>
                  <a:pt x="8504" y="170089"/>
                </a:cubicBezTo>
                <a:cubicBezTo>
                  <a:pt x="3792" y="170089"/>
                  <a:pt x="0" y="166298"/>
                  <a:pt x="0" y="161585"/>
                </a:cubicBezTo>
                <a:cubicBezTo>
                  <a:pt x="0" y="135044"/>
                  <a:pt x="13536" y="111657"/>
                  <a:pt x="34053" y="97908"/>
                </a:cubicBezTo>
                <a:cubicBezTo>
                  <a:pt x="46562" y="89545"/>
                  <a:pt x="61480" y="85045"/>
                  <a:pt x="76540" y="85045"/>
                </a:cubicBezTo>
                <a:lnTo>
                  <a:pt x="104888" y="85045"/>
                </a:lnTo>
                <a:cubicBezTo>
                  <a:pt x="109601" y="85045"/>
                  <a:pt x="113393" y="81253"/>
                  <a:pt x="113393" y="76540"/>
                </a:cubicBezTo>
                <a:cubicBezTo>
                  <a:pt x="113393" y="71827"/>
                  <a:pt x="109601" y="68036"/>
                  <a:pt x="104888" y="68036"/>
                </a:cubicBezTo>
                <a:lnTo>
                  <a:pt x="76540" y="68036"/>
                </a:lnTo>
                <a:cubicBezTo>
                  <a:pt x="62472" y="68036"/>
                  <a:pt x="49149" y="71154"/>
                  <a:pt x="37207" y="76717"/>
                </a:cubicBezTo>
                <a:cubicBezTo>
                  <a:pt x="45463" y="51913"/>
                  <a:pt x="68815" y="34018"/>
                  <a:pt x="96384" y="34018"/>
                </a:cubicBezTo>
                <a:cubicBezTo>
                  <a:pt x="119913" y="34018"/>
                  <a:pt x="137418" y="26187"/>
                  <a:pt x="149076" y="18426"/>
                </a:cubicBezTo>
                <a:cubicBezTo>
                  <a:pt x="155880" y="13891"/>
                  <a:pt x="161656" y="8469"/>
                  <a:pt x="167042" y="2374"/>
                </a:cubicBezTo>
                <a:close/>
              </a:path>
            </a:pathLst>
          </a:custGeom>
          <a:solidFill>
            <a:srgbClr val="38BDF8"/>
          </a:solidFill>
          <a:ln/>
        </p:spPr>
        <p:txBody>
          <a:bodyPr/>
          <a:lstStyle/>
          <a:p>
            <a:endParaRPr lang="en-GB"/>
          </a:p>
        </p:txBody>
      </p:sp>
      <p:sp>
        <p:nvSpPr>
          <p:cNvPr id="56" name="Text 54"/>
          <p:cNvSpPr/>
          <p:nvPr/>
        </p:nvSpPr>
        <p:spPr>
          <a:xfrm>
            <a:off x="843643" y="6237514"/>
            <a:ext cx="3265714" cy="217714"/>
          </a:xfrm>
          <a:prstGeom prst="rect">
            <a:avLst/>
          </a:prstGeom>
          <a:noFill/>
          <a:ln/>
        </p:spPr>
        <p:txBody>
          <a:bodyPr wrap="square" lIns="0" tIns="0" rIns="0" bIns="0" rtlCol="0" anchor="ctr"/>
          <a:lstStyle/>
          <a:p>
            <a:pPr>
              <a:lnSpc>
                <a:spcPct val="120000"/>
              </a:lnSpc>
            </a:pPr>
            <a:r>
              <a:rPr lang="en-US" sz="1143" b="1" dirty="0">
                <a:solidFill>
                  <a:srgbClr val="FFFFFF"/>
                </a:solidFill>
                <a:latin typeface="Quattrocento Sans" pitchFamily="34" charset="0"/>
                <a:ea typeface="Quattrocento Sans" pitchFamily="34" charset="-122"/>
                <a:cs typeface="Quattrocento Sans" pitchFamily="34" charset="-120"/>
              </a:rPr>
              <a:t>Sustainability Commitment</a:t>
            </a:r>
            <a:endParaRPr lang="en-US" sz="1600" dirty="0"/>
          </a:p>
        </p:txBody>
      </p:sp>
      <p:sp>
        <p:nvSpPr>
          <p:cNvPr id="57" name="Text 55"/>
          <p:cNvSpPr/>
          <p:nvPr/>
        </p:nvSpPr>
        <p:spPr>
          <a:xfrm>
            <a:off x="843643" y="6455229"/>
            <a:ext cx="3265714" cy="217714"/>
          </a:xfrm>
          <a:prstGeom prst="rect">
            <a:avLst/>
          </a:prstGeom>
          <a:noFill/>
          <a:ln/>
        </p:spPr>
        <p:txBody>
          <a:bodyPr wrap="square" lIns="0" tIns="0" rIns="0" bIns="0" rtlCol="0" anchor="ctr"/>
          <a:lstStyle/>
          <a:p>
            <a:pP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All aircraft 50% SAF-capable today, 100% by 2030</a:t>
            </a:r>
            <a:endParaRPr lang="en-US" sz="1600" dirty="0"/>
          </a:p>
        </p:txBody>
      </p:sp>
      <p:sp>
        <p:nvSpPr>
          <p:cNvPr id="58" name="Text 56"/>
          <p:cNvSpPr/>
          <p:nvPr/>
        </p:nvSpPr>
        <p:spPr>
          <a:xfrm>
            <a:off x="9773189" y="6237514"/>
            <a:ext cx="1950357" cy="217714"/>
          </a:xfrm>
          <a:prstGeom prst="rect">
            <a:avLst/>
          </a:prstGeom>
          <a:noFill/>
          <a:ln/>
        </p:spPr>
        <p:txBody>
          <a:bodyPr wrap="square" lIns="0" tIns="0" rIns="0" bIns="0" rtlCol="0" anchor="ctr"/>
          <a:lstStyle/>
          <a:p>
            <a:pPr algn="r">
              <a:lnSpc>
                <a:spcPct val="120000"/>
              </a:lnSpc>
            </a:pPr>
            <a:r>
              <a:rPr lang="en-US" sz="1143" b="1" dirty="0">
                <a:solidFill>
                  <a:srgbClr val="38BDF8"/>
                </a:solidFill>
                <a:latin typeface="Quattrocento Sans" pitchFamily="34" charset="0"/>
                <a:ea typeface="Quattrocento Sans" pitchFamily="34" charset="-122"/>
                <a:cs typeface="Quattrocento Sans" pitchFamily="34" charset="-120"/>
              </a:rPr>
              <a:t>Record Backlog: 8,754 Aircraft</a:t>
            </a:r>
            <a:endParaRPr lang="en-US" sz="1600" dirty="0"/>
          </a:p>
        </p:txBody>
      </p:sp>
      <p:sp>
        <p:nvSpPr>
          <p:cNvPr id="59" name="Text 57"/>
          <p:cNvSpPr/>
          <p:nvPr/>
        </p:nvSpPr>
        <p:spPr>
          <a:xfrm>
            <a:off x="9773189" y="6455229"/>
            <a:ext cx="1950357" cy="217714"/>
          </a:xfrm>
          <a:prstGeom prst="rect">
            <a:avLst/>
          </a:prstGeom>
          <a:noFill/>
          <a:ln/>
        </p:spPr>
        <p:txBody>
          <a:bodyPr wrap="square" lIns="0" tIns="0" rIns="0" bIns="0" rtlCol="0" anchor="ctr"/>
          <a:lstStyle/>
          <a:p>
            <a:pPr algn="r">
              <a:lnSpc>
                <a:spcPct val="120000"/>
              </a:lnSpc>
            </a:pPr>
            <a:r>
              <a:rPr lang="en-US" sz="1143" dirty="0">
                <a:solidFill>
                  <a:srgbClr val="94A3B8"/>
                </a:solidFill>
                <a:latin typeface="Quattrocento Sans" pitchFamily="34" charset="0"/>
                <a:ea typeface="Quattrocento Sans" pitchFamily="34" charset="-122"/>
                <a:cs typeface="Quattrocento Sans" pitchFamily="34" charset="-120"/>
              </a:rPr>
              <a:t>Valued over $400B</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42954" y="342954"/>
            <a:ext cx="11574684" cy="205772"/>
          </a:xfrm>
          <a:prstGeom prst="rect">
            <a:avLst/>
          </a:prstGeom>
          <a:noFill/>
          <a:ln/>
        </p:spPr>
        <p:txBody>
          <a:bodyPr wrap="square" lIns="0" tIns="0" rIns="0" bIns="0" rtlCol="0" anchor="ctr"/>
          <a:lstStyle/>
          <a:p>
            <a:pPr>
              <a:lnSpc>
                <a:spcPct val="130000"/>
              </a:lnSpc>
            </a:pPr>
            <a:r>
              <a:rPr lang="en-US" sz="1080" b="1" kern="0" spc="54" dirty="0">
                <a:solidFill>
                  <a:srgbClr val="38BDF8"/>
                </a:solidFill>
                <a:latin typeface="Quattrocento Sans" pitchFamily="34" charset="0"/>
                <a:ea typeface="Quattrocento Sans" pitchFamily="34" charset="-122"/>
                <a:cs typeface="Quattrocento Sans" pitchFamily="34" charset="-120"/>
              </a:rPr>
              <a:t>COMPETITIVE LANDSCAPE</a:t>
            </a:r>
            <a:endParaRPr lang="en-US" sz="1600" dirty="0"/>
          </a:p>
        </p:txBody>
      </p:sp>
      <p:sp>
        <p:nvSpPr>
          <p:cNvPr id="3" name="Text 1"/>
          <p:cNvSpPr/>
          <p:nvPr/>
        </p:nvSpPr>
        <p:spPr>
          <a:xfrm>
            <a:off x="342954" y="617316"/>
            <a:ext cx="11660422" cy="342954"/>
          </a:xfrm>
          <a:prstGeom prst="rect">
            <a:avLst/>
          </a:prstGeom>
          <a:noFill/>
          <a:ln/>
        </p:spPr>
        <p:txBody>
          <a:bodyPr wrap="square" lIns="0" tIns="0" rIns="0" bIns="0" rtlCol="0" anchor="ctr"/>
          <a:lstStyle/>
          <a:p>
            <a:pPr>
              <a:lnSpc>
                <a:spcPct val="90000"/>
              </a:lnSpc>
            </a:pPr>
            <a:r>
              <a:rPr lang="en-US" sz="2430" b="1" dirty="0">
                <a:solidFill>
                  <a:srgbClr val="FFFFFF"/>
                </a:solidFill>
                <a:latin typeface="Liter" pitchFamily="34" charset="0"/>
                <a:ea typeface="Liter" pitchFamily="34" charset="-122"/>
                <a:cs typeface="Liter" pitchFamily="34" charset="-120"/>
              </a:rPr>
              <a:t>Market Position: Leading Global Aviation</a:t>
            </a:r>
            <a:endParaRPr lang="en-US" sz="1600" dirty="0"/>
          </a:p>
        </p:txBody>
      </p:sp>
      <p:sp>
        <p:nvSpPr>
          <p:cNvPr id="4" name="Text 2"/>
          <p:cNvSpPr/>
          <p:nvPr/>
        </p:nvSpPr>
        <p:spPr>
          <a:xfrm>
            <a:off x="342954" y="1028861"/>
            <a:ext cx="11574684" cy="205772"/>
          </a:xfrm>
          <a:prstGeom prst="rect">
            <a:avLst/>
          </a:prstGeom>
          <a:noFill/>
          <a:ln/>
        </p:spPr>
        <p:txBody>
          <a:bodyPr wrap="square" lIns="0" tIns="0" rIns="0" bIns="0" rtlCol="0" anchor="ctr"/>
          <a:lstStyle/>
          <a:p>
            <a:pP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Airbus vs Boeing - The Duopoly Dynamics in 2025</a:t>
            </a:r>
            <a:endParaRPr lang="en-US" sz="1600" dirty="0"/>
          </a:p>
        </p:txBody>
      </p:sp>
      <p:sp>
        <p:nvSpPr>
          <p:cNvPr id="5" name="Shape 3"/>
          <p:cNvSpPr/>
          <p:nvPr/>
        </p:nvSpPr>
        <p:spPr>
          <a:xfrm>
            <a:off x="342954" y="1371814"/>
            <a:ext cx="5684456" cy="4355511"/>
          </a:xfrm>
          <a:custGeom>
            <a:avLst/>
            <a:gdLst/>
            <a:ahLst/>
            <a:cxnLst/>
            <a:rect l="l" t="t" r="r" b="b"/>
            <a:pathLst>
              <a:path w="5684456" h="4861367">
                <a:moveTo>
                  <a:pt x="102867" y="0"/>
                </a:moveTo>
                <a:lnTo>
                  <a:pt x="5581589" y="0"/>
                </a:lnTo>
                <a:cubicBezTo>
                  <a:pt x="5638401" y="0"/>
                  <a:pt x="5684456" y="46055"/>
                  <a:pt x="5684456" y="102867"/>
                </a:cubicBezTo>
                <a:lnTo>
                  <a:pt x="5684456" y="4758501"/>
                </a:lnTo>
                <a:cubicBezTo>
                  <a:pt x="5684456" y="4815312"/>
                  <a:pt x="5638401" y="4861367"/>
                  <a:pt x="5581589" y="4861367"/>
                </a:cubicBezTo>
                <a:lnTo>
                  <a:pt x="102867" y="4861367"/>
                </a:lnTo>
                <a:cubicBezTo>
                  <a:pt x="46055" y="4861367"/>
                  <a:pt x="0" y="4815312"/>
                  <a:pt x="0" y="4758501"/>
                </a:cubicBezTo>
                <a:lnTo>
                  <a:pt x="0" y="102867"/>
                </a:lnTo>
                <a:cubicBezTo>
                  <a:pt x="0" y="46093"/>
                  <a:pt x="46093" y="0"/>
                  <a:pt x="102867" y="0"/>
                </a:cubicBezTo>
                <a:close/>
              </a:path>
            </a:pathLst>
          </a:custGeom>
          <a:solidFill>
            <a:srgbClr val="1E293B"/>
          </a:solidFill>
          <a:ln/>
        </p:spPr>
        <p:txBody>
          <a:bodyPr/>
          <a:lstStyle/>
          <a:p>
            <a:endParaRPr lang="en-GB"/>
          </a:p>
        </p:txBody>
      </p:sp>
      <p:sp>
        <p:nvSpPr>
          <p:cNvPr id="6" name="Text 4"/>
          <p:cNvSpPr/>
          <p:nvPr/>
        </p:nvSpPr>
        <p:spPr>
          <a:xfrm>
            <a:off x="514430" y="1543291"/>
            <a:ext cx="5427241" cy="240068"/>
          </a:xfrm>
          <a:prstGeom prst="rect">
            <a:avLst/>
          </a:prstGeom>
          <a:noFill/>
          <a:ln/>
        </p:spPr>
        <p:txBody>
          <a:bodyPr wrap="square" lIns="0" tIns="0" rIns="0" bIns="0" rtlCol="0" anchor="ctr"/>
          <a:lstStyle/>
          <a:p>
            <a:pPr>
              <a:lnSpc>
                <a:spcPct val="120000"/>
              </a:lnSpc>
            </a:pPr>
            <a:r>
              <a:rPr lang="en-US" sz="1350" b="1" dirty="0">
                <a:solidFill>
                  <a:srgbClr val="FFFFFF"/>
                </a:solidFill>
                <a:latin typeface="Liter" pitchFamily="34" charset="0"/>
                <a:ea typeface="Liter" pitchFamily="34" charset="-122"/>
                <a:cs typeface="Liter" pitchFamily="34" charset="-120"/>
              </a:rPr>
              <a:t>2025 Delivery Performance</a:t>
            </a:r>
            <a:endParaRPr lang="en-US" sz="1600" dirty="0"/>
          </a:p>
        </p:txBody>
      </p:sp>
      <p:pic>
        <p:nvPicPr>
          <p:cNvPr id="7" name="Image 0" descr="https://kimi-img.moonshot.cn/pub/slides/26-01-29-09:48:19-d5tboou4t3oh4aa6p9jg.png"/>
          <p:cNvPicPr>
            <a:picLocks noChangeAspect="1"/>
          </p:cNvPicPr>
          <p:nvPr/>
        </p:nvPicPr>
        <p:blipFill>
          <a:blip r:embed="rId3"/>
          <a:srcRect/>
          <a:stretch/>
        </p:blipFill>
        <p:spPr>
          <a:xfrm>
            <a:off x="514430" y="1886245"/>
            <a:ext cx="4732759" cy="2709333"/>
          </a:xfrm>
          <a:prstGeom prst="roundRect">
            <a:avLst>
              <a:gd name="adj" fmla="val 0"/>
            </a:avLst>
          </a:prstGeom>
        </p:spPr>
      </p:pic>
      <p:sp>
        <p:nvSpPr>
          <p:cNvPr id="8" name="Shape 5"/>
          <p:cNvSpPr/>
          <p:nvPr/>
        </p:nvSpPr>
        <p:spPr>
          <a:xfrm>
            <a:off x="510143" y="4694177"/>
            <a:ext cx="2615021" cy="934549"/>
          </a:xfrm>
          <a:custGeom>
            <a:avLst/>
            <a:gdLst/>
            <a:ahLst/>
            <a:cxnLst/>
            <a:rect l="l" t="t" r="r" b="b"/>
            <a:pathLst>
              <a:path w="2615021" h="934549">
                <a:moveTo>
                  <a:pt x="68587" y="0"/>
                </a:moveTo>
                <a:lnTo>
                  <a:pt x="2546435" y="0"/>
                </a:lnTo>
                <a:cubicBezTo>
                  <a:pt x="2584314" y="0"/>
                  <a:pt x="2615021" y="30707"/>
                  <a:pt x="2615021" y="68587"/>
                </a:cubicBezTo>
                <a:lnTo>
                  <a:pt x="2615021" y="865962"/>
                </a:lnTo>
                <a:cubicBezTo>
                  <a:pt x="2615021" y="903841"/>
                  <a:pt x="2584314" y="934549"/>
                  <a:pt x="2546435" y="934549"/>
                </a:cubicBezTo>
                <a:lnTo>
                  <a:pt x="68587" y="934549"/>
                </a:lnTo>
                <a:cubicBezTo>
                  <a:pt x="30707" y="934549"/>
                  <a:pt x="0" y="903841"/>
                  <a:pt x="0" y="865962"/>
                </a:cubicBezTo>
                <a:lnTo>
                  <a:pt x="0" y="68587"/>
                </a:lnTo>
                <a:cubicBezTo>
                  <a:pt x="0" y="30733"/>
                  <a:pt x="30733" y="0"/>
                  <a:pt x="68587" y="0"/>
                </a:cubicBezTo>
                <a:close/>
              </a:path>
            </a:pathLst>
          </a:custGeom>
          <a:solidFill>
            <a:srgbClr val="38BDF8">
              <a:alpha val="20000"/>
            </a:srgbClr>
          </a:solidFill>
          <a:ln w="12700">
            <a:solidFill>
              <a:srgbClr val="38BDF8">
                <a:alpha val="30196"/>
              </a:srgbClr>
            </a:solidFill>
            <a:prstDash val="solid"/>
          </a:ln>
        </p:spPr>
        <p:txBody>
          <a:bodyPr/>
          <a:lstStyle/>
          <a:p>
            <a:endParaRPr lang="en-GB"/>
          </a:p>
        </p:txBody>
      </p:sp>
      <p:sp>
        <p:nvSpPr>
          <p:cNvPr id="9" name="Text 6"/>
          <p:cNvSpPr/>
          <p:nvPr/>
        </p:nvSpPr>
        <p:spPr>
          <a:xfrm>
            <a:off x="553012" y="4801350"/>
            <a:ext cx="2529283" cy="308658"/>
          </a:xfrm>
          <a:prstGeom prst="rect">
            <a:avLst/>
          </a:prstGeom>
          <a:noFill/>
          <a:ln/>
        </p:spPr>
        <p:txBody>
          <a:bodyPr wrap="square" lIns="0" tIns="0" rIns="0" bIns="0" rtlCol="0" anchor="ctr"/>
          <a:lstStyle/>
          <a:p>
            <a:pPr algn="ctr">
              <a:lnSpc>
                <a:spcPct val="100000"/>
              </a:lnSpc>
            </a:pPr>
            <a:r>
              <a:rPr lang="en-US" sz="2025" b="1" dirty="0">
                <a:solidFill>
                  <a:srgbClr val="38BDF8"/>
                </a:solidFill>
                <a:latin typeface="Liter" pitchFamily="34" charset="0"/>
                <a:ea typeface="Liter" pitchFamily="34" charset="-122"/>
                <a:cs typeface="Liter" pitchFamily="34" charset="-120"/>
              </a:rPr>
              <a:t>793</a:t>
            </a:r>
            <a:endParaRPr lang="en-US" sz="1600" dirty="0"/>
          </a:p>
        </p:txBody>
      </p:sp>
      <p:sp>
        <p:nvSpPr>
          <p:cNvPr id="10" name="Text 7"/>
          <p:cNvSpPr/>
          <p:nvPr/>
        </p:nvSpPr>
        <p:spPr>
          <a:xfrm>
            <a:off x="583021" y="5110009"/>
            <a:ext cx="2469266" cy="205772"/>
          </a:xfrm>
          <a:prstGeom prst="rect">
            <a:avLst/>
          </a:prstGeom>
          <a:noFill/>
          <a:ln/>
        </p:spPr>
        <p:txBody>
          <a:bodyPr wrap="square" lIns="0" tIns="0" rIns="0" bIns="0" rtlCol="0" anchor="ctr"/>
          <a:lstStyle/>
          <a:p>
            <a:pPr algn="ct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Airbus Deliveries</a:t>
            </a:r>
            <a:endParaRPr lang="en-US" sz="1600" dirty="0"/>
          </a:p>
        </p:txBody>
      </p:sp>
      <p:sp>
        <p:nvSpPr>
          <p:cNvPr id="11" name="Text 8"/>
          <p:cNvSpPr/>
          <p:nvPr/>
        </p:nvSpPr>
        <p:spPr>
          <a:xfrm>
            <a:off x="583021" y="5315781"/>
            <a:ext cx="2469266" cy="205772"/>
          </a:xfrm>
          <a:prstGeom prst="rect">
            <a:avLst/>
          </a:prstGeom>
          <a:noFill/>
          <a:ln/>
        </p:spPr>
        <p:txBody>
          <a:bodyPr wrap="square" lIns="0" tIns="0" rIns="0" bIns="0" rtlCol="0" anchor="ctr"/>
          <a:lstStyle/>
          <a:p>
            <a:pPr algn="ctr">
              <a:lnSpc>
                <a:spcPct val="130000"/>
              </a:lnSpc>
            </a:pPr>
            <a:r>
              <a:rPr lang="en-US" sz="1080" b="1" dirty="0">
                <a:solidFill>
                  <a:srgbClr val="38BDF8"/>
                </a:solidFill>
                <a:latin typeface="Quattrocento Sans" pitchFamily="34" charset="0"/>
                <a:ea typeface="Quattrocento Sans" pitchFamily="34" charset="-122"/>
                <a:cs typeface="Quattrocento Sans" pitchFamily="34" charset="-120"/>
              </a:rPr>
              <a:t>+4% YoY</a:t>
            </a:r>
            <a:endParaRPr lang="en-US" sz="1600" dirty="0"/>
          </a:p>
        </p:txBody>
      </p:sp>
      <p:sp>
        <p:nvSpPr>
          <p:cNvPr id="12" name="Shape 9"/>
          <p:cNvSpPr/>
          <p:nvPr/>
        </p:nvSpPr>
        <p:spPr>
          <a:xfrm>
            <a:off x="3232739" y="4694177"/>
            <a:ext cx="2615021" cy="934549"/>
          </a:xfrm>
          <a:custGeom>
            <a:avLst/>
            <a:gdLst/>
            <a:ahLst/>
            <a:cxnLst/>
            <a:rect l="l" t="t" r="r" b="b"/>
            <a:pathLst>
              <a:path w="2615021" h="934549">
                <a:moveTo>
                  <a:pt x="68587" y="0"/>
                </a:moveTo>
                <a:lnTo>
                  <a:pt x="2546435" y="0"/>
                </a:lnTo>
                <a:cubicBezTo>
                  <a:pt x="2584314" y="0"/>
                  <a:pt x="2615021" y="30707"/>
                  <a:pt x="2615021" y="68587"/>
                </a:cubicBezTo>
                <a:lnTo>
                  <a:pt x="2615021" y="865962"/>
                </a:lnTo>
                <a:cubicBezTo>
                  <a:pt x="2615021" y="903841"/>
                  <a:pt x="2584314" y="934549"/>
                  <a:pt x="2546435" y="934549"/>
                </a:cubicBezTo>
                <a:lnTo>
                  <a:pt x="68587" y="934549"/>
                </a:lnTo>
                <a:cubicBezTo>
                  <a:pt x="30707" y="934549"/>
                  <a:pt x="0" y="903841"/>
                  <a:pt x="0" y="865962"/>
                </a:cubicBezTo>
                <a:lnTo>
                  <a:pt x="0" y="68587"/>
                </a:lnTo>
                <a:cubicBezTo>
                  <a:pt x="0" y="30733"/>
                  <a:pt x="30733" y="0"/>
                  <a:pt x="68587" y="0"/>
                </a:cubicBezTo>
                <a:close/>
              </a:path>
            </a:pathLst>
          </a:custGeom>
          <a:solidFill>
            <a:srgbClr val="475569">
              <a:alpha val="30196"/>
            </a:srgbClr>
          </a:solidFill>
          <a:ln w="12700">
            <a:solidFill>
              <a:srgbClr val="475569"/>
            </a:solidFill>
            <a:prstDash val="solid"/>
          </a:ln>
        </p:spPr>
        <p:txBody>
          <a:bodyPr/>
          <a:lstStyle/>
          <a:p>
            <a:endParaRPr lang="en-GB"/>
          </a:p>
        </p:txBody>
      </p:sp>
      <p:sp>
        <p:nvSpPr>
          <p:cNvPr id="13" name="Text 10"/>
          <p:cNvSpPr/>
          <p:nvPr/>
        </p:nvSpPr>
        <p:spPr>
          <a:xfrm>
            <a:off x="3275608" y="4801350"/>
            <a:ext cx="2529283" cy="308658"/>
          </a:xfrm>
          <a:prstGeom prst="rect">
            <a:avLst/>
          </a:prstGeom>
          <a:noFill/>
          <a:ln/>
        </p:spPr>
        <p:txBody>
          <a:bodyPr wrap="square" lIns="0" tIns="0" rIns="0" bIns="0" rtlCol="0" anchor="ctr"/>
          <a:lstStyle/>
          <a:p>
            <a:pPr algn="ctr">
              <a:lnSpc>
                <a:spcPct val="100000"/>
              </a:lnSpc>
            </a:pPr>
            <a:r>
              <a:rPr lang="en-US" sz="2025" b="1" dirty="0">
                <a:solidFill>
                  <a:srgbClr val="94A3B8"/>
                </a:solidFill>
                <a:latin typeface="Liter" pitchFamily="34" charset="0"/>
                <a:ea typeface="Liter" pitchFamily="34" charset="-122"/>
                <a:cs typeface="Liter" pitchFamily="34" charset="-120"/>
              </a:rPr>
              <a:t>~650</a:t>
            </a:r>
            <a:endParaRPr lang="en-US" sz="1600" dirty="0"/>
          </a:p>
        </p:txBody>
      </p:sp>
      <p:sp>
        <p:nvSpPr>
          <p:cNvPr id="14" name="Text 11"/>
          <p:cNvSpPr/>
          <p:nvPr/>
        </p:nvSpPr>
        <p:spPr>
          <a:xfrm>
            <a:off x="3305617" y="5110009"/>
            <a:ext cx="2469266" cy="205772"/>
          </a:xfrm>
          <a:prstGeom prst="rect">
            <a:avLst/>
          </a:prstGeom>
          <a:noFill/>
          <a:ln/>
        </p:spPr>
        <p:txBody>
          <a:bodyPr wrap="square" lIns="0" tIns="0" rIns="0" bIns="0" rtlCol="0" anchor="ctr"/>
          <a:lstStyle/>
          <a:p>
            <a:pPr algn="ct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Boeing Deliveries</a:t>
            </a:r>
            <a:endParaRPr lang="en-US" sz="1600" dirty="0"/>
          </a:p>
        </p:txBody>
      </p:sp>
      <p:sp>
        <p:nvSpPr>
          <p:cNvPr id="15" name="Text 12"/>
          <p:cNvSpPr/>
          <p:nvPr/>
        </p:nvSpPr>
        <p:spPr>
          <a:xfrm>
            <a:off x="3305617" y="5315781"/>
            <a:ext cx="2469266" cy="205772"/>
          </a:xfrm>
          <a:prstGeom prst="rect">
            <a:avLst/>
          </a:prstGeom>
          <a:noFill/>
          <a:ln/>
        </p:spPr>
        <p:txBody>
          <a:bodyPr wrap="square" lIns="0" tIns="0" rIns="0" bIns="0" rtlCol="0" anchor="ctr"/>
          <a:lstStyle/>
          <a:p>
            <a:pPr algn="ct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Est. 2025</a:t>
            </a:r>
            <a:endParaRPr lang="en-US" sz="1600" dirty="0"/>
          </a:p>
        </p:txBody>
      </p:sp>
      <p:sp>
        <p:nvSpPr>
          <p:cNvPr id="16" name="Shape 13"/>
          <p:cNvSpPr/>
          <p:nvPr/>
        </p:nvSpPr>
        <p:spPr>
          <a:xfrm>
            <a:off x="342016" y="5864506"/>
            <a:ext cx="5675882" cy="900253"/>
          </a:xfrm>
          <a:custGeom>
            <a:avLst/>
            <a:gdLst/>
            <a:ahLst/>
            <a:cxnLst/>
            <a:rect l="l" t="t" r="r" b="b"/>
            <a:pathLst>
              <a:path w="5675882" h="900253">
                <a:moveTo>
                  <a:pt x="102890" y="0"/>
                </a:moveTo>
                <a:lnTo>
                  <a:pt x="5572992" y="0"/>
                </a:lnTo>
                <a:cubicBezTo>
                  <a:pt x="5629816" y="0"/>
                  <a:pt x="5675882" y="46065"/>
                  <a:pt x="5675882" y="102890"/>
                </a:cubicBezTo>
                <a:lnTo>
                  <a:pt x="5675882" y="797363"/>
                </a:lnTo>
                <a:cubicBezTo>
                  <a:pt x="5675882" y="854188"/>
                  <a:pt x="5629816" y="900253"/>
                  <a:pt x="5572992" y="900253"/>
                </a:cubicBezTo>
                <a:lnTo>
                  <a:pt x="102890" y="900253"/>
                </a:lnTo>
                <a:cubicBezTo>
                  <a:pt x="46065" y="900253"/>
                  <a:pt x="0" y="854188"/>
                  <a:pt x="0" y="797363"/>
                </a:cubicBezTo>
                <a:lnTo>
                  <a:pt x="0" y="102890"/>
                </a:lnTo>
                <a:cubicBezTo>
                  <a:pt x="0" y="46065"/>
                  <a:pt x="46065" y="0"/>
                  <a:pt x="102890" y="0"/>
                </a:cubicBezTo>
                <a:close/>
              </a:path>
            </a:pathLst>
          </a:custGeom>
          <a:gradFill flip="none" rotWithShape="1">
            <a:gsLst>
              <a:gs pos="0">
                <a:srgbClr val="38BDF8">
                  <a:alpha val="20000"/>
                </a:srgbClr>
              </a:gs>
              <a:gs pos="100000">
                <a:srgbClr val="0F172A"/>
              </a:gs>
            </a:gsLst>
            <a:lin ang="0" scaled="1"/>
          </a:gradFill>
          <a:ln w="12700">
            <a:solidFill>
              <a:srgbClr val="38BDF8">
                <a:alpha val="30196"/>
              </a:srgbClr>
            </a:solidFill>
            <a:prstDash val="solid"/>
          </a:ln>
        </p:spPr>
        <p:txBody>
          <a:bodyPr/>
          <a:lstStyle/>
          <a:p>
            <a:endParaRPr lang="en-GB"/>
          </a:p>
        </p:txBody>
      </p:sp>
      <p:sp>
        <p:nvSpPr>
          <p:cNvPr id="17" name="Shape 14"/>
          <p:cNvSpPr/>
          <p:nvPr/>
        </p:nvSpPr>
        <p:spPr>
          <a:xfrm>
            <a:off x="504918" y="6211747"/>
            <a:ext cx="205772" cy="205772"/>
          </a:xfrm>
          <a:custGeom>
            <a:avLst/>
            <a:gdLst/>
            <a:ahLst/>
            <a:cxnLst/>
            <a:rect l="l" t="t" r="r" b="b"/>
            <a:pathLst>
              <a:path w="205772" h="205772">
                <a:moveTo>
                  <a:pt x="57994" y="0"/>
                </a:moveTo>
                <a:lnTo>
                  <a:pt x="148019" y="0"/>
                </a:lnTo>
                <a:cubicBezTo>
                  <a:pt x="158670" y="0"/>
                  <a:pt x="167351" y="8761"/>
                  <a:pt x="166949" y="19372"/>
                </a:cubicBezTo>
                <a:cubicBezTo>
                  <a:pt x="166868" y="21502"/>
                  <a:pt x="166788" y="23632"/>
                  <a:pt x="166667" y="25722"/>
                </a:cubicBezTo>
                <a:lnTo>
                  <a:pt x="186602" y="25722"/>
                </a:lnTo>
                <a:cubicBezTo>
                  <a:pt x="197091" y="25722"/>
                  <a:pt x="206335" y="34403"/>
                  <a:pt x="205531" y="45736"/>
                </a:cubicBezTo>
                <a:cubicBezTo>
                  <a:pt x="202517" y="87413"/>
                  <a:pt x="181216" y="110321"/>
                  <a:pt x="158107" y="122298"/>
                </a:cubicBezTo>
                <a:cubicBezTo>
                  <a:pt x="151757" y="125593"/>
                  <a:pt x="145286" y="128045"/>
                  <a:pt x="139137" y="129853"/>
                </a:cubicBezTo>
                <a:cubicBezTo>
                  <a:pt x="131019" y="141348"/>
                  <a:pt x="122579" y="147416"/>
                  <a:pt x="115867" y="150672"/>
                </a:cubicBezTo>
                <a:lnTo>
                  <a:pt x="115867" y="180051"/>
                </a:lnTo>
                <a:lnTo>
                  <a:pt x="141589" y="180051"/>
                </a:lnTo>
                <a:cubicBezTo>
                  <a:pt x="148703" y="180051"/>
                  <a:pt x="154450" y="185798"/>
                  <a:pt x="154450" y="192911"/>
                </a:cubicBezTo>
                <a:cubicBezTo>
                  <a:pt x="154450" y="200025"/>
                  <a:pt x="148703" y="205772"/>
                  <a:pt x="141589" y="205772"/>
                </a:cubicBezTo>
                <a:lnTo>
                  <a:pt x="64424" y="205772"/>
                </a:lnTo>
                <a:cubicBezTo>
                  <a:pt x="57311" y="205772"/>
                  <a:pt x="51564" y="200025"/>
                  <a:pt x="51564" y="192911"/>
                </a:cubicBezTo>
                <a:cubicBezTo>
                  <a:pt x="51564" y="185798"/>
                  <a:pt x="57311" y="180051"/>
                  <a:pt x="64424" y="180051"/>
                </a:cubicBezTo>
                <a:lnTo>
                  <a:pt x="90146" y="180051"/>
                </a:lnTo>
                <a:lnTo>
                  <a:pt x="90146" y="150672"/>
                </a:lnTo>
                <a:cubicBezTo>
                  <a:pt x="83716" y="147577"/>
                  <a:pt x="75718" y="141830"/>
                  <a:pt x="67921" y="131260"/>
                </a:cubicBezTo>
                <a:cubicBezTo>
                  <a:pt x="60526" y="129331"/>
                  <a:pt x="52488" y="126397"/>
                  <a:pt x="44651" y="121976"/>
                </a:cubicBezTo>
                <a:cubicBezTo>
                  <a:pt x="22908" y="109799"/>
                  <a:pt x="3296" y="86850"/>
                  <a:pt x="482" y="45656"/>
                </a:cubicBezTo>
                <a:cubicBezTo>
                  <a:pt x="-281" y="34362"/>
                  <a:pt x="8922" y="25681"/>
                  <a:pt x="19412" y="25681"/>
                </a:cubicBezTo>
                <a:lnTo>
                  <a:pt x="39346" y="25681"/>
                </a:lnTo>
                <a:cubicBezTo>
                  <a:pt x="39225" y="23591"/>
                  <a:pt x="39145" y="21502"/>
                  <a:pt x="39065" y="19331"/>
                </a:cubicBezTo>
                <a:cubicBezTo>
                  <a:pt x="38663" y="8681"/>
                  <a:pt x="47344" y="-40"/>
                  <a:pt x="57994" y="-40"/>
                </a:cubicBezTo>
                <a:close/>
                <a:moveTo>
                  <a:pt x="40793" y="45013"/>
                </a:moveTo>
                <a:lnTo>
                  <a:pt x="19733" y="45013"/>
                </a:lnTo>
                <a:cubicBezTo>
                  <a:pt x="22225" y="79053"/>
                  <a:pt x="37859" y="96094"/>
                  <a:pt x="53975" y="105137"/>
                </a:cubicBezTo>
                <a:cubicBezTo>
                  <a:pt x="48188" y="90146"/>
                  <a:pt x="43405" y="70573"/>
                  <a:pt x="40793" y="45013"/>
                </a:cubicBezTo>
                <a:close/>
                <a:moveTo>
                  <a:pt x="152722" y="103208"/>
                </a:moveTo>
                <a:cubicBezTo>
                  <a:pt x="168998" y="93642"/>
                  <a:pt x="183708" y="76642"/>
                  <a:pt x="186200" y="45013"/>
                </a:cubicBezTo>
                <a:lnTo>
                  <a:pt x="165180" y="45013"/>
                </a:lnTo>
                <a:cubicBezTo>
                  <a:pt x="162689" y="69488"/>
                  <a:pt x="158187" y="88498"/>
                  <a:pt x="152722" y="103208"/>
                </a:cubicBezTo>
                <a:close/>
              </a:path>
            </a:pathLst>
          </a:custGeom>
          <a:solidFill>
            <a:srgbClr val="F59E0B"/>
          </a:solidFill>
          <a:ln/>
        </p:spPr>
        <p:txBody>
          <a:bodyPr/>
          <a:lstStyle/>
          <a:p>
            <a:endParaRPr lang="en-GB"/>
          </a:p>
        </p:txBody>
      </p:sp>
      <p:sp>
        <p:nvSpPr>
          <p:cNvPr id="18" name="Text 15"/>
          <p:cNvSpPr/>
          <p:nvPr/>
        </p:nvSpPr>
        <p:spPr>
          <a:xfrm>
            <a:off x="831126" y="6005974"/>
            <a:ext cx="5118582" cy="205772"/>
          </a:xfrm>
          <a:prstGeom prst="rect">
            <a:avLst/>
          </a:prstGeom>
          <a:noFill/>
          <a:ln/>
        </p:spPr>
        <p:txBody>
          <a:bodyPr wrap="square" lIns="0" tIns="0" rIns="0" bIns="0" rtlCol="0" anchor="ctr"/>
          <a:lstStyle/>
          <a:p>
            <a:pPr>
              <a:lnSpc>
                <a:spcPct val="130000"/>
              </a:lnSpc>
            </a:pPr>
            <a:r>
              <a:rPr lang="en-US" sz="1080" b="1" dirty="0">
                <a:solidFill>
                  <a:srgbClr val="FFFFFF"/>
                </a:solidFill>
                <a:latin typeface="Quattrocento Sans" pitchFamily="34" charset="0"/>
                <a:ea typeface="Quattrocento Sans" pitchFamily="34" charset="-122"/>
                <a:cs typeface="Quattrocento Sans" pitchFamily="34" charset="-120"/>
              </a:rPr>
              <a:t>Market Leadership</a:t>
            </a:r>
            <a:endParaRPr lang="en-US" sz="1600" dirty="0"/>
          </a:p>
        </p:txBody>
      </p:sp>
      <p:sp>
        <p:nvSpPr>
          <p:cNvPr id="19" name="Text 16"/>
          <p:cNvSpPr/>
          <p:nvPr/>
        </p:nvSpPr>
        <p:spPr>
          <a:xfrm>
            <a:off x="831126" y="6211747"/>
            <a:ext cx="5118582" cy="411544"/>
          </a:xfrm>
          <a:prstGeom prst="rect">
            <a:avLst/>
          </a:prstGeom>
          <a:noFill/>
          <a:ln/>
        </p:spPr>
        <p:txBody>
          <a:bodyPr wrap="square" lIns="0" tIns="0" rIns="0" bIns="0" rtlCol="0" anchor="ctr"/>
          <a:lstStyle/>
          <a:p>
            <a:pPr>
              <a:lnSpc>
                <a:spcPct val="130000"/>
              </a:lnSpc>
            </a:pPr>
            <a:r>
              <a:rPr lang="en-US" sz="1080" dirty="0">
                <a:solidFill>
                  <a:srgbClr val="E2E8F0"/>
                </a:solidFill>
                <a:latin typeface="Quattrocento Sans" pitchFamily="34" charset="0"/>
                <a:ea typeface="Quattrocento Sans" pitchFamily="34" charset="-122"/>
                <a:cs typeface="Quattrocento Sans" pitchFamily="34" charset="-120"/>
              </a:rPr>
              <a:t>Airbus maintains 10-15% delivery lead over Boeing, a position held consistently since 2019</a:t>
            </a:r>
            <a:endParaRPr lang="en-US" sz="1600" dirty="0"/>
          </a:p>
        </p:txBody>
      </p:sp>
      <p:sp>
        <p:nvSpPr>
          <p:cNvPr id="20" name="Shape 17"/>
          <p:cNvSpPr/>
          <p:nvPr/>
        </p:nvSpPr>
        <p:spPr>
          <a:xfrm>
            <a:off x="6165528" y="1371814"/>
            <a:ext cx="5684456" cy="2949401"/>
          </a:xfrm>
          <a:custGeom>
            <a:avLst/>
            <a:gdLst/>
            <a:ahLst/>
            <a:cxnLst/>
            <a:rect l="l" t="t" r="r" b="b"/>
            <a:pathLst>
              <a:path w="5684456" h="2949401">
                <a:moveTo>
                  <a:pt x="102875" y="0"/>
                </a:moveTo>
                <a:lnTo>
                  <a:pt x="5581581" y="0"/>
                </a:lnTo>
                <a:cubicBezTo>
                  <a:pt x="5638397" y="0"/>
                  <a:pt x="5684456" y="46059"/>
                  <a:pt x="5684456" y="102875"/>
                </a:cubicBezTo>
                <a:lnTo>
                  <a:pt x="5684456" y="2846526"/>
                </a:lnTo>
                <a:cubicBezTo>
                  <a:pt x="5684456" y="2903342"/>
                  <a:pt x="5638397" y="2949401"/>
                  <a:pt x="5581581" y="2949401"/>
                </a:cubicBezTo>
                <a:lnTo>
                  <a:pt x="102875" y="2949401"/>
                </a:lnTo>
                <a:cubicBezTo>
                  <a:pt x="46059" y="2949401"/>
                  <a:pt x="0" y="2903342"/>
                  <a:pt x="0" y="2846526"/>
                </a:cubicBezTo>
                <a:lnTo>
                  <a:pt x="0" y="102875"/>
                </a:lnTo>
                <a:cubicBezTo>
                  <a:pt x="0" y="46097"/>
                  <a:pt x="46097" y="0"/>
                  <a:pt x="102875" y="0"/>
                </a:cubicBezTo>
                <a:close/>
              </a:path>
            </a:pathLst>
          </a:custGeom>
          <a:solidFill>
            <a:srgbClr val="1E293B"/>
          </a:solidFill>
          <a:ln/>
        </p:spPr>
        <p:txBody>
          <a:bodyPr/>
          <a:lstStyle/>
          <a:p>
            <a:endParaRPr lang="en-GB"/>
          </a:p>
        </p:txBody>
      </p:sp>
      <p:sp>
        <p:nvSpPr>
          <p:cNvPr id="21" name="Text 18"/>
          <p:cNvSpPr/>
          <p:nvPr/>
        </p:nvSpPr>
        <p:spPr>
          <a:xfrm>
            <a:off x="6337005" y="1543291"/>
            <a:ext cx="5427241" cy="240068"/>
          </a:xfrm>
          <a:prstGeom prst="rect">
            <a:avLst/>
          </a:prstGeom>
          <a:noFill/>
          <a:ln/>
        </p:spPr>
        <p:txBody>
          <a:bodyPr wrap="square" lIns="0" tIns="0" rIns="0" bIns="0" rtlCol="0" anchor="ctr"/>
          <a:lstStyle/>
          <a:p>
            <a:pPr>
              <a:lnSpc>
                <a:spcPct val="120000"/>
              </a:lnSpc>
            </a:pPr>
            <a:r>
              <a:rPr lang="en-US" sz="1350" b="1" dirty="0">
                <a:solidFill>
                  <a:srgbClr val="FFFFFF"/>
                </a:solidFill>
                <a:latin typeface="Liter" pitchFamily="34" charset="0"/>
                <a:ea typeface="Liter" pitchFamily="34" charset="-122"/>
                <a:cs typeface="Liter" pitchFamily="34" charset="-120"/>
              </a:rPr>
              <a:t>Single-Aisle Dominance</a:t>
            </a:r>
            <a:endParaRPr lang="en-US" sz="1600" dirty="0"/>
          </a:p>
        </p:txBody>
      </p:sp>
      <p:sp>
        <p:nvSpPr>
          <p:cNvPr id="22" name="Text 19"/>
          <p:cNvSpPr/>
          <p:nvPr/>
        </p:nvSpPr>
        <p:spPr>
          <a:xfrm>
            <a:off x="6337005" y="1886245"/>
            <a:ext cx="1817654" cy="205772"/>
          </a:xfrm>
          <a:prstGeom prst="rect">
            <a:avLst/>
          </a:prstGeom>
          <a:noFill/>
          <a:ln/>
        </p:spPr>
        <p:txBody>
          <a:bodyPr wrap="square" lIns="0" tIns="0" rIns="0" bIns="0" rtlCol="0" anchor="ctr"/>
          <a:lstStyle/>
          <a:p>
            <a:pPr>
              <a:lnSpc>
                <a:spcPct val="130000"/>
              </a:lnSpc>
            </a:pPr>
            <a:r>
              <a:rPr lang="en-US" sz="1080" b="1" dirty="0">
                <a:solidFill>
                  <a:srgbClr val="E2E8F0"/>
                </a:solidFill>
                <a:latin typeface="Quattrocento Sans" pitchFamily="34" charset="0"/>
                <a:ea typeface="Quattrocento Sans" pitchFamily="34" charset="-122"/>
                <a:cs typeface="Quattrocento Sans" pitchFamily="34" charset="-120"/>
              </a:rPr>
              <a:t>A320neo Family Orders 2025</a:t>
            </a:r>
            <a:endParaRPr lang="en-US" sz="1600" dirty="0"/>
          </a:p>
        </p:txBody>
      </p:sp>
      <p:sp>
        <p:nvSpPr>
          <p:cNvPr id="23" name="Text 20"/>
          <p:cNvSpPr/>
          <p:nvPr/>
        </p:nvSpPr>
        <p:spPr>
          <a:xfrm>
            <a:off x="11028101" y="1886245"/>
            <a:ext cx="720203" cy="205772"/>
          </a:xfrm>
          <a:prstGeom prst="rect">
            <a:avLst/>
          </a:prstGeom>
          <a:noFill/>
          <a:ln/>
        </p:spPr>
        <p:txBody>
          <a:bodyPr wrap="square" lIns="0" tIns="0" rIns="0" bIns="0" rtlCol="0" anchor="ctr"/>
          <a:lstStyle/>
          <a:p>
            <a:pPr>
              <a:lnSpc>
                <a:spcPct val="130000"/>
              </a:lnSpc>
            </a:pPr>
            <a:r>
              <a:rPr lang="en-US" sz="1080" b="1" dirty="0">
                <a:solidFill>
                  <a:srgbClr val="38BDF8"/>
                </a:solidFill>
                <a:latin typeface="Quattrocento Sans" pitchFamily="34" charset="0"/>
                <a:ea typeface="Quattrocento Sans" pitchFamily="34" charset="-122"/>
                <a:cs typeface="Quattrocento Sans" pitchFamily="34" charset="-120"/>
              </a:rPr>
              <a:t>504 orders</a:t>
            </a:r>
            <a:endParaRPr lang="en-US" sz="1600" dirty="0"/>
          </a:p>
        </p:txBody>
      </p:sp>
      <p:sp>
        <p:nvSpPr>
          <p:cNvPr id="24" name="Shape 21"/>
          <p:cNvSpPr/>
          <p:nvPr/>
        </p:nvSpPr>
        <p:spPr>
          <a:xfrm>
            <a:off x="6337005" y="2160608"/>
            <a:ext cx="5341502" cy="85738"/>
          </a:xfrm>
          <a:custGeom>
            <a:avLst/>
            <a:gdLst/>
            <a:ahLst/>
            <a:cxnLst/>
            <a:rect l="l" t="t" r="r" b="b"/>
            <a:pathLst>
              <a:path w="5341502" h="85738">
                <a:moveTo>
                  <a:pt x="42869" y="0"/>
                </a:moveTo>
                <a:lnTo>
                  <a:pt x="5298633" y="0"/>
                </a:lnTo>
                <a:cubicBezTo>
                  <a:pt x="5322309" y="0"/>
                  <a:pt x="5341502" y="19193"/>
                  <a:pt x="5341502" y="42869"/>
                </a:cubicBezTo>
                <a:lnTo>
                  <a:pt x="5341502" y="42869"/>
                </a:lnTo>
                <a:cubicBezTo>
                  <a:pt x="5341502" y="66545"/>
                  <a:pt x="5322309" y="85738"/>
                  <a:pt x="5298633" y="85738"/>
                </a:cubicBezTo>
                <a:lnTo>
                  <a:pt x="42869" y="85738"/>
                </a:lnTo>
                <a:cubicBezTo>
                  <a:pt x="19193" y="85738"/>
                  <a:pt x="0" y="66545"/>
                  <a:pt x="0" y="42869"/>
                </a:cubicBezTo>
                <a:lnTo>
                  <a:pt x="0" y="42869"/>
                </a:lnTo>
                <a:cubicBezTo>
                  <a:pt x="0" y="19193"/>
                  <a:pt x="19193" y="0"/>
                  <a:pt x="42869" y="0"/>
                </a:cubicBezTo>
                <a:close/>
              </a:path>
            </a:pathLst>
          </a:custGeom>
          <a:solidFill>
            <a:srgbClr val="475569"/>
          </a:solidFill>
          <a:ln/>
        </p:spPr>
        <p:txBody>
          <a:bodyPr/>
          <a:lstStyle/>
          <a:p>
            <a:endParaRPr lang="en-GB"/>
          </a:p>
        </p:txBody>
      </p:sp>
      <p:sp>
        <p:nvSpPr>
          <p:cNvPr id="25" name="Shape 22"/>
          <p:cNvSpPr/>
          <p:nvPr/>
        </p:nvSpPr>
        <p:spPr>
          <a:xfrm>
            <a:off x="6337005" y="2160608"/>
            <a:ext cx="2777924" cy="85738"/>
          </a:xfrm>
          <a:custGeom>
            <a:avLst/>
            <a:gdLst/>
            <a:ahLst/>
            <a:cxnLst/>
            <a:rect l="l" t="t" r="r" b="b"/>
            <a:pathLst>
              <a:path w="2777924" h="85738">
                <a:moveTo>
                  <a:pt x="42869" y="0"/>
                </a:moveTo>
                <a:lnTo>
                  <a:pt x="2735055" y="0"/>
                </a:lnTo>
                <a:cubicBezTo>
                  <a:pt x="2758731" y="0"/>
                  <a:pt x="2777924" y="19193"/>
                  <a:pt x="2777924" y="42869"/>
                </a:cubicBezTo>
                <a:lnTo>
                  <a:pt x="2777924" y="42869"/>
                </a:lnTo>
                <a:cubicBezTo>
                  <a:pt x="2777924" y="66545"/>
                  <a:pt x="2758731" y="85738"/>
                  <a:pt x="2735055" y="85738"/>
                </a:cubicBezTo>
                <a:lnTo>
                  <a:pt x="42869" y="85738"/>
                </a:lnTo>
                <a:cubicBezTo>
                  <a:pt x="19193" y="85738"/>
                  <a:pt x="0" y="66545"/>
                  <a:pt x="0" y="42869"/>
                </a:cubicBezTo>
                <a:lnTo>
                  <a:pt x="0" y="42869"/>
                </a:lnTo>
                <a:cubicBezTo>
                  <a:pt x="0" y="19193"/>
                  <a:pt x="19193" y="0"/>
                  <a:pt x="42869" y="0"/>
                </a:cubicBezTo>
                <a:close/>
              </a:path>
            </a:pathLst>
          </a:custGeom>
          <a:solidFill>
            <a:srgbClr val="38BDF8"/>
          </a:solidFill>
          <a:ln/>
        </p:spPr>
        <p:txBody>
          <a:bodyPr/>
          <a:lstStyle/>
          <a:p>
            <a:endParaRPr lang="en-GB"/>
          </a:p>
        </p:txBody>
      </p:sp>
      <p:sp>
        <p:nvSpPr>
          <p:cNvPr id="26" name="Text 23"/>
          <p:cNvSpPr/>
          <p:nvPr/>
        </p:nvSpPr>
        <p:spPr>
          <a:xfrm>
            <a:off x="6337005" y="2280641"/>
            <a:ext cx="5410093" cy="205772"/>
          </a:xfrm>
          <a:prstGeom prst="rect">
            <a:avLst/>
          </a:prstGeom>
          <a:noFill/>
          <a:ln/>
        </p:spPr>
        <p:txBody>
          <a:bodyPr wrap="square" lIns="0" tIns="0" rIns="0" bIns="0" rtlCol="0" anchor="ctr"/>
          <a:lstStyle/>
          <a:p>
            <a:pP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402 A321neo + 102 A320neo</a:t>
            </a:r>
            <a:endParaRPr lang="en-US" sz="1600" dirty="0"/>
          </a:p>
        </p:txBody>
      </p:sp>
      <p:sp>
        <p:nvSpPr>
          <p:cNvPr id="27" name="Text 24"/>
          <p:cNvSpPr/>
          <p:nvPr/>
        </p:nvSpPr>
        <p:spPr>
          <a:xfrm>
            <a:off x="6337005" y="2589300"/>
            <a:ext cx="1371814" cy="205772"/>
          </a:xfrm>
          <a:prstGeom prst="rect">
            <a:avLst/>
          </a:prstGeom>
          <a:noFill/>
          <a:ln/>
        </p:spPr>
        <p:txBody>
          <a:bodyPr wrap="square" lIns="0" tIns="0" rIns="0" bIns="0" rtlCol="0" anchor="ctr"/>
          <a:lstStyle/>
          <a:p>
            <a:pPr>
              <a:lnSpc>
                <a:spcPct val="130000"/>
              </a:lnSpc>
            </a:pPr>
            <a:r>
              <a:rPr lang="en-US" sz="1080" b="1" dirty="0">
                <a:solidFill>
                  <a:srgbClr val="E2E8F0"/>
                </a:solidFill>
                <a:latin typeface="Quattrocento Sans" pitchFamily="34" charset="0"/>
                <a:ea typeface="Quattrocento Sans" pitchFamily="34" charset="-122"/>
                <a:cs typeface="Quattrocento Sans" pitchFamily="34" charset="-120"/>
              </a:rPr>
              <a:t>737 MAX Orders 2025</a:t>
            </a:r>
            <a:endParaRPr lang="en-US" sz="1600" dirty="0"/>
          </a:p>
        </p:txBody>
      </p:sp>
      <p:sp>
        <p:nvSpPr>
          <p:cNvPr id="28" name="Text 25"/>
          <p:cNvSpPr/>
          <p:nvPr/>
        </p:nvSpPr>
        <p:spPr>
          <a:xfrm>
            <a:off x="11071774" y="2589300"/>
            <a:ext cx="677333" cy="205772"/>
          </a:xfrm>
          <a:prstGeom prst="rect">
            <a:avLst/>
          </a:prstGeom>
          <a:noFill/>
          <a:ln/>
        </p:spPr>
        <p:txBody>
          <a:bodyPr wrap="square" lIns="0" tIns="0" rIns="0" bIns="0" rtlCol="0" anchor="ctr"/>
          <a:lstStyle/>
          <a:p>
            <a:pPr>
              <a:lnSpc>
                <a:spcPct val="130000"/>
              </a:lnSpc>
            </a:pPr>
            <a:r>
              <a:rPr lang="en-US" sz="1080" b="1" dirty="0">
                <a:solidFill>
                  <a:srgbClr val="94A3B8"/>
                </a:solidFill>
                <a:latin typeface="Quattrocento Sans" pitchFamily="34" charset="0"/>
                <a:ea typeface="Quattrocento Sans" pitchFamily="34" charset="-122"/>
                <a:cs typeface="Quattrocento Sans" pitchFamily="34" charset="-120"/>
              </a:rPr>
              <a:t>461 orders</a:t>
            </a:r>
            <a:endParaRPr lang="en-US" sz="1600" dirty="0"/>
          </a:p>
        </p:txBody>
      </p:sp>
      <p:sp>
        <p:nvSpPr>
          <p:cNvPr id="29" name="Shape 26"/>
          <p:cNvSpPr/>
          <p:nvPr/>
        </p:nvSpPr>
        <p:spPr>
          <a:xfrm>
            <a:off x="6337005" y="2863662"/>
            <a:ext cx="5341502" cy="85738"/>
          </a:xfrm>
          <a:custGeom>
            <a:avLst/>
            <a:gdLst/>
            <a:ahLst/>
            <a:cxnLst/>
            <a:rect l="l" t="t" r="r" b="b"/>
            <a:pathLst>
              <a:path w="5341502" h="85738">
                <a:moveTo>
                  <a:pt x="42869" y="0"/>
                </a:moveTo>
                <a:lnTo>
                  <a:pt x="5298633" y="0"/>
                </a:lnTo>
                <a:cubicBezTo>
                  <a:pt x="5322309" y="0"/>
                  <a:pt x="5341502" y="19193"/>
                  <a:pt x="5341502" y="42869"/>
                </a:cubicBezTo>
                <a:lnTo>
                  <a:pt x="5341502" y="42869"/>
                </a:lnTo>
                <a:cubicBezTo>
                  <a:pt x="5341502" y="66545"/>
                  <a:pt x="5322309" y="85738"/>
                  <a:pt x="5298633" y="85738"/>
                </a:cubicBezTo>
                <a:lnTo>
                  <a:pt x="42869" y="85738"/>
                </a:lnTo>
                <a:cubicBezTo>
                  <a:pt x="19193" y="85738"/>
                  <a:pt x="0" y="66545"/>
                  <a:pt x="0" y="42869"/>
                </a:cubicBezTo>
                <a:lnTo>
                  <a:pt x="0" y="42869"/>
                </a:lnTo>
                <a:cubicBezTo>
                  <a:pt x="0" y="19193"/>
                  <a:pt x="19193" y="0"/>
                  <a:pt x="42869" y="0"/>
                </a:cubicBezTo>
                <a:close/>
              </a:path>
            </a:pathLst>
          </a:custGeom>
          <a:solidFill>
            <a:srgbClr val="475569"/>
          </a:solidFill>
          <a:ln/>
        </p:spPr>
        <p:txBody>
          <a:bodyPr/>
          <a:lstStyle/>
          <a:p>
            <a:endParaRPr lang="en-GB"/>
          </a:p>
        </p:txBody>
      </p:sp>
      <p:sp>
        <p:nvSpPr>
          <p:cNvPr id="30" name="Shape 27"/>
          <p:cNvSpPr/>
          <p:nvPr/>
        </p:nvSpPr>
        <p:spPr>
          <a:xfrm>
            <a:off x="6337005" y="2863662"/>
            <a:ext cx="2563578" cy="85738"/>
          </a:xfrm>
          <a:custGeom>
            <a:avLst/>
            <a:gdLst/>
            <a:ahLst/>
            <a:cxnLst/>
            <a:rect l="l" t="t" r="r" b="b"/>
            <a:pathLst>
              <a:path w="2563578" h="85738">
                <a:moveTo>
                  <a:pt x="42869" y="0"/>
                </a:moveTo>
                <a:lnTo>
                  <a:pt x="2520709" y="0"/>
                </a:lnTo>
                <a:cubicBezTo>
                  <a:pt x="2544385" y="0"/>
                  <a:pt x="2563578" y="19193"/>
                  <a:pt x="2563578" y="42869"/>
                </a:cubicBezTo>
                <a:lnTo>
                  <a:pt x="2563578" y="42869"/>
                </a:lnTo>
                <a:cubicBezTo>
                  <a:pt x="2563578" y="66545"/>
                  <a:pt x="2544385" y="85738"/>
                  <a:pt x="2520709" y="85738"/>
                </a:cubicBezTo>
                <a:lnTo>
                  <a:pt x="42869" y="85738"/>
                </a:lnTo>
                <a:cubicBezTo>
                  <a:pt x="19193" y="85738"/>
                  <a:pt x="0" y="66545"/>
                  <a:pt x="0" y="42869"/>
                </a:cubicBezTo>
                <a:lnTo>
                  <a:pt x="0" y="42869"/>
                </a:lnTo>
                <a:cubicBezTo>
                  <a:pt x="0" y="19193"/>
                  <a:pt x="19193" y="0"/>
                  <a:pt x="42869" y="0"/>
                </a:cubicBezTo>
                <a:close/>
              </a:path>
            </a:pathLst>
          </a:custGeom>
          <a:solidFill>
            <a:srgbClr val="94A3B8"/>
          </a:solidFill>
          <a:ln/>
        </p:spPr>
        <p:txBody>
          <a:bodyPr/>
          <a:lstStyle/>
          <a:p>
            <a:endParaRPr lang="en-GB"/>
          </a:p>
        </p:txBody>
      </p:sp>
      <p:sp>
        <p:nvSpPr>
          <p:cNvPr id="31" name="Text 28"/>
          <p:cNvSpPr/>
          <p:nvPr/>
        </p:nvSpPr>
        <p:spPr>
          <a:xfrm>
            <a:off x="6337005" y="2983696"/>
            <a:ext cx="5410093" cy="205772"/>
          </a:xfrm>
          <a:prstGeom prst="rect">
            <a:avLst/>
          </a:prstGeom>
          <a:noFill/>
          <a:ln/>
        </p:spPr>
        <p:txBody>
          <a:bodyPr wrap="square" lIns="0" tIns="0" rIns="0" bIns="0" rtlCol="0" anchor="ctr"/>
          <a:lstStyle/>
          <a:p>
            <a:pP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MAX 8 and MAX 10 variants</a:t>
            </a:r>
            <a:endParaRPr lang="en-US" sz="1600" dirty="0"/>
          </a:p>
        </p:txBody>
      </p:sp>
      <p:sp>
        <p:nvSpPr>
          <p:cNvPr id="32" name="Shape 29"/>
          <p:cNvSpPr/>
          <p:nvPr/>
        </p:nvSpPr>
        <p:spPr>
          <a:xfrm>
            <a:off x="6337005" y="3292354"/>
            <a:ext cx="5341502" cy="857384"/>
          </a:xfrm>
          <a:custGeom>
            <a:avLst/>
            <a:gdLst/>
            <a:ahLst/>
            <a:cxnLst/>
            <a:rect l="l" t="t" r="r" b="b"/>
            <a:pathLst>
              <a:path w="5341502" h="857384">
                <a:moveTo>
                  <a:pt x="68591" y="0"/>
                </a:moveTo>
                <a:lnTo>
                  <a:pt x="5272911" y="0"/>
                </a:lnTo>
                <a:cubicBezTo>
                  <a:pt x="5310793" y="0"/>
                  <a:pt x="5341502" y="30709"/>
                  <a:pt x="5341502" y="68591"/>
                </a:cubicBezTo>
                <a:lnTo>
                  <a:pt x="5341502" y="788793"/>
                </a:lnTo>
                <a:cubicBezTo>
                  <a:pt x="5341502" y="826675"/>
                  <a:pt x="5310793" y="857384"/>
                  <a:pt x="5272911" y="857384"/>
                </a:cubicBezTo>
                <a:lnTo>
                  <a:pt x="68591" y="857384"/>
                </a:lnTo>
                <a:cubicBezTo>
                  <a:pt x="30734" y="857384"/>
                  <a:pt x="0" y="826649"/>
                  <a:pt x="0" y="788793"/>
                </a:cubicBezTo>
                <a:lnTo>
                  <a:pt x="0" y="68591"/>
                </a:lnTo>
                <a:cubicBezTo>
                  <a:pt x="0" y="30709"/>
                  <a:pt x="30709" y="0"/>
                  <a:pt x="68591" y="0"/>
                </a:cubicBezTo>
                <a:close/>
              </a:path>
            </a:pathLst>
          </a:custGeom>
          <a:solidFill>
            <a:srgbClr val="0F172A">
              <a:alpha val="50196"/>
            </a:srgbClr>
          </a:solidFill>
          <a:ln/>
        </p:spPr>
        <p:txBody>
          <a:bodyPr/>
          <a:lstStyle/>
          <a:p>
            <a:endParaRPr lang="en-GB"/>
          </a:p>
        </p:txBody>
      </p:sp>
      <p:sp>
        <p:nvSpPr>
          <p:cNvPr id="33" name="Shape 30"/>
          <p:cNvSpPr/>
          <p:nvPr/>
        </p:nvSpPr>
        <p:spPr>
          <a:xfrm>
            <a:off x="6448465" y="3429536"/>
            <a:ext cx="154329" cy="137181"/>
          </a:xfrm>
          <a:custGeom>
            <a:avLst/>
            <a:gdLst/>
            <a:ahLst/>
            <a:cxnLst/>
            <a:rect l="l" t="t" r="r" b="b"/>
            <a:pathLst>
              <a:path w="154329" h="137181">
                <a:moveTo>
                  <a:pt x="82925" y="-5064"/>
                </a:moveTo>
                <a:cubicBezTo>
                  <a:pt x="81827" y="-7207"/>
                  <a:pt x="79603" y="-8574"/>
                  <a:pt x="77191" y="-8574"/>
                </a:cubicBezTo>
                <a:cubicBezTo>
                  <a:pt x="74780" y="-8574"/>
                  <a:pt x="72556" y="-7207"/>
                  <a:pt x="71458" y="-5064"/>
                </a:cubicBezTo>
                <a:lnTo>
                  <a:pt x="51738" y="33572"/>
                </a:lnTo>
                <a:lnTo>
                  <a:pt x="8895" y="40377"/>
                </a:lnTo>
                <a:cubicBezTo>
                  <a:pt x="6511" y="40753"/>
                  <a:pt x="4528" y="42441"/>
                  <a:pt x="3778" y="44745"/>
                </a:cubicBezTo>
                <a:cubicBezTo>
                  <a:pt x="3028" y="47049"/>
                  <a:pt x="3644" y="49568"/>
                  <a:pt x="5332" y="51282"/>
                </a:cubicBezTo>
                <a:lnTo>
                  <a:pt x="35983" y="81961"/>
                </a:lnTo>
                <a:lnTo>
                  <a:pt x="29231" y="124803"/>
                </a:lnTo>
                <a:cubicBezTo>
                  <a:pt x="28856" y="127188"/>
                  <a:pt x="29848" y="129599"/>
                  <a:pt x="31804" y="131019"/>
                </a:cubicBezTo>
                <a:cubicBezTo>
                  <a:pt x="33759" y="132439"/>
                  <a:pt x="36332" y="132653"/>
                  <a:pt x="38502" y="131555"/>
                </a:cubicBezTo>
                <a:lnTo>
                  <a:pt x="77191" y="111889"/>
                </a:lnTo>
                <a:lnTo>
                  <a:pt x="115854" y="131555"/>
                </a:lnTo>
                <a:cubicBezTo>
                  <a:pt x="117997" y="132653"/>
                  <a:pt x="120596" y="132439"/>
                  <a:pt x="122552" y="131019"/>
                </a:cubicBezTo>
                <a:cubicBezTo>
                  <a:pt x="124508" y="129599"/>
                  <a:pt x="125500" y="127214"/>
                  <a:pt x="125124" y="124803"/>
                </a:cubicBezTo>
                <a:lnTo>
                  <a:pt x="118346" y="81961"/>
                </a:lnTo>
                <a:lnTo>
                  <a:pt x="148997" y="51282"/>
                </a:lnTo>
                <a:cubicBezTo>
                  <a:pt x="150712" y="49568"/>
                  <a:pt x="151301" y="47049"/>
                  <a:pt x="150551" y="44745"/>
                </a:cubicBezTo>
                <a:cubicBezTo>
                  <a:pt x="149801" y="42441"/>
                  <a:pt x="147845" y="40753"/>
                  <a:pt x="145434" y="40377"/>
                </a:cubicBezTo>
                <a:lnTo>
                  <a:pt x="102618" y="33572"/>
                </a:lnTo>
                <a:lnTo>
                  <a:pt x="82925" y="-5064"/>
                </a:lnTo>
                <a:close/>
              </a:path>
            </a:pathLst>
          </a:custGeom>
          <a:solidFill>
            <a:srgbClr val="F59E0B"/>
          </a:solidFill>
          <a:ln/>
        </p:spPr>
        <p:txBody>
          <a:bodyPr/>
          <a:lstStyle/>
          <a:p>
            <a:endParaRPr lang="en-GB"/>
          </a:p>
        </p:txBody>
      </p:sp>
      <p:sp>
        <p:nvSpPr>
          <p:cNvPr id="34" name="Text 31"/>
          <p:cNvSpPr/>
          <p:nvPr/>
        </p:nvSpPr>
        <p:spPr>
          <a:xfrm>
            <a:off x="6657674" y="3395241"/>
            <a:ext cx="4986538" cy="205772"/>
          </a:xfrm>
          <a:prstGeom prst="rect">
            <a:avLst/>
          </a:prstGeom>
          <a:noFill/>
          <a:ln/>
        </p:spPr>
        <p:txBody>
          <a:bodyPr wrap="square" lIns="0" tIns="0" rIns="0" bIns="0" rtlCol="0" anchor="ctr"/>
          <a:lstStyle/>
          <a:p>
            <a:pPr>
              <a:lnSpc>
                <a:spcPct val="130000"/>
              </a:lnSpc>
            </a:pPr>
            <a:r>
              <a:rPr lang="en-US" sz="1080" b="1" dirty="0">
                <a:solidFill>
                  <a:srgbClr val="F59E0B"/>
                </a:solidFill>
                <a:latin typeface="Quattrocento Sans" pitchFamily="34" charset="0"/>
                <a:ea typeface="Quattrocento Sans" pitchFamily="34" charset="-122"/>
                <a:cs typeface="Quattrocento Sans" pitchFamily="34" charset="-120"/>
              </a:rPr>
              <a:t>A321neo Success</a:t>
            </a:r>
            <a:endParaRPr lang="en-US" sz="1600" dirty="0"/>
          </a:p>
        </p:txBody>
      </p:sp>
      <p:sp>
        <p:nvSpPr>
          <p:cNvPr id="35" name="Text 32"/>
          <p:cNvSpPr/>
          <p:nvPr/>
        </p:nvSpPr>
        <p:spPr>
          <a:xfrm>
            <a:off x="6439891" y="3635308"/>
            <a:ext cx="5204321" cy="411544"/>
          </a:xfrm>
          <a:prstGeom prst="rect">
            <a:avLst/>
          </a:prstGeom>
          <a:noFill/>
          <a:ln/>
        </p:spPr>
        <p:txBody>
          <a:bodyPr wrap="square" lIns="0" tIns="0" rIns="0" bIns="0" rtlCol="0" anchor="ctr"/>
          <a:lstStyle/>
          <a:p>
            <a:pPr>
              <a:lnSpc>
                <a:spcPct val="130000"/>
              </a:lnSpc>
            </a:pPr>
            <a:r>
              <a:rPr lang="en-US" sz="1080" dirty="0">
                <a:solidFill>
                  <a:srgbClr val="E2E8F0"/>
                </a:solidFill>
                <a:latin typeface="Quattrocento Sans" pitchFamily="34" charset="0"/>
                <a:ea typeface="Quattrocento Sans" pitchFamily="34" charset="-122"/>
                <a:cs typeface="Quattrocento Sans" pitchFamily="34" charset="-120"/>
              </a:rPr>
              <a:t>The A321neo has become the most popular aircraft variant of all time, with superior economics and versatility driving airline demand.</a:t>
            </a:r>
            <a:endParaRPr lang="en-US" sz="1600" dirty="0"/>
          </a:p>
        </p:txBody>
      </p:sp>
      <p:sp>
        <p:nvSpPr>
          <p:cNvPr id="36" name="Shape 33"/>
          <p:cNvSpPr/>
          <p:nvPr/>
        </p:nvSpPr>
        <p:spPr>
          <a:xfrm>
            <a:off x="6165528" y="4458398"/>
            <a:ext cx="5684456" cy="2306362"/>
          </a:xfrm>
          <a:custGeom>
            <a:avLst/>
            <a:gdLst/>
            <a:ahLst/>
            <a:cxnLst/>
            <a:rect l="l" t="t" r="r" b="b"/>
            <a:pathLst>
              <a:path w="5684456" h="2820793">
                <a:moveTo>
                  <a:pt x="102874" y="0"/>
                </a:moveTo>
                <a:lnTo>
                  <a:pt x="5581581" y="0"/>
                </a:lnTo>
                <a:cubicBezTo>
                  <a:pt x="5638359" y="0"/>
                  <a:pt x="5684456" y="46096"/>
                  <a:pt x="5684456" y="102874"/>
                </a:cubicBezTo>
                <a:lnTo>
                  <a:pt x="5684456" y="2717919"/>
                </a:lnTo>
                <a:cubicBezTo>
                  <a:pt x="5684456" y="2774697"/>
                  <a:pt x="5638359" y="2820793"/>
                  <a:pt x="5581581" y="2820793"/>
                </a:cubicBezTo>
                <a:lnTo>
                  <a:pt x="102874" y="2820793"/>
                </a:lnTo>
                <a:cubicBezTo>
                  <a:pt x="46096" y="2820793"/>
                  <a:pt x="0" y="2774697"/>
                  <a:pt x="0" y="2717919"/>
                </a:cubicBezTo>
                <a:lnTo>
                  <a:pt x="0" y="102874"/>
                </a:lnTo>
                <a:cubicBezTo>
                  <a:pt x="0" y="46096"/>
                  <a:pt x="46096" y="0"/>
                  <a:pt x="102874" y="0"/>
                </a:cubicBezTo>
                <a:close/>
              </a:path>
            </a:pathLst>
          </a:custGeom>
          <a:solidFill>
            <a:srgbClr val="1E293B"/>
          </a:solidFill>
          <a:ln/>
        </p:spPr>
        <p:txBody>
          <a:bodyPr/>
          <a:lstStyle/>
          <a:p>
            <a:endParaRPr lang="en-GB"/>
          </a:p>
        </p:txBody>
      </p:sp>
      <p:sp>
        <p:nvSpPr>
          <p:cNvPr id="37" name="Text 34"/>
          <p:cNvSpPr/>
          <p:nvPr/>
        </p:nvSpPr>
        <p:spPr>
          <a:xfrm>
            <a:off x="6337005" y="4629873"/>
            <a:ext cx="5427241" cy="240068"/>
          </a:xfrm>
          <a:prstGeom prst="rect">
            <a:avLst/>
          </a:prstGeom>
          <a:noFill/>
          <a:ln/>
        </p:spPr>
        <p:txBody>
          <a:bodyPr wrap="square" lIns="0" tIns="0" rIns="0" bIns="0" rtlCol="0" anchor="ctr"/>
          <a:lstStyle/>
          <a:p>
            <a:pPr>
              <a:lnSpc>
                <a:spcPct val="120000"/>
              </a:lnSpc>
            </a:pPr>
            <a:r>
              <a:rPr lang="en-US" sz="1350" b="1" dirty="0">
                <a:solidFill>
                  <a:srgbClr val="FFFFFF"/>
                </a:solidFill>
                <a:latin typeface="Liter" pitchFamily="34" charset="0"/>
                <a:ea typeface="Liter" pitchFamily="34" charset="-122"/>
                <a:cs typeface="Liter" pitchFamily="34" charset="-120"/>
              </a:rPr>
              <a:t>Widebody Competition</a:t>
            </a:r>
            <a:endParaRPr lang="en-US" sz="1600" dirty="0"/>
          </a:p>
        </p:txBody>
      </p:sp>
      <p:sp>
        <p:nvSpPr>
          <p:cNvPr id="38" name="Shape 35"/>
          <p:cNvSpPr/>
          <p:nvPr/>
        </p:nvSpPr>
        <p:spPr>
          <a:xfrm>
            <a:off x="6337005" y="5041418"/>
            <a:ext cx="68591" cy="68591"/>
          </a:xfrm>
          <a:custGeom>
            <a:avLst/>
            <a:gdLst/>
            <a:ahLst/>
            <a:cxnLst/>
            <a:rect l="l" t="t" r="r" b="b"/>
            <a:pathLst>
              <a:path w="68591" h="68591">
                <a:moveTo>
                  <a:pt x="34295" y="0"/>
                </a:moveTo>
                <a:lnTo>
                  <a:pt x="34295" y="0"/>
                </a:lnTo>
                <a:cubicBezTo>
                  <a:pt x="53236" y="0"/>
                  <a:pt x="68591" y="15355"/>
                  <a:pt x="68591" y="34295"/>
                </a:cubicBezTo>
                <a:lnTo>
                  <a:pt x="68591" y="34295"/>
                </a:lnTo>
                <a:cubicBezTo>
                  <a:pt x="68591" y="53236"/>
                  <a:pt x="53236" y="68591"/>
                  <a:pt x="34295" y="68591"/>
                </a:cubicBezTo>
                <a:lnTo>
                  <a:pt x="34295" y="68591"/>
                </a:lnTo>
                <a:cubicBezTo>
                  <a:pt x="15355" y="68591"/>
                  <a:pt x="0" y="53236"/>
                  <a:pt x="0" y="34295"/>
                </a:cubicBezTo>
                <a:lnTo>
                  <a:pt x="0" y="34295"/>
                </a:lnTo>
                <a:cubicBezTo>
                  <a:pt x="0" y="15355"/>
                  <a:pt x="15355" y="0"/>
                  <a:pt x="34295" y="0"/>
                </a:cubicBezTo>
                <a:close/>
              </a:path>
            </a:pathLst>
          </a:custGeom>
          <a:solidFill>
            <a:srgbClr val="38BDF8"/>
          </a:solidFill>
          <a:ln/>
        </p:spPr>
        <p:txBody>
          <a:bodyPr/>
          <a:lstStyle/>
          <a:p>
            <a:endParaRPr lang="en-GB"/>
          </a:p>
        </p:txBody>
      </p:sp>
      <p:sp>
        <p:nvSpPr>
          <p:cNvPr id="39" name="Text 36"/>
          <p:cNvSpPr/>
          <p:nvPr/>
        </p:nvSpPr>
        <p:spPr>
          <a:xfrm>
            <a:off x="6508482" y="4972827"/>
            <a:ext cx="4346937" cy="205772"/>
          </a:xfrm>
          <a:prstGeom prst="rect">
            <a:avLst/>
          </a:prstGeom>
          <a:noFill/>
          <a:ln/>
        </p:spPr>
        <p:txBody>
          <a:bodyPr wrap="square" lIns="0" tIns="0" rIns="0" bIns="0" rtlCol="0" anchor="ctr"/>
          <a:lstStyle/>
          <a:p>
            <a:pPr>
              <a:lnSpc>
                <a:spcPct val="130000"/>
              </a:lnSpc>
            </a:pPr>
            <a:r>
              <a:rPr lang="en-US" sz="1080" b="1" dirty="0">
                <a:solidFill>
                  <a:srgbClr val="38BDF8"/>
                </a:solidFill>
                <a:latin typeface="Quattrocento Sans" pitchFamily="34" charset="0"/>
                <a:ea typeface="Quattrocento Sans" pitchFamily="34" charset="-122"/>
                <a:cs typeface="Quattrocento Sans" pitchFamily="34" charset="-120"/>
              </a:rPr>
              <a:t>A330neo &amp; A350:</a:t>
            </a:r>
            <a:r>
              <a:rPr lang="en-US" sz="1080" dirty="0">
                <a:solidFill>
                  <a:srgbClr val="E2E8F0"/>
                </a:solidFill>
                <a:latin typeface="Quattrocento Sans" pitchFamily="34" charset="0"/>
                <a:ea typeface="Quattrocento Sans" pitchFamily="34" charset="-122"/>
                <a:cs typeface="Quattrocento Sans" pitchFamily="34" charset="-120"/>
              </a:rPr>
              <a:t> Record 295 widebody orders in 2025, backlog of 1,124</a:t>
            </a:r>
            <a:endParaRPr lang="en-US" sz="1600" dirty="0"/>
          </a:p>
        </p:txBody>
      </p:sp>
      <p:sp>
        <p:nvSpPr>
          <p:cNvPr id="40" name="Shape 37"/>
          <p:cNvSpPr/>
          <p:nvPr/>
        </p:nvSpPr>
        <p:spPr>
          <a:xfrm>
            <a:off x="6337005" y="5315781"/>
            <a:ext cx="68591" cy="68591"/>
          </a:xfrm>
          <a:custGeom>
            <a:avLst/>
            <a:gdLst/>
            <a:ahLst/>
            <a:cxnLst/>
            <a:rect l="l" t="t" r="r" b="b"/>
            <a:pathLst>
              <a:path w="68591" h="68591">
                <a:moveTo>
                  <a:pt x="34295" y="0"/>
                </a:moveTo>
                <a:lnTo>
                  <a:pt x="34295" y="0"/>
                </a:lnTo>
                <a:cubicBezTo>
                  <a:pt x="53236" y="0"/>
                  <a:pt x="68591" y="15355"/>
                  <a:pt x="68591" y="34295"/>
                </a:cubicBezTo>
                <a:lnTo>
                  <a:pt x="68591" y="34295"/>
                </a:lnTo>
                <a:cubicBezTo>
                  <a:pt x="68591" y="53236"/>
                  <a:pt x="53236" y="68591"/>
                  <a:pt x="34295" y="68591"/>
                </a:cubicBezTo>
                <a:lnTo>
                  <a:pt x="34295" y="68591"/>
                </a:lnTo>
                <a:cubicBezTo>
                  <a:pt x="15355" y="68591"/>
                  <a:pt x="0" y="53236"/>
                  <a:pt x="0" y="34295"/>
                </a:cubicBezTo>
                <a:lnTo>
                  <a:pt x="0" y="34295"/>
                </a:lnTo>
                <a:cubicBezTo>
                  <a:pt x="0" y="15355"/>
                  <a:pt x="15355" y="0"/>
                  <a:pt x="34295" y="0"/>
                </a:cubicBezTo>
                <a:close/>
              </a:path>
            </a:pathLst>
          </a:custGeom>
          <a:solidFill>
            <a:srgbClr val="94A3B8"/>
          </a:solidFill>
          <a:ln/>
        </p:spPr>
        <p:txBody>
          <a:bodyPr/>
          <a:lstStyle/>
          <a:p>
            <a:endParaRPr lang="en-GB"/>
          </a:p>
        </p:txBody>
      </p:sp>
      <p:sp>
        <p:nvSpPr>
          <p:cNvPr id="41" name="Text 38"/>
          <p:cNvSpPr/>
          <p:nvPr/>
        </p:nvSpPr>
        <p:spPr>
          <a:xfrm>
            <a:off x="6508482" y="5247190"/>
            <a:ext cx="3498127" cy="205772"/>
          </a:xfrm>
          <a:prstGeom prst="rect">
            <a:avLst/>
          </a:prstGeom>
          <a:noFill/>
          <a:ln/>
        </p:spPr>
        <p:txBody>
          <a:bodyPr wrap="square" lIns="0" tIns="0" rIns="0" bIns="0" rtlCol="0" anchor="ctr"/>
          <a:lstStyle/>
          <a:p>
            <a:pPr>
              <a:lnSpc>
                <a:spcPct val="130000"/>
              </a:lnSpc>
            </a:pPr>
            <a:r>
              <a:rPr lang="en-US" sz="1080" b="1" dirty="0">
                <a:solidFill>
                  <a:srgbClr val="94A3B8"/>
                </a:solidFill>
                <a:latin typeface="Quattrocento Sans" pitchFamily="34" charset="0"/>
                <a:ea typeface="Quattrocento Sans" pitchFamily="34" charset="-122"/>
                <a:cs typeface="Quattrocento Sans" pitchFamily="34" charset="-120"/>
              </a:rPr>
              <a:t>787 &amp; 777:</a:t>
            </a:r>
            <a:r>
              <a:rPr lang="en-US" sz="1080" dirty="0">
                <a:solidFill>
                  <a:srgbClr val="E2E8F0"/>
                </a:solidFill>
                <a:latin typeface="Quattrocento Sans" pitchFamily="34" charset="0"/>
                <a:ea typeface="Quattrocento Sans" pitchFamily="34" charset="-122"/>
                <a:cs typeface="Quattrocento Sans" pitchFamily="34" charset="-120"/>
              </a:rPr>
              <a:t> Boeing seeing renewed interest, especially 777X</a:t>
            </a:r>
            <a:endParaRPr lang="en-US" sz="1600" dirty="0"/>
          </a:p>
        </p:txBody>
      </p:sp>
      <p:sp>
        <p:nvSpPr>
          <p:cNvPr id="42" name="Shape 39"/>
          <p:cNvSpPr/>
          <p:nvPr/>
        </p:nvSpPr>
        <p:spPr>
          <a:xfrm>
            <a:off x="6337005" y="5590143"/>
            <a:ext cx="68591" cy="68591"/>
          </a:xfrm>
          <a:custGeom>
            <a:avLst/>
            <a:gdLst/>
            <a:ahLst/>
            <a:cxnLst/>
            <a:rect l="l" t="t" r="r" b="b"/>
            <a:pathLst>
              <a:path w="68591" h="68591">
                <a:moveTo>
                  <a:pt x="34295" y="0"/>
                </a:moveTo>
                <a:lnTo>
                  <a:pt x="34295" y="0"/>
                </a:lnTo>
                <a:cubicBezTo>
                  <a:pt x="53236" y="0"/>
                  <a:pt x="68591" y="15355"/>
                  <a:pt x="68591" y="34295"/>
                </a:cubicBezTo>
                <a:lnTo>
                  <a:pt x="68591" y="34295"/>
                </a:lnTo>
                <a:cubicBezTo>
                  <a:pt x="68591" y="53236"/>
                  <a:pt x="53236" y="68591"/>
                  <a:pt x="34295" y="68591"/>
                </a:cubicBezTo>
                <a:lnTo>
                  <a:pt x="34295" y="68591"/>
                </a:lnTo>
                <a:cubicBezTo>
                  <a:pt x="15355" y="68591"/>
                  <a:pt x="0" y="53236"/>
                  <a:pt x="0" y="34295"/>
                </a:cubicBezTo>
                <a:lnTo>
                  <a:pt x="0" y="34295"/>
                </a:lnTo>
                <a:cubicBezTo>
                  <a:pt x="0" y="15355"/>
                  <a:pt x="15355" y="0"/>
                  <a:pt x="34295" y="0"/>
                </a:cubicBezTo>
                <a:close/>
              </a:path>
            </a:pathLst>
          </a:custGeom>
          <a:solidFill>
            <a:srgbClr val="F59E0B"/>
          </a:solidFill>
          <a:ln/>
        </p:spPr>
        <p:txBody>
          <a:bodyPr/>
          <a:lstStyle/>
          <a:p>
            <a:endParaRPr lang="en-GB"/>
          </a:p>
        </p:txBody>
      </p:sp>
      <p:sp>
        <p:nvSpPr>
          <p:cNvPr id="43" name="Text 40"/>
          <p:cNvSpPr/>
          <p:nvPr/>
        </p:nvSpPr>
        <p:spPr>
          <a:xfrm>
            <a:off x="6508482" y="5521553"/>
            <a:ext cx="4295494" cy="205772"/>
          </a:xfrm>
          <a:prstGeom prst="rect">
            <a:avLst/>
          </a:prstGeom>
          <a:noFill/>
          <a:ln/>
        </p:spPr>
        <p:txBody>
          <a:bodyPr wrap="square" lIns="0" tIns="0" rIns="0" bIns="0" rtlCol="0" anchor="ctr"/>
          <a:lstStyle/>
          <a:p>
            <a:pPr>
              <a:lnSpc>
                <a:spcPct val="130000"/>
              </a:lnSpc>
            </a:pPr>
            <a:r>
              <a:rPr lang="en-US" sz="1080" b="1" dirty="0">
                <a:solidFill>
                  <a:srgbClr val="F59E0B"/>
                </a:solidFill>
                <a:latin typeface="Quattrocento Sans" pitchFamily="34" charset="0"/>
                <a:ea typeface="Quattrocento Sans" pitchFamily="34" charset="-122"/>
                <a:cs typeface="Quattrocento Sans" pitchFamily="34" charset="-120"/>
              </a:rPr>
              <a:t>Key Wins:</a:t>
            </a:r>
            <a:r>
              <a:rPr lang="en-US" sz="1080" dirty="0">
                <a:solidFill>
                  <a:srgbClr val="E2E8F0"/>
                </a:solidFill>
                <a:latin typeface="Quattrocento Sans" pitchFamily="34" charset="0"/>
                <a:ea typeface="Quattrocento Sans" pitchFamily="34" charset="-122"/>
                <a:cs typeface="Quattrocento Sans" pitchFamily="34" charset="-120"/>
              </a:rPr>
              <a:t> Riyadh Air (25 A350-1000s), China Airlines (10 A350-1000s)</a:t>
            </a:r>
            <a:endParaRPr lang="en-US" sz="1600" dirty="0"/>
          </a:p>
        </p:txBody>
      </p:sp>
      <p:sp>
        <p:nvSpPr>
          <p:cNvPr id="44" name="Shape 41"/>
          <p:cNvSpPr/>
          <p:nvPr/>
        </p:nvSpPr>
        <p:spPr>
          <a:xfrm>
            <a:off x="6337005" y="5830211"/>
            <a:ext cx="5341502" cy="857384"/>
          </a:xfrm>
          <a:custGeom>
            <a:avLst/>
            <a:gdLst/>
            <a:ahLst/>
            <a:cxnLst/>
            <a:rect l="l" t="t" r="r" b="b"/>
            <a:pathLst>
              <a:path w="5341502" h="857384">
                <a:moveTo>
                  <a:pt x="68591" y="0"/>
                </a:moveTo>
                <a:lnTo>
                  <a:pt x="5272911" y="0"/>
                </a:lnTo>
                <a:cubicBezTo>
                  <a:pt x="5310793" y="0"/>
                  <a:pt x="5341502" y="30709"/>
                  <a:pt x="5341502" y="68591"/>
                </a:cubicBezTo>
                <a:lnTo>
                  <a:pt x="5341502" y="788793"/>
                </a:lnTo>
                <a:cubicBezTo>
                  <a:pt x="5341502" y="826675"/>
                  <a:pt x="5310793" y="857384"/>
                  <a:pt x="5272911" y="857384"/>
                </a:cubicBezTo>
                <a:lnTo>
                  <a:pt x="68591" y="857384"/>
                </a:lnTo>
                <a:cubicBezTo>
                  <a:pt x="30734" y="857384"/>
                  <a:pt x="0" y="826649"/>
                  <a:pt x="0" y="788793"/>
                </a:cubicBezTo>
                <a:lnTo>
                  <a:pt x="0" y="68591"/>
                </a:lnTo>
                <a:cubicBezTo>
                  <a:pt x="0" y="30709"/>
                  <a:pt x="30709" y="0"/>
                  <a:pt x="68591" y="0"/>
                </a:cubicBezTo>
                <a:close/>
              </a:path>
            </a:pathLst>
          </a:custGeom>
          <a:solidFill>
            <a:srgbClr val="0F172A">
              <a:alpha val="50196"/>
            </a:srgbClr>
          </a:solidFill>
          <a:ln/>
        </p:spPr>
        <p:txBody>
          <a:bodyPr/>
          <a:lstStyle/>
          <a:p>
            <a:endParaRPr lang="en-GB"/>
          </a:p>
        </p:txBody>
      </p:sp>
      <p:sp>
        <p:nvSpPr>
          <p:cNvPr id="45" name="Text 42"/>
          <p:cNvSpPr/>
          <p:nvPr/>
        </p:nvSpPr>
        <p:spPr>
          <a:xfrm>
            <a:off x="6439891" y="5933097"/>
            <a:ext cx="5204321" cy="411544"/>
          </a:xfrm>
          <a:prstGeom prst="rect">
            <a:avLst/>
          </a:prstGeom>
          <a:noFill/>
          <a:ln/>
        </p:spPr>
        <p:txBody>
          <a:bodyPr wrap="square" lIns="0" tIns="0" rIns="0" bIns="0" rtlCol="0" anchor="ctr"/>
          <a:lstStyle/>
          <a:p>
            <a:pPr>
              <a:lnSpc>
                <a:spcPct val="130000"/>
              </a:lnSpc>
            </a:pPr>
            <a:r>
              <a:rPr lang="en-US" sz="1080" dirty="0">
                <a:solidFill>
                  <a:srgbClr val="E2E8F0"/>
                </a:solidFill>
                <a:latin typeface="Quattrocento Sans" pitchFamily="34" charset="0"/>
                <a:ea typeface="Quattrocento Sans" pitchFamily="34" charset="-122"/>
                <a:cs typeface="Quattrocento Sans" pitchFamily="34" charset="-120"/>
              </a:rPr>
              <a:t>"It's actually quite motivating to see Boeing back in the Major League after so many years; this competition is good."</a:t>
            </a:r>
            <a:endParaRPr lang="en-US" sz="1600" dirty="0"/>
          </a:p>
        </p:txBody>
      </p:sp>
      <p:sp>
        <p:nvSpPr>
          <p:cNvPr id="46" name="Text 43"/>
          <p:cNvSpPr/>
          <p:nvPr/>
        </p:nvSpPr>
        <p:spPr>
          <a:xfrm>
            <a:off x="6439891" y="6378937"/>
            <a:ext cx="5204321" cy="205772"/>
          </a:xfrm>
          <a:prstGeom prst="rect">
            <a:avLst/>
          </a:prstGeom>
          <a:noFill/>
          <a:ln/>
        </p:spPr>
        <p:txBody>
          <a:bodyPr wrap="square" lIns="0" tIns="0" rIns="0" bIns="0" rtlCol="0" anchor="ctr"/>
          <a:lstStyle/>
          <a:p>
            <a:pPr>
              <a:lnSpc>
                <a:spcPct val="130000"/>
              </a:lnSpc>
            </a:pPr>
            <a:r>
              <a:rPr lang="en-US" sz="1080" dirty="0">
                <a:solidFill>
                  <a:srgbClr val="94A3B8"/>
                </a:solidFill>
                <a:latin typeface="Quattrocento Sans" pitchFamily="34" charset="0"/>
                <a:ea typeface="Quattrocento Sans" pitchFamily="34" charset="-122"/>
                <a:cs typeface="Quattrocento Sans" pitchFamily="34" charset="-120"/>
              </a:rPr>
              <a:t>— Christian Scherer, CEO Commercial Aircraft</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38BDF8"/>
                </a:solidFill>
                <a:latin typeface="Quattrocento Sans" pitchFamily="34" charset="0"/>
                <a:ea typeface="Quattrocento Sans" pitchFamily="34" charset="-122"/>
                <a:cs typeface="Quattrocento Sans" pitchFamily="34" charset="-120"/>
              </a:rPr>
              <a:t>PRODUCTION EXCELLENCE</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Manufacturing &amp; Supply Chain</a:t>
            </a:r>
            <a:endParaRPr lang="en-US" sz="1600" dirty="0"/>
          </a:p>
        </p:txBody>
      </p:sp>
      <p:sp>
        <p:nvSpPr>
          <p:cNvPr id="4" name="Text 2"/>
          <p:cNvSpPr/>
          <p:nvPr/>
        </p:nvSpPr>
        <p:spPr>
          <a:xfrm>
            <a:off x="317500" y="952500"/>
            <a:ext cx="11620500"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Global Footprint with Strategic Production Ramp-Up</a:t>
            </a:r>
            <a:endParaRPr lang="en-US" sz="1600" dirty="0"/>
          </a:p>
        </p:txBody>
      </p:sp>
      <p:sp>
        <p:nvSpPr>
          <p:cNvPr id="5" name="Shape 3"/>
          <p:cNvSpPr/>
          <p:nvPr/>
        </p:nvSpPr>
        <p:spPr>
          <a:xfrm>
            <a:off x="317500" y="1270001"/>
            <a:ext cx="7659688" cy="3747986"/>
          </a:xfrm>
          <a:custGeom>
            <a:avLst/>
            <a:gdLst/>
            <a:ahLst/>
            <a:cxnLst/>
            <a:rect l="l" t="t" r="r" b="b"/>
            <a:pathLst>
              <a:path w="7659688" h="5635625">
                <a:moveTo>
                  <a:pt x="95242" y="0"/>
                </a:moveTo>
                <a:lnTo>
                  <a:pt x="7564445" y="0"/>
                </a:lnTo>
                <a:cubicBezTo>
                  <a:pt x="7617046" y="0"/>
                  <a:pt x="7659688" y="42641"/>
                  <a:pt x="7659688" y="95242"/>
                </a:cubicBezTo>
                <a:lnTo>
                  <a:pt x="7659688" y="5540383"/>
                </a:lnTo>
                <a:cubicBezTo>
                  <a:pt x="7659688" y="5592984"/>
                  <a:pt x="7617046" y="5635625"/>
                  <a:pt x="7564445" y="5635625"/>
                </a:cubicBezTo>
                <a:lnTo>
                  <a:pt x="95242" y="5635625"/>
                </a:lnTo>
                <a:cubicBezTo>
                  <a:pt x="42641" y="5635625"/>
                  <a:pt x="0" y="5592984"/>
                  <a:pt x="0" y="5540383"/>
                </a:cubicBezTo>
                <a:lnTo>
                  <a:pt x="0" y="95242"/>
                </a:lnTo>
                <a:cubicBezTo>
                  <a:pt x="0" y="42677"/>
                  <a:pt x="42677" y="0"/>
                  <a:pt x="95242" y="0"/>
                </a:cubicBezTo>
                <a:close/>
              </a:path>
            </a:pathLst>
          </a:custGeom>
          <a:solidFill>
            <a:srgbClr val="1E293B"/>
          </a:solidFill>
          <a:ln/>
        </p:spPr>
        <p:txBody>
          <a:bodyPr/>
          <a:lstStyle/>
          <a:p>
            <a:endParaRPr lang="en-GB"/>
          </a:p>
        </p:txBody>
      </p:sp>
      <p:sp>
        <p:nvSpPr>
          <p:cNvPr id="6" name="Text 4"/>
          <p:cNvSpPr/>
          <p:nvPr/>
        </p:nvSpPr>
        <p:spPr>
          <a:xfrm>
            <a:off x="476250" y="1428750"/>
            <a:ext cx="7421563"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Global Final Assembly Lines</a:t>
            </a:r>
            <a:endParaRPr lang="en-US" sz="1600" dirty="0"/>
          </a:p>
        </p:txBody>
      </p:sp>
      <p:sp>
        <p:nvSpPr>
          <p:cNvPr id="7" name="Shape 5"/>
          <p:cNvSpPr/>
          <p:nvPr/>
        </p:nvSpPr>
        <p:spPr>
          <a:xfrm>
            <a:off x="480219" y="1750219"/>
            <a:ext cx="3619500" cy="1055688"/>
          </a:xfrm>
          <a:custGeom>
            <a:avLst/>
            <a:gdLst/>
            <a:ahLst/>
            <a:cxnLst/>
            <a:rect l="l" t="t" r="r" b="b"/>
            <a:pathLst>
              <a:path w="3619500" h="1055688">
                <a:moveTo>
                  <a:pt x="63500" y="0"/>
                </a:moveTo>
                <a:lnTo>
                  <a:pt x="3556000" y="0"/>
                </a:lnTo>
                <a:cubicBezTo>
                  <a:pt x="3591070" y="0"/>
                  <a:pt x="3619500" y="28430"/>
                  <a:pt x="3619500" y="63500"/>
                </a:cubicBezTo>
                <a:lnTo>
                  <a:pt x="3619500" y="992188"/>
                </a:lnTo>
                <a:cubicBezTo>
                  <a:pt x="3619500" y="1027258"/>
                  <a:pt x="3591070" y="1055688"/>
                  <a:pt x="3556000" y="1055688"/>
                </a:cubicBezTo>
                <a:lnTo>
                  <a:pt x="63500" y="1055688"/>
                </a:lnTo>
                <a:cubicBezTo>
                  <a:pt x="28430" y="1055688"/>
                  <a:pt x="0" y="1027258"/>
                  <a:pt x="0" y="992188"/>
                </a:cubicBezTo>
                <a:lnTo>
                  <a:pt x="0" y="63500"/>
                </a:lnTo>
                <a:cubicBezTo>
                  <a:pt x="0" y="28453"/>
                  <a:pt x="28453" y="0"/>
                  <a:pt x="63500"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8" name="Shape 6"/>
          <p:cNvSpPr/>
          <p:nvPr/>
        </p:nvSpPr>
        <p:spPr>
          <a:xfrm>
            <a:off x="639961" y="1920875"/>
            <a:ext cx="125016" cy="142875"/>
          </a:xfrm>
          <a:custGeom>
            <a:avLst/>
            <a:gdLst/>
            <a:ahLst/>
            <a:cxnLst/>
            <a:rect l="l" t="t" r="r" b="b"/>
            <a:pathLst>
              <a:path w="125016" h="142875">
                <a:moveTo>
                  <a:pt x="17859" y="8930"/>
                </a:moveTo>
                <a:cubicBezTo>
                  <a:pt x="17859" y="3990"/>
                  <a:pt x="13869" y="0"/>
                  <a:pt x="8930" y="0"/>
                </a:cubicBezTo>
                <a:cubicBezTo>
                  <a:pt x="3990" y="0"/>
                  <a:pt x="0" y="3990"/>
                  <a:pt x="0" y="8930"/>
                </a:cubicBezTo>
                <a:lnTo>
                  <a:pt x="0" y="133945"/>
                </a:lnTo>
                <a:cubicBezTo>
                  <a:pt x="0" y="138885"/>
                  <a:pt x="3990" y="142875"/>
                  <a:pt x="8930" y="142875"/>
                </a:cubicBezTo>
                <a:cubicBezTo>
                  <a:pt x="13869" y="142875"/>
                  <a:pt x="17859" y="138885"/>
                  <a:pt x="17859" y="133945"/>
                </a:cubicBezTo>
                <a:lnTo>
                  <a:pt x="17859" y="100013"/>
                </a:lnTo>
                <a:lnTo>
                  <a:pt x="35356" y="94766"/>
                </a:lnTo>
                <a:cubicBezTo>
                  <a:pt x="47048" y="91250"/>
                  <a:pt x="59661" y="92339"/>
                  <a:pt x="70572" y="97808"/>
                </a:cubicBezTo>
                <a:cubicBezTo>
                  <a:pt x="82488" y="103780"/>
                  <a:pt x="96385" y="104505"/>
                  <a:pt x="108858" y="99817"/>
                </a:cubicBezTo>
                <a:lnTo>
                  <a:pt x="119211" y="95938"/>
                </a:lnTo>
                <a:cubicBezTo>
                  <a:pt x="122699" y="94627"/>
                  <a:pt x="125016" y="91306"/>
                  <a:pt x="125016" y="87567"/>
                </a:cubicBezTo>
                <a:lnTo>
                  <a:pt x="125016" y="18445"/>
                </a:lnTo>
                <a:cubicBezTo>
                  <a:pt x="125016" y="12027"/>
                  <a:pt x="118263" y="7841"/>
                  <a:pt x="112514" y="10716"/>
                </a:cubicBezTo>
                <a:lnTo>
                  <a:pt x="109221" y="12362"/>
                </a:lnTo>
                <a:cubicBezTo>
                  <a:pt x="96692" y="18641"/>
                  <a:pt x="81930" y="18641"/>
                  <a:pt x="69373" y="12362"/>
                </a:cubicBezTo>
                <a:cubicBezTo>
                  <a:pt x="59215" y="7283"/>
                  <a:pt x="47523" y="6279"/>
                  <a:pt x="36668" y="9544"/>
                </a:cubicBezTo>
                <a:lnTo>
                  <a:pt x="17859" y="15180"/>
                </a:lnTo>
                <a:lnTo>
                  <a:pt x="17859" y="8930"/>
                </a:lnTo>
                <a:close/>
              </a:path>
            </a:pathLst>
          </a:custGeom>
          <a:solidFill>
            <a:srgbClr val="38BDF8"/>
          </a:solidFill>
          <a:ln/>
        </p:spPr>
        <p:txBody>
          <a:bodyPr/>
          <a:lstStyle/>
          <a:p>
            <a:endParaRPr lang="en-GB"/>
          </a:p>
        </p:txBody>
      </p:sp>
      <p:sp>
        <p:nvSpPr>
          <p:cNvPr id="9" name="Text 7"/>
          <p:cNvSpPr/>
          <p:nvPr/>
        </p:nvSpPr>
        <p:spPr>
          <a:xfrm>
            <a:off x="853281" y="1881187"/>
            <a:ext cx="11509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Toulouse, France</a:t>
            </a:r>
            <a:endParaRPr lang="en-US" sz="1600" dirty="0"/>
          </a:p>
        </p:txBody>
      </p:sp>
      <p:sp>
        <p:nvSpPr>
          <p:cNvPr id="10" name="Text 8"/>
          <p:cNvSpPr/>
          <p:nvPr/>
        </p:nvSpPr>
        <p:spPr>
          <a:xfrm>
            <a:off x="611188" y="2166938"/>
            <a:ext cx="3421063"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Primary HQ &amp; A320, A330, A350 FAL</a:t>
            </a:r>
            <a:endParaRPr lang="en-US" sz="1600" dirty="0"/>
          </a:p>
        </p:txBody>
      </p:sp>
      <p:sp>
        <p:nvSpPr>
          <p:cNvPr id="11" name="Shape 9"/>
          <p:cNvSpPr/>
          <p:nvPr/>
        </p:nvSpPr>
        <p:spPr>
          <a:xfrm>
            <a:off x="611188" y="2420938"/>
            <a:ext cx="809625" cy="254000"/>
          </a:xfrm>
          <a:custGeom>
            <a:avLst/>
            <a:gdLst/>
            <a:ahLst/>
            <a:cxnLst/>
            <a:rect l="l" t="t" r="r" b="b"/>
            <a:pathLst>
              <a:path w="809625" h="254000">
                <a:moveTo>
                  <a:pt x="31750" y="0"/>
                </a:moveTo>
                <a:lnTo>
                  <a:pt x="777875" y="0"/>
                </a:lnTo>
                <a:cubicBezTo>
                  <a:pt x="795398" y="0"/>
                  <a:pt x="809625" y="14227"/>
                  <a:pt x="809625" y="31750"/>
                </a:cubicBezTo>
                <a:lnTo>
                  <a:pt x="809625" y="222250"/>
                </a:lnTo>
                <a:cubicBezTo>
                  <a:pt x="809625" y="239773"/>
                  <a:pt x="795398" y="254000"/>
                  <a:pt x="777875" y="254000"/>
                </a:cubicBezTo>
                <a:lnTo>
                  <a:pt x="31750" y="254000"/>
                </a:lnTo>
                <a:cubicBezTo>
                  <a:pt x="14227" y="254000"/>
                  <a:pt x="0" y="239773"/>
                  <a:pt x="0" y="222250"/>
                </a:cubicBezTo>
                <a:lnTo>
                  <a:pt x="0" y="31750"/>
                </a:lnTo>
                <a:cubicBezTo>
                  <a:pt x="0" y="14227"/>
                  <a:pt x="14227" y="0"/>
                  <a:pt x="31750" y="0"/>
                </a:cubicBezTo>
                <a:close/>
              </a:path>
            </a:pathLst>
          </a:custGeom>
          <a:solidFill>
            <a:srgbClr val="38BDF8">
              <a:alpha val="20000"/>
            </a:srgbClr>
          </a:solidFill>
          <a:ln/>
        </p:spPr>
        <p:txBody>
          <a:bodyPr/>
          <a:lstStyle/>
          <a:p>
            <a:endParaRPr lang="en-GB"/>
          </a:p>
        </p:txBody>
      </p:sp>
      <p:sp>
        <p:nvSpPr>
          <p:cNvPr id="12" name="Text 10"/>
          <p:cNvSpPr/>
          <p:nvPr/>
        </p:nvSpPr>
        <p:spPr>
          <a:xfrm>
            <a:off x="611188" y="2420938"/>
            <a:ext cx="873125" cy="254000"/>
          </a:xfrm>
          <a:prstGeom prst="rect">
            <a:avLst/>
          </a:prstGeom>
          <a:noFill/>
          <a:ln/>
        </p:spPr>
        <p:txBody>
          <a:bodyPr wrap="square" lIns="63500" tIns="31750" rIns="63500" bIns="31750" rtlCol="0" anchor="ctr"/>
          <a:lstStyle/>
          <a:p>
            <a:pPr>
              <a:lnSpc>
                <a:spcPct val="130000"/>
              </a:lnSpc>
            </a:pPr>
            <a:r>
              <a:rPr lang="en-US" sz="1000" dirty="0">
                <a:solidFill>
                  <a:srgbClr val="38BDF8"/>
                </a:solidFill>
                <a:latin typeface="Quattrocento Sans" pitchFamily="34" charset="0"/>
                <a:ea typeface="Quattrocento Sans" pitchFamily="34" charset="-122"/>
                <a:cs typeface="Quattrocento Sans" pitchFamily="34" charset="-120"/>
              </a:rPr>
              <a:t>Flagship Site</a:t>
            </a:r>
            <a:endParaRPr lang="en-US" sz="1600" dirty="0"/>
          </a:p>
        </p:txBody>
      </p:sp>
      <p:sp>
        <p:nvSpPr>
          <p:cNvPr id="13" name="Shape 11"/>
          <p:cNvSpPr/>
          <p:nvPr/>
        </p:nvSpPr>
        <p:spPr>
          <a:xfrm>
            <a:off x="4200178" y="1750219"/>
            <a:ext cx="3619500" cy="1055688"/>
          </a:xfrm>
          <a:custGeom>
            <a:avLst/>
            <a:gdLst/>
            <a:ahLst/>
            <a:cxnLst/>
            <a:rect l="l" t="t" r="r" b="b"/>
            <a:pathLst>
              <a:path w="3619500" h="1055688">
                <a:moveTo>
                  <a:pt x="63500" y="0"/>
                </a:moveTo>
                <a:lnTo>
                  <a:pt x="3556000" y="0"/>
                </a:lnTo>
                <a:cubicBezTo>
                  <a:pt x="3591070" y="0"/>
                  <a:pt x="3619500" y="28430"/>
                  <a:pt x="3619500" y="63500"/>
                </a:cubicBezTo>
                <a:lnTo>
                  <a:pt x="3619500" y="992188"/>
                </a:lnTo>
                <a:cubicBezTo>
                  <a:pt x="3619500" y="1027258"/>
                  <a:pt x="3591070" y="1055688"/>
                  <a:pt x="3556000" y="1055688"/>
                </a:cubicBezTo>
                <a:lnTo>
                  <a:pt x="63500" y="1055688"/>
                </a:lnTo>
                <a:cubicBezTo>
                  <a:pt x="28430" y="1055688"/>
                  <a:pt x="0" y="1027258"/>
                  <a:pt x="0" y="992188"/>
                </a:cubicBezTo>
                <a:lnTo>
                  <a:pt x="0" y="63500"/>
                </a:lnTo>
                <a:cubicBezTo>
                  <a:pt x="0" y="28453"/>
                  <a:pt x="28453" y="0"/>
                  <a:pt x="63500"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14" name="Shape 12"/>
          <p:cNvSpPr/>
          <p:nvPr/>
        </p:nvSpPr>
        <p:spPr>
          <a:xfrm>
            <a:off x="4359920" y="1920875"/>
            <a:ext cx="125016" cy="142875"/>
          </a:xfrm>
          <a:custGeom>
            <a:avLst/>
            <a:gdLst/>
            <a:ahLst/>
            <a:cxnLst/>
            <a:rect l="l" t="t" r="r" b="b"/>
            <a:pathLst>
              <a:path w="125016" h="142875">
                <a:moveTo>
                  <a:pt x="17859" y="8930"/>
                </a:moveTo>
                <a:cubicBezTo>
                  <a:pt x="17859" y="3990"/>
                  <a:pt x="13869" y="0"/>
                  <a:pt x="8930" y="0"/>
                </a:cubicBezTo>
                <a:cubicBezTo>
                  <a:pt x="3990" y="0"/>
                  <a:pt x="0" y="3990"/>
                  <a:pt x="0" y="8930"/>
                </a:cubicBezTo>
                <a:lnTo>
                  <a:pt x="0" y="133945"/>
                </a:lnTo>
                <a:cubicBezTo>
                  <a:pt x="0" y="138885"/>
                  <a:pt x="3990" y="142875"/>
                  <a:pt x="8930" y="142875"/>
                </a:cubicBezTo>
                <a:cubicBezTo>
                  <a:pt x="13869" y="142875"/>
                  <a:pt x="17859" y="138885"/>
                  <a:pt x="17859" y="133945"/>
                </a:cubicBezTo>
                <a:lnTo>
                  <a:pt x="17859" y="100013"/>
                </a:lnTo>
                <a:lnTo>
                  <a:pt x="35356" y="94766"/>
                </a:lnTo>
                <a:cubicBezTo>
                  <a:pt x="47048" y="91250"/>
                  <a:pt x="59661" y="92339"/>
                  <a:pt x="70572" y="97808"/>
                </a:cubicBezTo>
                <a:cubicBezTo>
                  <a:pt x="82488" y="103780"/>
                  <a:pt x="96385" y="104505"/>
                  <a:pt x="108858" y="99817"/>
                </a:cubicBezTo>
                <a:lnTo>
                  <a:pt x="119211" y="95938"/>
                </a:lnTo>
                <a:cubicBezTo>
                  <a:pt x="122699" y="94627"/>
                  <a:pt x="125016" y="91306"/>
                  <a:pt x="125016" y="87567"/>
                </a:cubicBezTo>
                <a:lnTo>
                  <a:pt x="125016" y="18445"/>
                </a:lnTo>
                <a:cubicBezTo>
                  <a:pt x="125016" y="12027"/>
                  <a:pt x="118263" y="7841"/>
                  <a:pt x="112514" y="10716"/>
                </a:cubicBezTo>
                <a:lnTo>
                  <a:pt x="109221" y="12362"/>
                </a:lnTo>
                <a:cubicBezTo>
                  <a:pt x="96692" y="18641"/>
                  <a:pt x="81930" y="18641"/>
                  <a:pt x="69373" y="12362"/>
                </a:cubicBezTo>
                <a:cubicBezTo>
                  <a:pt x="59215" y="7283"/>
                  <a:pt x="47523" y="6279"/>
                  <a:pt x="36668" y="9544"/>
                </a:cubicBezTo>
                <a:lnTo>
                  <a:pt x="17859" y="15180"/>
                </a:lnTo>
                <a:lnTo>
                  <a:pt x="17859" y="8930"/>
                </a:lnTo>
                <a:close/>
              </a:path>
            </a:pathLst>
          </a:custGeom>
          <a:solidFill>
            <a:srgbClr val="F59E0B"/>
          </a:solidFill>
          <a:ln/>
        </p:spPr>
        <p:txBody>
          <a:bodyPr/>
          <a:lstStyle/>
          <a:p>
            <a:endParaRPr lang="en-GB"/>
          </a:p>
        </p:txBody>
      </p:sp>
      <p:sp>
        <p:nvSpPr>
          <p:cNvPr id="15" name="Text 13"/>
          <p:cNvSpPr/>
          <p:nvPr/>
        </p:nvSpPr>
        <p:spPr>
          <a:xfrm>
            <a:off x="4573240" y="1881187"/>
            <a:ext cx="1293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Hamburg, Germany</a:t>
            </a:r>
            <a:endParaRPr lang="en-US" sz="1600" dirty="0"/>
          </a:p>
        </p:txBody>
      </p:sp>
      <p:sp>
        <p:nvSpPr>
          <p:cNvPr id="16" name="Text 14"/>
          <p:cNvSpPr/>
          <p:nvPr/>
        </p:nvSpPr>
        <p:spPr>
          <a:xfrm>
            <a:off x="4331146" y="2166938"/>
            <a:ext cx="3421063"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Major A320 Family FAL &amp; Customization</a:t>
            </a:r>
            <a:endParaRPr lang="en-US" sz="1600" dirty="0"/>
          </a:p>
        </p:txBody>
      </p:sp>
      <p:sp>
        <p:nvSpPr>
          <p:cNvPr id="17" name="Shape 15"/>
          <p:cNvSpPr/>
          <p:nvPr/>
        </p:nvSpPr>
        <p:spPr>
          <a:xfrm>
            <a:off x="4331146" y="2420938"/>
            <a:ext cx="1087438" cy="254000"/>
          </a:xfrm>
          <a:custGeom>
            <a:avLst/>
            <a:gdLst/>
            <a:ahLst/>
            <a:cxnLst/>
            <a:rect l="l" t="t" r="r" b="b"/>
            <a:pathLst>
              <a:path w="1087438" h="254000">
                <a:moveTo>
                  <a:pt x="31750" y="0"/>
                </a:moveTo>
                <a:lnTo>
                  <a:pt x="1055688" y="0"/>
                </a:lnTo>
                <a:cubicBezTo>
                  <a:pt x="1073211" y="0"/>
                  <a:pt x="1087438" y="14227"/>
                  <a:pt x="1087438" y="31750"/>
                </a:cubicBezTo>
                <a:lnTo>
                  <a:pt x="1087438" y="222250"/>
                </a:lnTo>
                <a:cubicBezTo>
                  <a:pt x="1087438" y="239773"/>
                  <a:pt x="1073211" y="254000"/>
                  <a:pt x="1055688" y="254000"/>
                </a:cubicBezTo>
                <a:lnTo>
                  <a:pt x="31750" y="254000"/>
                </a:lnTo>
                <a:cubicBezTo>
                  <a:pt x="14227" y="254000"/>
                  <a:pt x="0" y="239773"/>
                  <a:pt x="0" y="222250"/>
                </a:cubicBezTo>
                <a:lnTo>
                  <a:pt x="0" y="31750"/>
                </a:lnTo>
                <a:cubicBezTo>
                  <a:pt x="0" y="14227"/>
                  <a:pt x="14227" y="0"/>
                  <a:pt x="31750" y="0"/>
                </a:cubicBezTo>
                <a:close/>
              </a:path>
            </a:pathLst>
          </a:custGeom>
          <a:solidFill>
            <a:srgbClr val="F59E0B">
              <a:alpha val="20000"/>
            </a:srgbClr>
          </a:solidFill>
          <a:ln/>
        </p:spPr>
        <p:txBody>
          <a:bodyPr/>
          <a:lstStyle/>
          <a:p>
            <a:endParaRPr lang="en-GB"/>
          </a:p>
        </p:txBody>
      </p:sp>
      <p:sp>
        <p:nvSpPr>
          <p:cNvPr id="18" name="Text 16"/>
          <p:cNvSpPr/>
          <p:nvPr/>
        </p:nvSpPr>
        <p:spPr>
          <a:xfrm>
            <a:off x="4331146" y="2420938"/>
            <a:ext cx="1150938" cy="254000"/>
          </a:xfrm>
          <a:prstGeom prst="rect">
            <a:avLst/>
          </a:prstGeom>
          <a:noFill/>
          <a:ln/>
        </p:spPr>
        <p:txBody>
          <a:bodyPr wrap="square" lIns="63500" tIns="31750" rIns="63500" bIns="31750" rtlCol="0" anchor="ctr"/>
          <a:lstStyle/>
          <a:p>
            <a:pPr>
              <a:lnSpc>
                <a:spcPct val="130000"/>
              </a:lnSpc>
            </a:pPr>
            <a:r>
              <a:rPr lang="en-US" sz="1000" dirty="0">
                <a:solidFill>
                  <a:srgbClr val="F59E0B"/>
                </a:solidFill>
                <a:latin typeface="Quattrocento Sans" pitchFamily="34" charset="0"/>
                <a:ea typeface="Quattrocento Sans" pitchFamily="34" charset="-122"/>
                <a:cs typeface="Quattrocento Sans" pitchFamily="34" charset="-120"/>
              </a:rPr>
              <a:t>Largest A320 FAL</a:t>
            </a:r>
            <a:endParaRPr lang="en-US" sz="1600" dirty="0"/>
          </a:p>
        </p:txBody>
      </p:sp>
      <p:sp>
        <p:nvSpPr>
          <p:cNvPr id="19" name="Shape 17"/>
          <p:cNvSpPr/>
          <p:nvPr/>
        </p:nvSpPr>
        <p:spPr>
          <a:xfrm>
            <a:off x="480219" y="2909094"/>
            <a:ext cx="3619500" cy="1055688"/>
          </a:xfrm>
          <a:custGeom>
            <a:avLst/>
            <a:gdLst/>
            <a:ahLst/>
            <a:cxnLst/>
            <a:rect l="l" t="t" r="r" b="b"/>
            <a:pathLst>
              <a:path w="3619500" h="1055688">
                <a:moveTo>
                  <a:pt x="63500" y="0"/>
                </a:moveTo>
                <a:lnTo>
                  <a:pt x="3556000" y="0"/>
                </a:lnTo>
                <a:cubicBezTo>
                  <a:pt x="3591070" y="0"/>
                  <a:pt x="3619500" y="28430"/>
                  <a:pt x="3619500" y="63500"/>
                </a:cubicBezTo>
                <a:lnTo>
                  <a:pt x="3619500" y="992188"/>
                </a:lnTo>
                <a:cubicBezTo>
                  <a:pt x="3619500" y="1027258"/>
                  <a:pt x="3591070" y="1055688"/>
                  <a:pt x="3556000" y="1055688"/>
                </a:cubicBezTo>
                <a:lnTo>
                  <a:pt x="63500" y="1055688"/>
                </a:lnTo>
                <a:cubicBezTo>
                  <a:pt x="28430" y="1055688"/>
                  <a:pt x="0" y="1027258"/>
                  <a:pt x="0" y="992188"/>
                </a:cubicBezTo>
                <a:lnTo>
                  <a:pt x="0" y="63500"/>
                </a:lnTo>
                <a:cubicBezTo>
                  <a:pt x="0" y="28453"/>
                  <a:pt x="28453" y="0"/>
                  <a:pt x="63500"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20" name="Shape 18"/>
          <p:cNvSpPr/>
          <p:nvPr/>
        </p:nvSpPr>
        <p:spPr>
          <a:xfrm>
            <a:off x="639961" y="3079750"/>
            <a:ext cx="125016" cy="142875"/>
          </a:xfrm>
          <a:custGeom>
            <a:avLst/>
            <a:gdLst/>
            <a:ahLst/>
            <a:cxnLst/>
            <a:rect l="l" t="t" r="r" b="b"/>
            <a:pathLst>
              <a:path w="125016" h="142875">
                <a:moveTo>
                  <a:pt x="8930" y="0"/>
                </a:moveTo>
                <a:cubicBezTo>
                  <a:pt x="13869" y="0"/>
                  <a:pt x="17859" y="3990"/>
                  <a:pt x="17859" y="8930"/>
                </a:cubicBezTo>
                <a:lnTo>
                  <a:pt x="17859" y="13395"/>
                </a:lnTo>
                <a:lnTo>
                  <a:pt x="37114" y="8595"/>
                </a:lnTo>
                <a:cubicBezTo>
                  <a:pt x="47746" y="5944"/>
                  <a:pt x="58964" y="7172"/>
                  <a:pt x="68786" y="12083"/>
                </a:cubicBezTo>
                <a:cubicBezTo>
                  <a:pt x="81707" y="18557"/>
                  <a:pt x="96915" y="18557"/>
                  <a:pt x="109835" y="12083"/>
                </a:cubicBezTo>
                <a:lnTo>
                  <a:pt x="112514" y="10744"/>
                </a:lnTo>
                <a:cubicBezTo>
                  <a:pt x="118263" y="7841"/>
                  <a:pt x="125016" y="12027"/>
                  <a:pt x="125016" y="18445"/>
                </a:cubicBezTo>
                <a:lnTo>
                  <a:pt x="125016" y="28519"/>
                </a:lnTo>
                <a:lnTo>
                  <a:pt x="112542" y="33040"/>
                </a:lnTo>
                <a:cubicBezTo>
                  <a:pt x="100599" y="37393"/>
                  <a:pt x="87427" y="36919"/>
                  <a:pt x="75819" y="31756"/>
                </a:cubicBezTo>
                <a:lnTo>
                  <a:pt x="71326" y="29747"/>
                </a:lnTo>
                <a:cubicBezTo>
                  <a:pt x="65661" y="27236"/>
                  <a:pt x="59661" y="25645"/>
                  <a:pt x="53578" y="25031"/>
                </a:cubicBezTo>
                <a:lnTo>
                  <a:pt x="53578" y="34017"/>
                </a:lnTo>
                <a:cubicBezTo>
                  <a:pt x="58434" y="34603"/>
                  <a:pt x="63178" y="35886"/>
                  <a:pt x="67698" y="37895"/>
                </a:cubicBezTo>
                <a:lnTo>
                  <a:pt x="72191" y="39905"/>
                </a:lnTo>
                <a:cubicBezTo>
                  <a:pt x="85920" y="46016"/>
                  <a:pt x="101491" y="46546"/>
                  <a:pt x="115612" y="41411"/>
                </a:cubicBezTo>
                <a:lnTo>
                  <a:pt x="125016" y="37979"/>
                </a:lnTo>
                <a:lnTo>
                  <a:pt x="125016" y="55280"/>
                </a:lnTo>
                <a:lnTo>
                  <a:pt x="112542" y="59801"/>
                </a:lnTo>
                <a:cubicBezTo>
                  <a:pt x="100599" y="64154"/>
                  <a:pt x="87427" y="63680"/>
                  <a:pt x="75819" y="58517"/>
                </a:cubicBezTo>
                <a:lnTo>
                  <a:pt x="71326" y="56508"/>
                </a:lnTo>
                <a:cubicBezTo>
                  <a:pt x="60108" y="51513"/>
                  <a:pt x="47606" y="50229"/>
                  <a:pt x="35579" y="52797"/>
                </a:cubicBezTo>
                <a:lnTo>
                  <a:pt x="17859" y="56592"/>
                </a:lnTo>
                <a:lnTo>
                  <a:pt x="17859" y="65717"/>
                </a:lnTo>
                <a:lnTo>
                  <a:pt x="37449" y="61503"/>
                </a:lnTo>
                <a:cubicBezTo>
                  <a:pt x="47606" y="59327"/>
                  <a:pt x="58182" y="60415"/>
                  <a:pt x="67698" y="64657"/>
                </a:cubicBezTo>
                <a:lnTo>
                  <a:pt x="72191" y="66666"/>
                </a:lnTo>
                <a:cubicBezTo>
                  <a:pt x="85920" y="72777"/>
                  <a:pt x="101491" y="73307"/>
                  <a:pt x="115612" y="68173"/>
                </a:cubicBezTo>
                <a:lnTo>
                  <a:pt x="125016" y="64740"/>
                </a:lnTo>
                <a:lnTo>
                  <a:pt x="125016" y="82014"/>
                </a:lnTo>
                <a:lnTo>
                  <a:pt x="112542" y="86534"/>
                </a:lnTo>
                <a:cubicBezTo>
                  <a:pt x="100599" y="90887"/>
                  <a:pt x="87427" y="90413"/>
                  <a:pt x="75819" y="85251"/>
                </a:cubicBezTo>
                <a:lnTo>
                  <a:pt x="71326" y="83241"/>
                </a:lnTo>
                <a:cubicBezTo>
                  <a:pt x="60108" y="78246"/>
                  <a:pt x="47606" y="76963"/>
                  <a:pt x="35579" y="79530"/>
                </a:cubicBezTo>
                <a:lnTo>
                  <a:pt x="17859" y="83325"/>
                </a:lnTo>
                <a:lnTo>
                  <a:pt x="17859" y="92450"/>
                </a:lnTo>
                <a:lnTo>
                  <a:pt x="37449" y="88236"/>
                </a:lnTo>
                <a:cubicBezTo>
                  <a:pt x="47606" y="86060"/>
                  <a:pt x="58182" y="87148"/>
                  <a:pt x="67698" y="91390"/>
                </a:cubicBezTo>
                <a:lnTo>
                  <a:pt x="72191" y="93399"/>
                </a:lnTo>
                <a:cubicBezTo>
                  <a:pt x="85920" y="99510"/>
                  <a:pt x="101491" y="100040"/>
                  <a:pt x="115612" y="94906"/>
                </a:cubicBezTo>
                <a:lnTo>
                  <a:pt x="125016" y="91473"/>
                </a:lnTo>
                <a:lnTo>
                  <a:pt x="125016" y="100822"/>
                </a:lnTo>
                <a:cubicBezTo>
                  <a:pt x="125016" y="104533"/>
                  <a:pt x="122699" y="107882"/>
                  <a:pt x="119211" y="109193"/>
                </a:cubicBezTo>
                <a:lnTo>
                  <a:pt x="109528" y="112821"/>
                </a:lnTo>
                <a:cubicBezTo>
                  <a:pt x="96636" y="117649"/>
                  <a:pt x="82293" y="116895"/>
                  <a:pt x="69986" y="110756"/>
                </a:cubicBezTo>
                <a:cubicBezTo>
                  <a:pt x="59410" y="105454"/>
                  <a:pt x="47272" y="104142"/>
                  <a:pt x="35802" y="107017"/>
                </a:cubicBezTo>
                <a:lnTo>
                  <a:pt x="17859" y="111621"/>
                </a:lnTo>
                <a:lnTo>
                  <a:pt x="17859" y="133945"/>
                </a:lnTo>
                <a:cubicBezTo>
                  <a:pt x="17859" y="138885"/>
                  <a:pt x="13869" y="142875"/>
                  <a:pt x="8930" y="142875"/>
                </a:cubicBezTo>
                <a:cubicBezTo>
                  <a:pt x="3990" y="142875"/>
                  <a:pt x="0" y="138885"/>
                  <a:pt x="0" y="133945"/>
                </a:cubicBezTo>
                <a:lnTo>
                  <a:pt x="0" y="8930"/>
                </a:lnTo>
                <a:cubicBezTo>
                  <a:pt x="0" y="3990"/>
                  <a:pt x="3990" y="0"/>
                  <a:pt x="8930" y="0"/>
                </a:cubicBezTo>
                <a:close/>
                <a:moveTo>
                  <a:pt x="31254" y="26789"/>
                </a:moveTo>
                <a:cubicBezTo>
                  <a:pt x="31254" y="24325"/>
                  <a:pt x="29253" y="22324"/>
                  <a:pt x="26789" y="22324"/>
                </a:cubicBezTo>
                <a:cubicBezTo>
                  <a:pt x="24325" y="22324"/>
                  <a:pt x="22324" y="24325"/>
                  <a:pt x="22324" y="26789"/>
                </a:cubicBezTo>
                <a:cubicBezTo>
                  <a:pt x="22324" y="29253"/>
                  <a:pt x="24325" y="31254"/>
                  <a:pt x="26789" y="31254"/>
                </a:cubicBezTo>
                <a:cubicBezTo>
                  <a:pt x="29253" y="31254"/>
                  <a:pt x="31254" y="29253"/>
                  <a:pt x="31254" y="26789"/>
                </a:cubicBezTo>
                <a:close/>
                <a:moveTo>
                  <a:pt x="40184" y="26789"/>
                </a:moveTo>
                <a:cubicBezTo>
                  <a:pt x="42648" y="26789"/>
                  <a:pt x="44648" y="24788"/>
                  <a:pt x="44648" y="22324"/>
                </a:cubicBezTo>
                <a:cubicBezTo>
                  <a:pt x="44648" y="19860"/>
                  <a:pt x="42648" y="17859"/>
                  <a:pt x="40184" y="17859"/>
                </a:cubicBezTo>
                <a:cubicBezTo>
                  <a:pt x="37719" y="17859"/>
                  <a:pt x="35719" y="19860"/>
                  <a:pt x="35719" y="22324"/>
                </a:cubicBezTo>
                <a:cubicBezTo>
                  <a:pt x="35719" y="24788"/>
                  <a:pt x="37719" y="26789"/>
                  <a:pt x="40184" y="26789"/>
                </a:cubicBezTo>
                <a:close/>
                <a:moveTo>
                  <a:pt x="31254" y="40184"/>
                </a:moveTo>
                <a:cubicBezTo>
                  <a:pt x="31254" y="37719"/>
                  <a:pt x="29253" y="35719"/>
                  <a:pt x="26789" y="35719"/>
                </a:cubicBezTo>
                <a:cubicBezTo>
                  <a:pt x="24325" y="35719"/>
                  <a:pt x="22324" y="37719"/>
                  <a:pt x="22324" y="40184"/>
                </a:cubicBezTo>
                <a:cubicBezTo>
                  <a:pt x="22324" y="42648"/>
                  <a:pt x="24325" y="44648"/>
                  <a:pt x="26789" y="44648"/>
                </a:cubicBezTo>
                <a:cubicBezTo>
                  <a:pt x="29253" y="44648"/>
                  <a:pt x="31254" y="42648"/>
                  <a:pt x="31254" y="40184"/>
                </a:cubicBezTo>
                <a:close/>
                <a:moveTo>
                  <a:pt x="40184" y="40184"/>
                </a:moveTo>
                <a:cubicBezTo>
                  <a:pt x="42648" y="40184"/>
                  <a:pt x="44648" y="38183"/>
                  <a:pt x="44648" y="35719"/>
                </a:cubicBezTo>
                <a:cubicBezTo>
                  <a:pt x="44648" y="33255"/>
                  <a:pt x="42648" y="31254"/>
                  <a:pt x="40184" y="31254"/>
                </a:cubicBezTo>
                <a:cubicBezTo>
                  <a:pt x="37719" y="31254"/>
                  <a:pt x="35719" y="33255"/>
                  <a:pt x="35719" y="35719"/>
                </a:cubicBezTo>
                <a:cubicBezTo>
                  <a:pt x="35719" y="38183"/>
                  <a:pt x="37719" y="40184"/>
                  <a:pt x="40184" y="40184"/>
                </a:cubicBezTo>
                <a:close/>
              </a:path>
            </a:pathLst>
          </a:custGeom>
          <a:solidFill>
            <a:srgbClr val="38BDF8"/>
          </a:solidFill>
          <a:ln/>
        </p:spPr>
        <p:txBody>
          <a:bodyPr/>
          <a:lstStyle/>
          <a:p>
            <a:endParaRPr lang="en-GB"/>
          </a:p>
        </p:txBody>
      </p:sp>
      <p:sp>
        <p:nvSpPr>
          <p:cNvPr id="21" name="Text 19"/>
          <p:cNvSpPr/>
          <p:nvPr/>
        </p:nvSpPr>
        <p:spPr>
          <a:xfrm>
            <a:off x="853281" y="3040063"/>
            <a:ext cx="1119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Mobile, Alabama</a:t>
            </a:r>
            <a:endParaRPr lang="en-US" sz="1600" dirty="0"/>
          </a:p>
        </p:txBody>
      </p:sp>
      <p:sp>
        <p:nvSpPr>
          <p:cNvPr id="22" name="Text 20"/>
          <p:cNvSpPr/>
          <p:nvPr/>
        </p:nvSpPr>
        <p:spPr>
          <a:xfrm>
            <a:off x="611188" y="3325813"/>
            <a:ext cx="3421063"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A320 &amp; A220 FAL for Americas</a:t>
            </a:r>
            <a:endParaRPr lang="en-US" sz="1600" dirty="0"/>
          </a:p>
        </p:txBody>
      </p:sp>
      <p:sp>
        <p:nvSpPr>
          <p:cNvPr id="23" name="Shape 21"/>
          <p:cNvSpPr/>
          <p:nvPr/>
        </p:nvSpPr>
        <p:spPr>
          <a:xfrm>
            <a:off x="611188" y="3579813"/>
            <a:ext cx="960438" cy="254000"/>
          </a:xfrm>
          <a:custGeom>
            <a:avLst/>
            <a:gdLst/>
            <a:ahLst/>
            <a:cxnLst/>
            <a:rect l="l" t="t" r="r" b="b"/>
            <a:pathLst>
              <a:path w="960438" h="254000">
                <a:moveTo>
                  <a:pt x="31750" y="0"/>
                </a:moveTo>
                <a:lnTo>
                  <a:pt x="928688" y="0"/>
                </a:lnTo>
                <a:cubicBezTo>
                  <a:pt x="946211" y="0"/>
                  <a:pt x="960438" y="14227"/>
                  <a:pt x="960438" y="31750"/>
                </a:cubicBezTo>
                <a:lnTo>
                  <a:pt x="960438" y="222250"/>
                </a:lnTo>
                <a:cubicBezTo>
                  <a:pt x="960438" y="239773"/>
                  <a:pt x="946211" y="254000"/>
                  <a:pt x="928688" y="254000"/>
                </a:cubicBezTo>
                <a:lnTo>
                  <a:pt x="31750" y="254000"/>
                </a:lnTo>
                <a:cubicBezTo>
                  <a:pt x="14227" y="254000"/>
                  <a:pt x="0" y="239773"/>
                  <a:pt x="0" y="222250"/>
                </a:cubicBezTo>
                <a:lnTo>
                  <a:pt x="0" y="31750"/>
                </a:lnTo>
                <a:cubicBezTo>
                  <a:pt x="0" y="14227"/>
                  <a:pt x="14227" y="0"/>
                  <a:pt x="31750" y="0"/>
                </a:cubicBezTo>
                <a:close/>
              </a:path>
            </a:pathLst>
          </a:custGeom>
          <a:solidFill>
            <a:srgbClr val="38BDF8">
              <a:alpha val="20000"/>
            </a:srgbClr>
          </a:solidFill>
          <a:ln/>
        </p:spPr>
        <p:txBody>
          <a:bodyPr/>
          <a:lstStyle/>
          <a:p>
            <a:endParaRPr lang="en-GB"/>
          </a:p>
        </p:txBody>
      </p:sp>
      <p:sp>
        <p:nvSpPr>
          <p:cNvPr id="24" name="Text 22"/>
          <p:cNvSpPr/>
          <p:nvPr/>
        </p:nvSpPr>
        <p:spPr>
          <a:xfrm>
            <a:off x="611188" y="3579813"/>
            <a:ext cx="1023938" cy="254000"/>
          </a:xfrm>
          <a:prstGeom prst="rect">
            <a:avLst/>
          </a:prstGeom>
          <a:noFill/>
          <a:ln/>
        </p:spPr>
        <p:txBody>
          <a:bodyPr wrap="square" lIns="63500" tIns="31750" rIns="63500" bIns="31750" rtlCol="0" anchor="ctr"/>
          <a:lstStyle/>
          <a:p>
            <a:pPr>
              <a:lnSpc>
                <a:spcPct val="130000"/>
              </a:lnSpc>
            </a:pPr>
            <a:r>
              <a:rPr lang="en-US" sz="1000" dirty="0">
                <a:solidFill>
                  <a:srgbClr val="38BDF8"/>
                </a:solidFill>
                <a:latin typeface="Quattrocento Sans" pitchFamily="34" charset="0"/>
                <a:ea typeface="Quattrocento Sans" pitchFamily="34" charset="-122"/>
                <a:cs typeface="Quattrocento Sans" pitchFamily="34" charset="-120"/>
              </a:rPr>
              <a:t>US Market Hub</a:t>
            </a:r>
            <a:endParaRPr lang="en-US" sz="1600" dirty="0"/>
          </a:p>
        </p:txBody>
      </p:sp>
      <p:sp>
        <p:nvSpPr>
          <p:cNvPr id="25" name="Shape 23"/>
          <p:cNvSpPr/>
          <p:nvPr/>
        </p:nvSpPr>
        <p:spPr>
          <a:xfrm>
            <a:off x="4200178" y="2909094"/>
            <a:ext cx="3619500" cy="1055688"/>
          </a:xfrm>
          <a:custGeom>
            <a:avLst/>
            <a:gdLst/>
            <a:ahLst/>
            <a:cxnLst/>
            <a:rect l="l" t="t" r="r" b="b"/>
            <a:pathLst>
              <a:path w="3619500" h="1055688">
                <a:moveTo>
                  <a:pt x="63500" y="0"/>
                </a:moveTo>
                <a:lnTo>
                  <a:pt x="3556000" y="0"/>
                </a:lnTo>
                <a:cubicBezTo>
                  <a:pt x="3591070" y="0"/>
                  <a:pt x="3619500" y="28430"/>
                  <a:pt x="3619500" y="63500"/>
                </a:cubicBezTo>
                <a:lnTo>
                  <a:pt x="3619500" y="992188"/>
                </a:lnTo>
                <a:cubicBezTo>
                  <a:pt x="3619500" y="1027258"/>
                  <a:pt x="3591070" y="1055688"/>
                  <a:pt x="3556000" y="1055688"/>
                </a:cubicBezTo>
                <a:lnTo>
                  <a:pt x="63500" y="1055688"/>
                </a:lnTo>
                <a:cubicBezTo>
                  <a:pt x="28430" y="1055688"/>
                  <a:pt x="0" y="1027258"/>
                  <a:pt x="0" y="992188"/>
                </a:cubicBezTo>
                <a:lnTo>
                  <a:pt x="0" y="63500"/>
                </a:lnTo>
                <a:cubicBezTo>
                  <a:pt x="0" y="28453"/>
                  <a:pt x="28453" y="0"/>
                  <a:pt x="63500"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26" name="Shape 24"/>
          <p:cNvSpPr/>
          <p:nvPr/>
        </p:nvSpPr>
        <p:spPr>
          <a:xfrm>
            <a:off x="4359920" y="3079750"/>
            <a:ext cx="125016" cy="142875"/>
          </a:xfrm>
          <a:custGeom>
            <a:avLst/>
            <a:gdLst/>
            <a:ahLst/>
            <a:cxnLst/>
            <a:rect l="l" t="t" r="r" b="b"/>
            <a:pathLst>
              <a:path w="125016" h="142875">
                <a:moveTo>
                  <a:pt x="17859" y="8930"/>
                </a:moveTo>
                <a:cubicBezTo>
                  <a:pt x="17859" y="3990"/>
                  <a:pt x="13869" y="0"/>
                  <a:pt x="8930" y="0"/>
                </a:cubicBezTo>
                <a:cubicBezTo>
                  <a:pt x="3990" y="0"/>
                  <a:pt x="0" y="3990"/>
                  <a:pt x="0" y="8930"/>
                </a:cubicBezTo>
                <a:lnTo>
                  <a:pt x="0" y="133945"/>
                </a:lnTo>
                <a:cubicBezTo>
                  <a:pt x="0" y="138885"/>
                  <a:pt x="3990" y="142875"/>
                  <a:pt x="8930" y="142875"/>
                </a:cubicBezTo>
                <a:cubicBezTo>
                  <a:pt x="13869" y="142875"/>
                  <a:pt x="17859" y="138885"/>
                  <a:pt x="17859" y="133945"/>
                </a:cubicBezTo>
                <a:lnTo>
                  <a:pt x="17859" y="100013"/>
                </a:lnTo>
                <a:lnTo>
                  <a:pt x="35356" y="94766"/>
                </a:lnTo>
                <a:cubicBezTo>
                  <a:pt x="47048" y="91250"/>
                  <a:pt x="59661" y="92339"/>
                  <a:pt x="70572" y="97808"/>
                </a:cubicBezTo>
                <a:cubicBezTo>
                  <a:pt x="82488" y="103780"/>
                  <a:pt x="96385" y="104505"/>
                  <a:pt x="108858" y="99817"/>
                </a:cubicBezTo>
                <a:lnTo>
                  <a:pt x="119211" y="95938"/>
                </a:lnTo>
                <a:cubicBezTo>
                  <a:pt x="122699" y="94627"/>
                  <a:pt x="125016" y="91306"/>
                  <a:pt x="125016" y="87567"/>
                </a:cubicBezTo>
                <a:lnTo>
                  <a:pt x="125016" y="18445"/>
                </a:lnTo>
                <a:cubicBezTo>
                  <a:pt x="125016" y="12027"/>
                  <a:pt x="118263" y="7841"/>
                  <a:pt x="112514" y="10716"/>
                </a:cubicBezTo>
                <a:lnTo>
                  <a:pt x="109221" y="12362"/>
                </a:lnTo>
                <a:cubicBezTo>
                  <a:pt x="96692" y="18641"/>
                  <a:pt x="81930" y="18641"/>
                  <a:pt x="69373" y="12362"/>
                </a:cubicBezTo>
                <a:cubicBezTo>
                  <a:pt x="59215" y="7283"/>
                  <a:pt x="47523" y="6279"/>
                  <a:pt x="36668" y="9544"/>
                </a:cubicBezTo>
                <a:lnTo>
                  <a:pt x="17859" y="15180"/>
                </a:lnTo>
                <a:lnTo>
                  <a:pt x="17859" y="8930"/>
                </a:lnTo>
                <a:close/>
              </a:path>
            </a:pathLst>
          </a:custGeom>
          <a:solidFill>
            <a:srgbClr val="F59E0B"/>
          </a:solidFill>
          <a:ln/>
        </p:spPr>
        <p:txBody>
          <a:bodyPr/>
          <a:lstStyle/>
          <a:p>
            <a:endParaRPr lang="en-GB"/>
          </a:p>
        </p:txBody>
      </p:sp>
      <p:sp>
        <p:nvSpPr>
          <p:cNvPr id="27" name="Text 25"/>
          <p:cNvSpPr/>
          <p:nvPr/>
        </p:nvSpPr>
        <p:spPr>
          <a:xfrm>
            <a:off x="4573240" y="3040063"/>
            <a:ext cx="9048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Tianjin, China</a:t>
            </a:r>
            <a:endParaRPr lang="en-US" sz="1600" dirty="0"/>
          </a:p>
        </p:txBody>
      </p:sp>
      <p:sp>
        <p:nvSpPr>
          <p:cNvPr id="28" name="Text 26"/>
          <p:cNvSpPr/>
          <p:nvPr/>
        </p:nvSpPr>
        <p:spPr>
          <a:xfrm>
            <a:off x="4331146" y="3325813"/>
            <a:ext cx="3421063"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A320 FAL for Asian Market</a:t>
            </a:r>
            <a:endParaRPr lang="en-US" sz="1600" dirty="0"/>
          </a:p>
        </p:txBody>
      </p:sp>
      <p:sp>
        <p:nvSpPr>
          <p:cNvPr id="29" name="Shape 27"/>
          <p:cNvSpPr/>
          <p:nvPr/>
        </p:nvSpPr>
        <p:spPr>
          <a:xfrm>
            <a:off x="4331146" y="3579813"/>
            <a:ext cx="769938" cy="254000"/>
          </a:xfrm>
          <a:custGeom>
            <a:avLst/>
            <a:gdLst/>
            <a:ahLst/>
            <a:cxnLst/>
            <a:rect l="l" t="t" r="r" b="b"/>
            <a:pathLst>
              <a:path w="769938" h="254000">
                <a:moveTo>
                  <a:pt x="31750" y="0"/>
                </a:moveTo>
                <a:lnTo>
                  <a:pt x="738188" y="0"/>
                </a:lnTo>
                <a:cubicBezTo>
                  <a:pt x="755711" y="0"/>
                  <a:pt x="769938" y="14227"/>
                  <a:pt x="769938" y="31750"/>
                </a:cubicBezTo>
                <a:lnTo>
                  <a:pt x="769938" y="222250"/>
                </a:lnTo>
                <a:cubicBezTo>
                  <a:pt x="769938" y="239773"/>
                  <a:pt x="755711" y="254000"/>
                  <a:pt x="738188" y="254000"/>
                </a:cubicBezTo>
                <a:lnTo>
                  <a:pt x="31750" y="254000"/>
                </a:lnTo>
                <a:cubicBezTo>
                  <a:pt x="14227" y="254000"/>
                  <a:pt x="0" y="239773"/>
                  <a:pt x="0" y="222250"/>
                </a:cubicBezTo>
                <a:lnTo>
                  <a:pt x="0" y="31750"/>
                </a:lnTo>
                <a:cubicBezTo>
                  <a:pt x="0" y="14227"/>
                  <a:pt x="14227" y="0"/>
                  <a:pt x="31750" y="0"/>
                </a:cubicBezTo>
                <a:close/>
              </a:path>
            </a:pathLst>
          </a:custGeom>
          <a:solidFill>
            <a:srgbClr val="F59E0B">
              <a:alpha val="20000"/>
            </a:srgbClr>
          </a:solidFill>
          <a:ln/>
        </p:spPr>
        <p:txBody>
          <a:bodyPr/>
          <a:lstStyle/>
          <a:p>
            <a:endParaRPr lang="en-GB"/>
          </a:p>
        </p:txBody>
      </p:sp>
      <p:sp>
        <p:nvSpPr>
          <p:cNvPr id="30" name="Text 28"/>
          <p:cNvSpPr/>
          <p:nvPr/>
        </p:nvSpPr>
        <p:spPr>
          <a:xfrm>
            <a:off x="4331146" y="3579813"/>
            <a:ext cx="833438" cy="254000"/>
          </a:xfrm>
          <a:prstGeom prst="rect">
            <a:avLst/>
          </a:prstGeom>
          <a:noFill/>
          <a:ln/>
        </p:spPr>
        <p:txBody>
          <a:bodyPr wrap="square" lIns="63500" tIns="31750" rIns="63500" bIns="31750" rtlCol="0" anchor="ctr"/>
          <a:lstStyle/>
          <a:p>
            <a:pPr>
              <a:lnSpc>
                <a:spcPct val="130000"/>
              </a:lnSpc>
            </a:pPr>
            <a:r>
              <a:rPr lang="en-US" sz="1000" dirty="0">
                <a:solidFill>
                  <a:srgbClr val="F59E0B"/>
                </a:solidFill>
                <a:latin typeface="Quattrocento Sans" pitchFamily="34" charset="0"/>
                <a:ea typeface="Quattrocento Sans" pitchFamily="34" charset="-122"/>
                <a:cs typeface="Quattrocento Sans" pitchFamily="34" charset="-120"/>
              </a:rPr>
              <a:t>Asia-Pacific</a:t>
            </a:r>
            <a:endParaRPr lang="en-US" sz="1600" dirty="0"/>
          </a:p>
        </p:txBody>
      </p:sp>
      <p:sp>
        <p:nvSpPr>
          <p:cNvPr id="31" name="Shape 29"/>
          <p:cNvSpPr/>
          <p:nvPr/>
        </p:nvSpPr>
        <p:spPr>
          <a:xfrm>
            <a:off x="272729" y="5398987"/>
            <a:ext cx="7659688" cy="1301750"/>
          </a:xfrm>
          <a:custGeom>
            <a:avLst/>
            <a:gdLst/>
            <a:ahLst/>
            <a:cxnLst/>
            <a:rect l="l" t="t" r="r" b="b"/>
            <a:pathLst>
              <a:path w="7659688" h="1301750">
                <a:moveTo>
                  <a:pt x="95249" y="0"/>
                </a:moveTo>
                <a:lnTo>
                  <a:pt x="7564438" y="0"/>
                </a:lnTo>
                <a:cubicBezTo>
                  <a:pt x="7617043" y="0"/>
                  <a:pt x="7659687" y="42644"/>
                  <a:pt x="7659687" y="95249"/>
                </a:cubicBezTo>
                <a:lnTo>
                  <a:pt x="7659688" y="1206501"/>
                </a:lnTo>
                <a:cubicBezTo>
                  <a:pt x="7659688" y="1259106"/>
                  <a:pt x="7617043" y="1301750"/>
                  <a:pt x="7564438" y="1301750"/>
                </a:cubicBezTo>
                <a:lnTo>
                  <a:pt x="95249" y="1301750"/>
                </a:lnTo>
                <a:cubicBezTo>
                  <a:pt x="42644" y="1301750"/>
                  <a:pt x="0" y="1259106"/>
                  <a:pt x="0" y="1206501"/>
                </a:cubicBezTo>
                <a:lnTo>
                  <a:pt x="0" y="95249"/>
                </a:lnTo>
                <a:cubicBezTo>
                  <a:pt x="0" y="42680"/>
                  <a:pt x="42680" y="0"/>
                  <a:pt x="95249" y="0"/>
                </a:cubicBezTo>
                <a:close/>
              </a:path>
            </a:pathLst>
          </a:custGeom>
          <a:solidFill>
            <a:srgbClr val="1E293B"/>
          </a:solidFill>
          <a:ln/>
        </p:spPr>
        <p:txBody>
          <a:bodyPr/>
          <a:lstStyle/>
          <a:p>
            <a:endParaRPr lang="en-GB"/>
          </a:p>
        </p:txBody>
      </p:sp>
      <p:sp>
        <p:nvSpPr>
          <p:cNvPr id="32" name="Text 30"/>
          <p:cNvSpPr/>
          <p:nvPr/>
        </p:nvSpPr>
        <p:spPr>
          <a:xfrm>
            <a:off x="431479" y="5557737"/>
            <a:ext cx="7421563"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Production Rate Targets</a:t>
            </a:r>
            <a:endParaRPr lang="en-US" sz="1600" dirty="0"/>
          </a:p>
        </p:txBody>
      </p:sp>
      <p:sp>
        <p:nvSpPr>
          <p:cNvPr id="33" name="Text 31"/>
          <p:cNvSpPr/>
          <p:nvPr/>
        </p:nvSpPr>
        <p:spPr>
          <a:xfrm>
            <a:off x="383854" y="5875237"/>
            <a:ext cx="1857375" cy="254000"/>
          </a:xfrm>
          <a:prstGeom prst="rect">
            <a:avLst/>
          </a:prstGeom>
          <a:noFill/>
          <a:ln/>
        </p:spPr>
        <p:txBody>
          <a:bodyPr wrap="square" lIns="0" tIns="0" rIns="0" bIns="0" rtlCol="0" anchor="ctr"/>
          <a:lstStyle/>
          <a:p>
            <a:pPr algn="ctr">
              <a:lnSpc>
                <a:spcPct val="110000"/>
              </a:lnSpc>
            </a:pPr>
            <a:r>
              <a:rPr lang="en-US" sz="1500" b="1" dirty="0">
                <a:solidFill>
                  <a:srgbClr val="38BDF8"/>
                </a:solidFill>
                <a:latin typeface="Liter" pitchFamily="34" charset="0"/>
                <a:ea typeface="Liter" pitchFamily="34" charset="-122"/>
                <a:cs typeface="Liter" pitchFamily="34" charset="-120"/>
              </a:rPr>
              <a:t>75/mo</a:t>
            </a:r>
            <a:endParaRPr lang="en-US" sz="1600" dirty="0"/>
          </a:p>
        </p:txBody>
      </p:sp>
      <p:sp>
        <p:nvSpPr>
          <p:cNvPr id="34" name="Text 32"/>
          <p:cNvSpPr/>
          <p:nvPr/>
        </p:nvSpPr>
        <p:spPr>
          <a:xfrm>
            <a:off x="399729" y="6160987"/>
            <a:ext cx="1825625" cy="190500"/>
          </a:xfrm>
          <a:prstGeom prst="rect">
            <a:avLst/>
          </a:prstGeom>
          <a:noFill/>
          <a:ln/>
        </p:spPr>
        <p:txBody>
          <a:bodyPr wrap="square" lIns="0" tIns="0" rIns="0" bIns="0" rtlCol="0" anchor="ctr"/>
          <a:lstStyle/>
          <a:p>
            <a:pPr algn="ct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A320 Target 2027</a:t>
            </a:r>
            <a:endParaRPr lang="en-US" sz="1600" dirty="0"/>
          </a:p>
        </p:txBody>
      </p:sp>
      <p:sp>
        <p:nvSpPr>
          <p:cNvPr id="35" name="Text 33"/>
          <p:cNvSpPr/>
          <p:nvPr/>
        </p:nvSpPr>
        <p:spPr>
          <a:xfrm>
            <a:off x="399729" y="6351487"/>
            <a:ext cx="1825625" cy="190500"/>
          </a:xfrm>
          <a:prstGeom prst="rect">
            <a:avLst/>
          </a:prstGeom>
          <a:noFill/>
          <a:ln/>
        </p:spPr>
        <p:txBody>
          <a:bodyPr wrap="square" lIns="0" tIns="0" rIns="0" bIns="0" rtlCol="0" anchor="ctr"/>
          <a:lstStyle/>
          <a:p>
            <a:pPr algn="ctr">
              <a:lnSpc>
                <a:spcPct val="130000"/>
              </a:lnSpc>
            </a:pPr>
            <a:r>
              <a:rPr lang="en-US" sz="1000" dirty="0">
                <a:solidFill>
                  <a:srgbClr val="38BDF8"/>
                </a:solidFill>
                <a:latin typeface="Quattrocento Sans" pitchFamily="34" charset="0"/>
                <a:ea typeface="Quattrocento Sans" pitchFamily="34" charset="-122"/>
                <a:cs typeface="Quattrocento Sans" pitchFamily="34" charset="-120"/>
              </a:rPr>
              <a:t>Current: ~65</a:t>
            </a:r>
            <a:endParaRPr lang="en-US" sz="1600" dirty="0"/>
          </a:p>
        </p:txBody>
      </p:sp>
      <p:sp>
        <p:nvSpPr>
          <p:cNvPr id="36" name="Text 34"/>
          <p:cNvSpPr/>
          <p:nvPr/>
        </p:nvSpPr>
        <p:spPr>
          <a:xfrm>
            <a:off x="2243833" y="5875237"/>
            <a:ext cx="1857375" cy="254000"/>
          </a:xfrm>
          <a:prstGeom prst="rect">
            <a:avLst/>
          </a:prstGeom>
          <a:noFill/>
          <a:ln/>
        </p:spPr>
        <p:txBody>
          <a:bodyPr wrap="square" lIns="0" tIns="0" rIns="0" bIns="0" rtlCol="0" anchor="ctr"/>
          <a:lstStyle/>
          <a:p>
            <a:pPr algn="ctr">
              <a:lnSpc>
                <a:spcPct val="110000"/>
              </a:lnSpc>
            </a:pPr>
            <a:r>
              <a:rPr lang="en-US" sz="1500" b="1" dirty="0">
                <a:solidFill>
                  <a:srgbClr val="F59E0B"/>
                </a:solidFill>
                <a:latin typeface="Liter" pitchFamily="34" charset="0"/>
                <a:ea typeface="Liter" pitchFamily="34" charset="-122"/>
                <a:cs typeface="Liter" pitchFamily="34" charset="-120"/>
              </a:rPr>
              <a:t>12/mo</a:t>
            </a:r>
            <a:endParaRPr lang="en-US" sz="1600" dirty="0"/>
          </a:p>
        </p:txBody>
      </p:sp>
      <p:sp>
        <p:nvSpPr>
          <p:cNvPr id="37" name="Text 35"/>
          <p:cNvSpPr/>
          <p:nvPr/>
        </p:nvSpPr>
        <p:spPr>
          <a:xfrm>
            <a:off x="2259708" y="6160987"/>
            <a:ext cx="1825625" cy="190500"/>
          </a:xfrm>
          <a:prstGeom prst="rect">
            <a:avLst/>
          </a:prstGeom>
          <a:noFill/>
          <a:ln/>
        </p:spPr>
        <p:txBody>
          <a:bodyPr wrap="square" lIns="0" tIns="0" rIns="0" bIns="0" rtlCol="0" anchor="ctr"/>
          <a:lstStyle/>
          <a:p>
            <a:pPr algn="ct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A220 Target 2026</a:t>
            </a:r>
            <a:endParaRPr lang="en-US" sz="1600" dirty="0"/>
          </a:p>
        </p:txBody>
      </p:sp>
      <p:sp>
        <p:nvSpPr>
          <p:cNvPr id="38" name="Text 36"/>
          <p:cNvSpPr/>
          <p:nvPr/>
        </p:nvSpPr>
        <p:spPr>
          <a:xfrm>
            <a:off x="2259708" y="6351487"/>
            <a:ext cx="1825625" cy="190500"/>
          </a:xfrm>
          <a:prstGeom prst="rect">
            <a:avLst/>
          </a:prstGeom>
          <a:noFill/>
          <a:ln/>
        </p:spPr>
        <p:txBody>
          <a:bodyPr wrap="square" lIns="0" tIns="0" rIns="0" bIns="0" rtlCol="0" anchor="ctr"/>
          <a:lstStyle/>
          <a:p>
            <a:pPr algn="ctr">
              <a:lnSpc>
                <a:spcPct val="130000"/>
              </a:lnSpc>
            </a:pPr>
            <a:r>
              <a:rPr lang="en-US" sz="1000" dirty="0">
                <a:solidFill>
                  <a:srgbClr val="F59E0B"/>
                </a:solidFill>
                <a:latin typeface="Quattrocento Sans" pitchFamily="34" charset="0"/>
                <a:ea typeface="Quattrocento Sans" pitchFamily="34" charset="-122"/>
                <a:cs typeface="Quattrocento Sans" pitchFamily="34" charset="-120"/>
              </a:rPr>
              <a:t>Current: 7-8</a:t>
            </a:r>
            <a:endParaRPr lang="en-US" sz="1600" dirty="0"/>
          </a:p>
        </p:txBody>
      </p:sp>
      <p:sp>
        <p:nvSpPr>
          <p:cNvPr id="39" name="Text 37"/>
          <p:cNvSpPr/>
          <p:nvPr/>
        </p:nvSpPr>
        <p:spPr>
          <a:xfrm>
            <a:off x="4103813" y="5875237"/>
            <a:ext cx="1857375" cy="254000"/>
          </a:xfrm>
          <a:prstGeom prst="rect">
            <a:avLst/>
          </a:prstGeom>
          <a:noFill/>
          <a:ln/>
        </p:spPr>
        <p:txBody>
          <a:bodyPr wrap="square" lIns="0" tIns="0" rIns="0" bIns="0" rtlCol="0" anchor="ctr"/>
          <a:lstStyle/>
          <a:p>
            <a:pPr algn="ctr">
              <a:lnSpc>
                <a:spcPct val="110000"/>
              </a:lnSpc>
            </a:pPr>
            <a:r>
              <a:rPr lang="en-US" sz="1500" b="1" dirty="0">
                <a:solidFill>
                  <a:srgbClr val="38BDF8"/>
                </a:solidFill>
                <a:latin typeface="Liter" pitchFamily="34" charset="0"/>
                <a:ea typeface="Liter" pitchFamily="34" charset="-122"/>
                <a:cs typeface="Liter" pitchFamily="34" charset="-120"/>
              </a:rPr>
              <a:t>5/mo</a:t>
            </a:r>
            <a:endParaRPr lang="en-US" sz="1600" dirty="0"/>
          </a:p>
        </p:txBody>
      </p:sp>
      <p:sp>
        <p:nvSpPr>
          <p:cNvPr id="40" name="Text 38"/>
          <p:cNvSpPr/>
          <p:nvPr/>
        </p:nvSpPr>
        <p:spPr>
          <a:xfrm>
            <a:off x="4119688" y="6160987"/>
            <a:ext cx="1825625" cy="190500"/>
          </a:xfrm>
          <a:prstGeom prst="rect">
            <a:avLst/>
          </a:prstGeom>
          <a:noFill/>
          <a:ln/>
        </p:spPr>
        <p:txBody>
          <a:bodyPr wrap="square" lIns="0" tIns="0" rIns="0" bIns="0" rtlCol="0" anchor="ctr"/>
          <a:lstStyle/>
          <a:p>
            <a:pPr algn="ct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A330 Target 2029</a:t>
            </a:r>
            <a:endParaRPr lang="en-US" sz="1600" dirty="0"/>
          </a:p>
        </p:txBody>
      </p:sp>
      <p:sp>
        <p:nvSpPr>
          <p:cNvPr id="41" name="Text 39"/>
          <p:cNvSpPr/>
          <p:nvPr/>
        </p:nvSpPr>
        <p:spPr>
          <a:xfrm>
            <a:off x="4119688" y="6351487"/>
            <a:ext cx="1825625" cy="190500"/>
          </a:xfrm>
          <a:prstGeom prst="rect">
            <a:avLst/>
          </a:prstGeom>
          <a:noFill/>
          <a:ln/>
        </p:spPr>
        <p:txBody>
          <a:bodyPr wrap="square" lIns="0" tIns="0" rIns="0" bIns="0" rtlCol="0" anchor="ctr"/>
          <a:lstStyle/>
          <a:p>
            <a:pPr algn="ctr">
              <a:lnSpc>
                <a:spcPct val="130000"/>
              </a:lnSpc>
            </a:pPr>
            <a:r>
              <a:rPr lang="en-US" sz="1000" dirty="0">
                <a:solidFill>
                  <a:srgbClr val="38BDF8"/>
                </a:solidFill>
                <a:latin typeface="Quattrocento Sans" pitchFamily="34" charset="0"/>
                <a:ea typeface="Quattrocento Sans" pitchFamily="34" charset="-122"/>
                <a:cs typeface="Quattrocento Sans" pitchFamily="34" charset="-120"/>
              </a:rPr>
              <a:t>Current: 4</a:t>
            </a:r>
            <a:endParaRPr lang="en-US" sz="1600" dirty="0"/>
          </a:p>
        </p:txBody>
      </p:sp>
      <p:sp>
        <p:nvSpPr>
          <p:cNvPr id="42" name="Text 40"/>
          <p:cNvSpPr/>
          <p:nvPr/>
        </p:nvSpPr>
        <p:spPr>
          <a:xfrm>
            <a:off x="5963792" y="5875237"/>
            <a:ext cx="1857375" cy="254000"/>
          </a:xfrm>
          <a:prstGeom prst="rect">
            <a:avLst/>
          </a:prstGeom>
          <a:noFill/>
          <a:ln/>
        </p:spPr>
        <p:txBody>
          <a:bodyPr wrap="square" lIns="0" tIns="0" rIns="0" bIns="0" rtlCol="0" anchor="ctr"/>
          <a:lstStyle/>
          <a:p>
            <a:pPr algn="ctr">
              <a:lnSpc>
                <a:spcPct val="110000"/>
              </a:lnSpc>
            </a:pPr>
            <a:r>
              <a:rPr lang="en-US" sz="1500" b="1" dirty="0">
                <a:solidFill>
                  <a:srgbClr val="F59E0B"/>
                </a:solidFill>
                <a:latin typeface="Liter" pitchFamily="34" charset="0"/>
                <a:ea typeface="Liter" pitchFamily="34" charset="-122"/>
                <a:cs typeface="Liter" pitchFamily="34" charset="-120"/>
              </a:rPr>
              <a:t>12/mo</a:t>
            </a:r>
            <a:endParaRPr lang="en-US" sz="1600" dirty="0"/>
          </a:p>
        </p:txBody>
      </p:sp>
      <p:sp>
        <p:nvSpPr>
          <p:cNvPr id="43" name="Text 41"/>
          <p:cNvSpPr/>
          <p:nvPr/>
        </p:nvSpPr>
        <p:spPr>
          <a:xfrm>
            <a:off x="5979667" y="6160987"/>
            <a:ext cx="1825625" cy="190500"/>
          </a:xfrm>
          <a:prstGeom prst="rect">
            <a:avLst/>
          </a:prstGeom>
          <a:noFill/>
          <a:ln/>
        </p:spPr>
        <p:txBody>
          <a:bodyPr wrap="square" lIns="0" tIns="0" rIns="0" bIns="0" rtlCol="0" anchor="ctr"/>
          <a:lstStyle/>
          <a:p>
            <a:pPr algn="ct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A350 Target 2028</a:t>
            </a:r>
            <a:endParaRPr lang="en-US" sz="1600" dirty="0"/>
          </a:p>
        </p:txBody>
      </p:sp>
      <p:sp>
        <p:nvSpPr>
          <p:cNvPr id="44" name="Text 42"/>
          <p:cNvSpPr/>
          <p:nvPr/>
        </p:nvSpPr>
        <p:spPr>
          <a:xfrm>
            <a:off x="5979667" y="6351487"/>
            <a:ext cx="1825625" cy="190500"/>
          </a:xfrm>
          <a:prstGeom prst="rect">
            <a:avLst/>
          </a:prstGeom>
          <a:noFill/>
          <a:ln/>
        </p:spPr>
        <p:txBody>
          <a:bodyPr wrap="square" lIns="0" tIns="0" rIns="0" bIns="0" rtlCol="0" anchor="ctr"/>
          <a:lstStyle/>
          <a:p>
            <a:pPr algn="ctr">
              <a:lnSpc>
                <a:spcPct val="130000"/>
              </a:lnSpc>
            </a:pPr>
            <a:r>
              <a:rPr lang="en-US" sz="1000" dirty="0">
                <a:solidFill>
                  <a:srgbClr val="F59E0B"/>
                </a:solidFill>
                <a:latin typeface="Quattrocento Sans" pitchFamily="34" charset="0"/>
                <a:ea typeface="Quattrocento Sans" pitchFamily="34" charset="-122"/>
                <a:cs typeface="Quattrocento Sans" pitchFamily="34" charset="-120"/>
              </a:rPr>
              <a:t>Current: ~5</a:t>
            </a:r>
            <a:endParaRPr lang="en-US" sz="1600" dirty="0"/>
          </a:p>
        </p:txBody>
      </p:sp>
      <p:sp>
        <p:nvSpPr>
          <p:cNvPr id="45" name="Shape 43"/>
          <p:cNvSpPr/>
          <p:nvPr/>
        </p:nvSpPr>
        <p:spPr>
          <a:xfrm>
            <a:off x="8110761" y="1273970"/>
            <a:ext cx="3762375" cy="3064618"/>
          </a:xfrm>
          <a:custGeom>
            <a:avLst/>
            <a:gdLst/>
            <a:ahLst/>
            <a:cxnLst/>
            <a:rect l="l" t="t" r="r" b="b"/>
            <a:pathLst>
              <a:path w="3762375" h="4341813">
                <a:moveTo>
                  <a:pt x="95263" y="0"/>
                </a:moveTo>
                <a:lnTo>
                  <a:pt x="3667112" y="0"/>
                </a:lnTo>
                <a:cubicBezTo>
                  <a:pt x="3719724" y="0"/>
                  <a:pt x="3762375" y="42651"/>
                  <a:pt x="3762375" y="95263"/>
                </a:cubicBezTo>
                <a:lnTo>
                  <a:pt x="3762375" y="4246549"/>
                </a:lnTo>
                <a:cubicBezTo>
                  <a:pt x="3762375" y="4299162"/>
                  <a:pt x="3719724" y="4341813"/>
                  <a:pt x="3667112" y="4341813"/>
                </a:cubicBezTo>
                <a:lnTo>
                  <a:pt x="95263" y="4341813"/>
                </a:lnTo>
                <a:cubicBezTo>
                  <a:pt x="42651" y="4341813"/>
                  <a:pt x="0" y="4299162"/>
                  <a:pt x="0" y="4246549"/>
                </a:cubicBezTo>
                <a:lnTo>
                  <a:pt x="0" y="95263"/>
                </a:lnTo>
                <a:cubicBezTo>
                  <a:pt x="0" y="42686"/>
                  <a:pt x="42686" y="0"/>
                  <a:pt x="95263"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46" name="Shape 44"/>
          <p:cNvSpPr/>
          <p:nvPr/>
        </p:nvSpPr>
        <p:spPr>
          <a:xfrm>
            <a:off x="8293323" y="1476375"/>
            <a:ext cx="142875" cy="142875"/>
          </a:xfrm>
          <a:custGeom>
            <a:avLst/>
            <a:gdLst/>
            <a:ahLst/>
            <a:cxnLst/>
            <a:rect l="l" t="t" r="r" b="b"/>
            <a:pathLst>
              <a:path w="142875" h="142875">
                <a:moveTo>
                  <a:pt x="71438" y="0"/>
                </a:moveTo>
                <a:cubicBezTo>
                  <a:pt x="75540" y="0"/>
                  <a:pt x="79307" y="2260"/>
                  <a:pt x="81260" y="5860"/>
                </a:cubicBezTo>
                <a:lnTo>
                  <a:pt x="141536" y="117481"/>
                </a:lnTo>
                <a:cubicBezTo>
                  <a:pt x="143405" y="120941"/>
                  <a:pt x="143321" y="125127"/>
                  <a:pt x="141312" y="128504"/>
                </a:cubicBezTo>
                <a:cubicBezTo>
                  <a:pt x="139303" y="131880"/>
                  <a:pt x="135648" y="133945"/>
                  <a:pt x="131713" y="133945"/>
                </a:cubicBezTo>
                <a:lnTo>
                  <a:pt x="11162" y="133945"/>
                </a:lnTo>
                <a:cubicBezTo>
                  <a:pt x="7227" y="133945"/>
                  <a:pt x="3600" y="131880"/>
                  <a:pt x="1563" y="128504"/>
                </a:cubicBezTo>
                <a:cubicBezTo>
                  <a:pt x="-474" y="125127"/>
                  <a:pt x="-530" y="120941"/>
                  <a:pt x="1339" y="117481"/>
                </a:cubicBezTo>
                <a:lnTo>
                  <a:pt x="61615" y="5860"/>
                </a:lnTo>
                <a:cubicBezTo>
                  <a:pt x="63568" y="2260"/>
                  <a:pt x="67335" y="0"/>
                  <a:pt x="71438" y="0"/>
                </a:cubicBezTo>
                <a:close/>
                <a:moveTo>
                  <a:pt x="71438" y="46881"/>
                </a:moveTo>
                <a:cubicBezTo>
                  <a:pt x="67726" y="46881"/>
                  <a:pt x="64740" y="49867"/>
                  <a:pt x="64740" y="53578"/>
                </a:cubicBezTo>
                <a:lnTo>
                  <a:pt x="64740" y="84832"/>
                </a:lnTo>
                <a:cubicBezTo>
                  <a:pt x="64740" y="88543"/>
                  <a:pt x="67726" y="91529"/>
                  <a:pt x="71438" y="91529"/>
                </a:cubicBezTo>
                <a:cubicBezTo>
                  <a:pt x="75149" y="91529"/>
                  <a:pt x="78135" y="88543"/>
                  <a:pt x="78135" y="84832"/>
                </a:cubicBezTo>
                <a:lnTo>
                  <a:pt x="78135" y="53578"/>
                </a:lnTo>
                <a:cubicBezTo>
                  <a:pt x="78135" y="49867"/>
                  <a:pt x="75149" y="46881"/>
                  <a:pt x="71438" y="46881"/>
                </a:cubicBezTo>
                <a:close/>
                <a:moveTo>
                  <a:pt x="78888" y="107156"/>
                </a:moveTo>
                <a:cubicBezTo>
                  <a:pt x="79058" y="104391"/>
                  <a:pt x="77678" y="101759"/>
                  <a:pt x="75308" y="100325"/>
                </a:cubicBezTo>
                <a:cubicBezTo>
                  <a:pt x="72937" y="98891"/>
                  <a:pt x="69966" y="98891"/>
                  <a:pt x="67595" y="100325"/>
                </a:cubicBezTo>
                <a:cubicBezTo>
                  <a:pt x="65224" y="101759"/>
                  <a:pt x="63845" y="104391"/>
                  <a:pt x="64015" y="107156"/>
                </a:cubicBezTo>
                <a:cubicBezTo>
                  <a:pt x="63845" y="109922"/>
                  <a:pt x="65224" y="112553"/>
                  <a:pt x="67595" y="113987"/>
                </a:cubicBezTo>
                <a:cubicBezTo>
                  <a:pt x="69966" y="115421"/>
                  <a:pt x="72937" y="115421"/>
                  <a:pt x="75308" y="113987"/>
                </a:cubicBezTo>
                <a:cubicBezTo>
                  <a:pt x="77678" y="112553"/>
                  <a:pt x="79058" y="109922"/>
                  <a:pt x="78888" y="107156"/>
                </a:cubicBezTo>
                <a:close/>
              </a:path>
            </a:pathLst>
          </a:custGeom>
          <a:solidFill>
            <a:srgbClr val="F59E0B"/>
          </a:solidFill>
          <a:ln/>
        </p:spPr>
        <p:txBody>
          <a:bodyPr/>
          <a:lstStyle/>
          <a:p>
            <a:endParaRPr lang="en-GB"/>
          </a:p>
        </p:txBody>
      </p:sp>
      <p:sp>
        <p:nvSpPr>
          <p:cNvPr id="47" name="Text 45"/>
          <p:cNvSpPr/>
          <p:nvPr/>
        </p:nvSpPr>
        <p:spPr>
          <a:xfrm>
            <a:off x="8495729" y="1436688"/>
            <a:ext cx="32861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Supply Chain Challenges</a:t>
            </a:r>
            <a:endParaRPr lang="en-US" sz="1600" dirty="0"/>
          </a:p>
        </p:txBody>
      </p:sp>
      <p:sp>
        <p:nvSpPr>
          <p:cNvPr id="48" name="Shape 46"/>
          <p:cNvSpPr/>
          <p:nvPr/>
        </p:nvSpPr>
        <p:spPr>
          <a:xfrm>
            <a:off x="8273479" y="1754188"/>
            <a:ext cx="3436938" cy="793750"/>
          </a:xfrm>
          <a:custGeom>
            <a:avLst/>
            <a:gdLst/>
            <a:ahLst/>
            <a:cxnLst/>
            <a:rect l="l" t="t" r="r" b="b"/>
            <a:pathLst>
              <a:path w="3436938" h="793750">
                <a:moveTo>
                  <a:pt x="63500" y="0"/>
                </a:moveTo>
                <a:lnTo>
                  <a:pt x="3373438" y="0"/>
                </a:lnTo>
                <a:cubicBezTo>
                  <a:pt x="3408484" y="0"/>
                  <a:pt x="3436938" y="28453"/>
                  <a:pt x="3436938" y="63500"/>
                </a:cubicBezTo>
                <a:lnTo>
                  <a:pt x="3436938" y="730250"/>
                </a:lnTo>
                <a:cubicBezTo>
                  <a:pt x="3436938" y="765297"/>
                  <a:pt x="3408484" y="793750"/>
                  <a:pt x="3373438" y="793750"/>
                </a:cubicBezTo>
                <a:lnTo>
                  <a:pt x="63500" y="793750"/>
                </a:lnTo>
                <a:cubicBezTo>
                  <a:pt x="28453" y="793750"/>
                  <a:pt x="0" y="765297"/>
                  <a:pt x="0" y="73025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49" name="Text 47"/>
          <p:cNvSpPr/>
          <p:nvPr/>
        </p:nvSpPr>
        <p:spPr>
          <a:xfrm>
            <a:off x="8368729" y="1849438"/>
            <a:ext cx="3309938"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Engine Delays</a:t>
            </a:r>
            <a:endParaRPr lang="en-US" sz="1600" dirty="0"/>
          </a:p>
        </p:txBody>
      </p:sp>
      <p:sp>
        <p:nvSpPr>
          <p:cNvPr id="50" name="Text 48"/>
          <p:cNvSpPr/>
          <p:nvPr/>
        </p:nvSpPr>
        <p:spPr>
          <a:xfrm>
            <a:off x="8368729" y="2071688"/>
            <a:ext cx="3309938"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A320neo engines arriving "very, very late" - Pratt &amp; Whitney supply constraints</a:t>
            </a:r>
            <a:endParaRPr lang="en-US" sz="1600" dirty="0"/>
          </a:p>
        </p:txBody>
      </p:sp>
      <p:sp>
        <p:nvSpPr>
          <p:cNvPr id="51" name="Shape 49"/>
          <p:cNvSpPr/>
          <p:nvPr/>
        </p:nvSpPr>
        <p:spPr>
          <a:xfrm>
            <a:off x="8273479" y="2643188"/>
            <a:ext cx="3436938" cy="793750"/>
          </a:xfrm>
          <a:custGeom>
            <a:avLst/>
            <a:gdLst/>
            <a:ahLst/>
            <a:cxnLst/>
            <a:rect l="l" t="t" r="r" b="b"/>
            <a:pathLst>
              <a:path w="3436938" h="793750">
                <a:moveTo>
                  <a:pt x="63500" y="0"/>
                </a:moveTo>
                <a:lnTo>
                  <a:pt x="3373438" y="0"/>
                </a:lnTo>
                <a:cubicBezTo>
                  <a:pt x="3408484" y="0"/>
                  <a:pt x="3436938" y="28453"/>
                  <a:pt x="3436938" y="63500"/>
                </a:cubicBezTo>
                <a:lnTo>
                  <a:pt x="3436938" y="730250"/>
                </a:lnTo>
                <a:cubicBezTo>
                  <a:pt x="3436938" y="765297"/>
                  <a:pt x="3408484" y="793750"/>
                  <a:pt x="3373438" y="793750"/>
                </a:cubicBezTo>
                <a:lnTo>
                  <a:pt x="63500" y="793750"/>
                </a:lnTo>
                <a:cubicBezTo>
                  <a:pt x="28453" y="793750"/>
                  <a:pt x="0" y="765297"/>
                  <a:pt x="0" y="73025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52" name="Text 50"/>
          <p:cNvSpPr/>
          <p:nvPr/>
        </p:nvSpPr>
        <p:spPr>
          <a:xfrm>
            <a:off x="8368729" y="2738438"/>
            <a:ext cx="3309938"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Quality Issues</a:t>
            </a:r>
            <a:endParaRPr lang="en-US" sz="1600" dirty="0"/>
          </a:p>
        </p:txBody>
      </p:sp>
      <p:sp>
        <p:nvSpPr>
          <p:cNvPr id="53" name="Text 51"/>
          <p:cNvSpPr/>
          <p:nvPr/>
        </p:nvSpPr>
        <p:spPr>
          <a:xfrm>
            <a:off x="8368729" y="2960688"/>
            <a:ext cx="3309938"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Fuselage panel supplier issues forced delivery target reduction from 820 to 790</a:t>
            </a:r>
            <a:endParaRPr lang="en-US" sz="1600" dirty="0"/>
          </a:p>
        </p:txBody>
      </p:sp>
      <p:sp>
        <p:nvSpPr>
          <p:cNvPr id="54" name="Shape 52"/>
          <p:cNvSpPr/>
          <p:nvPr/>
        </p:nvSpPr>
        <p:spPr>
          <a:xfrm>
            <a:off x="8273479" y="3532188"/>
            <a:ext cx="3436938" cy="793750"/>
          </a:xfrm>
          <a:custGeom>
            <a:avLst/>
            <a:gdLst/>
            <a:ahLst/>
            <a:cxnLst/>
            <a:rect l="l" t="t" r="r" b="b"/>
            <a:pathLst>
              <a:path w="3436938" h="793750">
                <a:moveTo>
                  <a:pt x="63500" y="0"/>
                </a:moveTo>
                <a:lnTo>
                  <a:pt x="3373438" y="0"/>
                </a:lnTo>
                <a:cubicBezTo>
                  <a:pt x="3408484" y="0"/>
                  <a:pt x="3436938" y="28453"/>
                  <a:pt x="3436938" y="63500"/>
                </a:cubicBezTo>
                <a:lnTo>
                  <a:pt x="3436938" y="730250"/>
                </a:lnTo>
                <a:cubicBezTo>
                  <a:pt x="3436938" y="765297"/>
                  <a:pt x="3408484" y="793750"/>
                  <a:pt x="3373438" y="793750"/>
                </a:cubicBezTo>
                <a:lnTo>
                  <a:pt x="63500" y="793750"/>
                </a:lnTo>
                <a:cubicBezTo>
                  <a:pt x="28453" y="793750"/>
                  <a:pt x="0" y="765297"/>
                  <a:pt x="0" y="73025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55" name="Text 53"/>
          <p:cNvSpPr/>
          <p:nvPr/>
        </p:nvSpPr>
        <p:spPr>
          <a:xfrm>
            <a:off x="8368729" y="3627438"/>
            <a:ext cx="3309938"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Skills Shortage</a:t>
            </a:r>
            <a:endParaRPr lang="en-US" sz="1600" dirty="0"/>
          </a:p>
        </p:txBody>
      </p:sp>
      <p:sp>
        <p:nvSpPr>
          <p:cNvPr id="56" name="Text 54"/>
          <p:cNvSpPr/>
          <p:nvPr/>
        </p:nvSpPr>
        <p:spPr>
          <a:xfrm>
            <a:off x="8368729" y="3849688"/>
            <a:ext cx="3309938"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Loss of technical expertise across industry requires intensive training</a:t>
            </a:r>
            <a:endParaRPr lang="en-US" sz="1600" dirty="0"/>
          </a:p>
        </p:txBody>
      </p:sp>
      <p:sp>
        <p:nvSpPr>
          <p:cNvPr id="57" name="Shape 55"/>
          <p:cNvSpPr/>
          <p:nvPr/>
        </p:nvSpPr>
        <p:spPr>
          <a:xfrm>
            <a:off x="8114979" y="4453310"/>
            <a:ext cx="3770313" cy="1267146"/>
          </a:xfrm>
          <a:custGeom>
            <a:avLst/>
            <a:gdLst/>
            <a:ahLst/>
            <a:cxnLst/>
            <a:rect l="l" t="t" r="r" b="b"/>
            <a:pathLst>
              <a:path w="3770313" h="1587500">
                <a:moveTo>
                  <a:pt x="95250" y="0"/>
                </a:moveTo>
                <a:lnTo>
                  <a:pt x="3675063" y="0"/>
                </a:lnTo>
                <a:cubicBezTo>
                  <a:pt x="3727632" y="0"/>
                  <a:pt x="3770313" y="42680"/>
                  <a:pt x="3770313" y="95250"/>
                </a:cubicBezTo>
                <a:lnTo>
                  <a:pt x="3770313" y="1492250"/>
                </a:lnTo>
                <a:cubicBezTo>
                  <a:pt x="3770313" y="1544820"/>
                  <a:pt x="3727632" y="1587500"/>
                  <a:pt x="3675063" y="1587500"/>
                </a:cubicBezTo>
                <a:lnTo>
                  <a:pt x="95250" y="1587500"/>
                </a:lnTo>
                <a:cubicBezTo>
                  <a:pt x="42680" y="1587500"/>
                  <a:pt x="0" y="1544820"/>
                  <a:pt x="0" y="1492250"/>
                </a:cubicBezTo>
                <a:lnTo>
                  <a:pt x="0" y="95250"/>
                </a:lnTo>
                <a:cubicBezTo>
                  <a:pt x="0" y="42680"/>
                  <a:pt x="42680" y="0"/>
                  <a:pt x="95250" y="0"/>
                </a:cubicBezTo>
                <a:close/>
              </a:path>
            </a:pathLst>
          </a:custGeom>
          <a:solidFill>
            <a:srgbClr val="1E293B"/>
          </a:solidFill>
          <a:ln/>
        </p:spPr>
        <p:txBody>
          <a:bodyPr/>
          <a:lstStyle/>
          <a:p>
            <a:endParaRPr lang="en-GB"/>
          </a:p>
        </p:txBody>
      </p:sp>
      <p:sp>
        <p:nvSpPr>
          <p:cNvPr id="58" name="Text 56"/>
          <p:cNvSpPr/>
          <p:nvPr/>
        </p:nvSpPr>
        <p:spPr>
          <a:xfrm>
            <a:off x="8273729" y="4474268"/>
            <a:ext cx="3524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Mitigation Strategies</a:t>
            </a:r>
            <a:endParaRPr lang="en-US" sz="1600" dirty="0"/>
          </a:p>
        </p:txBody>
      </p:sp>
      <p:sp>
        <p:nvSpPr>
          <p:cNvPr id="59" name="Shape 57"/>
          <p:cNvSpPr/>
          <p:nvPr/>
        </p:nvSpPr>
        <p:spPr>
          <a:xfrm>
            <a:off x="8289604" y="476398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60" name="Text 58"/>
          <p:cNvSpPr/>
          <p:nvPr/>
        </p:nvSpPr>
        <p:spPr>
          <a:xfrm>
            <a:off x="8495979" y="4732237"/>
            <a:ext cx="2849563"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"Watchtowers"</a:t>
            </a:r>
            <a:r>
              <a:rPr lang="en-US" sz="1000" dirty="0">
                <a:solidFill>
                  <a:srgbClr val="E2E8F0"/>
                </a:solidFill>
                <a:latin typeface="Quattrocento Sans" pitchFamily="34" charset="0"/>
                <a:ea typeface="Quattrocento Sans" pitchFamily="34" charset="-122"/>
                <a:cs typeface="Quattrocento Sans" pitchFamily="34" charset="-120"/>
              </a:rPr>
              <a:t> - Supplier performance monitoring</a:t>
            </a:r>
            <a:endParaRPr lang="en-US" sz="1600" dirty="0"/>
          </a:p>
        </p:txBody>
      </p:sp>
      <p:sp>
        <p:nvSpPr>
          <p:cNvPr id="61" name="Shape 59"/>
          <p:cNvSpPr/>
          <p:nvPr/>
        </p:nvSpPr>
        <p:spPr>
          <a:xfrm>
            <a:off x="8289604" y="501798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62" name="Text 60"/>
          <p:cNvSpPr/>
          <p:nvPr/>
        </p:nvSpPr>
        <p:spPr>
          <a:xfrm>
            <a:off x="8495979" y="4986237"/>
            <a:ext cx="3190875"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Expert Deployment</a:t>
            </a:r>
            <a:r>
              <a:rPr lang="en-US" sz="1000" dirty="0">
                <a:solidFill>
                  <a:srgbClr val="E2E8F0"/>
                </a:solidFill>
                <a:latin typeface="Quattrocento Sans" pitchFamily="34" charset="0"/>
                <a:ea typeface="Quattrocento Sans" pitchFamily="34" charset="-122"/>
                <a:cs typeface="Quattrocento Sans" pitchFamily="34" charset="-120"/>
              </a:rPr>
              <a:t> - Airbus engineers assisting suppliers</a:t>
            </a:r>
            <a:endParaRPr lang="en-US" sz="1600" dirty="0"/>
          </a:p>
        </p:txBody>
      </p:sp>
      <p:sp>
        <p:nvSpPr>
          <p:cNvPr id="63" name="Shape 61"/>
          <p:cNvSpPr/>
          <p:nvPr/>
        </p:nvSpPr>
        <p:spPr>
          <a:xfrm>
            <a:off x="8289604" y="527198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64" name="Text 62"/>
          <p:cNvSpPr/>
          <p:nvPr/>
        </p:nvSpPr>
        <p:spPr>
          <a:xfrm>
            <a:off x="8495979" y="5240237"/>
            <a:ext cx="2746375"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Financial Support</a:t>
            </a:r>
            <a:r>
              <a:rPr lang="en-US" sz="1000" dirty="0">
                <a:solidFill>
                  <a:srgbClr val="E2E8F0"/>
                </a:solidFill>
                <a:latin typeface="Quattrocento Sans" pitchFamily="34" charset="0"/>
                <a:ea typeface="Quattrocento Sans" pitchFamily="34" charset="-122"/>
                <a:cs typeface="Quattrocento Sans" pitchFamily="34" charset="-120"/>
              </a:rPr>
              <a:t> - Aid to critical supply partners</a:t>
            </a:r>
            <a:endParaRPr lang="en-US" sz="1600" dirty="0"/>
          </a:p>
        </p:txBody>
      </p:sp>
      <p:sp>
        <p:nvSpPr>
          <p:cNvPr id="65" name="Shape 63"/>
          <p:cNvSpPr/>
          <p:nvPr/>
        </p:nvSpPr>
        <p:spPr>
          <a:xfrm>
            <a:off x="8289604" y="552598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66" name="Text 64"/>
          <p:cNvSpPr/>
          <p:nvPr/>
        </p:nvSpPr>
        <p:spPr>
          <a:xfrm>
            <a:off x="8495979" y="5494237"/>
            <a:ext cx="3190875"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Vertical Integration</a:t>
            </a:r>
            <a:r>
              <a:rPr lang="en-US" sz="1000" dirty="0">
                <a:solidFill>
                  <a:srgbClr val="E2E8F0"/>
                </a:solidFill>
                <a:latin typeface="Quattrocento Sans" pitchFamily="34" charset="0"/>
                <a:ea typeface="Quattrocento Sans" pitchFamily="34" charset="-122"/>
                <a:cs typeface="Quattrocento Sans" pitchFamily="34" charset="-120"/>
              </a:rPr>
              <a:t> - Acquiring Spirit AeroSystems assets</a:t>
            </a:r>
            <a:endParaRPr lang="en-US" sz="1600" dirty="0"/>
          </a:p>
        </p:txBody>
      </p:sp>
      <p:sp>
        <p:nvSpPr>
          <p:cNvPr id="67" name="Shape 65"/>
          <p:cNvSpPr/>
          <p:nvPr/>
        </p:nvSpPr>
        <p:spPr>
          <a:xfrm>
            <a:off x="8122917" y="5835178"/>
            <a:ext cx="3762375" cy="865188"/>
          </a:xfrm>
          <a:custGeom>
            <a:avLst/>
            <a:gdLst/>
            <a:ahLst/>
            <a:cxnLst/>
            <a:rect l="l" t="t" r="r" b="b"/>
            <a:pathLst>
              <a:path w="3762375" h="865188">
                <a:moveTo>
                  <a:pt x="95248" y="0"/>
                </a:moveTo>
                <a:lnTo>
                  <a:pt x="3667127" y="0"/>
                </a:lnTo>
                <a:cubicBezTo>
                  <a:pt x="3719731" y="0"/>
                  <a:pt x="3762375" y="42644"/>
                  <a:pt x="3762375" y="95248"/>
                </a:cubicBezTo>
                <a:lnTo>
                  <a:pt x="3762375" y="769939"/>
                </a:lnTo>
                <a:cubicBezTo>
                  <a:pt x="3762375" y="822543"/>
                  <a:pt x="3719731" y="865188"/>
                  <a:pt x="3667127" y="865188"/>
                </a:cubicBezTo>
                <a:lnTo>
                  <a:pt x="95248" y="865188"/>
                </a:lnTo>
                <a:cubicBezTo>
                  <a:pt x="42644" y="865188"/>
                  <a:pt x="0" y="822543"/>
                  <a:pt x="0" y="769939"/>
                </a:cubicBezTo>
                <a:lnTo>
                  <a:pt x="0" y="95248"/>
                </a:lnTo>
                <a:cubicBezTo>
                  <a:pt x="0" y="42679"/>
                  <a:pt x="42679" y="0"/>
                  <a:pt x="95248" y="0"/>
                </a:cubicBezTo>
                <a:close/>
              </a:path>
            </a:pathLst>
          </a:custGeom>
          <a:gradFill flip="none" rotWithShape="1">
            <a:gsLst>
              <a:gs pos="0">
                <a:srgbClr val="38BDF8">
                  <a:alpha val="20000"/>
                </a:srgbClr>
              </a:gs>
              <a:gs pos="100000">
                <a:srgbClr val="0F172A"/>
              </a:gs>
            </a:gsLst>
            <a:lin ang="0" scaled="1"/>
          </a:gradFill>
          <a:ln w="12700">
            <a:solidFill>
              <a:srgbClr val="38BDF8">
                <a:alpha val="30196"/>
              </a:srgbClr>
            </a:solidFill>
            <a:prstDash val="solid"/>
          </a:ln>
        </p:spPr>
        <p:txBody>
          <a:bodyPr/>
          <a:lstStyle/>
          <a:p>
            <a:endParaRPr lang="en-GB"/>
          </a:p>
        </p:txBody>
      </p:sp>
      <p:sp>
        <p:nvSpPr>
          <p:cNvPr id="68" name="Shape 66"/>
          <p:cNvSpPr/>
          <p:nvPr/>
        </p:nvSpPr>
        <p:spPr>
          <a:xfrm>
            <a:off x="8269760" y="5997897"/>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38BDF8"/>
          </a:solidFill>
          <a:ln/>
        </p:spPr>
        <p:txBody>
          <a:bodyPr/>
          <a:lstStyle/>
          <a:p>
            <a:endParaRPr lang="en-GB"/>
          </a:p>
        </p:txBody>
      </p:sp>
      <p:sp>
        <p:nvSpPr>
          <p:cNvPr id="69" name="Text 67"/>
          <p:cNvSpPr/>
          <p:nvPr/>
        </p:nvSpPr>
        <p:spPr>
          <a:xfrm>
            <a:off x="8452323" y="5966147"/>
            <a:ext cx="3365500"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Industry Impact</a:t>
            </a:r>
            <a:endParaRPr lang="en-US" sz="1600" dirty="0"/>
          </a:p>
        </p:txBody>
      </p:sp>
      <p:sp>
        <p:nvSpPr>
          <p:cNvPr id="70" name="Text 68"/>
          <p:cNvSpPr/>
          <p:nvPr/>
        </p:nvSpPr>
        <p:spPr>
          <a:xfrm>
            <a:off x="8253885" y="6188397"/>
            <a:ext cx="3563938"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Supply chain issues cost airlines $11B annually. IATA projects challenges may persist for 8 years.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52625" y="352625"/>
            <a:ext cx="11557275" cy="211575"/>
          </a:xfrm>
          <a:prstGeom prst="rect">
            <a:avLst/>
          </a:prstGeom>
          <a:noFill/>
          <a:ln/>
        </p:spPr>
        <p:txBody>
          <a:bodyPr wrap="square" lIns="0" tIns="0" rIns="0" bIns="0" rtlCol="0" anchor="ctr"/>
          <a:lstStyle/>
          <a:p>
            <a:pPr>
              <a:lnSpc>
                <a:spcPct val="130000"/>
              </a:lnSpc>
            </a:pPr>
            <a:r>
              <a:rPr lang="en-US" sz="1111" b="1" kern="0" spc="56" dirty="0">
                <a:solidFill>
                  <a:srgbClr val="38BDF8"/>
                </a:solidFill>
                <a:latin typeface="Quattrocento Sans" pitchFamily="34" charset="0"/>
                <a:ea typeface="Quattrocento Sans" pitchFamily="34" charset="-122"/>
                <a:cs typeface="Quattrocento Sans" pitchFamily="34" charset="-120"/>
              </a:rPr>
              <a:t>DEMAND MOMENTUM</a:t>
            </a:r>
            <a:endParaRPr lang="en-US" sz="1600" dirty="0"/>
          </a:p>
        </p:txBody>
      </p:sp>
      <p:sp>
        <p:nvSpPr>
          <p:cNvPr id="3" name="Text 1"/>
          <p:cNvSpPr/>
          <p:nvPr/>
        </p:nvSpPr>
        <p:spPr>
          <a:xfrm>
            <a:off x="352625" y="634725"/>
            <a:ext cx="11645432" cy="352625"/>
          </a:xfrm>
          <a:prstGeom prst="rect">
            <a:avLst/>
          </a:prstGeom>
          <a:noFill/>
          <a:ln/>
        </p:spPr>
        <p:txBody>
          <a:bodyPr wrap="square" lIns="0" tIns="0" rIns="0" bIns="0" rtlCol="0" anchor="ctr"/>
          <a:lstStyle/>
          <a:p>
            <a:pPr>
              <a:lnSpc>
                <a:spcPct val="90000"/>
              </a:lnSpc>
            </a:pPr>
            <a:r>
              <a:rPr lang="en-US" sz="2499" b="1" dirty="0">
                <a:solidFill>
                  <a:srgbClr val="FFFFFF"/>
                </a:solidFill>
                <a:latin typeface="Liter" pitchFamily="34" charset="0"/>
                <a:ea typeface="Liter" pitchFamily="34" charset="-122"/>
                <a:cs typeface="Liter" pitchFamily="34" charset="-120"/>
              </a:rPr>
              <a:t>Record Order Backlog</a:t>
            </a:r>
            <a:endParaRPr lang="en-US" sz="1600" dirty="0"/>
          </a:p>
        </p:txBody>
      </p:sp>
      <p:sp>
        <p:nvSpPr>
          <p:cNvPr id="4" name="Text 2"/>
          <p:cNvSpPr/>
          <p:nvPr/>
        </p:nvSpPr>
        <p:spPr>
          <a:xfrm>
            <a:off x="352625" y="1057874"/>
            <a:ext cx="11557275"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Unprecedented Demand Securing Multi-Year Production Visibility</a:t>
            </a:r>
            <a:endParaRPr lang="en-US" sz="1600" dirty="0"/>
          </a:p>
        </p:txBody>
      </p:sp>
      <p:sp>
        <p:nvSpPr>
          <p:cNvPr id="5" name="Shape 3"/>
          <p:cNvSpPr/>
          <p:nvPr/>
        </p:nvSpPr>
        <p:spPr>
          <a:xfrm>
            <a:off x="357033" y="1414907"/>
            <a:ext cx="7599063" cy="2829813"/>
          </a:xfrm>
          <a:custGeom>
            <a:avLst/>
            <a:gdLst/>
            <a:ahLst/>
            <a:cxnLst/>
            <a:rect l="l" t="t" r="r" b="b"/>
            <a:pathLst>
              <a:path w="7599063" h="2829813">
                <a:moveTo>
                  <a:pt x="105778" y="0"/>
                </a:moveTo>
                <a:lnTo>
                  <a:pt x="7493284" y="0"/>
                </a:lnTo>
                <a:cubicBezTo>
                  <a:pt x="7551704" y="0"/>
                  <a:pt x="7599063" y="47359"/>
                  <a:pt x="7599063" y="105778"/>
                </a:cubicBezTo>
                <a:lnTo>
                  <a:pt x="7599063" y="2724035"/>
                </a:lnTo>
                <a:cubicBezTo>
                  <a:pt x="7599063" y="2782455"/>
                  <a:pt x="7551704" y="2829813"/>
                  <a:pt x="7493284" y="2829813"/>
                </a:cubicBezTo>
                <a:lnTo>
                  <a:pt x="105778" y="2829813"/>
                </a:lnTo>
                <a:cubicBezTo>
                  <a:pt x="47359" y="2829813"/>
                  <a:pt x="0" y="2782455"/>
                  <a:pt x="0" y="2724035"/>
                </a:cubicBezTo>
                <a:lnTo>
                  <a:pt x="0" y="105778"/>
                </a:lnTo>
                <a:cubicBezTo>
                  <a:pt x="0" y="47398"/>
                  <a:pt x="47398" y="0"/>
                  <a:pt x="105778"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6" name="Text 4"/>
          <p:cNvSpPr/>
          <p:nvPr/>
        </p:nvSpPr>
        <p:spPr>
          <a:xfrm>
            <a:off x="537753" y="1771939"/>
            <a:ext cx="2909154" cy="282100"/>
          </a:xfrm>
          <a:prstGeom prst="rect">
            <a:avLst/>
          </a:prstGeom>
          <a:noFill/>
          <a:ln/>
        </p:spPr>
        <p:txBody>
          <a:bodyPr wrap="square" lIns="0" tIns="0" rIns="0" bIns="0" rtlCol="0" anchor="ctr"/>
          <a:lstStyle/>
          <a:p>
            <a:pPr>
              <a:lnSpc>
                <a:spcPct val="110000"/>
              </a:lnSpc>
            </a:pPr>
            <a:r>
              <a:rPr lang="en-US" sz="1666" b="1" dirty="0">
                <a:solidFill>
                  <a:srgbClr val="FFFFFF"/>
                </a:solidFill>
                <a:latin typeface="Liter" pitchFamily="34" charset="0"/>
                <a:ea typeface="Liter" pitchFamily="34" charset="-122"/>
                <a:cs typeface="Liter" pitchFamily="34" charset="-120"/>
              </a:rPr>
              <a:t>Historic Backlog Achievement</a:t>
            </a:r>
            <a:endParaRPr lang="en-US" sz="1600" dirty="0"/>
          </a:p>
        </p:txBody>
      </p:sp>
      <p:sp>
        <p:nvSpPr>
          <p:cNvPr id="7" name="Text 5"/>
          <p:cNvSpPr/>
          <p:nvPr/>
        </p:nvSpPr>
        <p:spPr>
          <a:xfrm>
            <a:off x="6275067" y="1595627"/>
            <a:ext cx="1507471" cy="423150"/>
          </a:xfrm>
          <a:prstGeom prst="rect">
            <a:avLst/>
          </a:prstGeom>
          <a:noFill/>
          <a:ln/>
        </p:spPr>
        <p:txBody>
          <a:bodyPr wrap="square" lIns="0" tIns="0" rIns="0" bIns="0" rtlCol="0" anchor="ctr"/>
          <a:lstStyle/>
          <a:p>
            <a:pPr algn="r">
              <a:lnSpc>
                <a:spcPct val="80000"/>
              </a:lnSpc>
            </a:pPr>
            <a:r>
              <a:rPr lang="en-US" sz="3332" b="1" dirty="0">
                <a:solidFill>
                  <a:srgbClr val="38BDF8"/>
                </a:solidFill>
                <a:latin typeface="Liter" pitchFamily="34" charset="0"/>
                <a:ea typeface="Liter" pitchFamily="34" charset="-122"/>
                <a:cs typeface="Liter" pitchFamily="34" charset="-120"/>
              </a:rPr>
              <a:t>8,754</a:t>
            </a:r>
            <a:endParaRPr lang="en-US" sz="1600" dirty="0"/>
          </a:p>
        </p:txBody>
      </p:sp>
      <p:sp>
        <p:nvSpPr>
          <p:cNvPr id="8" name="Text 6"/>
          <p:cNvSpPr/>
          <p:nvPr/>
        </p:nvSpPr>
        <p:spPr>
          <a:xfrm>
            <a:off x="6416117" y="2018777"/>
            <a:ext cx="1366421" cy="211575"/>
          </a:xfrm>
          <a:prstGeom prst="rect">
            <a:avLst/>
          </a:prstGeom>
          <a:noFill/>
          <a:ln/>
        </p:spPr>
        <p:txBody>
          <a:bodyPr wrap="square" lIns="0" tIns="0" rIns="0" bIns="0" rtlCol="0" anchor="ctr"/>
          <a:lstStyle/>
          <a:p>
            <a:pPr algn="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Total Aircraft Backlog</a:t>
            </a:r>
            <a:endParaRPr lang="en-US" sz="1600" dirty="0"/>
          </a:p>
        </p:txBody>
      </p:sp>
      <p:sp>
        <p:nvSpPr>
          <p:cNvPr id="9" name="Shape 7"/>
          <p:cNvSpPr/>
          <p:nvPr/>
        </p:nvSpPr>
        <p:spPr>
          <a:xfrm>
            <a:off x="537753" y="2371401"/>
            <a:ext cx="1727861" cy="916824"/>
          </a:xfrm>
          <a:custGeom>
            <a:avLst/>
            <a:gdLst/>
            <a:ahLst/>
            <a:cxnLst/>
            <a:rect l="l" t="t" r="r" b="b"/>
            <a:pathLst>
              <a:path w="1727861" h="916824">
                <a:moveTo>
                  <a:pt x="70522" y="0"/>
                </a:moveTo>
                <a:lnTo>
                  <a:pt x="1657339" y="0"/>
                </a:lnTo>
                <a:cubicBezTo>
                  <a:pt x="1696287" y="0"/>
                  <a:pt x="1727861" y="31574"/>
                  <a:pt x="1727861" y="70522"/>
                </a:cubicBezTo>
                <a:lnTo>
                  <a:pt x="1727861" y="846302"/>
                </a:lnTo>
                <a:cubicBezTo>
                  <a:pt x="1727861" y="885250"/>
                  <a:pt x="1696287" y="916824"/>
                  <a:pt x="1657339" y="916824"/>
                </a:cubicBezTo>
                <a:lnTo>
                  <a:pt x="70522" y="916824"/>
                </a:lnTo>
                <a:cubicBezTo>
                  <a:pt x="31600" y="916824"/>
                  <a:pt x="0" y="885224"/>
                  <a:pt x="0" y="846302"/>
                </a:cubicBezTo>
                <a:lnTo>
                  <a:pt x="0" y="70522"/>
                </a:lnTo>
                <a:cubicBezTo>
                  <a:pt x="0" y="31600"/>
                  <a:pt x="31600" y="0"/>
                  <a:pt x="70522" y="0"/>
                </a:cubicBezTo>
                <a:close/>
              </a:path>
            </a:pathLst>
          </a:custGeom>
          <a:solidFill>
            <a:srgbClr val="0F172A">
              <a:alpha val="50196"/>
            </a:srgbClr>
          </a:solidFill>
          <a:ln/>
        </p:spPr>
        <p:txBody>
          <a:bodyPr/>
          <a:lstStyle/>
          <a:p>
            <a:endParaRPr lang="en-GB"/>
          </a:p>
        </p:txBody>
      </p:sp>
      <p:sp>
        <p:nvSpPr>
          <p:cNvPr id="10" name="Text 8"/>
          <p:cNvSpPr/>
          <p:nvPr/>
        </p:nvSpPr>
        <p:spPr>
          <a:xfrm>
            <a:off x="590646" y="2477189"/>
            <a:ext cx="1622074" cy="282100"/>
          </a:xfrm>
          <a:prstGeom prst="rect">
            <a:avLst/>
          </a:prstGeom>
          <a:noFill/>
          <a:ln/>
        </p:spPr>
        <p:txBody>
          <a:bodyPr wrap="square" lIns="0" tIns="0" rIns="0" bIns="0" rtlCol="0" anchor="ctr"/>
          <a:lstStyle/>
          <a:p>
            <a:pPr algn="ctr">
              <a:lnSpc>
                <a:spcPct val="110000"/>
              </a:lnSpc>
            </a:pPr>
            <a:r>
              <a:rPr lang="en-US" sz="1666" b="1" dirty="0">
                <a:solidFill>
                  <a:srgbClr val="F59E0B"/>
                </a:solidFill>
                <a:latin typeface="Liter" pitchFamily="34" charset="0"/>
                <a:ea typeface="Liter" pitchFamily="34" charset="-122"/>
                <a:cs typeface="Liter" pitchFamily="34" charset="-120"/>
              </a:rPr>
              <a:t>1,124</a:t>
            </a:r>
            <a:endParaRPr lang="en-US" sz="1600" dirty="0"/>
          </a:p>
        </p:txBody>
      </p:sp>
      <p:sp>
        <p:nvSpPr>
          <p:cNvPr id="11" name="Text 9"/>
          <p:cNvSpPr/>
          <p:nvPr/>
        </p:nvSpPr>
        <p:spPr>
          <a:xfrm>
            <a:off x="608278" y="2759289"/>
            <a:ext cx="1586811" cy="211575"/>
          </a:xfrm>
          <a:prstGeom prst="rect">
            <a:avLst/>
          </a:prstGeom>
          <a:noFill/>
          <a:ln/>
        </p:spPr>
        <p:txBody>
          <a:bodyPr wrap="square" lIns="0" tIns="0" rIns="0" bIns="0" rtlCol="0" anchor="ctr"/>
          <a:lstStyle/>
          <a:p>
            <a:pPr algn="ct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Widebody</a:t>
            </a:r>
            <a:endParaRPr lang="en-US" sz="1600" dirty="0"/>
          </a:p>
        </p:txBody>
      </p:sp>
      <p:sp>
        <p:nvSpPr>
          <p:cNvPr id="12" name="Text 10"/>
          <p:cNvSpPr/>
          <p:nvPr/>
        </p:nvSpPr>
        <p:spPr>
          <a:xfrm>
            <a:off x="608278" y="2970863"/>
            <a:ext cx="1586811" cy="211575"/>
          </a:xfrm>
          <a:prstGeom prst="rect">
            <a:avLst/>
          </a:prstGeom>
          <a:noFill/>
          <a:ln/>
        </p:spPr>
        <p:txBody>
          <a:bodyPr wrap="square" lIns="0" tIns="0" rIns="0" bIns="0" rtlCol="0" anchor="ctr"/>
          <a:lstStyle/>
          <a:p>
            <a:pPr algn="ctr">
              <a:lnSpc>
                <a:spcPct val="130000"/>
              </a:lnSpc>
            </a:pPr>
            <a:r>
              <a:rPr lang="en-US" sz="1111" b="1" dirty="0">
                <a:solidFill>
                  <a:srgbClr val="38BDF8"/>
                </a:solidFill>
                <a:latin typeface="Quattrocento Sans" pitchFamily="34" charset="0"/>
                <a:ea typeface="Quattrocento Sans" pitchFamily="34" charset="-122"/>
                <a:cs typeface="Quattrocento Sans" pitchFamily="34" charset="-120"/>
              </a:rPr>
              <a:t>Record</a:t>
            </a:r>
            <a:endParaRPr lang="en-US" sz="1600" dirty="0"/>
          </a:p>
        </p:txBody>
      </p:sp>
      <p:sp>
        <p:nvSpPr>
          <p:cNvPr id="13" name="Shape 11"/>
          <p:cNvSpPr/>
          <p:nvPr/>
        </p:nvSpPr>
        <p:spPr>
          <a:xfrm>
            <a:off x="2374432" y="2371401"/>
            <a:ext cx="1727861" cy="916824"/>
          </a:xfrm>
          <a:custGeom>
            <a:avLst/>
            <a:gdLst/>
            <a:ahLst/>
            <a:cxnLst/>
            <a:rect l="l" t="t" r="r" b="b"/>
            <a:pathLst>
              <a:path w="1727861" h="916824">
                <a:moveTo>
                  <a:pt x="70522" y="0"/>
                </a:moveTo>
                <a:lnTo>
                  <a:pt x="1657339" y="0"/>
                </a:lnTo>
                <a:cubicBezTo>
                  <a:pt x="1696287" y="0"/>
                  <a:pt x="1727861" y="31574"/>
                  <a:pt x="1727861" y="70522"/>
                </a:cubicBezTo>
                <a:lnTo>
                  <a:pt x="1727861" y="846302"/>
                </a:lnTo>
                <a:cubicBezTo>
                  <a:pt x="1727861" y="885250"/>
                  <a:pt x="1696287" y="916824"/>
                  <a:pt x="1657339" y="916824"/>
                </a:cubicBezTo>
                <a:lnTo>
                  <a:pt x="70522" y="916824"/>
                </a:lnTo>
                <a:cubicBezTo>
                  <a:pt x="31600" y="916824"/>
                  <a:pt x="0" y="885224"/>
                  <a:pt x="0" y="846302"/>
                </a:cubicBezTo>
                <a:lnTo>
                  <a:pt x="0" y="70522"/>
                </a:lnTo>
                <a:cubicBezTo>
                  <a:pt x="0" y="31600"/>
                  <a:pt x="31600" y="0"/>
                  <a:pt x="70522" y="0"/>
                </a:cubicBezTo>
                <a:close/>
              </a:path>
            </a:pathLst>
          </a:custGeom>
          <a:solidFill>
            <a:srgbClr val="0F172A">
              <a:alpha val="50196"/>
            </a:srgbClr>
          </a:solidFill>
          <a:ln/>
        </p:spPr>
        <p:txBody>
          <a:bodyPr/>
          <a:lstStyle/>
          <a:p>
            <a:endParaRPr lang="en-GB"/>
          </a:p>
        </p:txBody>
      </p:sp>
      <p:sp>
        <p:nvSpPr>
          <p:cNvPr id="14" name="Text 12"/>
          <p:cNvSpPr/>
          <p:nvPr/>
        </p:nvSpPr>
        <p:spPr>
          <a:xfrm>
            <a:off x="2427325" y="2477189"/>
            <a:ext cx="1622074" cy="282100"/>
          </a:xfrm>
          <a:prstGeom prst="rect">
            <a:avLst/>
          </a:prstGeom>
          <a:noFill/>
          <a:ln/>
        </p:spPr>
        <p:txBody>
          <a:bodyPr wrap="square" lIns="0" tIns="0" rIns="0" bIns="0" rtlCol="0" anchor="ctr"/>
          <a:lstStyle/>
          <a:p>
            <a:pPr algn="ctr">
              <a:lnSpc>
                <a:spcPct val="110000"/>
              </a:lnSpc>
            </a:pPr>
            <a:r>
              <a:rPr lang="en-US" sz="1666" b="1" dirty="0">
                <a:solidFill>
                  <a:srgbClr val="38BDF8"/>
                </a:solidFill>
                <a:latin typeface="Liter" pitchFamily="34" charset="0"/>
                <a:ea typeface="Liter" pitchFamily="34" charset="-122"/>
                <a:cs typeface="Liter" pitchFamily="34" charset="-120"/>
              </a:rPr>
              <a:t>7,630</a:t>
            </a:r>
            <a:endParaRPr lang="en-US" sz="1600" dirty="0"/>
          </a:p>
        </p:txBody>
      </p:sp>
      <p:sp>
        <p:nvSpPr>
          <p:cNvPr id="15" name="Text 13"/>
          <p:cNvSpPr/>
          <p:nvPr/>
        </p:nvSpPr>
        <p:spPr>
          <a:xfrm>
            <a:off x="2444957" y="2759289"/>
            <a:ext cx="1586811" cy="211575"/>
          </a:xfrm>
          <a:prstGeom prst="rect">
            <a:avLst/>
          </a:prstGeom>
          <a:noFill/>
          <a:ln/>
        </p:spPr>
        <p:txBody>
          <a:bodyPr wrap="square" lIns="0" tIns="0" rIns="0" bIns="0" rtlCol="0" anchor="ctr"/>
          <a:lstStyle/>
          <a:p>
            <a:pPr algn="ct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Single-Aisle</a:t>
            </a:r>
            <a:endParaRPr lang="en-US" sz="1600" dirty="0"/>
          </a:p>
        </p:txBody>
      </p:sp>
      <p:sp>
        <p:nvSpPr>
          <p:cNvPr id="16" name="Text 14"/>
          <p:cNvSpPr/>
          <p:nvPr/>
        </p:nvSpPr>
        <p:spPr>
          <a:xfrm>
            <a:off x="2444957" y="2970863"/>
            <a:ext cx="1586811" cy="211575"/>
          </a:xfrm>
          <a:prstGeom prst="rect">
            <a:avLst/>
          </a:prstGeom>
          <a:noFill/>
          <a:ln/>
        </p:spPr>
        <p:txBody>
          <a:bodyPr wrap="square" lIns="0" tIns="0" rIns="0" bIns="0" rtlCol="0" anchor="ctr"/>
          <a:lstStyle/>
          <a:p>
            <a:pPr algn="ctr">
              <a:lnSpc>
                <a:spcPct val="130000"/>
              </a:lnSpc>
            </a:pPr>
            <a:r>
              <a:rPr lang="en-US" sz="1111" b="1" dirty="0">
                <a:solidFill>
                  <a:srgbClr val="F59E0B"/>
                </a:solidFill>
                <a:latin typeface="Quattrocento Sans" pitchFamily="34" charset="0"/>
                <a:ea typeface="Quattrocento Sans" pitchFamily="34" charset="-122"/>
                <a:cs typeface="Quattrocento Sans" pitchFamily="34" charset="-120"/>
              </a:rPr>
              <a:t>87%</a:t>
            </a:r>
            <a:endParaRPr lang="en-US" sz="1600" dirty="0"/>
          </a:p>
        </p:txBody>
      </p:sp>
      <p:sp>
        <p:nvSpPr>
          <p:cNvPr id="17" name="Shape 15"/>
          <p:cNvSpPr/>
          <p:nvPr/>
        </p:nvSpPr>
        <p:spPr>
          <a:xfrm>
            <a:off x="4211248" y="2371401"/>
            <a:ext cx="1727861" cy="916824"/>
          </a:xfrm>
          <a:custGeom>
            <a:avLst/>
            <a:gdLst/>
            <a:ahLst/>
            <a:cxnLst/>
            <a:rect l="l" t="t" r="r" b="b"/>
            <a:pathLst>
              <a:path w="1727861" h="916824">
                <a:moveTo>
                  <a:pt x="70522" y="0"/>
                </a:moveTo>
                <a:lnTo>
                  <a:pt x="1657339" y="0"/>
                </a:lnTo>
                <a:cubicBezTo>
                  <a:pt x="1696287" y="0"/>
                  <a:pt x="1727861" y="31574"/>
                  <a:pt x="1727861" y="70522"/>
                </a:cubicBezTo>
                <a:lnTo>
                  <a:pt x="1727861" y="846302"/>
                </a:lnTo>
                <a:cubicBezTo>
                  <a:pt x="1727861" y="885250"/>
                  <a:pt x="1696287" y="916824"/>
                  <a:pt x="1657339" y="916824"/>
                </a:cubicBezTo>
                <a:lnTo>
                  <a:pt x="70522" y="916824"/>
                </a:lnTo>
                <a:cubicBezTo>
                  <a:pt x="31600" y="916824"/>
                  <a:pt x="0" y="885224"/>
                  <a:pt x="0" y="846302"/>
                </a:cubicBezTo>
                <a:lnTo>
                  <a:pt x="0" y="70522"/>
                </a:lnTo>
                <a:cubicBezTo>
                  <a:pt x="0" y="31600"/>
                  <a:pt x="31600" y="0"/>
                  <a:pt x="70522" y="0"/>
                </a:cubicBezTo>
                <a:close/>
              </a:path>
            </a:pathLst>
          </a:custGeom>
          <a:solidFill>
            <a:srgbClr val="0F172A">
              <a:alpha val="50196"/>
            </a:srgbClr>
          </a:solidFill>
          <a:ln/>
        </p:spPr>
        <p:txBody>
          <a:bodyPr/>
          <a:lstStyle/>
          <a:p>
            <a:endParaRPr lang="en-GB"/>
          </a:p>
        </p:txBody>
      </p:sp>
      <p:sp>
        <p:nvSpPr>
          <p:cNvPr id="18" name="Text 16"/>
          <p:cNvSpPr/>
          <p:nvPr/>
        </p:nvSpPr>
        <p:spPr>
          <a:xfrm>
            <a:off x="4264142" y="2477189"/>
            <a:ext cx="1622074" cy="282100"/>
          </a:xfrm>
          <a:prstGeom prst="rect">
            <a:avLst/>
          </a:prstGeom>
          <a:noFill/>
          <a:ln/>
        </p:spPr>
        <p:txBody>
          <a:bodyPr wrap="square" lIns="0" tIns="0" rIns="0" bIns="0" rtlCol="0" anchor="ctr"/>
          <a:lstStyle/>
          <a:p>
            <a:pPr algn="ctr">
              <a:lnSpc>
                <a:spcPct val="110000"/>
              </a:lnSpc>
            </a:pPr>
            <a:r>
              <a:rPr lang="en-US" sz="1666" b="1" dirty="0">
                <a:solidFill>
                  <a:srgbClr val="F59E0B"/>
                </a:solidFill>
                <a:latin typeface="Liter" pitchFamily="34" charset="0"/>
                <a:ea typeface="Liter" pitchFamily="34" charset="-122"/>
                <a:cs typeface="Liter" pitchFamily="34" charset="-120"/>
              </a:rPr>
              <a:t>$400B+</a:t>
            </a:r>
            <a:endParaRPr lang="en-US" sz="1600" dirty="0"/>
          </a:p>
        </p:txBody>
      </p:sp>
      <p:sp>
        <p:nvSpPr>
          <p:cNvPr id="19" name="Text 17"/>
          <p:cNvSpPr/>
          <p:nvPr/>
        </p:nvSpPr>
        <p:spPr>
          <a:xfrm>
            <a:off x="4281773" y="2759289"/>
            <a:ext cx="1586811" cy="211575"/>
          </a:xfrm>
          <a:prstGeom prst="rect">
            <a:avLst/>
          </a:prstGeom>
          <a:noFill/>
          <a:ln/>
        </p:spPr>
        <p:txBody>
          <a:bodyPr wrap="square" lIns="0" tIns="0" rIns="0" bIns="0" rtlCol="0" anchor="ctr"/>
          <a:lstStyle/>
          <a:p>
            <a:pPr algn="ct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Backlog Value</a:t>
            </a:r>
            <a:endParaRPr lang="en-US" sz="1600" dirty="0"/>
          </a:p>
        </p:txBody>
      </p:sp>
      <p:sp>
        <p:nvSpPr>
          <p:cNvPr id="20" name="Text 18"/>
          <p:cNvSpPr/>
          <p:nvPr/>
        </p:nvSpPr>
        <p:spPr>
          <a:xfrm>
            <a:off x="4281773" y="2970863"/>
            <a:ext cx="1586811" cy="211575"/>
          </a:xfrm>
          <a:prstGeom prst="rect">
            <a:avLst/>
          </a:prstGeom>
          <a:noFill/>
          <a:ln/>
        </p:spPr>
        <p:txBody>
          <a:bodyPr wrap="square" lIns="0" tIns="0" rIns="0" bIns="0" rtlCol="0" anchor="ctr"/>
          <a:lstStyle/>
          <a:p>
            <a:pPr algn="ctr">
              <a:lnSpc>
                <a:spcPct val="130000"/>
              </a:lnSpc>
            </a:pPr>
            <a:r>
              <a:rPr lang="en-US" sz="1111" b="1" dirty="0">
                <a:solidFill>
                  <a:srgbClr val="38BDF8"/>
                </a:solidFill>
                <a:latin typeface="Quattrocento Sans" pitchFamily="34" charset="0"/>
                <a:ea typeface="Quattrocento Sans" pitchFamily="34" charset="-122"/>
                <a:cs typeface="Quattrocento Sans" pitchFamily="34" charset="-120"/>
              </a:rPr>
              <a:t>Est.</a:t>
            </a:r>
            <a:endParaRPr lang="en-US" sz="1600" dirty="0"/>
          </a:p>
        </p:txBody>
      </p:sp>
      <p:sp>
        <p:nvSpPr>
          <p:cNvPr id="21" name="Shape 19"/>
          <p:cNvSpPr/>
          <p:nvPr/>
        </p:nvSpPr>
        <p:spPr>
          <a:xfrm>
            <a:off x="6047927" y="2371401"/>
            <a:ext cx="1727861" cy="916824"/>
          </a:xfrm>
          <a:custGeom>
            <a:avLst/>
            <a:gdLst/>
            <a:ahLst/>
            <a:cxnLst/>
            <a:rect l="l" t="t" r="r" b="b"/>
            <a:pathLst>
              <a:path w="1727861" h="916824">
                <a:moveTo>
                  <a:pt x="70522" y="0"/>
                </a:moveTo>
                <a:lnTo>
                  <a:pt x="1657339" y="0"/>
                </a:lnTo>
                <a:cubicBezTo>
                  <a:pt x="1696287" y="0"/>
                  <a:pt x="1727861" y="31574"/>
                  <a:pt x="1727861" y="70522"/>
                </a:cubicBezTo>
                <a:lnTo>
                  <a:pt x="1727861" y="846302"/>
                </a:lnTo>
                <a:cubicBezTo>
                  <a:pt x="1727861" y="885250"/>
                  <a:pt x="1696287" y="916824"/>
                  <a:pt x="1657339" y="916824"/>
                </a:cubicBezTo>
                <a:lnTo>
                  <a:pt x="70522" y="916824"/>
                </a:lnTo>
                <a:cubicBezTo>
                  <a:pt x="31600" y="916824"/>
                  <a:pt x="0" y="885224"/>
                  <a:pt x="0" y="846302"/>
                </a:cubicBezTo>
                <a:lnTo>
                  <a:pt x="0" y="70522"/>
                </a:lnTo>
                <a:cubicBezTo>
                  <a:pt x="0" y="31600"/>
                  <a:pt x="31600" y="0"/>
                  <a:pt x="70522" y="0"/>
                </a:cubicBezTo>
                <a:close/>
              </a:path>
            </a:pathLst>
          </a:custGeom>
          <a:solidFill>
            <a:srgbClr val="0F172A">
              <a:alpha val="50196"/>
            </a:srgbClr>
          </a:solidFill>
          <a:ln/>
        </p:spPr>
        <p:txBody>
          <a:bodyPr/>
          <a:lstStyle/>
          <a:p>
            <a:endParaRPr lang="en-GB"/>
          </a:p>
        </p:txBody>
      </p:sp>
      <p:sp>
        <p:nvSpPr>
          <p:cNvPr id="22" name="Text 20"/>
          <p:cNvSpPr/>
          <p:nvPr/>
        </p:nvSpPr>
        <p:spPr>
          <a:xfrm>
            <a:off x="6100821" y="2477189"/>
            <a:ext cx="1622074" cy="282100"/>
          </a:xfrm>
          <a:prstGeom prst="rect">
            <a:avLst/>
          </a:prstGeom>
          <a:noFill/>
          <a:ln/>
        </p:spPr>
        <p:txBody>
          <a:bodyPr wrap="square" lIns="0" tIns="0" rIns="0" bIns="0" rtlCol="0" anchor="ctr"/>
          <a:lstStyle/>
          <a:p>
            <a:pPr algn="ctr">
              <a:lnSpc>
                <a:spcPct val="110000"/>
              </a:lnSpc>
            </a:pPr>
            <a:r>
              <a:rPr lang="en-US" sz="1666" b="1" dirty="0">
                <a:solidFill>
                  <a:srgbClr val="38BDF8"/>
                </a:solidFill>
                <a:latin typeface="Liter" pitchFamily="34" charset="0"/>
                <a:ea typeface="Liter" pitchFamily="34" charset="-122"/>
                <a:cs typeface="Liter" pitchFamily="34" charset="-120"/>
              </a:rPr>
              <a:t>&gt;10</a:t>
            </a:r>
            <a:endParaRPr lang="en-US" sz="1600" dirty="0"/>
          </a:p>
        </p:txBody>
      </p:sp>
      <p:sp>
        <p:nvSpPr>
          <p:cNvPr id="23" name="Text 21"/>
          <p:cNvSpPr/>
          <p:nvPr/>
        </p:nvSpPr>
        <p:spPr>
          <a:xfrm>
            <a:off x="6118452" y="2759289"/>
            <a:ext cx="1586811" cy="211575"/>
          </a:xfrm>
          <a:prstGeom prst="rect">
            <a:avLst/>
          </a:prstGeom>
          <a:noFill/>
          <a:ln/>
        </p:spPr>
        <p:txBody>
          <a:bodyPr wrap="square" lIns="0" tIns="0" rIns="0" bIns="0" rtlCol="0" anchor="ctr"/>
          <a:lstStyle/>
          <a:p>
            <a:pPr algn="ct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Years Coverage</a:t>
            </a:r>
            <a:endParaRPr lang="en-US" sz="1600" dirty="0"/>
          </a:p>
        </p:txBody>
      </p:sp>
      <p:sp>
        <p:nvSpPr>
          <p:cNvPr id="24" name="Text 22"/>
          <p:cNvSpPr/>
          <p:nvPr/>
        </p:nvSpPr>
        <p:spPr>
          <a:xfrm>
            <a:off x="6118452" y="2970863"/>
            <a:ext cx="1586811" cy="211575"/>
          </a:xfrm>
          <a:prstGeom prst="rect">
            <a:avLst/>
          </a:prstGeom>
          <a:noFill/>
          <a:ln/>
        </p:spPr>
        <p:txBody>
          <a:bodyPr wrap="square" lIns="0" tIns="0" rIns="0" bIns="0" rtlCol="0" anchor="ctr"/>
          <a:lstStyle/>
          <a:p>
            <a:pPr algn="ctr">
              <a:lnSpc>
                <a:spcPct val="130000"/>
              </a:lnSpc>
            </a:pPr>
            <a:r>
              <a:rPr lang="en-US" sz="1111" b="1" dirty="0">
                <a:solidFill>
                  <a:srgbClr val="F59E0B"/>
                </a:solidFill>
                <a:latin typeface="Quattrocento Sans" pitchFamily="34" charset="0"/>
                <a:ea typeface="Quattrocento Sans" pitchFamily="34" charset="-122"/>
                <a:cs typeface="Quattrocento Sans" pitchFamily="34" charset="-120"/>
              </a:rPr>
              <a:t>At Current Rate</a:t>
            </a:r>
            <a:endParaRPr lang="en-US" sz="1600" dirty="0"/>
          </a:p>
        </p:txBody>
      </p:sp>
      <p:sp>
        <p:nvSpPr>
          <p:cNvPr id="25" name="Shape 23"/>
          <p:cNvSpPr/>
          <p:nvPr/>
        </p:nvSpPr>
        <p:spPr>
          <a:xfrm>
            <a:off x="537753" y="3429275"/>
            <a:ext cx="7237623" cy="634725"/>
          </a:xfrm>
          <a:custGeom>
            <a:avLst/>
            <a:gdLst/>
            <a:ahLst/>
            <a:cxnLst/>
            <a:rect l="l" t="t" r="r" b="b"/>
            <a:pathLst>
              <a:path w="7237623" h="634725">
                <a:moveTo>
                  <a:pt x="70524" y="0"/>
                </a:moveTo>
                <a:lnTo>
                  <a:pt x="7167098" y="0"/>
                </a:lnTo>
                <a:cubicBezTo>
                  <a:pt x="7206048" y="0"/>
                  <a:pt x="7237623" y="31575"/>
                  <a:pt x="7237623" y="70524"/>
                </a:cubicBezTo>
                <a:lnTo>
                  <a:pt x="7237623" y="564200"/>
                </a:lnTo>
                <a:cubicBezTo>
                  <a:pt x="7237623" y="603150"/>
                  <a:pt x="7206048" y="634725"/>
                  <a:pt x="7167098" y="634725"/>
                </a:cubicBezTo>
                <a:lnTo>
                  <a:pt x="70524" y="634725"/>
                </a:lnTo>
                <a:cubicBezTo>
                  <a:pt x="31575" y="634725"/>
                  <a:pt x="0" y="603150"/>
                  <a:pt x="0" y="564200"/>
                </a:cubicBezTo>
                <a:lnTo>
                  <a:pt x="0" y="70524"/>
                </a:lnTo>
                <a:cubicBezTo>
                  <a:pt x="0" y="31601"/>
                  <a:pt x="31601" y="0"/>
                  <a:pt x="70524" y="0"/>
                </a:cubicBezTo>
                <a:close/>
              </a:path>
            </a:pathLst>
          </a:custGeom>
          <a:solidFill>
            <a:srgbClr val="0F172A">
              <a:alpha val="50196"/>
            </a:srgbClr>
          </a:solidFill>
          <a:ln/>
        </p:spPr>
        <p:txBody>
          <a:bodyPr/>
          <a:lstStyle/>
          <a:p>
            <a:endParaRPr lang="en-GB"/>
          </a:p>
        </p:txBody>
      </p:sp>
      <p:sp>
        <p:nvSpPr>
          <p:cNvPr id="26" name="Text 24"/>
          <p:cNvSpPr/>
          <p:nvPr/>
        </p:nvSpPr>
        <p:spPr>
          <a:xfrm>
            <a:off x="643540" y="3535063"/>
            <a:ext cx="7096573" cy="423150"/>
          </a:xfrm>
          <a:prstGeom prst="rect">
            <a:avLst/>
          </a:prstGeom>
          <a:noFill/>
          <a:ln/>
        </p:spPr>
        <p:txBody>
          <a:bodyPr wrap="square" lIns="0" tIns="0" rIns="0" bIns="0" rtlCol="0" anchor="ctr"/>
          <a:lstStyle/>
          <a:p>
            <a:pPr>
              <a:lnSpc>
                <a:spcPct val="130000"/>
              </a:lnSpc>
            </a:pPr>
            <a:r>
              <a:rPr lang="en-US" sz="1111" b="1" dirty="0">
                <a:solidFill>
                  <a:srgbClr val="38BDF8"/>
                </a:solidFill>
                <a:latin typeface="Quattrocento Sans" pitchFamily="34" charset="0"/>
                <a:ea typeface="Quattrocento Sans" pitchFamily="34" charset="-122"/>
                <a:cs typeface="Quattrocento Sans" pitchFamily="34" charset="-120"/>
              </a:rPr>
              <a:t>Book-to-Bill Ratio &gt;1.0:</a:t>
            </a:r>
            <a:r>
              <a:rPr lang="en-US" sz="1111" dirty="0">
                <a:solidFill>
                  <a:srgbClr val="E2E8F0"/>
                </a:solidFill>
                <a:latin typeface="Quattrocento Sans" pitchFamily="34" charset="0"/>
                <a:ea typeface="Quattrocento Sans" pitchFamily="34" charset="-122"/>
                <a:cs typeface="Quattrocento Sans" pitchFamily="34" charset="-120"/>
              </a:rPr>
              <a:t> Sustained demand exceeds deliveries, indicating healthy market dynamics and strong airline confidence in Airbus products.</a:t>
            </a:r>
            <a:endParaRPr lang="en-US" sz="1600" dirty="0"/>
          </a:p>
        </p:txBody>
      </p:sp>
      <p:sp>
        <p:nvSpPr>
          <p:cNvPr id="27" name="Shape 25"/>
          <p:cNvSpPr/>
          <p:nvPr/>
        </p:nvSpPr>
        <p:spPr>
          <a:xfrm>
            <a:off x="352625" y="4390178"/>
            <a:ext cx="7607879" cy="2364101"/>
          </a:xfrm>
          <a:custGeom>
            <a:avLst/>
            <a:gdLst/>
            <a:ahLst/>
            <a:cxnLst/>
            <a:rect l="l" t="t" r="r" b="b"/>
            <a:pathLst>
              <a:path w="7607879" h="2671132">
                <a:moveTo>
                  <a:pt x="105777" y="0"/>
                </a:moveTo>
                <a:lnTo>
                  <a:pt x="7502102" y="0"/>
                </a:lnTo>
                <a:cubicBezTo>
                  <a:pt x="7560521" y="0"/>
                  <a:pt x="7607879" y="47358"/>
                  <a:pt x="7607879" y="105777"/>
                </a:cubicBezTo>
                <a:lnTo>
                  <a:pt x="7607879" y="2565355"/>
                </a:lnTo>
                <a:cubicBezTo>
                  <a:pt x="7607879" y="2623774"/>
                  <a:pt x="7560521" y="2671132"/>
                  <a:pt x="7502102" y="2671132"/>
                </a:cubicBezTo>
                <a:lnTo>
                  <a:pt x="105777" y="2671132"/>
                </a:lnTo>
                <a:cubicBezTo>
                  <a:pt x="47358" y="2671132"/>
                  <a:pt x="0" y="2623774"/>
                  <a:pt x="0" y="2565355"/>
                </a:cubicBezTo>
                <a:lnTo>
                  <a:pt x="0" y="105777"/>
                </a:lnTo>
                <a:cubicBezTo>
                  <a:pt x="0" y="47397"/>
                  <a:pt x="47397" y="0"/>
                  <a:pt x="105777" y="0"/>
                </a:cubicBezTo>
                <a:close/>
              </a:path>
            </a:pathLst>
          </a:custGeom>
          <a:solidFill>
            <a:srgbClr val="1E293B"/>
          </a:solidFill>
          <a:ln/>
        </p:spPr>
        <p:txBody>
          <a:bodyPr/>
          <a:lstStyle/>
          <a:p>
            <a:endParaRPr lang="en-GB"/>
          </a:p>
        </p:txBody>
      </p:sp>
      <p:sp>
        <p:nvSpPr>
          <p:cNvPr id="28" name="Text 26"/>
          <p:cNvSpPr/>
          <p:nvPr/>
        </p:nvSpPr>
        <p:spPr>
          <a:xfrm>
            <a:off x="528937" y="4566490"/>
            <a:ext cx="7343410" cy="246837"/>
          </a:xfrm>
          <a:prstGeom prst="rect">
            <a:avLst/>
          </a:prstGeom>
          <a:noFill/>
          <a:ln/>
        </p:spPr>
        <p:txBody>
          <a:bodyPr wrap="square" lIns="0" tIns="0" rIns="0" bIns="0" rtlCol="0" anchor="ctr"/>
          <a:lstStyle/>
          <a:p>
            <a:pPr>
              <a:lnSpc>
                <a:spcPct val="120000"/>
              </a:lnSpc>
            </a:pPr>
            <a:r>
              <a:rPr lang="en-US" sz="1388" b="1" dirty="0">
                <a:solidFill>
                  <a:srgbClr val="FFFFFF"/>
                </a:solidFill>
                <a:latin typeface="Liter" pitchFamily="34" charset="0"/>
                <a:ea typeface="Liter" pitchFamily="34" charset="-122"/>
                <a:cs typeface="Liter" pitchFamily="34" charset="-120"/>
              </a:rPr>
              <a:t>2025 Order Breakdown by Family</a:t>
            </a:r>
            <a:endParaRPr lang="en-US" sz="1600" dirty="0"/>
          </a:p>
        </p:txBody>
      </p:sp>
      <p:pic>
        <p:nvPicPr>
          <p:cNvPr id="29" name="Image 0" descr="https://kimi-img.moonshot.cn/pub/slides/26-01-29-09:48:20-d5tbop701qmbfs4r7psg.png"/>
          <p:cNvPicPr>
            <a:picLocks noChangeAspect="1"/>
          </p:cNvPicPr>
          <p:nvPr/>
        </p:nvPicPr>
        <p:blipFill>
          <a:blip r:embed="rId3"/>
          <a:srcRect/>
          <a:stretch/>
        </p:blipFill>
        <p:spPr>
          <a:xfrm>
            <a:off x="528937" y="4919115"/>
            <a:ext cx="6655792" cy="1763124"/>
          </a:xfrm>
          <a:prstGeom prst="roundRect">
            <a:avLst>
              <a:gd name="adj" fmla="val 0"/>
            </a:avLst>
          </a:prstGeom>
        </p:spPr>
      </p:pic>
      <p:sp>
        <p:nvSpPr>
          <p:cNvPr id="30" name="Shape 27"/>
          <p:cNvSpPr/>
          <p:nvPr/>
        </p:nvSpPr>
        <p:spPr>
          <a:xfrm>
            <a:off x="8105134" y="1410499"/>
            <a:ext cx="3737822" cy="3699668"/>
          </a:xfrm>
          <a:custGeom>
            <a:avLst/>
            <a:gdLst/>
            <a:ahLst/>
            <a:cxnLst/>
            <a:rect l="l" t="t" r="r" b="b"/>
            <a:pathLst>
              <a:path w="3737822" h="3975844">
                <a:moveTo>
                  <a:pt x="105780" y="0"/>
                </a:moveTo>
                <a:lnTo>
                  <a:pt x="3632042" y="0"/>
                </a:lnTo>
                <a:cubicBezTo>
                  <a:pt x="3690463" y="0"/>
                  <a:pt x="3737822" y="47359"/>
                  <a:pt x="3737822" y="105780"/>
                </a:cubicBezTo>
                <a:lnTo>
                  <a:pt x="3737822" y="3870063"/>
                </a:lnTo>
                <a:cubicBezTo>
                  <a:pt x="3737822" y="3928484"/>
                  <a:pt x="3690463" y="3975844"/>
                  <a:pt x="3632042" y="3975844"/>
                </a:cubicBezTo>
                <a:lnTo>
                  <a:pt x="105780" y="3975844"/>
                </a:lnTo>
                <a:cubicBezTo>
                  <a:pt x="47359" y="3975844"/>
                  <a:pt x="0" y="3928484"/>
                  <a:pt x="0" y="3870063"/>
                </a:cubicBezTo>
                <a:lnTo>
                  <a:pt x="0" y="105780"/>
                </a:lnTo>
                <a:cubicBezTo>
                  <a:pt x="0" y="47359"/>
                  <a:pt x="47359" y="0"/>
                  <a:pt x="105780" y="0"/>
                </a:cubicBezTo>
                <a:close/>
              </a:path>
            </a:pathLst>
          </a:custGeom>
          <a:solidFill>
            <a:srgbClr val="1E293B"/>
          </a:solidFill>
          <a:ln/>
        </p:spPr>
        <p:txBody>
          <a:bodyPr/>
          <a:lstStyle/>
          <a:p>
            <a:endParaRPr lang="en-GB"/>
          </a:p>
        </p:txBody>
      </p:sp>
      <p:sp>
        <p:nvSpPr>
          <p:cNvPr id="31" name="Text 28"/>
          <p:cNvSpPr/>
          <p:nvPr/>
        </p:nvSpPr>
        <p:spPr>
          <a:xfrm>
            <a:off x="8281447" y="1586811"/>
            <a:ext cx="3464538" cy="246837"/>
          </a:xfrm>
          <a:prstGeom prst="rect">
            <a:avLst/>
          </a:prstGeom>
          <a:noFill/>
          <a:ln/>
        </p:spPr>
        <p:txBody>
          <a:bodyPr wrap="square" lIns="0" tIns="0" rIns="0" bIns="0" rtlCol="0" anchor="ctr"/>
          <a:lstStyle/>
          <a:p>
            <a:pPr>
              <a:lnSpc>
                <a:spcPct val="130000"/>
              </a:lnSpc>
            </a:pPr>
            <a:r>
              <a:rPr lang="en-US" sz="1249" b="1" dirty="0">
                <a:solidFill>
                  <a:srgbClr val="FFFFFF"/>
                </a:solidFill>
                <a:latin typeface="Liter" pitchFamily="34" charset="0"/>
                <a:ea typeface="Liter" pitchFamily="34" charset="-122"/>
                <a:cs typeface="Liter" pitchFamily="34" charset="-120"/>
              </a:rPr>
              <a:t>2025 Order Highlights</a:t>
            </a:r>
            <a:endParaRPr lang="en-US" sz="1600" dirty="0"/>
          </a:p>
        </p:txBody>
      </p:sp>
      <p:sp>
        <p:nvSpPr>
          <p:cNvPr id="32" name="Shape 29"/>
          <p:cNvSpPr/>
          <p:nvPr/>
        </p:nvSpPr>
        <p:spPr>
          <a:xfrm>
            <a:off x="8281447" y="1939436"/>
            <a:ext cx="3385197" cy="669987"/>
          </a:xfrm>
          <a:custGeom>
            <a:avLst/>
            <a:gdLst/>
            <a:ahLst/>
            <a:cxnLst/>
            <a:rect l="l" t="t" r="r" b="b"/>
            <a:pathLst>
              <a:path w="3385197" h="669987">
                <a:moveTo>
                  <a:pt x="70523" y="0"/>
                </a:moveTo>
                <a:lnTo>
                  <a:pt x="3314675" y="0"/>
                </a:lnTo>
                <a:cubicBezTo>
                  <a:pt x="3353623" y="0"/>
                  <a:pt x="3385197" y="31574"/>
                  <a:pt x="3385197" y="70523"/>
                </a:cubicBezTo>
                <a:lnTo>
                  <a:pt x="3385197" y="599464"/>
                </a:lnTo>
                <a:cubicBezTo>
                  <a:pt x="3385197" y="638413"/>
                  <a:pt x="3353623" y="669987"/>
                  <a:pt x="3314675" y="669987"/>
                </a:cubicBezTo>
                <a:lnTo>
                  <a:pt x="70523" y="669987"/>
                </a:lnTo>
                <a:cubicBezTo>
                  <a:pt x="31600" y="669987"/>
                  <a:pt x="0" y="638387"/>
                  <a:pt x="0" y="599464"/>
                </a:cubicBezTo>
                <a:lnTo>
                  <a:pt x="0" y="70523"/>
                </a:lnTo>
                <a:cubicBezTo>
                  <a:pt x="0" y="31574"/>
                  <a:pt x="31574" y="0"/>
                  <a:pt x="70523" y="0"/>
                </a:cubicBezTo>
                <a:close/>
              </a:path>
            </a:pathLst>
          </a:custGeom>
          <a:solidFill>
            <a:srgbClr val="0F172A">
              <a:alpha val="50196"/>
            </a:srgbClr>
          </a:solidFill>
          <a:ln/>
        </p:spPr>
        <p:txBody>
          <a:bodyPr/>
          <a:lstStyle/>
          <a:p>
            <a:endParaRPr lang="en-GB"/>
          </a:p>
        </p:txBody>
      </p:sp>
      <p:sp>
        <p:nvSpPr>
          <p:cNvPr id="33" name="Text 30"/>
          <p:cNvSpPr/>
          <p:nvPr/>
        </p:nvSpPr>
        <p:spPr>
          <a:xfrm>
            <a:off x="8387234" y="2045223"/>
            <a:ext cx="881562" cy="211575"/>
          </a:xfrm>
          <a:prstGeom prst="rect">
            <a:avLst/>
          </a:prstGeom>
          <a:noFill/>
          <a:ln/>
        </p:spPr>
        <p:txBody>
          <a:bodyPr wrap="square" lIns="0" tIns="0" rIns="0" bIns="0" rtlCol="0" anchor="ctr"/>
          <a:lstStyle/>
          <a:p>
            <a:pPr>
              <a:lnSpc>
                <a:spcPct val="130000"/>
              </a:lnSpc>
            </a:pPr>
            <a:r>
              <a:rPr lang="en-US" sz="1111" dirty="0">
                <a:solidFill>
                  <a:srgbClr val="E2E8F0"/>
                </a:solidFill>
                <a:latin typeface="Quattrocento Sans" pitchFamily="34" charset="0"/>
                <a:ea typeface="Quattrocento Sans" pitchFamily="34" charset="-122"/>
                <a:cs typeface="Quattrocento Sans" pitchFamily="34" charset="-120"/>
              </a:rPr>
              <a:t>Gross Orders</a:t>
            </a:r>
            <a:endParaRPr lang="en-US" sz="1600" dirty="0"/>
          </a:p>
        </p:txBody>
      </p:sp>
      <p:sp>
        <p:nvSpPr>
          <p:cNvPr id="34" name="Text 31"/>
          <p:cNvSpPr/>
          <p:nvPr/>
        </p:nvSpPr>
        <p:spPr>
          <a:xfrm>
            <a:off x="11204513" y="2045223"/>
            <a:ext cx="423150" cy="211575"/>
          </a:xfrm>
          <a:prstGeom prst="rect">
            <a:avLst/>
          </a:prstGeom>
          <a:noFill/>
          <a:ln/>
        </p:spPr>
        <p:txBody>
          <a:bodyPr wrap="square" lIns="0" tIns="0" rIns="0" bIns="0" rtlCol="0" anchor="ctr"/>
          <a:lstStyle/>
          <a:p>
            <a:pPr>
              <a:lnSpc>
                <a:spcPct val="130000"/>
              </a:lnSpc>
            </a:pPr>
            <a:r>
              <a:rPr lang="en-US" sz="1111" b="1" dirty="0">
                <a:solidFill>
                  <a:srgbClr val="38BDF8"/>
                </a:solidFill>
                <a:latin typeface="Quattrocento Sans" pitchFamily="34" charset="0"/>
                <a:ea typeface="Quattrocento Sans" pitchFamily="34" charset="-122"/>
                <a:cs typeface="Quattrocento Sans" pitchFamily="34" charset="-120"/>
              </a:rPr>
              <a:t>1,000</a:t>
            </a:r>
            <a:endParaRPr lang="en-US" sz="1600" dirty="0"/>
          </a:p>
        </p:txBody>
      </p:sp>
      <p:sp>
        <p:nvSpPr>
          <p:cNvPr id="35" name="Text 32"/>
          <p:cNvSpPr/>
          <p:nvPr/>
        </p:nvSpPr>
        <p:spPr>
          <a:xfrm>
            <a:off x="8387234" y="2292061"/>
            <a:ext cx="1234187"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From 57 customers</a:t>
            </a:r>
            <a:endParaRPr lang="en-US" sz="1600" dirty="0"/>
          </a:p>
        </p:txBody>
      </p:sp>
      <p:sp>
        <p:nvSpPr>
          <p:cNvPr id="36" name="Shape 33"/>
          <p:cNvSpPr/>
          <p:nvPr/>
        </p:nvSpPr>
        <p:spPr>
          <a:xfrm>
            <a:off x="8281447" y="2679948"/>
            <a:ext cx="3385197" cy="669987"/>
          </a:xfrm>
          <a:custGeom>
            <a:avLst/>
            <a:gdLst/>
            <a:ahLst/>
            <a:cxnLst/>
            <a:rect l="l" t="t" r="r" b="b"/>
            <a:pathLst>
              <a:path w="3385197" h="669987">
                <a:moveTo>
                  <a:pt x="70523" y="0"/>
                </a:moveTo>
                <a:lnTo>
                  <a:pt x="3314675" y="0"/>
                </a:lnTo>
                <a:cubicBezTo>
                  <a:pt x="3353623" y="0"/>
                  <a:pt x="3385197" y="31574"/>
                  <a:pt x="3385197" y="70523"/>
                </a:cubicBezTo>
                <a:lnTo>
                  <a:pt x="3385197" y="599464"/>
                </a:lnTo>
                <a:cubicBezTo>
                  <a:pt x="3385197" y="638413"/>
                  <a:pt x="3353623" y="669987"/>
                  <a:pt x="3314675" y="669987"/>
                </a:cubicBezTo>
                <a:lnTo>
                  <a:pt x="70523" y="669987"/>
                </a:lnTo>
                <a:cubicBezTo>
                  <a:pt x="31600" y="669987"/>
                  <a:pt x="0" y="638387"/>
                  <a:pt x="0" y="599464"/>
                </a:cubicBezTo>
                <a:lnTo>
                  <a:pt x="0" y="70523"/>
                </a:lnTo>
                <a:cubicBezTo>
                  <a:pt x="0" y="31574"/>
                  <a:pt x="31574" y="0"/>
                  <a:pt x="70523" y="0"/>
                </a:cubicBezTo>
                <a:close/>
              </a:path>
            </a:pathLst>
          </a:custGeom>
          <a:solidFill>
            <a:srgbClr val="0F172A">
              <a:alpha val="50196"/>
            </a:srgbClr>
          </a:solidFill>
          <a:ln/>
        </p:spPr>
        <p:txBody>
          <a:bodyPr/>
          <a:lstStyle/>
          <a:p>
            <a:endParaRPr lang="en-GB"/>
          </a:p>
        </p:txBody>
      </p:sp>
      <p:sp>
        <p:nvSpPr>
          <p:cNvPr id="37" name="Text 34"/>
          <p:cNvSpPr/>
          <p:nvPr/>
        </p:nvSpPr>
        <p:spPr>
          <a:xfrm>
            <a:off x="8387234" y="2785735"/>
            <a:ext cx="749328" cy="211575"/>
          </a:xfrm>
          <a:prstGeom prst="rect">
            <a:avLst/>
          </a:prstGeom>
          <a:noFill/>
          <a:ln/>
        </p:spPr>
        <p:txBody>
          <a:bodyPr wrap="square" lIns="0" tIns="0" rIns="0" bIns="0" rtlCol="0" anchor="ctr"/>
          <a:lstStyle/>
          <a:p>
            <a:pPr>
              <a:lnSpc>
                <a:spcPct val="130000"/>
              </a:lnSpc>
            </a:pPr>
            <a:r>
              <a:rPr lang="en-US" sz="1111" dirty="0">
                <a:solidFill>
                  <a:srgbClr val="E2E8F0"/>
                </a:solidFill>
                <a:latin typeface="Quattrocento Sans" pitchFamily="34" charset="0"/>
                <a:ea typeface="Quattrocento Sans" pitchFamily="34" charset="-122"/>
                <a:cs typeface="Quattrocento Sans" pitchFamily="34" charset="-120"/>
              </a:rPr>
              <a:t>Net Orders</a:t>
            </a:r>
            <a:endParaRPr lang="en-US" sz="1600" dirty="0"/>
          </a:p>
        </p:txBody>
      </p:sp>
      <p:sp>
        <p:nvSpPr>
          <p:cNvPr id="38" name="Text 35"/>
          <p:cNvSpPr/>
          <p:nvPr/>
        </p:nvSpPr>
        <p:spPr>
          <a:xfrm>
            <a:off x="11322835" y="2785735"/>
            <a:ext cx="308547" cy="211575"/>
          </a:xfrm>
          <a:prstGeom prst="rect">
            <a:avLst/>
          </a:prstGeom>
          <a:noFill/>
          <a:ln/>
        </p:spPr>
        <p:txBody>
          <a:bodyPr wrap="square" lIns="0" tIns="0" rIns="0" bIns="0" rtlCol="0" anchor="ctr"/>
          <a:lstStyle/>
          <a:p>
            <a:pPr>
              <a:lnSpc>
                <a:spcPct val="130000"/>
              </a:lnSpc>
            </a:pPr>
            <a:r>
              <a:rPr lang="en-US" sz="1111" b="1" dirty="0">
                <a:solidFill>
                  <a:srgbClr val="F59E0B"/>
                </a:solidFill>
                <a:latin typeface="Quattrocento Sans" pitchFamily="34" charset="0"/>
                <a:ea typeface="Quattrocento Sans" pitchFamily="34" charset="-122"/>
                <a:cs typeface="Quattrocento Sans" pitchFamily="34" charset="-120"/>
              </a:rPr>
              <a:t>889</a:t>
            </a:r>
            <a:endParaRPr lang="en-US" sz="1600" dirty="0"/>
          </a:p>
        </p:txBody>
      </p:sp>
      <p:sp>
        <p:nvSpPr>
          <p:cNvPr id="39" name="Text 36"/>
          <p:cNvSpPr/>
          <p:nvPr/>
        </p:nvSpPr>
        <p:spPr>
          <a:xfrm>
            <a:off x="8387234" y="3032573"/>
            <a:ext cx="1198924"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After cancellations</a:t>
            </a:r>
            <a:endParaRPr lang="en-US" sz="1600" dirty="0"/>
          </a:p>
        </p:txBody>
      </p:sp>
      <p:sp>
        <p:nvSpPr>
          <p:cNvPr id="40" name="Shape 37"/>
          <p:cNvSpPr/>
          <p:nvPr/>
        </p:nvSpPr>
        <p:spPr>
          <a:xfrm>
            <a:off x="8281447" y="3706967"/>
            <a:ext cx="3385197" cy="8816"/>
          </a:xfrm>
          <a:custGeom>
            <a:avLst/>
            <a:gdLst/>
            <a:ahLst/>
            <a:cxnLst/>
            <a:rect l="l" t="t" r="r" b="b"/>
            <a:pathLst>
              <a:path w="3385197" h="8816">
                <a:moveTo>
                  <a:pt x="0" y="0"/>
                </a:moveTo>
                <a:lnTo>
                  <a:pt x="3385197" y="0"/>
                </a:lnTo>
                <a:lnTo>
                  <a:pt x="3385197" y="8816"/>
                </a:lnTo>
                <a:lnTo>
                  <a:pt x="0" y="8816"/>
                </a:lnTo>
                <a:lnTo>
                  <a:pt x="0" y="0"/>
                </a:lnTo>
                <a:close/>
              </a:path>
            </a:pathLst>
          </a:custGeom>
          <a:solidFill>
            <a:srgbClr val="475569"/>
          </a:solidFill>
          <a:ln/>
        </p:spPr>
        <p:txBody>
          <a:bodyPr/>
          <a:lstStyle/>
          <a:p>
            <a:endParaRPr lang="en-GB"/>
          </a:p>
        </p:txBody>
      </p:sp>
      <p:sp>
        <p:nvSpPr>
          <p:cNvPr id="41" name="Text 38"/>
          <p:cNvSpPr/>
          <p:nvPr/>
        </p:nvSpPr>
        <p:spPr>
          <a:xfrm>
            <a:off x="8281447" y="3455722"/>
            <a:ext cx="828668"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A320 Family</a:t>
            </a:r>
            <a:endParaRPr lang="en-US" sz="1600" dirty="0"/>
          </a:p>
        </p:txBody>
      </p:sp>
      <p:sp>
        <p:nvSpPr>
          <p:cNvPr id="42" name="Text 39"/>
          <p:cNvSpPr/>
          <p:nvPr/>
        </p:nvSpPr>
        <p:spPr>
          <a:xfrm>
            <a:off x="11432617" y="3455722"/>
            <a:ext cx="299731" cy="211575"/>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656</a:t>
            </a:r>
            <a:endParaRPr lang="en-US" sz="1600" dirty="0"/>
          </a:p>
        </p:txBody>
      </p:sp>
      <p:sp>
        <p:nvSpPr>
          <p:cNvPr id="43" name="Shape 40"/>
          <p:cNvSpPr/>
          <p:nvPr/>
        </p:nvSpPr>
        <p:spPr>
          <a:xfrm>
            <a:off x="8281447" y="4033145"/>
            <a:ext cx="3385197" cy="8816"/>
          </a:xfrm>
          <a:custGeom>
            <a:avLst/>
            <a:gdLst/>
            <a:ahLst/>
            <a:cxnLst/>
            <a:rect l="l" t="t" r="r" b="b"/>
            <a:pathLst>
              <a:path w="3385197" h="8816">
                <a:moveTo>
                  <a:pt x="0" y="0"/>
                </a:moveTo>
                <a:lnTo>
                  <a:pt x="3385197" y="0"/>
                </a:lnTo>
                <a:lnTo>
                  <a:pt x="3385197" y="8816"/>
                </a:lnTo>
                <a:lnTo>
                  <a:pt x="0" y="8816"/>
                </a:lnTo>
                <a:lnTo>
                  <a:pt x="0" y="0"/>
                </a:lnTo>
                <a:close/>
              </a:path>
            </a:pathLst>
          </a:custGeom>
          <a:solidFill>
            <a:srgbClr val="475569"/>
          </a:solidFill>
          <a:ln/>
        </p:spPr>
        <p:txBody>
          <a:bodyPr/>
          <a:lstStyle/>
          <a:p>
            <a:endParaRPr lang="en-GB"/>
          </a:p>
        </p:txBody>
      </p:sp>
      <p:sp>
        <p:nvSpPr>
          <p:cNvPr id="44" name="Text 41"/>
          <p:cNvSpPr/>
          <p:nvPr/>
        </p:nvSpPr>
        <p:spPr>
          <a:xfrm>
            <a:off x="8281447" y="3781900"/>
            <a:ext cx="837484"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A350 Family</a:t>
            </a:r>
            <a:endParaRPr lang="en-US" sz="1600" dirty="0"/>
          </a:p>
        </p:txBody>
      </p:sp>
      <p:sp>
        <p:nvSpPr>
          <p:cNvPr id="45" name="Text 42"/>
          <p:cNvSpPr/>
          <p:nvPr/>
        </p:nvSpPr>
        <p:spPr>
          <a:xfrm>
            <a:off x="11465951" y="3781900"/>
            <a:ext cx="264469" cy="211575"/>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193</a:t>
            </a:r>
            <a:endParaRPr lang="en-US" sz="1600" dirty="0"/>
          </a:p>
        </p:txBody>
      </p:sp>
      <p:sp>
        <p:nvSpPr>
          <p:cNvPr id="46" name="Shape 43"/>
          <p:cNvSpPr/>
          <p:nvPr/>
        </p:nvSpPr>
        <p:spPr>
          <a:xfrm>
            <a:off x="8281447" y="4359323"/>
            <a:ext cx="3385197" cy="8816"/>
          </a:xfrm>
          <a:custGeom>
            <a:avLst/>
            <a:gdLst/>
            <a:ahLst/>
            <a:cxnLst/>
            <a:rect l="l" t="t" r="r" b="b"/>
            <a:pathLst>
              <a:path w="3385197" h="8816">
                <a:moveTo>
                  <a:pt x="0" y="0"/>
                </a:moveTo>
                <a:lnTo>
                  <a:pt x="3385197" y="0"/>
                </a:lnTo>
                <a:lnTo>
                  <a:pt x="3385197" y="8816"/>
                </a:lnTo>
                <a:lnTo>
                  <a:pt x="0" y="8816"/>
                </a:lnTo>
                <a:lnTo>
                  <a:pt x="0" y="0"/>
                </a:lnTo>
                <a:close/>
              </a:path>
            </a:pathLst>
          </a:custGeom>
          <a:solidFill>
            <a:srgbClr val="475569"/>
          </a:solidFill>
          <a:ln/>
        </p:spPr>
        <p:txBody>
          <a:bodyPr/>
          <a:lstStyle/>
          <a:p>
            <a:endParaRPr lang="en-GB"/>
          </a:p>
        </p:txBody>
      </p:sp>
      <p:sp>
        <p:nvSpPr>
          <p:cNvPr id="47" name="Text 44"/>
          <p:cNvSpPr/>
          <p:nvPr/>
        </p:nvSpPr>
        <p:spPr>
          <a:xfrm>
            <a:off x="8281447" y="4108078"/>
            <a:ext cx="837484"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A330 Family</a:t>
            </a:r>
            <a:endParaRPr lang="en-US" sz="1600" dirty="0"/>
          </a:p>
        </p:txBody>
      </p:sp>
      <p:sp>
        <p:nvSpPr>
          <p:cNvPr id="48" name="Text 45"/>
          <p:cNvSpPr/>
          <p:nvPr/>
        </p:nvSpPr>
        <p:spPr>
          <a:xfrm>
            <a:off x="11436198" y="4108078"/>
            <a:ext cx="299731" cy="211575"/>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100</a:t>
            </a:r>
            <a:endParaRPr lang="en-US" sz="1600" dirty="0"/>
          </a:p>
        </p:txBody>
      </p:sp>
      <p:sp>
        <p:nvSpPr>
          <p:cNvPr id="49" name="Shape 46"/>
          <p:cNvSpPr/>
          <p:nvPr/>
        </p:nvSpPr>
        <p:spPr>
          <a:xfrm>
            <a:off x="8281447" y="4685501"/>
            <a:ext cx="3385197" cy="8816"/>
          </a:xfrm>
          <a:custGeom>
            <a:avLst/>
            <a:gdLst/>
            <a:ahLst/>
            <a:cxnLst/>
            <a:rect l="l" t="t" r="r" b="b"/>
            <a:pathLst>
              <a:path w="3385197" h="8816">
                <a:moveTo>
                  <a:pt x="0" y="0"/>
                </a:moveTo>
                <a:lnTo>
                  <a:pt x="3385197" y="0"/>
                </a:lnTo>
                <a:lnTo>
                  <a:pt x="3385197" y="8816"/>
                </a:lnTo>
                <a:lnTo>
                  <a:pt x="0" y="8816"/>
                </a:lnTo>
                <a:lnTo>
                  <a:pt x="0" y="0"/>
                </a:lnTo>
                <a:close/>
              </a:path>
            </a:pathLst>
          </a:custGeom>
          <a:solidFill>
            <a:srgbClr val="475569"/>
          </a:solidFill>
          <a:ln/>
        </p:spPr>
        <p:txBody>
          <a:bodyPr/>
          <a:lstStyle/>
          <a:p>
            <a:endParaRPr lang="en-GB"/>
          </a:p>
        </p:txBody>
      </p:sp>
      <p:sp>
        <p:nvSpPr>
          <p:cNvPr id="50" name="Text 47"/>
          <p:cNvSpPr/>
          <p:nvPr/>
        </p:nvSpPr>
        <p:spPr>
          <a:xfrm>
            <a:off x="8281447" y="4434256"/>
            <a:ext cx="828668"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A220 Family</a:t>
            </a:r>
            <a:endParaRPr lang="en-US" sz="1600" dirty="0"/>
          </a:p>
        </p:txBody>
      </p:sp>
      <p:sp>
        <p:nvSpPr>
          <p:cNvPr id="51" name="Text 48"/>
          <p:cNvSpPr/>
          <p:nvPr/>
        </p:nvSpPr>
        <p:spPr>
          <a:xfrm>
            <a:off x="11514437" y="4434256"/>
            <a:ext cx="220390" cy="211575"/>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49</a:t>
            </a:r>
            <a:endParaRPr lang="en-US" sz="1600" dirty="0"/>
          </a:p>
        </p:txBody>
      </p:sp>
      <p:sp>
        <p:nvSpPr>
          <p:cNvPr id="52" name="Text 49"/>
          <p:cNvSpPr/>
          <p:nvPr/>
        </p:nvSpPr>
        <p:spPr>
          <a:xfrm>
            <a:off x="8281447" y="4760434"/>
            <a:ext cx="793406" cy="211575"/>
          </a:xfrm>
          <a:prstGeom prst="rect">
            <a:avLst/>
          </a:prstGeom>
          <a:noFill/>
          <a:ln/>
        </p:spPr>
        <p:txBody>
          <a:bodyPr wrap="square" lIns="0" tIns="0" rIns="0" bIns="0" rtlCol="0" anchor="ctr"/>
          <a:lstStyle/>
          <a:p>
            <a:pPr>
              <a:lnSpc>
                <a:spcPct val="130000"/>
              </a:lnSpc>
            </a:pPr>
            <a:r>
              <a:rPr lang="en-US" sz="1111" dirty="0">
                <a:solidFill>
                  <a:srgbClr val="94A3B8"/>
                </a:solidFill>
                <a:latin typeface="Quattrocento Sans" pitchFamily="34" charset="0"/>
                <a:ea typeface="Quattrocento Sans" pitchFamily="34" charset="-122"/>
                <a:cs typeface="Quattrocento Sans" pitchFamily="34" charset="-120"/>
              </a:rPr>
              <a:t>A330 MRTT</a:t>
            </a:r>
            <a:endParaRPr lang="en-US" sz="1600" dirty="0"/>
          </a:p>
        </p:txBody>
      </p:sp>
      <p:sp>
        <p:nvSpPr>
          <p:cNvPr id="53" name="Text 50"/>
          <p:cNvSpPr/>
          <p:nvPr/>
        </p:nvSpPr>
        <p:spPr>
          <a:xfrm>
            <a:off x="11592125" y="4760434"/>
            <a:ext cx="141050" cy="211575"/>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54" name="Shape 51"/>
          <p:cNvSpPr/>
          <p:nvPr/>
        </p:nvSpPr>
        <p:spPr>
          <a:xfrm>
            <a:off x="8136816" y="5229177"/>
            <a:ext cx="3729007" cy="1525102"/>
          </a:xfrm>
          <a:custGeom>
            <a:avLst/>
            <a:gdLst/>
            <a:ahLst/>
            <a:cxnLst/>
            <a:rect l="l" t="t" r="r" b="b"/>
            <a:pathLst>
              <a:path w="3729007" h="1525102">
                <a:moveTo>
                  <a:pt x="105781" y="0"/>
                </a:moveTo>
                <a:lnTo>
                  <a:pt x="3623225" y="0"/>
                </a:lnTo>
                <a:cubicBezTo>
                  <a:pt x="3681647" y="0"/>
                  <a:pt x="3729007" y="47360"/>
                  <a:pt x="3729007" y="105781"/>
                </a:cubicBezTo>
                <a:lnTo>
                  <a:pt x="3729007" y="1419321"/>
                </a:lnTo>
                <a:cubicBezTo>
                  <a:pt x="3729007" y="1477742"/>
                  <a:pt x="3681647" y="1525102"/>
                  <a:pt x="3623225" y="1525102"/>
                </a:cubicBezTo>
                <a:lnTo>
                  <a:pt x="105781" y="1525102"/>
                </a:lnTo>
                <a:cubicBezTo>
                  <a:pt x="47360" y="1525102"/>
                  <a:pt x="0" y="1477742"/>
                  <a:pt x="0" y="1419321"/>
                </a:cubicBezTo>
                <a:lnTo>
                  <a:pt x="0" y="105781"/>
                </a:lnTo>
                <a:cubicBezTo>
                  <a:pt x="0" y="47399"/>
                  <a:pt x="47399" y="0"/>
                  <a:pt x="105781"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55" name="Text 52"/>
          <p:cNvSpPr/>
          <p:nvPr/>
        </p:nvSpPr>
        <p:spPr>
          <a:xfrm>
            <a:off x="8282274" y="5374635"/>
            <a:ext cx="3508616" cy="211575"/>
          </a:xfrm>
          <a:prstGeom prst="rect">
            <a:avLst/>
          </a:prstGeom>
          <a:noFill/>
          <a:ln/>
        </p:spPr>
        <p:txBody>
          <a:bodyPr wrap="square" lIns="0" tIns="0" rIns="0" bIns="0" rtlCol="0" anchor="ctr"/>
          <a:lstStyle/>
          <a:p>
            <a:pPr>
              <a:lnSpc>
                <a:spcPct val="130000"/>
              </a:lnSpc>
            </a:pPr>
            <a:r>
              <a:rPr lang="en-US" sz="1111" b="1" dirty="0">
                <a:solidFill>
                  <a:srgbClr val="FFFFFF"/>
                </a:solidFill>
                <a:latin typeface="Liter" pitchFamily="34" charset="0"/>
                <a:ea typeface="Liter" pitchFamily="34" charset="-122"/>
                <a:cs typeface="Liter" pitchFamily="34" charset="-120"/>
              </a:rPr>
              <a:t>Notable 2025 Deals</a:t>
            </a:r>
            <a:endParaRPr lang="en-US" sz="1600" dirty="0"/>
          </a:p>
        </p:txBody>
      </p:sp>
      <p:sp>
        <p:nvSpPr>
          <p:cNvPr id="56" name="Shape 53"/>
          <p:cNvSpPr/>
          <p:nvPr/>
        </p:nvSpPr>
        <p:spPr>
          <a:xfrm>
            <a:off x="8291090" y="5691997"/>
            <a:ext cx="158681" cy="141050"/>
          </a:xfrm>
          <a:custGeom>
            <a:avLst/>
            <a:gdLst/>
            <a:ahLst/>
            <a:cxnLst/>
            <a:rect l="l" t="t" r="r" b="b"/>
            <a:pathLst>
              <a:path w="158681" h="141050">
                <a:moveTo>
                  <a:pt x="143254" y="55098"/>
                </a:moveTo>
                <a:cubicBezTo>
                  <a:pt x="151766" y="55098"/>
                  <a:pt x="158681" y="62012"/>
                  <a:pt x="158681" y="70525"/>
                </a:cubicBezTo>
                <a:cubicBezTo>
                  <a:pt x="158681" y="79038"/>
                  <a:pt x="151766" y="85952"/>
                  <a:pt x="143254" y="85952"/>
                </a:cubicBezTo>
                <a:lnTo>
                  <a:pt x="108184" y="85952"/>
                </a:lnTo>
                <a:lnTo>
                  <a:pt x="64326" y="133777"/>
                </a:lnTo>
                <a:cubicBezTo>
                  <a:pt x="62646" y="135595"/>
                  <a:pt x="60304" y="136642"/>
                  <a:pt x="57825" y="136642"/>
                </a:cubicBezTo>
                <a:lnTo>
                  <a:pt x="45786" y="136642"/>
                </a:lnTo>
                <a:cubicBezTo>
                  <a:pt x="42783" y="136642"/>
                  <a:pt x="40662" y="133694"/>
                  <a:pt x="41599" y="130829"/>
                </a:cubicBezTo>
                <a:lnTo>
                  <a:pt x="56558" y="85952"/>
                </a:lnTo>
                <a:lnTo>
                  <a:pt x="29092" y="85952"/>
                </a:lnTo>
                <a:lnTo>
                  <a:pt x="14546" y="104134"/>
                </a:lnTo>
                <a:cubicBezTo>
                  <a:pt x="13719" y="105181"/>
                  <a:pt x="12452" y="105787"/>
                  <a:pt x="11102" y="105787"/>
                </a:cubicBezTo>
                <a:lnTo>
                  <a:pt x="5648" y="105787"/>
                </a:lnTo>
                <a:cubicBezTo>
                  <a:pt x="2782" y="105787"/>
                  <a:pt x="689" y="103088"/>
                  <a:pt x="1377" y="100305"/>
                </a:cubicBezTo>
                <a:lnTo>
                  <a:pt x="8816" y="70525"/>
                </a:lnTo>
                <a:lnTo>
                  <a:pt x="1377" y="40745"/>
                </a:lnTo>
                <a:cubicBezTo>
                  <a:pt x="661" y="37962"/>
                  <a:pt x="2782" y="35262"/>
                  <a:pt x="5648" y="35262"/>
                </a:cubicBezTo>
                <a:lnTo>
                  <a:pt x="11102" y="35262"/>
                </a:lnTo>
                <a:cubicBezTo>
                  <a:pt x="12452" y="35262"/>
                  <a:pt x="13719" y="35869"/>
                  <a:pt x="14546" y="36915"/>
                </a:cubicBezTo>
                <a:lnTo>
                  <a:pt x="29092" y="55098"/>
                </a:lnTo>
                <a:lnTo>
                  <a:pt x="56558" y="55098"/>
                </a:lnTo>
                <a:lnTo>
                  <a:pt x="41599" y="10221"/>
                </a:lnTo>
                <a:cubicBezTo>
                  <a:pt x="40662" y="7356"/>
                  <a:pt x="42783" y="4408"/>
                  <a:pt x="45786" y="4408"/>
                </a:cubicBezTo>
                <a:lnTo>
                  <a:pt x="57825" y="4408"/>
                </a:lnTo>
                <a:cubicBezTo>
                  <a:pt x="60304" y="4408"/>
                  <a:pt x="62646" y="5455"/>
                  <a:pt x="64326" y="7273"/>
                </a:cubicBezTo>
                <a:lnTo>
                  <a:pt x="108184" y="55098"/>
                </a:lnTo>
                <a:lnTo>
                  <a:pt x="143254" y="55098"/>
                </a:lnTo>
                <a:close/>
              </a:path>
            </a:pathLst>
          </a:custGeom>
          <a:solidFill>
            <a:srgbClr val="F59E0B"/>
          </a:solidFill>
          <a:ln/>
        </p:spPr>
        <p:txBody>
          <a:bodyPr/>
          <a:lstStyle/>
          <a:p>
            <a:endParaRPr lang="en-GB"/>
          </a:p>
        </p:txBody>
      </p:sp>
      <p:sp>
        <p:nvSpPr>
          <p:cNvPr id="57" name="Text 54"/>
          <p:cNvSpPr/>
          <p:nvPr/>
        </p:nvSpPr>
        <p:spPr>
          <a:xfrm>
            <a:off x="8529111" y="5656734"/>
            <a:ext cx="2459557" cy="211575"/>
          </a:xfrm>
          <a:prstGeom prst="rect">
            <a:avLst/>
          </a:prstGeom>
          <a:noFill/>
          <a:ln/>
        </p:spPr>
        <p:txBody>
          <a:bodyPr wrap="square" lIns="0" tIns="0" rIns="0" bIns="0" rtlCol="0" anchor="ctr"/>
          <a:lstStyle/>
          <a:p>
            <a:pPr>
              <a:lnSpc>
                <a:spcPct val="130000"/>
              </a:lnSpc>
            </a:pPr>
            <a:r>
              <a:rPr lang="en-US" sz="1111" b="1" dirty="0">
                <a:solidFill>
                  <a:srgbClr val="E2E8F0"/>
                </a:solidFill>
                <a:latin typeface="Quattrocento Sans" pitchFamily="34" charset="0"/>
                <a:ea typeface="Quattrocento Sans" pitchFamily="34" charset="-122"/>
                <a:cs typeface="Quattrocento Sans" pitchFamily="34" charset="-120"/>
              </a:rPr>
              <a:t>flydubai:</a:t>
            </a:r>
            <a:r>
              <a:rPr lang="en-US" sz="1111" dirty="0">
                <a:solidFill>
                  <a:srgbClr val="E2E8F0"/>
                </a:solidFill>
                <a:latin typeface="Quattrocento Sans" pitchFamily="34" charset="0"/>
                <a:ea typeface="Quattrocento Sans" pitchFamily="34" charset="-122"/>
                <a:cs typeface="Quattrocento Sans" pitchFamily="34" charset="-120"/>
              </a:rPr>
              <a:t> 150 A321neo (Dubai Air Show)</a:t>
            </a:r>
            <a:endParaRPr lang="en-US" sz="1600" dirty="0"/>
          </a:p>
        </p:txBody>
      </p:sp>
      <p:sp>
        <p:nvSpPr>
          <p:cNvPr id="58" name="Shape 55"/>
          <p:cNvSpPr/>
          <p:nvPr/>
        </p:nvSpPr>
        <p:spPr>
          <a:xfrm>
            <a:off x="8291090" y="5938834"/>
            <a:ext cx="158681" cy="141050"/>
          </a:xfrm>
          <a:custGeom>
            <a:avLst/>
            <a:gdLst/>
            <a:ahLst/>
            <a:cxnLst/>
            <a:rect l="l" t="t" r="r" b="b"/>
            <a:pathLst>
              <a:path w="158681" h="141050">
                <a:moveTo>
                  <a:pt x="143254" y="55098"/>
                </a:moveTo>
                <a:cubicBezTo>
                  <a:pt x="151766" y="55098"/>
                  <a:pt x="158681" y="62012"/>
                  <a:pt x="158681" y="70525"/>
                </a:cubicBezTo>
                <a:cubicBezTo>
                  <a:pt x="158681" y="79038"/>
                  <a:pt x="151766" y="85952"/>
                  <a:pt x="143254" y="85952"/>
                </a:cubicBezTo>
                <a:lnTo>
                  <a:pt x="108184" y="85952"/>
                </a:lnTo>
                <a:lnTo>
                  <a:pt x="64326" y="133777"/>
                </a:lnTo>
                <a:cubicBezTo>
                  <a:pt x="62646" y="135595"/>
                  <a:pt x="60304" y="136642"/>
                  <a:pt x="57825" y="136642"/>
                </a:cubicBezTo>
                <a:lnTo>
                  <a:pt x="45786" y="136642"/>
                </a:lnTo>
                <a:cubicBezTo>
                  <a:pt x="42783" y="136642"/>
                  <a:pt x="40662" y="133694"/>
                  <a:pt x="41599" y="130829"/>
                </a:cubicBezTo>
                <a:lnTo>
                  <a:pt x="56558" y="85952"/>
                </a:lnTo>
                <a:lnTo>
                  <a:pt x="29092" y="85952"/>
                </a:lnTo>
                <a:lnTo>
                  <a:pt x="14546" y="104134"/>
                </a:lnTo>
                <a:cubicBezTo>
                  <a:pt x="13719" y="105181"/>
                  <a:pt x="12452" y="105787"/>
                  <a:pt x="11102" y="105787"/>
                </a:cubicBezTo>
                <a:lnTo>
                  <a:pt x="5648" y="105787"/>
                </a:lnTo>
                <a:cubicBezTo>
                  <a:pt x="2782" y="105787"/>
                  <a:pt x="689" y="103088"/>
                  <a:pt x="1377" y="100305"/>
                </a:cubicBezTo>
                <a:lnTo>
                  <a:pt x="8816" y="70525"/>
                </a:lnTo>
                <a:lnTo>
                  <a:pt x="1377" y="40745"/>
                </a:lnTo>
                <a:cubicBezTo>
                  <a:pt x="661" y="37962"/>
                  <a:pt x="2782" y="35262"/>
                  <a:pt x="5648" y="35262"/>
                </a:cubicBezTo>
                <a:lnTo>
                  <a:pt x="11102" y="35262"/>
                </a:lnTo>
                <a:cubicBezTo>
                  <a:pt x="12452" y="35262"/>
                  <a:pt x="13719" y="35869"/>
                  <a:pt x="14546" y="36915"/>
                </a:cubicBezTo>
                <a:lnTo>
                  <a:pt x="29092" y="55098"/>
                </a:lnTo>
                <a:lnTo>
                  <a:pt x="56558" y="55098"/>
                </a:lnTo>
                <a:lnTo>
                  <a:pt x="41599" y="10221"/>
                </a:lnTo>
                <a:cubicBezTo>
                  <a:pt x="40662" y="7356"/>
                  <a:pt x="42783" y="4408"/>
                  <a:pt x="45786" y="4408"/>
                </a:cubicBezTo>
                <a:lnTo>
                  <a:pt x="57825" y="4408"/>
                </a:lnTo>
                <a:cubicBezTo>
                  <a:pt x="60304" y="4408"/>
                  <a:pt x="62646" y="5455"/>
                  <a:pt x="64326" y="7273"/>
                </a:cubicBezTo>
                <a:lnTo>
                  <a:pt x="108184" y="55098"/>
                </a:lnTo>
                <a:lnTo>
                  <a:pt x="143254" y="55098"/>
                </a:lnTo>
                <a:close/>
              </a:path>
            </a:pathLst>
          </a:custGeom>
          <a:solidFill>
            <a:srgbClr val="F59E0B"/>
          </a:solidFill>
          <a:ln/>
        </p:spPr>
        <p:txBody>
          <a:bodyPr/>
          <a:lstStyle/>
          <a:p>
            <a:endParaRPr lang="en-GB"/>
          </a:p>
        </p:txBody>
      </p:sp>
      <p:sp>
        <p:nvSpPr>
          <p:cNvPr id="59" name="Text 56"/>
          <p:cNvSpPr/>
          <p:nvPr/>
        </p:nvSpPr>
        <p:spPr>
          <a:xfrm>
            <a:off x="8529111" y="5903572"/>
            <a:ext cx="2671132" cy="211575"/>
          </a:xfrm>
          <a:prstGeom prst="rect">
            <a:avLst/>
          </a:prstGeom>
          <a:noFill/>
          <a:ln/>
        </p:spPr>
        <p:txBody>
          <a:bodyPr wrap="square" lIns="0" tIns="0" rIns="0" bIns="0" rtlCol="0" anchor="ctr"/>
          <a:lstStyle/>
          <a:p>
            <a:pPr>
              <a:lnSpc>
                <a:spcPct val="130000"/>
              </a:lnSpc>
            </a:pPr>
            <a:r>
              <a:rPr lang="en-US" sz="1111" b="1" dirty="0">
                <a:solidFill>
                  <a:srgbClr val="E2E8F0"/>
                </a:solidFill>
                <a:latin typeface="Quattrocento Sans" pitchFamily="34" charset="0"/>
                <a:ea typeface="Quattrocento Sans" pitchFamily="34" charset="-122"/>
                <a:cs typeface="Quattrocento Sans" pitchFamily="34" charset="-120"/>
              </a:rPr>
              <a:t>Riyadh Air:</a:t>
            </a:r>
            <a:r>
              <a:rPr lang="en-US" sz="1111" dirty="0">
                <a:solidFill>
                  <a:srgbClr val="E2E8F0"/>
                </a:solidFill>
                <a:latin typeface="Quattrocento Sans" pitchFamily="34" charset="0"/>
                <a:ea typeface="Quattrocento Sans" pitchFamily="34" charset="-122"/>
                <a:cs typeface="Quattrocento Sans" pitchFamily="34" charset="-120"/>
              </a:rPr>
              <a:t> 25 A350-1000 (Paris Air Show)</a:t>
            </a:r>
            <a:endParaRPr lang="en-US" sz="1600" dirty="0"/>
          </a:p>
        </p:txBody>
      </p:sp>
      <p:sp>
        <p:nvSpPr>
          <p:cNvPr id="60" name="Shape 57"/>
          <p:cNvSpPr/>
          <p:nvPr/>
        </p:nvSpPr>
        <p:spPr>
          <a:xfrm>
            <a:off x="8291090" y="6185671"/>
            <a:ext cx="158681" cy="141050"/>
          </a:xfrm>
          <a:custGeom>
            <a:avLst/>
            <a:gdLst/>
            <a:ahLst/>
            <a:cxnLst/>
            <a:rect l="l" t="t" r="r" b="b"/>
            <a:pathLst>
              <a:path w="158681" h="141050">
                <a:moveTo>
                  <a:pt x="143254" y="55098"/>
                </a:moveTo>
                <a:cubicBezTo>
                  <a:pt x="151766" y="55098"/>
                  <a:pt x="158681" y="62012"/>
                  <a:pt x="158681" y="70525"/>
                </a:cubicBezTo>
                <a:cubicBezTo>
                  <a:pt x="158681" y="79038"/>
                  <a:pt x="151766" y="85952"/>
                  <a:pt x="143254" y="85952"/>
                </a:cubicBezTo>
                <a:lnTo>
                  <a:pt x="108184" y="85952"/>
                </a:lnTo>
                <a:lnTo>
                  <a:pt x="64326" y="133777"/>
                </a:lnTo>
                <a:cubicBezTo>
                  <a:pt x="62646" y="135595"/>
                  <a:pt x="60304" y="136642"/>
                  <a:pt x="57825" y="136642"/>
                </a:cubicBezTo>
                <a:lnTo>
                  <a:pt x="45786" y="136642"/>
                </a:lnTo>
                <a:cubicBezTo>
                  <a:pt x="42783" y="136642"/>
                  <a:pt x="40662" y="133694"/>
                  <a:pt x="41599" y="130829"/>
                </a:cubicBezTo>
                <a:lnTo>
                  <a:pt x="56558" y="85952"/>
                </a:lnTo>
                <a:lnTo>
                  <a:pt x="29092" y="85952"/>
                </a:lnTo>
                <a:lnTo>
                  <a:pt x="14546" y="104134"/>
                </a:lnTo>
                <a:cubicBezTo>
                  <a:pt x="13719" y="105181"/>
                  <a:pt x="12452" y="105787"/>
                  <a:pt x="11102" y="105787"/>
                </a:cubicBezTo>
                <a:lnTo>
                  <a:pt x="5648" y="105787"/>
                </a:lnTo>
                <a:cubicBezTo>
                  <a:pt x="2782" y="105787"/>
                  <a:pt x="689" y="103088"/>
                  <a:pt x="1377" y="100305"/>
                </a:cubicBezTo>
                <a:lnTo>
                  <a:pt x="8816" y="70525"/>
                </a:lnTo>
                <a:lnTo>
                  <a:pt x="1377" y="40745"/>
                </a:lnTo>
                <a:cubicBezTo>
                  <a:pt x="661" y="37962"/>
                  <a:pt x="2782" y="35262"/>
                  <a:pt x="5648" y="35262"/>
                </a:cubicBezTo>
                <a:lnTo>
                  <a:pt x="11102" y="35262"/>
                </a:lnTo>
                <a:cubicBezTo>
                  <a:pt x="12452" y="35262"/>
                  <a:pt x="13719" y="35869"/>
                  <a:pt x="14546" y="36915"/>
                </a:cubicBezTo>
                <a:lnTo>
                  <a:pt x="29092" y="55098"/>
                </a:lnTo>
                <a:lnTo>
                  <a:pt x="56558" y="55098"/>
                </a:lnTo>
                <a:lnTo>
                  <a:pt x="41599" y="10221"/>
                </a:lnTo>
                <a:cubicBezTo>
                  <a:pt x="40662" y="7356"/>
                  <a:pt x="42783" y="4408"/>
                  <a:pt x="45786" y="4408"/>
                </a:cubicBezTo>
                <a:lnTo>
                  <a:pt x="57825" y="4408"/>
                </a:lnTo>
                <a:cubicBezTo>
                  <a:pt x="60304" y="4408"/>
                  <a:pt x="62646" y="5455"/>
                  <a:pt x="64326" y="7273"/>
                </a:cubicBezTo>
                <a:lnTo>
                  <a:pt x="108184" y="55098"/>
                </a:lnTo>
                <a:lnTo>
                  <a:pt x="143254" y="55098"/>
                </a:lnTo>
                <a:close/>
              </a:path>
            </a:pathLst>
          </a:custGeom>
          <a:solidFill>
            <a:srgbClr val="F59E0B"/>
          </a:solidFill>
          <a:ln/>
        </p:spPr>
        <p:txBody>
          <a:bodyPr/>
          <a:lstStyle/>
          <a:p>
            <a:endParaRPr lang="en-GB"/>
          </a:p>
        </p:txBody>
      </p:sp>
      <p:sp>
        <p:nvSpPr>
          <p:cNvPr id="61" name="Text 58"/>
          <p:cNvSpPr/>
          <p:nvPr/>
        </p:nvSpPr>
        <p:spPr>
          <a:xfrm>
            <a:off x="8529111" y="6150409"/>
            <a:ext cx="2018777" cy="211575"/>
          </a:xfrm>
          <a:prstGeom prst="rect">
            <a:avLst/>
          </a:prstGeom>
          <a:noFill/>
          <a:ln/>
        </p:spPr>
        <p:txBody>
          <a:bodyPr wrap="square" lIns="0" tIns="0" rIns="0" bIns="0" rtlCol="0" anchor="ctr"/>
          <a:lstStyle/>
          <a:p>
            <a:pPr>
              <a:lnSpc>
                <a:spcPct val="130000"/>
              </a:lnSpc>
            </a:pPr>
            <a:r>
              <a:rPr lang="en-US" sz="1111" b="1" dirty="0">
                <a:solidFill>
                  <a:srgbClr val="E2E8F0"/>
                </a:solidFill>
                <a:latin typeface="Quattrocento Sans" pitchFamily="34" charset="0"/>
                <a:ea typeface="Quattrocento Sans" pitchFamily="34" charset="-122"/>
                <a:cs typeface="Quattrocento Sans" pitchFamily="34" charset="-120"/>
              </a:rPr>
              <a:t>IndiGo:</a:t>
            </a:r>
            <a:r>
              <a:rPr lang="en-US" sz="1111" dirty="0">
                <a:solidFill>
                  <a:srgbClr val="E2E8F0"/>
                </a:solidFill>
                <a:latin typeface="Quattrocento Sans" pitchFamily="34" charset="0"/>
                <a:ea typeface="Quattrocento Sans" pitchFamily="34" charset="-122"/>
                <a:cs typeface="Quattrocento Sans" pitchFamily="34" charset="-120"/>
              </a:rPr>
              <a:t> A350-900 commitment</a:t>
            </a:r>
            <a:endParaRPr lang="en-US" sz="1600" dirty="0"/>
          </a:p>
        </p:txBody>
      </p:sp>
      <p:sp>
        <p:nvSpPr>
          <p:cNvPr id="62" name="Shape 59"/>
          <p:cNvSpPr/>
          <p:nvPr/>
        </p:nvSpPr>
        <p:spPr>
          <a:xfrm>
            <a:off x="8291090" y="6432509"/>
            <a:ext cx="158681" cy="141050"/>
          </a:xfrm>
          <a:custGeom>
            <a:avLst/>
            <a:gdLst/>
            <a:ahLst/>
            <a:cxnLst/>
            <a:rect l="l" t="t" r="r" b="b"/>
            <a:pathLst>
              <a:path w="158681" h="141050">
                <a:moveTo>
                  <a:pt x="143254" y="55098"/>
                </a:moveTo>
                <a:cubicBezTo>
                  <a:pt x="151766" y="55098"/>
                  <a:pt x="158681" y="62012"/>
                  <a:pt x="158681" y="70525"/>
                </a:cubicBezTo>
                <a:cubicBezTo>
                  <a:pt x="158681" y="79038"/>
                  <a:pt x="151766" y="85952"/>
                  <a:pt x="143254" y="85952"/>
                </a:cubicBezTo>
                <a:lnTo>
                  <a:pt x="108184" y="85952"/>
                </a:lnTo>
                <a:lnTo>
                  <a:pt x="64326" y="133777"/>
                </a:lnTo>
                <a:cubicBezTo>
                  <a:pt x="62646" y="135595"/>
                  <a:pt x="60304" y="136642"/>
                  <a:pt x="57825" y="136642"/>
                </a:cubicBezTo>
                <a:lnTo>
                  <a:pt x="45786" y="136642"/>
                </a:lnTo>
                <a:cubicBezTo>
                  <a:pt x="42783" y="136642"/>
                  <a:pt x="40662" y="133694"/>
                  <a:pt x="41599" y="130829"/>
                </a:cubicBezTo>
                <a:lnTo>
                  <a:pt x="56558" y="85952"/>
                </a:lnTo>
                <a:lnTo>
                  <a:pt x="29092" y="85952"/>
                </a:lnTo>
                <a:lnTo>
                  <a:pt x="14546" y="104134"/>
                </a:lnTo>
                <a:cubicBezTo>
                  <a:pt x="13719" y="105181"/>
                  <a:pt x="12452" y="105787"/>
                  <a:pt x="11102" y="105787"/>
                </a:cubicBezTo>
                <a:lnTo>
                  <a:pt x="5648" y="105787"/>
                </a:lnTo>
                <a:cubicBezTo>
                  <a:pt x="2782" y="105787"/>
                  <a:pt x="689" y="103088"/>
                  <a:pt x="1377" y="100305"/>
                </a:cubicBezTo>
                <a:lnTo>
                  <a:pt x="8816" y="70525"/>
                </a:lnTo>
                <a:lnTo>
                  <a:pt x="1377" y="40745"/>
                </a:lnTo>
                <a:cubicBezTo>
                  <a:pt x="661" y="37962"/>
                  <a:pt x="2782" y="35262"/>
                  <a:pt x="5648" y="35262"/>
                </a:cubicBezTo>
                <a:lnTo>
                  <a:pt x="11102" y="35262"/>
                </a:lnTo>
                <a:cubicBezTo>
                  <a:pt x="12452" y="35262"/>
                  <a:pt x="13719" y="35869"/>
                  <a:pt x="14546" y="36915"/>
                </a:cubicBezTo>
                <a:lnTo>
                  <a:pt x="29092" y="55098"/>
                </a:lnTo>
                <a:lnTo>
                  <a:pt x="56558" y="55098"/>
                </a:lnTo>
                <a:lnTo>
                  <a:pt x="41599" y="10221"/>
                </a:lnTo>
                <a:cubicBezTo>
                  <a:pt x="40662" y="7356"/>
                  <a:pt x="42783" y="4408"/>
                  <a:pt x="45786" y="4408"/>
                </a:cubicBezTo>
                <a:lnTo>
                  <a:pt x="57825" y="4408"/>
                </a:lnTo>
                <a:cubicBezTo>
                  <a:pt x="60304" y="4408"/>
                  <a:pt x="62646" y="5455"/>
                  <a:pt x="64326" y="7273"/>
                </a:cubicBezTo>
                <a:lnTo>
                  <a:pt x="108184" y="55098"/>
                </a:lnTo>
                <a:lnTo>
                  <a:pt x="143254" y="55098"/>
                </a:lnTo>
                <a:close/>
              </a:path>
            </a:pathLst>
          </a:custGeom>
          <a:solidFill>
            <a:srgbClr val="F59E0B"/>
          </a:solidFill>
          <a:ln/>
        </p:spPr>
        <p:txBody>
          <a:bodyPr/>
          <a:lstStyle/>
          <a:p>
            <a:endParaRPr lang="en-GB"/>
          </a:p>
        </p:txBody>
      </p:sp>
      <p:sp>
        <p:nvSpPr>
          <p:cNvPr id="63" name="Text 60"/>
          <p:cNvSpPr/>
          <p:nvPr/>
        </p:nvSpPr>
        <p:spPr>
          <a:xfrm>
            <a:off x="8529111" y="6397246"/>
            <a:ext cx="1860095" cy="211575"/>
          </a:xfrm>
          <a:prstGeom prst="rect">
            <a:avLst/>
          </a:prstGeom>
          <a:noFill/>
          <a:ln/>
        </p:spPr>
        <p:txBody>
          <a:bodyPr wrap="square" lIns="0" tIns="0" rIns="0" bIns="0" rtlCol="0" anchor="ctr"/>
          <a:lstStyle/>
          <a:p>
            <a:pPr>
              <a:lnSpc>
                <a:spcPct val="130000"/>
              </a:lnSpc>
            </a:pPr>
            <a:r>
              <a:rPr lang="en-US" sz="1111" b="1" dirty="0">
                <a:solidFill>
                  <a:srgbClr val="E2E8F0"/>
                </a:solidFill>
                <a:latin typeface="Quattrocento Sans" pitchFamily="34" charset="0"/>
                <a:ea typeface="Quattrocento Sans" pitchFamily="34" charset="-122"/>
                <a:cs typeface="Quattrocento Sans" pitchFamily="34" charset="-120"/>
              </a:rPr>
              <a:t>China Airlines:</a:t>
            </a:r>
            <a:r>
              <a:rPr lang="en-US" sz="1111" dirty="0">
                <a:solidFill>
                  <a:srgbClr val="E2E8F0"/>
                </a:solidFill>
                <a:latin typeface="Quattrocento Sans" pitchFamily="34" charset="0"/>
                <a:ea typeface="Quattrocento Sans" pitchFamily="34" charset="-122"/>
                <a:cs typeface="Quattrocento Sans" pitchFamily="34" charset="-120"/>
              </a:rPr>
              <a:t> 10 A350-1000</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pic>
        <p:nvPicPr>
          <p:cNvPr id="2" name="Image 0" descr="https://kimi-web-img.moonshot.cn/img/wordlesstech.com/4a5126cc563446a38b91e5ca383e8022674f3817.jpg"/>
          <p:cNvPicPr>
            <a:picLocks noChangeAspect="1"/>
          </p:cNvPicPr>
          <p:nvPr/>
        </p:nvPicPr>
        <p:blipFill>
          <a:blip r:embed="rId3">
            <a:alphaModFix amt="15000"/>
          </a:blip>
          <a:srcRect l="2547" r="2547"/>
          <a:stretch/>
        </p:blipFill>
        <p:spPr>
          <a:xfrm>
            <a:off x="0" y="1"/>
            <a:ext cx="12192000" cy="6858000"/>
          </a:xfrm>
          <a:prstGeom prst="roundRect">
            <a:avLst>
              <a:gd name="adj" fmla="val 0"/>
            </a:avLst>
          </a:prstGeom>
        </p:spPr>
      </p:pic>
      <p:sp>
        <p:nvSpPr>
          <p:cNvPr id="3" name="Shape 0"/>
          <p:cNvSpPr/>
          <p:nvPr/>
        </p:nvSpPr>
        <p:spPr>
          <a:xfrm>
            <a:off x="0" y="0"/>
            <a:ext cx="12192000" cy="6865937"/>
          </a:xfrm>
          <a:custGeom>
            <a:avLst/>
            <a:gdLst/>
            <a:ahLst/>
            <a:cxnLst/>
            <a:rect l="l" t="t" r="r" b="b"/>
            <a:pathLst>
              <a:path w="12192000" h="8556625">
                <a:moveTo>
                  <a:pt x="0" y="0"/>
                </a:moveTo>
                <a:lnTo>
                  <a:pt x="12192000" y="0"/>
                </a:lnTo>
                <a:lnTo>
                  <a:pt x="12192000" y="8556625"/>
                </a:lnTo>
                <a:lnTo>
                  <a:pt x="0" y="8556625"/>
                </a:lnTo>
                <a:lnTo>
                  <a:pt x="0" y="0"/>
                </a:lnTo>
                <a:close/>
              </a:path>
            </a:pathLst>
          </a:custGeom>
          <a:gradFill flip="none" rotWithShape="1">
            <a:gsLst>
              <a:gs pos="0">
                <a:srgbClr val="0F172A">
                  <a:alpha val="95000"/>
                </a:srgbClr>
              </a:gs>
              <a:gs pos="50000">
                <a:srgbClr val="0F172A">
                  <a:alpha val="90000"/>
                </a:srgbClr>
              </a:gs>
              <a:gs pos="100000">
                <a:srgbClr val="0F172A">
                  <a:alpha val="95000"/>
                </a:srgbClr>
              </a:gs>
            </a:gsLst>
            <a:lin ang="2700000" scaled="1"/>
          </a:gradFill>
          <a:ln/>
        </p:spPr>
        <p:txBody>
          <a:bodyPr/>
          <a:lstStyle/>
          <a:p>
            <a:endParaRPr lang="en-GB"/>
          </a:p>
        </p:txBody>
      </p:sp>
      <p:sp>
        <p:nvSpPr>
          <p:cNvPr id="4" name="Text 1"/>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38BDF8"/>
                </a:solidFill>
                <a:latin typeface="Quattrocento Sans" pitchFamily="34" charset="0"/>
                <a:ea typeface="Quattrocento Sans" pitchFamily="34" charset="-122"/>
                <a:cs typeface="Quattrocento Sans" pitchFamily="34" charset="-120"/>
              </a:rPr>
              <a:t>ENVIRONMENTAL LEADERSHIP</a:t>
            </a:r>
            <a:endParaRPr lang="en-US" sz="1600" dirty="0"/>
          </a:p>
        </p:txBody>
      </p:sp>
      <p:sp>
        <p:nvSpPr>
          <p:cNvPr id="5" name="Text 2"/>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Sustainability &amp; Innovation</a:t>
            </a:r>
            <a:endParaRPr lang="en-US" sz="1600" dirty="0"/>
          </a:p>
        </p:txBody>
      </p:sp>
      <p:sp>
        <p:nvSpPr>
          <p:cNvPr id="6" name="Text 3"/>
          <p:cNvSpPr/>
          <p:nvPr/>
        </p:nvSpPr>
        <p:spPr>
          <a:xfrm>
            <a:off x="317500" y="952500"/>
            <a:ext cx="11620500"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Pioneering Decarbonization from Operations to Product Design</a:t>
            </a:r>
            <a:endParaRPr lang="en-US" sz="1600" dirty="0"/>
          </a:p>
        </p:txBody>
      </p:sp>
      <p:sp>
        <p:nvSpPr>
          <p:cNvPr id="7" name="Shape 4"/>
          <p:cNvSpPr/>
          <p:nvPr/>
        </p:nvSpPr>
        <p:spPr>
          <a:xfrm>
            <a:off x="321469" y="1273969"/>
            <a:ext cx="5707063" cy="2738438"/>
          </a:xfrm>
          <a:custGeom>
            <a:avLst/>
            <a:gdLst/>
            <a:ahLst/>
            <a:cxnLst/>
            <a:rect l="l" t="t" r="r" b="b"/>
            <a:pathLst>
              <a:path w="5707063" h="2738438">
                <a:moveTo>
                  <a:pt x="95243" y="0"/>
                </a:moveTo>
                <a:lnTo>
                  <a:pt x="5611820" y="0"/>
                </a:lnTo>
                <a:cubicBezTo>
                  <a:pt x="5664386" y="0"/>
                  <a:pt x="5707063" y="42677"/>
                  <a:pt x="5707063" y="95243"/>
                </a:cubicBezTo>
                <a:lnTo>
                  <a:pt x="5707063" y="2643195"/>
                </a:lnTo>
                <a:cubicBezTo>
                  <a:pt x="5707063" y="2695796"/>
                  <a:pt x="5664421" y="2738438"/>
                  <a:pt x="5611820" y="2738438"/>
                </a:cubicBezTo>
                <a:lnTo>
                  <a:pt x="95243" y="2738438"/>
                </a:lnTo>
                <a:cubicBezTo>
                  <a:pt x="42642" y="2738438"/>
                  <a:pt x="0" y="2695796"/>
                  <a:pt x="0" y="2643195"/>
                </a:cubicBezTo>
                <a:lnTo>
                  <a:pt x="0" y="95243"/>
                </a:lnTo>
                <a:cubicBezTo>
                  <a:pt x="0" y="42677"/>
                  <a:pt x="42677" y="0"/>
                  <a:pt x="95243"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8" name="Shape 5"/>
          <p:cNvSpPr/>
          <p:nvPr/>
        </p:nvSpPr>
        <p:spPr>
          <a:xfrm>
            <a:off x="504031" y="1460500"/>
            <a:ext cx="158750" cy="158750"/>
          </a:xfrm>
          <a:custGeom>
            <a:avLst/>
            <a:gdLst/>
            <a:ahLst/>
            <a:cxnLst/>
            <a:rect l="l" t="t" r="r" b="b"/>
            <a:pathLst>
              <a:path w="158750" h="158750">
                <a:moveTo>
                  <a:pt x="146131" y="2077"/>
                </a:moveTo>
                <a:cubicBezTo>
                  <a:pt x="148115" y="186"/>
                  <a:pt x="150999" y="-496"/>
                  <a:pt x="153665" y="372"/>
                </a:cubicBezTo>
                <a:cubicBezTo>
                  <a:pt x="156704" y="1395"/>
                  <a:pt x="158750" y="4248"/>
                  <a:pt x="158750" y="7441"/>
                </a:cubicBezTo>
                <a:lnTo>
                  <a:pt x="158750" y="65391"/>
                </a:lnTo>
                <a:cubicBezTo>
                  <a:pt x="158750" y="106071"/>
                  <a:pt x="125233" y="138906"/>
                  <a:pt x="84708" y="138906"/>
                </a:cubicBezTo>
                <a:cubicBezTo>
                  <a:pt x="60833" y="138906"/>
                  <a:pt x="40246" y="123558"/>
                  <a:pt x="32773" y="102102"/>
                </a:cubicBezTo>
                <a:cubicBezTo>
                  <a:pt x="21797" y="111652"/>
                  <a:pt x="14883" y="125698"/>
                  <a:pt x="14883" y="141387"/>
                </a:cubicBezTo>
                <a:cubicBezTo>
                  <a:pt x="14883" y="145510"/>
                  <a:pt x="11565" y="148828"/>
                  <a:pt x="7441" y="148828"/>
                </a:cubicBezTo>
                <a:cubicBezTo>
                  <a:pt x="3318" y="148828"/>
                  <a:pt x="0" y="145510"/>
                  <a:pt x="0" y="141387"/>
                </a:cubicBezTo>
                <a:cubicBezTo>
                  <a:pt x="0" y="118163"/>
                  <a:pt x="11844" y="97699"/>
                  <a:pt x="29797" y="85669"/>
                </a:cubicBezTo>
                <a:cubicBezTo>
                  <a:pt x="40742" y="78352"/>
                  <a:pt x="53795" y="74414"/>
                  <a:pt x="66973" y="74414"/>
                </a:cubicBezTo>
                <a:lnTo>
                  <a:pt x="91777" y="74414"/>
                </a:lnTo>
                <a:cubicBezTo>
                  <a:pt x="95901" y="74414"/>
                  <a:pt x="99219" y="71096"/>
                  <a:pt x="99219" y="66973"/>
                </a:cubicBezTo>
                <a:cubicBezTo>
                  <a:pt x="99219" y="62849"/>
                  <a:pt x="95901" y="59531"/>
                  <a:pt x="91777" y="59531"/>
                </a:cubicBezTo>
                <a:lnTo>
                  <a:pt x="66973" y="59531"/>
                </a:lnTo>
                <a:cubicBezTo>
                  <a:pt x="54663" y="59531"/>
                  <a:pt x="43005" y="62260"/>
                  <a:pt x="32556" y="67128"/>
                </a:cubicBezTo>
                <a:cubicBezTo>
                  <a:pt x="39781" y="45424"/>
                  <a:pt x="60213" y="29766"/>
                  <a:pt x="84336" y="29766"/>
                </a:cubicBezTo>
                <a:cubicBezTo>
                  <a:pt x="104924" y="29766"/>
                  <a:pt x="120241" y="22913"/>
                  <a:pt x="130442" y="16123"/>
                </a:cubicBezTo>
                <a:cubicBezTo>
                  <a:pt x="136395" y="12154"/>
                  <a:pt x="141449" y="7410"/>
                  <a:pt x="146162" y="2077"/>
                </a:cubicBezTo>
                <a:close/>
              </a:path>
            </a:pathLst>
          </a:custGeom>
          <a:solidFill>
            <a:srgbClr val="38BDF8"/>
          </a:solidFill>
          <a:ln/>
        </p:spPr>
        <p:txBody>
          <a:bodyPr/>
          <a:lstStyle/>
          <a:p>
            <a:endParaRPr lang="en-GB"/>
          </a:p>
        </p:txBody>
      </p:sp>
      <p:sp>
        <p:nvSpPr>
          <p:cNvPr id="9" name="Text 6"/>
          <p:cNvSpPr/>
          <p:nvPr/>
        </p:nvSpPr>
        <p:spPr>
          <a:xfrm>
            <a:off x="722313" y="1436688"/>
            <a:ext cx="5222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Decarbonization Targets</a:t>
            </a:r>
            <a:endParaRPr lang="en-US" sz="1600" dirty="0"/>
          </a:p>
        </p:txBody>
      </p:sp>
      <p:sp>
        <p:nvSpPr>
          <p:cNvPr id="10" name="Shape 7"/>
          <p:cNvSpPr/>
          <p:nvPr/>
        </p:nvSpPr>
        <p:spPr>
          <a:xfrm>
            <a:off x="484187" y="1754188"/>
            <a:ext cx="5381625" cy="635000"/>
          </a:xfrm>
          <a:custGeom>
            <a:avLst/>
            <a:gdLst/>
            <a:ahLst/>
            <a:cxnLst/>
            <a:rect l="l" t="t" r="r" b="b"/>
            <a:pathLst>
              <a:path w="5381625" h="635000">
                <a:moveTo>
                  <a:pt x="63500" y="0"/>
                </a:moveTo>
                <a:lnTo>
                  <a:pt x="5318125" y="0"/>
                </a:lnTo>
                <a:cubicBezTo>
                  <a:pt x="5353172" y="0"/>
                  <a:pt x="5381625" y="28453"/>
                  <a:pt x="5381625" y="63500"/>
                </a:cubicBezTo>
                <a:lnTo>
                  <a:pt x="5381625" y="571500"/>
                </a:lnTo>
                <a:cubicBezTo>
                  <a:pt x="5381625" y="606547"/>
                  <a:pt x="5353172" y="635000"/>
                  <a:pt x="5318125" y="635000"/>
                </a:cubicBezTo>
                <a:lnTo>
                  <a:pt x="63500" y="635000"/>
                </a:lnTo>
                <a:cubicBezTo>
                  <a:pt x="28453" y="635000"/>
                  <a:pt x="0" y="606547"/>
                  <a:pt x="0" y="57150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11" name="Text 8"/>
          <p:cNvSpPr/>
          <p:nvPr/>
        </p:nvSpPr>
        <p:spPr>
          <a:xfrm>
            <a:off x="579438" y="1849438"/>
            <a:ext cx="1270000"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Scope 1 &amp; 2 Emissions</a:t>
            </a:r>
            <a:endParaRPr lang="en-US" sz="1600" dirty="0"/>
          </a:p>
        </p:txBody>
      </p:sp>
      <p:sp>
        <p:nvSpPr>
          <p:cNvPr id="12" name="Text 9"/>
          <p:cNvSpPr/>
          <p:nvPr/>
        </p:nvSpPr>
        <p:spPr>
          <a:xfrm>
            <a:off x="4968379" y="1849438"/>
            <a:ext cx="865188"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-63% by 2030</a:t>
            </a:r>
            <a:endParaRPr lang="en-US" sz="1600" dirty="0"/>
          </a:p>
        </p:txBody>
      </p:sp>
      <p:sp>
        <p:nvSpPr>
          <p:cNvPr id="13" name="Text 10"/>
          <p:cNvSpPr/>
          <p:nvPr/>
        </p:nvSpPr>
        <p:spPr>
          <a:xfrm>
            <a:off x="579438" y="210343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Absolute GHG reduction from operations, validated by Science Based Targets initiative (SBTi)</a:t>
            </a:r>
            <a:endParaRPr lang="en-US" sz="1600" dirty="0"/>
          </a:p>
        </p:txBody>
      </p:sp>
      <p:sp>
        <p:nvSpPr>
          <p:cNvPr id="14" name="Shape 11"/>
          <p:cNvSpPr/>
          <p:nvPr/>
        </p:nvSpPr>
        <p:spPr>
          <a:xfrm>
            <a:off x="484187" y="2484438"/>
            <a:ext cx="5381625" cy="635000"/>
          </a:xfrm>
          <a:custGeom>
            <a:avLst/>
            <a:gdLst/>
            <a:ahLst/>
            <a:cxnLst/>
            <a:rect l="l" t="t" r="r" b="b"/>
            <a:pathLst>
              <a:path w="5381625" h="635000">
                <a:moveTo>
                  <a:pt x="63500" y="0"/>
                </a:moveTo>
                <a:lnTo>
                  <a:pt x="5318125" y="0"/>
                </a:lnTo>
                <a:cubicBezTo>
                  <a:pt x="5353172" y="0"/>
                  <a:pt x="5381625" y="28453"/>
                  <a:pt x="5381625" y="63500"/>
                </a:cubicBezTo>
                <a:lnTo>
                  <a:pt x="5381625" y="571500"/>
                </a:lnTo>
                <a:cubicBezTo>
                  <a:pt x="5381625" y="606547"/>
                  <a:pt x="5353172" y="635000"/>
                  <a:pt x="5318125" y="635000"/>
                </a:cubicBezTo>
                <a:lnTo>
                  <a:pt x="63500" y="635000"/>
                </a:lnTo>
                <a:cubicBezTo>
                  <a:pt x="28453" y="635000"/>
                  <a:pt x="0" y="606547"/>
                  <a:pt x="0" y="57150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15" name="Text 12"/>
          <p:cNvSpPr/>
          <p:nvPr/>
        </p:nvSpPr>
        <p:spPr>
          <a:xfrm>
            <a:off x="579438" y="2579688"/>
            <a:ext cx="1008063"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Scope 3 Intensity</a:t>
            </a:r>
            <a:endParaRPr lang="en-US" sz="1600" dirty="0"/>
          </a:p>
        </p:txBody>
      </p:sp>
      <p:sp>
        <p:nvSpPr>
          <p:cNvPr id="16" name="Text 13"/>
          <p:cNvSpPr/>
          <p:nvPr/>
        </p:nvSpPr>
        <p:spPr>
          <a:xfrm>
            <a:off x="4985866" y="2579688"/>
            <a:ext cx="849313"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-46% by 2035</a:t>
            </a:r>
            <a:endParaRPr lang="en-US" sz="1600" dirty="0"/>
          </a:p>
        </p:txBody>
      </p:sp>
      <p:sp>
        <p:nvSpPr>
          <p:cNvPr id="17" name="Text 14"/>
          <p:cNvSpPr/>
          <p:nvPr/>
        </p:nvSpPr>
        <p:spPr>
          <a:xfrm>
            <a:off x="579438" y="283368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Reduction in emissions intensity from aircraft usage vs 2015 baseline</a:t>
            </a:r>
            <a:endParaRPr lang="en-US" sz="1600" dirty="0"/>
          </a:p>
        </p:txBody>
      </p:sp>
      <p:sp>
        <p:nvSpPr>
          <p:cNvPr id="18" name="Shape 15"/>
          <p:cNvSpPr/>
          <p:nvPr/>
        </p:nvSpPr>
        <p:spPr>
          <a:xfrm>
            <a:off x="484187" y="3214688"/>
            <a:ext cx="5381625" cy="635000"/>
          </a:xfrm>
          <a:custGeom>
            <a:avLst/>
            <a:gdLst/>
            <a:ahLst/>
            <a:cxnLst/>
            <a:rect l="l" t="t" r="r" b="b"/>
            <a:pathLst>
              <a:path w="5381625" h="635000">
                <a:moveTo>
                  <a:pt x="63500" y="0"/>
                </a:moveTo>
                <a:lnTo>
                  <a:pt x="5318125" y="0"/>
                </a:lnTo>
                <a:cubicBezTo>
                  <a:pt x="5353172" y="0"/>
                  <a:pt x="5381625" y="28453"/>
                  <a:pt x="5381625" y="63500"/>
                </a:cubicBezTo>
                <a:lnTo>
                  <a:pt x="5381625" y="571500"/>
                </a:lnTo>
                <a:cubicBezTo>
                  <a:pt x="5381625" y="606547"/>
                  <a:pt x="5353172" y="635000"/>
                  <a:pt x="5318125" y="635000"/>
                </a:cubicBezTo>
                <a:lnTo>
                  <a:pt x="63500" y="635000"/>
                </a:lnTo>
                <a:cubicBezTo>
                  <a:pt x="28453" y="635000"/>
                  <a:pt x="0" y="606547"/>
                  <a:pt x="0" y="57150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19" name="Text 16"/>
          <p:cNvSpPr/>
          <p:nvPr/>
        </p:nvSpPr>
        <p:spPr>
          <a:xfrm>
            <a:off x="579438" y="3309938"/>
            <a:ext cx="825500"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Net Zero Goal</a:t>
            </a:r>
            <a:endParaRPr lang="en-US" sz="1600" dirty="0"/>
          </a:p>
        </p:txBody>
      </p:sp>
      <p:sp>
        <p:nvSpPr>
          <p:cNvPr id="20" name="Text 17"/>
          <p:cNvSpPr/>
          <p:nvPr/>
        </p:nvSpPr>
        <p:spPr>
          <a:xfrm>
            <a:off x="5472658" y="3309938"/>
            <a:ext cx="365125"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2050</a:t>
            </a:r>
            <a:endParaRPr lang="en-US" sz="1600" dirty="0"/>
          </a:p>
        </p:txBody>
      </p:sp>
      <p:sp>
        <p:nvSpPr>
          <p:cNvPr id="21" name="Text 18"/>
          <p:cNvSpPr/>
          <p:nvPr/>
        </p:nvSpPr>
        <p:spPr>
          <a:xfrm>
            <a:off x="579438" y="356393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Aligned with aviation industry long-term decarbonization commitment</a:t>
            </a:r>
            <a:endParaRPr lang="en-US" sz="1600" dirty="0"/>
          </a:p>
        </p:txBody>
      </p:sp>
      <p:sp>
        <p:nvSpPr>
          <p:cNvPr id="22" name="Shape 19"/>
          <p:cNvSpPr/>
          <p:nvPr/>
        </p:nvSpPr>
        <p:spPr>
          <a:xfrm>
            <a:off x="317500" y="4143375"/>
            <a:ext cx="5715000" cy="2568525"/>
          </a:xfrm>
          <a:custGeom>
            <a:avLst/>
            <a:gdLst/>
            <a:ahLst/>
            <a:cxnLst/>
            <a:rect l="l" t="t" r="r" b="b"/>
            <a:pathLst>
              <a:path w="5715000" h="4095750">
                <a:moveTo>
                  <a:pt x="95267" y="0"/>
                </a:moveTo>
                <a:lnTo>
                  <a:pt x="5619733" y="0"/>
                </a:lnTo>
                <a:cubicBezTo>
                  <a:pt x="5672347" y="0"/>
                  <a:pt x="5715000" y="42653"/>
                  <a:pt x="5715000" y="95267"/>
                </a:cubicBezTo>
                <a:lnTo>
                  <a:pt x="5715000" y="4000483"/>
                </a:lnTo>
                <a:cubicBezTo>
                  <a:pt x="5715000" y="4053097"/>
                  <a:pt x="5672347" y="4095750"/>
                  <a:pt x="5619733" y="4095750"/>
                </a:cubicBezTo>
                <a:lnTo>
                  <a:pt x="95267" y="4095750"/>
                </a:lnTo>
                <a:cubicBezTo>
                  <a:pt x="42653" y="4095750"/>
                  <a:pt x="0" y="4053097"/>
                  <a:pt x="0" y="4000483"/>
                </a:cubicBezTo>
                <a:lnTo>
                  <a:pt x="0" y="95267"/>
                </a:lnTo>
                <a:cubicBezTo>
                  <a:pt x="0" y="42688"/>
                  <a:pt x="42688" y="0"/>
                  <a:pt x="95267" y="0"/>
                </a:cubicBezTo>
                <a:close/>
              </a:path>
            </a:pathLst>
          </a:custGeom>
          <a:solidFill>
            <a:srgbClr val="1E293B"/>
          </a:solidFill>
          <a:ln/>
        </p:spPr>
        <p:txBody>
          <a:bodyPr/>
          <a:lstStyle/>
          <a:p>
            <a:endParaRPr lang="en-GB"/>
          </a:p>
        </p:txBody>
      </p:sp>
      <p:sp>
        <p:nvSpPr>
          <p:cNvPr id="23" name="Shape 20"/>
          <p:cNvSpPr/>
          <p:nvPr/>
        </p:nvSpPr>
        <p:spPr>
          <a:xfrm>
            <a:off x="496094" y="4325938"/>
            <a:ext cx="158750" cy="158750"/>
          </a:xfrm>
          <a:custGeom>
            <a:avLst/>
            <a:gdLst/>
            <a:ahLst/>
            <a:cxnLst/>
            <a:rect l="l" t="t" r="r" b="b"/>
            <a:pathLst>
              <a:path w="158750" h="158750">
                <a:moveTo>
                  <a:pt x="9922" y="19844"/>
                </a:moveTo>
                <a:cubicBezTo>
                  <a:pt x="9922" y="8899"/>
                  <a:pt x="18821" y="0"/>
                  <a:pt x="29766" y="0"/>
                </a:cubicBezTo>
                <a:lnTo>
                  <a:pt x="79375" y="0"/>
                </a:lnTo>
                <a:cubicBezTo>
                  <a:pt x="90320" y="0"/>
                  <a:pt x="99219" y="8899"/>
                  <a:pt x="99219" y="19844"/>
                </a:cubicBezTo>
                <a:lnTo>
                  <a:pt x="99219" y="79375"/>
                </a:lnTo>
                <a:lnTo>
                  <a:pt x="101699" y="79375"/>
                </a:lnTo>
                <a:cubicBezTo>
                  <a:pt x="116768" y="79375"/>
                  <a:pt x="128984" y="91591"/>
                  <a:pt x="128984" y="106660"/>
                </a:cubicBezTo>
                <a:lnTo>
                  <a:pt x="128984" y="116582"/>
                </a:lnTo>
                <a:cubicBezTo>
                  <a:pt x="128984" y="120706"/>
                  <a:pt x="132302" y="124023"/>
                  <a:pt x="136426" y="124023"/>
                </a:cubicBezTo>
                <a:cubicBezTo>
                  <a:pt x="140550" y="124023"/>
                  <a:pt x="143867" y="120706"/>
                  <a:pt x="143867" y="116582"/>
                </a:cubicBezTo>
                <a:lnTo>
                  <a:pt x="143867" y="68833"/>
                </a:lnTo>
                <a:cubicBezTo>
                  <a:pt x="135310" y="66632"/>
                  <a:pt x="128984" y="58849"/>
                  <a:pt x="128984" y="49609"/>
                </a:cubicBezTo>
                <a:lnTo>
                  <a:pt x="128984" y="31161"/>
                </a:lnTo>
                <a:lnTo>
                  <a:pt x="120985" y="22386"/>
                </a:lnTo>
                <a:cubicBezTo>
                  <a:pt x="118225" y="19348"/>
                  <a:pt x="118442" y="14635"/>
                  <a:pt x="121481" y="11875"/>
                </a:cubicBezTo>
                <a:cubicBezTo>
                  <a:pt x="124520" y="9116"/>
                  <a:pt x="129232" y="9333"/>
                  <a:pt x="131992" y="12371"/>
                </a:cubicBezTo>
                <a:lnTo>
                  <a:pt x="154223" y="36804"/>
                </a:lnTo>
                <a:cubicBezTo>
                  <a:pt x="157138" y="39998"/>
                  <a:pt x="158750" y="44152"/>
                  <a:pt x="158750" y="48493"/>
                </a:cubicBezTo>
                <a:lnTo>
                  <a:pt x="158750" y="116582"/>
                </a:lnTo>
                <a:cubicBezTo>
                  <a:pt x="158750" y="128922"/>
                  <a:pt x="148766" y="138906"/>
                  <a:pt x="136426" y="138906"/>
                </a:cubicBezTo>
                <a:cubicBezTo>
                  <a:pt x="124085" y="138906"/>
                  <a:pt x="114102" y="128922"/>
                  <a:pt x="114102" y="116582"/>
                </a:cubicBezTo>
                <a:lnTo>
                  <a:pt x="114102" y="106660"/>
                </a:lnTo>
                <a:cubicBezTo>
                  <a:pt x="114102" y="99808"/>
                  <a:pt x="108552" y="94258"/>
                  <a:pt x="101699" y="94258"/>
                </a:cubicBezTo>
                <a:lnTo>
                  <a:pt x="99219" y="94258"/>
                </a:lnTo>
                <a:lnTo>
                  <a:pt x="99219" y="144301"/>
                </a:lnTo>
                <a:cubicBezTo>
                  <a:pt x="102102" y="145324"/>
                  <a:pt x="104180" y="148084"/>
                  <a:pt x="104180" y="151309"/>
                </a:cubicBezTo>
                <a:cubicBezTo>
                  <a:pt x="104180" y="155432"/>
                  <a:pt x="100862" y="158750"/>
                  <a:pt x="96738" y="158750"/>
                </a:cubicBezTo>
                <a:lnTo>
                  <a:pt x="12402" y="158750"/>
                </a:lnTo>
                <a:cubicBezTo>
                  <a:pt x="8279" y="158750"/>
                  <a:pt x="4961" y="155432"/>
                  <a:pt x="4961" y="151309"/>
                </a:cubicBezTo>
                <a:cubicBezTo>
                  <a:pt x="4961" y="148053"/>
                  <a:pt x="7038" y="145324"/>
                  <a:pt x="9922" y="144301"/>
                </a:cubicBezTo>
                <a:lnTo>
                  <a:pt x="9922" y="19844"/>
                </a:lnTo>
                <a:close/>
                <a:moveTo>
                  <a:pt x="29766" y="24805"/>
                </a:moveTo>
                <a:lnTo>
                  <a:pt x="29766" y="54570"/>
                </a:lnTo>
                <a:cubicBezTo>
                  <a:pt x="29766" y="57299"/>
                  <a:pt x="31998" y="59531"/>
                  <a:pt x="34727" y="59531"/>
                </a:cubicBezTo>
                <a:lnTo>
                  <a:pt x="74414" y="59531"/>
                </a:lnTo>
                <a:cubicBezTo>
                  <a:pt x="77143" y="59531"/>
                  <a:pt x="79375" y="57299"/>
                  <a:pt x="79375" y="54570"/>
                </a:cubicBezTo>
                <a:lnTo>
                  <a:pt x="79375" y="24805"/>
                </a:lnTo>
                <a:cubicBezTo>
                  <a:pt x="79375" y="22076"/>
                  <a:pt x="77143" y="19844"/>
                  <a:pt x="74414" y="19844"/>
                </a:cubicBezTo>
                <a:lnTo>
                  <a:pt x="34727" y="19844"/>
                </a:lnTo>
                <a:cubicBezTo>
                  <a:pt x="31998" y="19844"/>
                  <a:pt x="29766" y="22076"/>
                  <a:pt x="29766" y="24805"/>
                </a:cubicBezTo>
                <a:close/>
              </a:path>
            </a:pathLst>
          </a:custGeom>
          <a:solidFill>
            <a:srgbClr val="F59E0B"/>
          </a:solidFill>
          <a:ln/>
        </p:spPr>
        <p:txBody>
          <a:bodyPr/>
          <a:lstStyle/>
          <a:p>
            <a:endParaRPr lang="en-GB"/>
          </a:p>
        </p:txBody>
      </p:sp>
      <p:sp>
        <p:nvSpPr>
          <p:cNvPr id="24" name="Text 21"/>
          <p:cNvSpPr/>
          <p:nvPr/>
        </p:nvSpPr>
        <p:spPr>
          <a:xfrm>
            <a:off x="714375" y="4302125"/>
            <a:ext cx="5238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Sustainable Aviation Fuel (SAF)</a:t>
            </a:r>
            <a:endParaRPr lang="en-US" sz="1600" dirty="0"/>
          </a:p>
        </p:txBody>
      </p:sp>
      <p:sp>
        <p:nvSpPr>
          <p:cNvPr id="25" name="Shape 22"/>
          <p:cNvSpPr/>
          <p:nvPr/>
        </p:nvSpPr>
        <p:spPr>
          <a:xfrm>
            <a:off x="476250" y="46196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38BDF8">
              <a:alpha val="20000"/>
            </a:srgbClr>
          </a:solidFill>
          <a:ln/>
        </p:spPr>
        <p:txBody>
          <a:bodyPr/>
          <a:lstStyle/>
          <a:p>
            <a:endParaRPr lang="en-GB"/>
          </a:p>
        </p:txBody>
      </p:sp>
      <p:sp>
        <p:nvSpPr>
          <p:cNvPr id="26" name="Text 23"/>
          <p:cNvSpPr/>
          <p:nvPr/>
        </p:nvSpPr>
        <p:spPr>
          <a:xfrm>
            <a:off x="507628" y="4683125"/>
            <a:ext cx="317500"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50%</a:t>
            </a:r>
            <a:endParaRPr lang="en-US" sz="1600" dirty="0"/>
          </a:p>
        </p:txBody>
      </p:sp>
      <p:sp>
        <p:nvSpPr>
          <p:cNvPr id="27" name="Text 24"/>
          <p:cNvSpPr/>
          <p:nvPr/>
        </p:nvSpPr>
        <p:spPr>
          <a:xfrm>
            <a:off x="889000" y="4619625"/>
            <a:ext cx="25479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Current Capability</a:t>
            </a:r>
            <a:endParaRPr lang="en-US" sz="1600" dirty="0"/>
          </a:p>
        </p:txBody>
      </p:sp>
      <p:sp>
        <p:nvSpPr>
          <p:cNvPr id="28" name="Text 25"/>
          <p:cNvSpPr/>
          <p:nvPr/>
        </p:nvSpPr>
        <p:spPr>
          <a:xfrm>
            <a:off x="889000" y="4810125"/>
            <a:ext cx="2547938"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All Airbus aircraft certified for 50% SAF blend</a:t>
            </a:r>
            <a:endParaRPr lang="en-US" sz="1600" dirty="0"/>
          </a:p>
        </p:txBody>
      </p:sp>
      <p:sp>
        <p:nvSpPr>
          <p:cNvPr id="29" name="Shape 26"/>
          <p:cNvSpPr/>
          <p:nvPr/>
        </p:nvSpPr>
        <p:spPr>
          <a:xfrm>
            <a:off x="476250" y="509587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F59E0B">
              <a:alpha val="20000"/>
            </a:srgbClr>
          </a:solidFill>
          <a:ln/>
        </p:spPr>
        <p:txBody>
          <a:bodyPr/>
          <a:lstStyle/>
          <a:p>
            <a:endParaRPr lang="en-GB"/>
          </a:p>
        </p:txBody>
      </p:sp>
      <p:sp>
        <p:nvSpPr>
          <p:cNvPr id="30" name="Text 27"/>
          <p:cNvSpPr/>
          <p:nvPr/>
        </p:nvSpPr>
        <p:spPr>
          <a:xfrm>
            <a:off x="480467" y="5159375"/>
            <a:ext cx="373063"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100%</a:t>
            </a:r>
            <a:endParaRPr lang="en-US" sz="1600" dirty="0"/>
          </a:p>
        </p:txBody>
      </p:sp>
      <p:sp>
        <p:nvSpPr>
          <p:cNvPr id="31" name="Text 28"/>
          <p:cNvSpPr/>
          <p:nvPr/>
        </p:nvSpPr>
        <p:spPr>
          <a:xfrm>
            <a:off x="889000" y="5095875"/>
            <a:ext cx="29606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2030 Target</a:t>
            </a:r>
            <a:endParaRPr lang="en-US" sz="1600" dirty="0"/>
          </a:p>
        </p:txBody>
      </p:sp>
      <p:sp>
        <p:nvSpPr>
          <p:cNvPr id="32" name="Text 29"/>
          <p:cNvSpPr/>
          <p:nvPr/>
        </p:nvSpPr>
        <p:spPr>
          <a:xfrm>
            <a:off x="889000" y="5286375"/>
            <a:ext cx="2960688"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Full SAF compatibility across all aircraft &amp; helicopters</a:t>
            </a:r>
            <a:endParaRPr lang="en-US" sz="1600" dirty="0"/>
          </a:p>
        </p:txBody>
      </p:sp>
      <p:sp>
        <p:nvSpPr>
          <p:cNvPr id="33" name="Shape 30"/>
          <p:cNvSpPr/>
          <p:nvPr/>
        </p:nvSpPr>
        <p:spPr>
          <a:xfrm>
            <a:off x="476250" y="5572125"/>
            <a:ext cx="5397500" cy="571500"/>
          </a:xfrm>
          <a:custGeom>
            <a:avLst/>
            <a:gdLst/>
            <a:ahLst/>
            <a:cxnLst/>
            <a:rect l="l" t="t" r="r" b="b"/>
            <a:pathLst>
              <a:path w="5397500" h="571500">
                <a:moveTo>
                  <a:pt x="63499" y="0"/>
                </a:moveTo>
                <a:lnTo>
                  <a:pt x="5334001" y="0"/>
                </a:lnTo>
                <a:cubicBezTo>
                  <a:pt x="5369070" y="0"/>
                  <a:pt x="5397500" y="28430"/>
                  <a:pt x="5397500" y="63499"/>
                </a:cubicBezTo>
                <a:lnTo>
                  <a:pt x="5397500" y="508001"/>
                </a:lnTo>
                <a:cubicBezTo>
                  <a:pt x="5397500" y="543070"/>
                  <a:pt x="5369070" y="571500"/>
                  <a:pt x="5334001" y="571500"/>
                </a:cubicBezTo>
                <a:lnTo>
                  <a:pt x="63499" y="571500"/>
                </a:lnTo>
                <a:cubicBezTo>
                  <a:pt x="28430" y="571500"/>
                  <a:pt x="0" y="543070"/>
                  <a:pt x="0" y="508001"/>
                </a:cubicBezTo>
                <a:lnTo>
                  <a:pt x="0" y="63499"/>
                </a:lnTo>
                <a:cubicBezTo>
                  <a:pt x="0" y="28453"/>
                  <a:pt x="28453" y="0"/>
                  <a:pt x="63499" y="0"/>
                </a:cubicBezTo>
                <a:close/>
              </a:path>
            </a:pathLst>
          </a:custGeom>
          <a:solidFill>
            <a:srgbClr val="0F172A">
              <a:alpha val="50196"/>
            </a:srgbClr>
          </a:solidFill>
          <a:ln/>
        </p:spPr>
        <p:txBody>
          <a:bodyPr/>
          <a:lstStyle/>
          <a:p>
            <a:endParaRPr lang="en-GB"/>
          </a:p>
        </p:txBody>
      </p:sp>
      <p:sp>
        <p:nvSpPr>
          <p:cNvPr id="34" name="Text 31"/>
          <p:cNvSpPr/>
          <p:nvPr/>
        </p:nvSpPr>
        <p:spPr>
          <a:xfrm>
            <a:off x="571500" y="5667375"/>
            <a:ext cx="5270500" cy="3810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Impact:</a:t>
            </a:r>
            <a:r>
              <a:rPr lang="en-US" sz="1000" dirty="0">
                <a:solidFill>
                  <a:srgbClr val="E2E8F0"/>
                </a:solidFill>
                <a:latin typeface="Quattrocento Sans" pitchFamily="34" charset="0"/>
                <a:ea typeface="Quattrocento Sans" pitchFamily="34" charset="-122"/>
                <a:cs typeface="Quattrocento Sans" pitchFamily="34" charset="-120"/>
              </a:rPr>
              <a:t> SAF can reduce lifecycle CO2 emissions by up to 80% compared to conventional jet fuel</a:t>
            </a:r>
            <a:endParaRPr lang="en-US" sz="1600" dirty="0"/>
          </a:p>
        </p:txBody>
      </p:sp>
      <p:sp>
        <p:nvSpPr>
          <p:cNvPr id="35" name="Shape 32"/>
          <p:cNvSpPr/>
          <p:nvPr/>
        </p:nvSpPr>
        <p:spPr>
          <a:xfrm>
            <a:off x="6163469" y="1273969"/>
            <a:ext cx="5707063" cy="2956718"/>
          </a:xfrm>
          <a:custGeom>
            <a:avLst/>
            <a:gdLst/>
            <a:ahLst/>
            <a:cxnLst/>
            <a:rect l="l" t="t" r="r" b="b"/>
            <a:pathLst>
              <a:path w="5707063" h="4294188">
                <a:moveTo>
                  <a:pt x="95245" y="0"/>
                </a:moveTo>
                <a:lnTo>
                  <a:pt x="5611817" y="0"/>
                </a:lnTo>
                <a:cubicBezTo>
                  <a:pt x="5664420" y="0"/>
                  <a:pt x="5707063" y="42643"/>
                  <a:pt x="5707063" y="95245"/>
                </a:cubicBezTo>
                <a:lnTo>
                  <a:pt x="5707063" y="4198942"/>
                </a:lnTo>
                <a:cubicBezTo>
                  <a:pt x="5707063" y="4251545"/>
                  <a:pt x="5664420" y="4294188"/>
                  <a:pt x="5611817" y="4294188"/>
                </a:cubicBezTo>
                <a:lnTo>
                  <a:pt x="95245" y="4294188"/>
                </a:lnTo>
                <a:cubicBezTo>
                  <a:pt x="42643" y="4294188"/>
                  <a:pt x="0" y="4251545"/>
                  <a:pt x="0" y="4198942"/>
                </a:cubicBezTo>
                <a:lnTo>
                  <a:pt x="0" y="95245"/>
                </a:lnTo>
                <a:cubicBezTo>
                  <a:pt x="0" y="42643"/>
                  <a:pt x="42643" y="0"/>
                  <a:pt x="95245"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36" name="Shape 33"/>
          <p:cNvSpPr/>
          <p:nvPr/>
        </p:nvSpPr>
        <p:spPr>
          <a:xfrm>
            <a:off x="6346031" y="1358900"/>
            <a:ext cx="158750" cy="158750"/>
          </a:xfrm>
          <a:custGeom>
            <a:avLst/>
            <a:gdLst/>
            <a:ahLst/>
            <a:cxnLst/>
            <a:rect l="l" t="t" r="r" b="b"/>
            <a:pathLst>
              <a:path w="158750" h="158750">
                <a:moveTo>
                  <a:pt x="39688" y="99219"/>
                </a:moveTo>
                <a:lnTo>
                  <a:pt x="7596" y="99219"/>
                </a:lnTo>
                <a:cubicBezTo>
                  <a:pt x="-124" y="99219"/>
                  <a:pt x="-4868" y="90816"/>
                  <a:pt x="-899" y="84181"/>
                </a:cubicBezTo>
                <a:lnTo>
                  <a:pt x="15503" y="56834"/>
                </a:lnTo>
                <a:cubicBezTo>
                  <a:pt x="18200" y="52338"/>
                  <a:pt x="23037" y="49609"/>
                  <a:pt x="28277" y="49609"/>
                </a:cubicBezTo>
                <a:lnTo>
                  <a:pt x="57733" y="49609"/>
                </a:lnTo>
                <a:cubicBezTo>
                  <a:pt x="81328" y="9643"/>
                  <a:pt x="116520" y="7627"/>
                  <a:pt x="140053" y="11069"/>
                </a:cubicBezTo>
                <a:cubicBezTo>
                  <a:pt x="144022" y="11658"/>
                  <a:pt x="147123" y="14759"/>
                  <a:pt x="147681" y="18697"/>
                </a:cubicBezTo>
                <a:cubicBezTo>
                  <a:pt x="151123" y="42230"/>
                  <a:pt x="149107" y="77422"/>
                  <a:pt x="109141" y="101017"/>
                </a:cubicBezTo>
                <a:lnTo>
                  <a:pt x="109141" y="130473"/>
                </a:lnTo>
                <a:cubicBezTo>
                  <a:pt x="109141" y="135713"/>
                  <a:pt x="106412" y="140550"/>
                  <a:pt x="101916" y="143247"/>
                </a:cubicBezTo>
                <a:lnTo>
                  <a:pt x="74569" y="159649"/>
                </a:lnTo>
                <a:cubicBezTo>
                  <a:pt x="67965" y="163618"/>
                  <a:pt x="59531" y="158843"/>
                  <a:pt x="59531" y="151154"/>
                </a:cubicBezTo>
                <a:lnTo>
                  <a:pt x="59531" y="119062"/>
                </a:lnTo>
                <a:cubicBezTo>
                  <a:pt x="59531" y="108117"/>
                  <a:pt x="50633" y="99219"/>
                  <a:pt x="39688" y="99219"/>
                </a:cubicBezTo>
                <a:lnTo>
                  <a:pt x="39656" y="99219"/>
                </a:lnTo>
                <a:close/>
                <a:moveTo>
                  <a:pt x="124023" y="49609"/>
                </a:moveTo>
                <a:cubicBezTo>
                  <a:pt x="124023" y="41395"/>
                  <a:pt x="117355" y="34727"/>
                  <a:pt x="109141" y="34727"/>
                </a:cubicBezTo>
                <a:cubicBezTo>
                  <a:pt x="100927" y="34727"/>
                  <a:pt x="94258" y="41395"/>
                  <a:pt x="94258" y="49609"/>
                </a:cubicBezTo>
                <a:cubicBezTo>
                  <a:pt x="94258" y="57823"/>
                  <a:pt x="100927" y="64492"/>
                  <a:pt x="109141" y="64492"/>
                </a:cubicBezTo>
                <a:cubicBezTo>
                  <a:pt x="117355" y="64492"/>
                  <a:pt x="124023" y="57823"/>
                  <a:pt x="124023" y="49609"/>
                </a:cubicBezTo>
                <a:close/>
              </a:path>
            </a:pathLst>
          </a:custGeom>
          <a:solidFill>
            <a:srgbClr val="F59E0B"/>
          </a:solidFill>
          <a:ln/>
        </p:spPr>
        <p:txBody>
          <a:bodyPr/>
          <a:lstStyle/>
          <a:p>
            <a:endParaRPr lang="en-GB"/>
          </a:p>
        </p:txBody>
      </p:sp>
      <p:sp>
        <p:nvSpPr>
          <p:cNvPr id="37" name="Text 34"/>
          <p:cNvSpPr/>
          <p:nvPr/>
        </p:nvSpPr>
        <p:spPr>
          <a:xfrm>
            <a:off x="6564313" y="1335088"/>
            <a:ext cx="5222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ZEROe Hydrogen Program</a:t>
            </a:r>
            <a:endParaRPr lang="en-US" sz="1600" dirty="0"/>
          </a:p>
        </p:txBody>
      </p:sp>
      <p:sp>
        <p:nvSpPr>
          <p:cNvPr id="38" name="Shape 35"/>
          <p:cNvSpPr/>
          <p:nvPr/>
        </p:nvSpPr>
        <p:spPr>
          <a:xfrm>
            <a:off x="6326188" y="1652588"/>
            <a:ext cx="5381625" cy="793750"/>
          </a:xfrm>
          <a:custGeom>
            <a:avLst/>
            <a:gdLst/>
            <a:ahLst/>
            <a:cxnLst/>
            <a:rect l="l" t="t" r="r" b="b"/>
            <a:pathLst>
              <a:path w="5381625" h="793750">
                <a:moveTo>
                  <a:pt x="63500" y="0"/>
                </a:moveTo>
                <a:lnTo>
                  <a:pt x="5318125" y="0"/>
                </a:lnTo>
                <a:cubicBezTo>
                  <a:pt x="5353172" y="0"/>
                  <a:pt x="5381625" y="28453"/>
                  <a:pt x="5381625" y="63500"/>
                </a:cubicBezTo>
                <a:lnTo>
                  <a:pt x="5381625" y="730250"/>
                </a:lnTo>
                <a:cubicBezTo>
                  <a:pt x="5381625" y="765297"/>
                  <a:pt x="5353172" y="793750"/>
                  <a:pt x="5318125" y="793750"/>
                </a:cubicBezTo>
                <a:lnTo>
                  <a:pt x="63500" y="793750"/>
                </a:lnTo>
                <a:cubicBezTo>
                  <a:pt x="28453" y="793750"/>
                  <a:pt x="0" y="765297"/>
                  <a:pt x="0" y="73025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39" name="Text 36"/>
          <p:cNvSpPr/>
          <p:nvPr/>
        </p:nvSpPr>
        <p:spPr>
          <a:xfrm>
            <a:off x="6421438" y="1747838"/>
            <a:ext cx="5254625"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Concept Unveiled: March 2025</a:t>
            </a:r>
            <a:endParaRPr lang="en-US" sz="1600" dirty="0"/>
          </a:p>
        </p:txBody>
      </p:sp>
      <p:sp>
        <p:nvSpPr>
          <p:cNvPr id="40" name="Text 37"/>
          <p:cNvSpPr/>
          <p:nvPr/>
        </p:nvSpPr>
        <p:spPr>
          <a:xfrm>
            <a:off x="6421438" y="1970088"/>
            <a:ext cx="5254625"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100-seat aircraft with 1,000-nm range powered by liquid hydrogen (LH2) and fuel cell technology</a:t>
            </a:r>
            <a:endParaRPr lang="en-US" sz="1600" dirty="0"/>
          </a:p>
        </p:txBody>
      </p:sp>
      <p:sp>
        <p:nvSpPr>
          <p:cNvPr id="41" name="Shape 38"/>
          <p:cNvSpPr/>
          <p:nvPr/>
        </p:nvSpPr>
        <p:spPr>
          <a:xfrm>
            <a:off x="6342063" y="25733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2" name="Text 39"/>
          <p:cNvSpPr/>
          <p:nvPr/>
        </p:nvSpPr>
        <p:spPr>
          <a:xfrm>
            <a:off x="6548438" y="2541588"/>
            <a:ext cx="2849563"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Four 2MW hydrogen-electric engines on high wing</a:t>
            </a:r>
            <a:endParaRPr lang="en-US" sz="1600" dirty="0"/>
          </a:p>
        </p:txBody>
      </p:sp>
      <p:sp>
        <p:nvSpPr>
          <p:cNvPr id="43" name="Shape 40"/>
          <p:cNvSpPr/>
          <p:nvPr/>
        </p:nvSpPr>
        <p:spPr>
          <a:xfrm>
            <a:off x="6342063" y="28273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4" name="Text 41"/>
          <p:cNvSpPr/>
          <p:nvPr/>
        </p:nvSpPr>
        <p:spPr>
          <a:xfrm>
            <a:off x="6548438" y="2795588"/>
            <a:ext cx="2111375"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Individual fuel cell stack per propeller</a:t>
            </a:r>
            <a:endParaRPr lang="en-US" sz="1600" dirty="0"/>
          </a:p>
        </p:txBody>
      </p:sp>
      <p:sp>
        <p:nvSpPr>
          <p:cNvPr id="45" name="Shape 42"/>
          <p:cNvSpPr/>
          <p:nvPr/>
        </p:nvSpPr>
        <p:spPr>
          <a:xfrm>
            <a:off x="6342063" y="30813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6" name="Text 43"/>
          <p:cNvSpPr/>
          <p:nvPr/>
        </p:nvSpPr>
        <p:spPr>
          <a:xfrm>
            <a:off x="6548438" y="3049588"/>
            <a:ext cx="2214563"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Liquid hydrogen tanks (exploring CFRP)</a:t>
            </a:r>
            <a:endParaRPr lang="en-US" sz="1600" dirty="0"/>
          </a:p>
        </p:txBody>
      </p:sp>
      <p:sp>
        <p:nvSpPr>
          <p:cNvPr id="47" name="Shape 44"/>
          <p:cNvSpPr/>
          <p:nvPr/>
        </p:nvSpPr>
        <p:spPr>
          <a:xfrm>
            <a:off x="6342063" y="33353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8" name="Text 45"/>
          <p:cNvSpPr/>
          <p:nvPr/>
        </p:nvSpPr>
        <p:spPr>
          <a:xfrm>
            <a:off x="6548438" y="3303588"/>
            <a:ext cx="2897188"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Exploring superconductivity for 20-30MW systems</a:t>
            </a:r>
            <a:endParaRPr lang="en-US" sz="1600" dirty="0"/>
          </a:p>
        </p:txBody>
      </p:sp>
      <p:sp>
        <p:nvSpPr>
          <p:cNvPr id="49" name="Shape 46"/>
          <p:cNvSpPr/>
          <p:nvPr/>
        </p:nvSpPr>
        <p:spPr>
          <a:xfrm>
            <a:off x="6326188" y="3589337"/>
            <a:ext cx="5381625" cy="603250"/>
          </a:xfrm>
          <a:custGeom>
            <a:avLst/>
            <a:gdLst/>
            <a:ahLst/>
            <a:cxnLst/>
            <a:rect l="l" t="t" r="r" b="b"/>
            <a:pathLst>
              <a:path w="5381625" h="603250">
                <a:moveTo>
                  <a:pt x="63498" y="0"/>
                </a:moveTo>
                <a:lnTo>
                  <a:pt x="5318127" y="0"/>
                </a:lnTo>
                <a:cubicBezTo>
                  <a:pt x="5353196" y="0"/>
                  <a:pt x="5381625" y="28429"/>
                  <a:pt x="5381625" y="63498"/>
                </a:cubicBezTo>
                <a:lnTo>
                  <a:pt x="5381625" y="539752"/>
                </a:lnTo>
                <a:cubicBezTo>
                  <a:pt x="5381625" y="574821"/>
                  <a:pt x="5353196" y="603250"/>
                  <a:pt x="5318127" y="603250"/>
                </a:cubicBezTo>
                <a:lnTo>
                  <a:pt x="63498" y="603250"/>
                </a:lnTo>
                <a:cubicBezTo>
                  <a:pt x="28429" y="603250"/>
                  <a:pt x="0" y="574821"/>
                  <a:pt x="0" y="539752"/>
                </a:cubicBezTo>
                <a:lnTo>
                  <a:pt x="0" y="63498"/>
                </a:lnTo>
                <a:cubicBezTo>
                  <a:pt x="0" y="28453"/>
                  <a:pt x="28453" y="0"/>
                  <a:pt x="63498" y="0"/>
                </a:cubicBezTo>
                <a:close/>
              </a:path>
            </a:pathLst>
          </a:custGeom>
          <a:solidFill>
            <a:srgbClr val="0F172A">
              <a:alpha val="50196"/>
            </a:srgbClr>
          </a:solidFill>
          <a:ln/>
        </p:spPr>
        <p:txBody>
          <a:bodyPr/>
          <a:lstStyle/>
          <a:p>
            <a:endParaRPr lang="en-GB"/>
          </a:p>
        </p:txBody>
      </p:sp>
      <p:sp>
        <p:nvSpPr>
          <p:cNvPr id="50" name="Text 47"/>
          <p:cNvSpPr/>
          <p:nvPr/>
        </p:nvSpPr>
        <p:spPr>
          <a:xfrm>
            <a:off x="6421438" y="3684588"/>
            <a:ext cx="5254625"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Target Entry into Service: 2035</a:t>
            </a:r>
            <a:endParaRPr lang="en-US" sz="1600" dirty="0"/>
          </a:p>
        </p:txBody>
      </p:sp>
      <p:sp>
        <p:nvSpPr>
          <p:cNvPr id="51" name="Text 48"/>
          <p:cNvSpPr/>
          <p:nvPr/>
        </p:nvSpPr>
        <p:spPr>
          <a:xfrm>
            <a:off x="6421438" y="390683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World's first hydrogen-powered commercial airliner</a:t>
            </a:r>
            <a:endParaRPr lang="en-US" sz="1600" dirty="0"/>
          </a:p>
        </p:txBody>
      </p:sp>
      <p:sp>
        <p:nvSpPr>
          <p:cNvPr id="52" name="Shape 49"/>
          <p:cNvSpPr/>
          <p:nvPr/>
        </p:nvSpPr>
        <p:spPr>
          <a:xfrm>
            <a:off x="6151057" y="4325937"/>
            <a:ext cx="5715000" cy="2385963"/>
          </a:xfrm>
          <a:custGeom>
            <a:avLst/>
            <a:gdLst/>
            <a:ahLst/>
            <a:cxnLst/>
            <a:rect l="l" t="t" r="r" b="b"/>
            <a:pathLst>
              <a:path w="5715000" h="2540000">
                <a:moveTo>
                  <a:pt x="95250" y="0"/>
                </a:moveTo>
                <a:lnTo>
                  <a:pt x="5619750" y="0"/>
                </a:lnTo>
                <a:cubicBezTo>
                  <a:pt x="5672320" y="0"/>
                  <a:pt x="5715000" y="42680"/>
                  <a:pt x="5715000" y="95250"/>
                </a:cubicBezTo>
                <a:lnTo>
                  <a:pt x="5715000" y="2444750"/>
                </a:lnTo>
                <a:cubicBezTo>
                  <a:pt x="5715000" y="2497320"/>
                  <a:pt x="5672320" y="2540000"/>
                  <a:pt x="5619750" y="2540000"/>
                </a:cubicBezTo>
                <a:lnTo>
                  <a:pt x="95250" y="2540000"/>
                </a:lnTo>
                <a:cubicBezTo>
                  <a:pt x="42680" y="2540000"/>
                  <a:pt x="0" y="2497320"/>
                  <a:pt x="0" y="2444750"/>
                </a:cubicBezTo>
                <a:lnTo>
                  <a:pt x="0" y="95250"/>
                </a:lnTo>
                <a:cubicBezTo>
                  <a:pt x="0" y="42680"/>
                  <a:pt x="42680" y="0"/>
                  <a:pt x="95250" y="0"/>
                </a:cubicBezTo>
                <a:close/>
              </a:path>
            </a:pathLst>
          </a:custGeom>
          <a:solidFill>
            <a:srgbClr val="1E293B"/>
          </a:solidFill>
          <a:ln/>
        </p:spPr>
        <p:txBody>
          <a:bodyPr/>
          <a:lstStyle/>
          <a:p>
            <a:endParaRPr lang="en-GB"/>
          </a:p>
        </p:txBody>
      </p:sp>
      <p:sp>
        <p:nvSpPr>
          <p:cNvPr id="53" name="Text 50"/>
          <p:cNvSpPr/>
          <p:nvPr/>
        </p:nvSpPr>
        <p:spPr>
          <a:xfrm>
            <a:off x="6309807" y="4397375"/>
            <a:ext cx="54689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Challenges &amp; Partnerships</a:t>
            </a:r>
            <a:endParaRPr lang="en-US" sz="1600" dirty="0"/>
          </a:p>
        </p:txBody>
      </p:sp>
      <p:sp>
        <p:nvSpPr>
          <p:cNvPr id="54" name="Shape 51"/>
          <p:cNvSpPr/>
          <p:nvPr/>
        </p:nvSpPr>
        <p:spPr>
          <a:xfrm>
            <a:off x="6309807" y="4714875"/>
            <a:ext cx="5397500" cy="1047750"/>
          </a:xfrm>
          <a:custGeom>
            <a:avLst/>
            <a:gdLst/>
            <a:ahLst/>
            <a:cxnLst/>
            <a:rect l="l" t="t" r="r" b="b"/>
            <a:pathLst>
              <a:path w="5397500" h="1047750">
                <a:moveTo>
                  <a:pt x="63504" y="0"/>
                </a:moveTo>
                <a:lnTo>
                  <a:pt x="5333996" y="0"/>
                </a:lnTo>
                <a:cubicBezTo>
                  <a:pt x="5369068" y="0"/>
                  <a:pt x="5397500" y="28432"/>
                  <a:pt x="5397500" y="63504"/>
                </a:cubicBezTo>
                <a:lnTo>
                  <a:pt x="5397500" y="984246"/>
                </a:lnTo>
                <a:cubicBezTo>
                  <a:pt x="5397500" y="1019318"/>
                  <a:pt x="5369068" y="1047750"/>
                  <a:pt x="5333996" y="1047750"/>
                </a:cubicBezTo>
                <a:lnTo>
                  <a:pt x="63504" y="1047750"/>
                </a:lnTo>
                <a:cubicBezTo>
                  <a:pt x="28432" y="1047750"/>
                  <a:pt x="0" y="1019318"/>
                  <a:pt x="0" y="984246"/>
                </a:cubicBezTo>
                <a:lnTo>
                  <a:pt x="0" y="63504"/>
                </a:lnTo>
                <a:cubicBezTo>
                  <a:pt x="0" y="28432"/>
                  <a:pt x="28432" y="0"/>
                  <a:pt x="63504" y="0"/>
                </a:cubicBezTo>
                <a:close/>
              </a:path>
            </a:pathLst>
          </a:custGeom>
          <a:solidFill>
            <a:srgbClr val="0F172A">
              <a:alpha val="50196"/>
            </a:srgbClr>
          </a:solidFill>
          <a:ln/>
        </p:spPr>
        <p:txBody>
          <a:bodyPr/>
          <a:lstStyle/>
          <a:p>
            <a:endParaRPr lang="en-GB"/>
          </a:p>
        </p:txBody>
      </p:sp>
      <p:sp>
        <p:nvSpPr>
          <p:cNvPr id="55" name="Text 52"/>
          <p:cNvSpPr/>
          <p:nvPr/>
        </p:nvSpPr>
        <p:spPr>
          <a:xfrm>
            <a:off x="6405057" y="4810125"/>
            <a:ext cx="5270500"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Key Challenges</a:t>
            </a:r>
            <a:endParaRPr lang="en-US" sz="1600" dirty="0"/>
          </a:p>
        </p:txBody>
      </p:sp>
      <p:sp>
        <p:nvSpPr>
          <p:cNvPr id="56" name="Text 53"/>
          <p:cNvSpPr/>
          <p:nvPr/>
        </p:nvSpPr>
        <p:spPr>
          <a:xfrm>
            <a:off x="6405057" y="5032375"/>
            <a:ext cx="5270500"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 Regulatory framework gaps</a:t>
            </a:r>
            <a:endParaRPr lang="en-US" sz="1600" dirty="0"/>
          </a:p>
        </p:txBody>
      </p:sp>
      <p:sp>
        <p:nvSpPr>
          <p:cNvPr id="57" name="Text 54"/>
          <p:cNvSpPr/>
          <p:nvPr/>
        </p:nvSpPr>
        <p:spPr>
          <a:xfrm>
            <a:off x="6405057" y="5254625"/>
            <a:ext cx="5270500"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 Airport hydrogen infrastructure</a:t>
            </a:r>
            <a:endParaRPr lang="en-US" sz="1600" dirty="0"/>
          </a:p>
        </p:txBody>
      </p:sp>
      <p:sp>
        <p:nvSpPr>
          <p:cNvPr id="58" name="Text 55"/>
          <p:cNvSpPr/>
          <p:nvPr/>
        </p:nvSpPr>
        <p:spPr>
          <a:xfrm>
            <a:off x="6405057" y="5476875"/>
            <a:ext cx="5270500"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 Technology maturation required</a:t>
            </a:r>
            <a:endParaRPr lang="en-US" sz="1600" dirty="0"/>
          </a:p>
        </p:txBody>
      </p:sp>
      <p:sp>
        <p:nvSpPr>
          <p:cNvPr id="59" name="Shape 56"/>
          <p:cNvSpPr/>
          <p:nvPr/>
        </p:nvSpPr>
        <p:spPr>
          <a:xfrm>
            <a:off x="6309807" y="5826125"/>
            <a:ext cx="5397500" cy="793750"/>
          </a:xfrm>
          <a:custGeom>
            <a:avLst/>
            <a:gdLst/>
            <a:ahLst/>
            <a:cxnLst/>
            <a:rect l="l" t="t" r="r" b="b"/>
            <a:pathLst>
              <a:path w="5397500" h="793750">
                <a:moveTo>
                  <a:pt x="63500" y="0"/>
                </a:moveTo>
                <a:lnTo>
                  <a:pt x="5334000" y="0"/>
                </a:lnTo>
                <a:cubicBezTo>
                  <a:pt x="5369047" y="0"/>
                  <a:pt x="5397500" y="28453"/>
                  <a:pt x="5397500" y="63500"/>
                </a:cubicBezTo>
                <a:lnTo>
                  <a:pt x="5397500" y="730250"/>
                </a:lnTo>
                <a:cubicBezTo>
                  <a:pt x="5397500" y="765297"/>
                  <a:pt x="5369047" y="793750"/>
                  <a:pt x="5334000" y="793750"/>
                </a:cubicBezTo>
                <a:lnTo>
                  <a:pt x="63500" y="793750"/>
                </a:lnTo>
                <a:cubicBezTo>
                  <a:pt x="28453" y="793750"/>
                  <a:pt x="0" y="765297"/>
                  <a:pt x="0" y="73025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60" name="Text 57"/>
          <p:cNvSpPr/>
          <p:nvPr/>
        </p:nvSpPr>
        <p:spPr>
          <a:xfrm>
            <a:off x="6405057" y="5921375"/>
            <a:ext cx="5270500"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Collaboration Approach</a:t>
            </a:r>
            <a:endParaRPr lang="en-US" sz="1600" dirty="0"/>
          </a:p>
        </p:txBody>
      </p:sp>
      <p:sp>
        <p:nvSpPr>
          <p:cNvPr id="61" name="Text 58"/>
          <p:cNvSpPr/>
          <p:nvPr/>
        </p:nvSpPr>
        <p:spPr>
          <a:xfrm>
            <a:off x="6405057" y="6143625"/>
            <a:ext cx="5270500"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Working with fuel producers, airlines, governments, and researchers to accelerate SAF production and hydrogen ecosystem development</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38BDF8"/>
                </a:solidFill>
                <a:latin typeface="Quattrocento Sans" pitchFamily="34" charset="0"/>
                <a:ea typeface="Quattrocento Sans" pitchFamily="34" charset="-122"/>
                <a:cs typeface="Quattrocento Sans" pitchFamily="34" charset="-120"/>
              </a:rPr>
              <a:t>FUTURE DIRECTION</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Strategic Outlook: Growth &amp; Transformation</a:t>
            </a:r>
            <a:endParaRPr lang="en-US" sz="1600" dirty="0"/>
          </a:p>
        </p:txBody>
      </p:sp>
      <p:sp>
        <p:nvSpPr>
          <p:cNvPr id="4" name="Text 2"/>
          <p:cNvSpPr/>
          <p:nvPr/>
        </p:nvSpPr>
        <p:spPr>
          <a:xfrm>
            <a:off x="317500" y="952500"/>
            <a:ext cx="11620500"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Ambitious Targets Through 2030 and Beyond</a:t>
            </a:r>
            <a:endParaRPr lang="en-US" sz="1600" dirty="0"/>
          </a:p>
        </p:txBody>
      </p:sp>
      <p:sp>
        <p:nvSpPr>
          <p:cNvPr id="5" name="Shape 3"/>
          <p:cNvSpPr/>
          <p:nvPr/>
        </p:nvSpPr>
        <p:spPr>
          <a:xfrm>
            <a:off x="321469" y="1273969"/>
            <a:ext cx="5707063" cy="2928938"/>
          </a:xfrm>
          <a:custGeom>
            <a:avLst/>
            <a:gdLst/>
            <a:ahLst/>
            <a:cxnLst/>
            <a:rect l="l" t="t" r="r" b="b"/>
            <a:pathLst>
              <a:path w="5707063" h="2928938">
                <a:moveTo>
                  <a:pt x="95249" y="0"/>
                </a:moveTo>
                <a:lnTo>
                  <a:pt x="5611813" y="0"/>
                </a:lnTo>
                <a:cubicBezTo>
                  <a:pt x="5664418" y="0"/>
                  <a:pt x="5707063" y="42644"/>
                  <a:pt x="5707063" y="95249"/>
                </a:cubicBezTo>
                <a:lnTo>
                  <a:pt x="5707063" y="2833688"/>
                </a:lnTo>
                <a:cubicBezTo>
                  <a:pt x="5707063" y="2886293"/>
                  <a:pt x="5664418" y="2928938"/>
                  <a:pt x="5611813" y="2928938"/>
                </a:cubicBezTo>
                <a:lnTo>
                  <a:pt x="95249" y="2928938"/>
                </a:lnTo>
                <a:cubicBezTo>
                  <a:pt x="42644" y="2928938"/>
                  <a:pt x="0" y="2886293"/>
                  <a:pt x="0" y="2833688"/>
                </a:cubicBezTo>
                <a:lnTo>
                  <a:pt x="0" y="95249"/>
                </a:lnTo>
                <a:cubicBezTo>
                  <a:pt x="0" y="42680"/>
                  <a:pt x="42680" y="0"/>
                  <a:pt x="95249" y="0"/>
                </a:cubicBezTo>
                <a:close/>
              </a:path>
            </a:pathLst>
          </a:custGeom>
          <a:gradFill flip="none" rotWithShape="1">
            <a:gsLst>
              <a:gs pos="0">
                <a:srgbClr val="38BDF8">
                  <a:alpha val="20000"/>
                </a:srgbClr>
              </a:gs>
              <a:gs pos="100000">
                <a:srgbClr val="0F172A"/>
              </a:gs>
            </a:gsLst>
            <a:lin ang="2700000" scaled="1"/>
          </a:gradFill>
          <a:ln w="12700">
            <a:solidFill>
              <a:srgbClr val="38BDF8">
                <a:alpha val="30196"/>
              </a:srgbClr>
            </a:solidFill>
            <a:prstDash val="solid"/>
          </a:ln>
        </p:spPr>
        <p:txBody>
          <a:bodyPr/>
          <a:lstStyle/>
          <a:p>
            <a:endParaRPr lang="en-GB"/>
          </a:p>
        </p:txBody>
      </p:sp>
      <p:sp>
        <p:nvSpPr>
          <p:cNvPr id="6" name="Shape 4"/>
          <p:cNvSpPr/>
          <p:nvPr/>
        </p:nvSpPr>
        <p:spPr>
          <a:xfrm>
            <a:off x="504031" y="1460500"/>
            <a:ext cx="158750" cy="158750"/>
          </a:xfrm>
          <a:custGeom>
            <a:avLst/>
            <a:gdLst/>
            <a:ahLst/>
            <a:cxnLst/>
            <a:rect l="l" t="t" r="r" b="b"/>
            <a:pathLst>
              <a:path w="158750" h="158750">
                <a:moveTo>
                  <a:pt x="19844" y="19844"/>
                </a:moveTo>
                <a:cubicBezTo>
                  <a:pt x="19844" y="14356"/>
                  <a:pt x="15410" y="9922"/>
                  <a:pt x="9922" y="9922"/>
                </a:cubicBezTo>
                <a:cubicBezTo>
                  <a:pt x="4434" y="9922"/>
                  <a:pt x="0" y="14356"/>
                  <a:pt x="0" y="19844"/>
                </a:cubicBezTo>
                <a:lnTo>
                  <a:pt x="0" y="124023"/>
                </a:lnTo>
                <a:cubicBezTo>
                  <a:pt x="0" y="137728"/>
                  <a:pt x="11100" y="148828"/>
                  <a:pt x="24805" y="148828"/>
                </a:cubicBezTo>
                <a:lnTo>
                  <a:pt x="148828" y="148828"/>
                </a:lnTo>
                <a:cubicBezTo>
                  <a:pt x="154316" y="148828"/>
                  <a:pt x="158750" y="144394"/>
                  <a:pt x="158750" y="138906"/>
                </a:cubicBezTo>
                <a:cubicBezTo>
                  <a:pt x="158750" y="133418"/>
                  <a:pt x="154316" y="128984"/>
                  <a:pt x="148828" y="128984"/>
                </a:cubicBezTo>
                <a:lnTo>
                  <a:pt x="24805" y="128984"/>
                </a:lnTo>
                <a:cubicBezTo>
                  <a:pt x="22076" y="128984"/>
                  <a:pt x="19844" y="126752"/>
                  <a:pt x="19844" y="124023"/>
                </a:cubicBezTo>
                <a:lnTo>
                  <a:pt x="19844" y="19844"/>
                </a:lnTo>
                <a:close/>
                <a:moveTo>
                  <a:pt x="145914" y="46695"/>
                </a:moveTo>
                <a:cubicBezTo>
                  <a:pt x="149789" y="42819"/>
                  <a:pt x="149789" y="36525"/>
                  <a:pt x="145914" y="32649"/>
                </a:cubicBezTo>
                <a:cubicBezTo>
                  <a:pt x="142038" y="28773"/>
                  <a:pt x="135744" y="28773"/>
                  <a:pt x="131868" y="32649"/>
                </a:cubicBezTo>
                <a:lnTo>
                  <a:pt x="99219" y="65329"/>
                </a:lnTo>
                <a:lnTo>
                  <a:pt x="81421" y="47563"/>
                </a:lnTo>
                <a:cubicBezTo>
                  <a:pt x="77546" y="43687"/>
                  <a:pt x="71251" y="43687"/>
                  <a:pt x="67376" y="47563"/>
                </a:cubicBezTo>
                <a:lnTo>
                  <a:pt x="37610" y="77329"/>
                </a:lnTo>
                <a:cubicBezTo>
                  <a:pt x="33734" y="81204"/>
                  <a:pt x="33734" y="87499"/>
                  <a:pt x="37610" y="91374"/>
                </a:cubicBezTo>
                <a:cubicBezTo>
                  <a:pt x="41486" y="95250"/>
                  <a:pt x="47780" y="95250"/>
                  <a:pt x="51656" y="91374"/>
                </a:cubicBezTo>
                <a:lnTo>
                  <a:pt x="74414" y="68616"/>
                </a:lnTo>
                <a:lnTo>
                  <a:pt x="92211" y="86413"/>
                </a:lnTo>
                <a:cubicBezTo>
                  <a:pt x="96087" y="90289"/>
                  <a:pt x="102381" y="90289"/>
                  <a:pt x="106257" y="86413"/>
                </a:cubicBezTo>
                <a:lnTo>
                  <a:pt x="145945" y="46726"/>
                </a:lnTo>
                <a:close/>
              </a:path>
            </a:pathLst>
          </a:custGeom>
          <a:solidFill>
            <a:srgbClr val="38BDF8"/>
          </a:solidFill>
          <a:ln/>
        </p:spPr>
        <p:txBody>
          <a:bodyPr/>
          <a:lstStyle/>
          <a:p>
            <a:endParaRPr lang="en-GB"/>
          </a:p>
        </p:txBody>
      </p:sp>
      <p:sp>
        <p:nvSpPr>
          <p:cNvPr id="7" name="Text 5"/>
          <p:cNvSpPr/>
          <p:nvPr/>
        </p:nvSpPr>
        <p:spPr>
          <a:xfrm>
            <a:off x="722313" y="1436688"/>
            <a:ext cx="5222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Production &amp; Revenue Targets</a:t>
            </a:r>
            <a:endParaRPr lang="en-US" sz="1600" dirty="0"/>
          </a:p>
        </p:txBody>
      </p:sp>
      <p:sp>
        <p:nvSpPr>
          <p:cNvPr id="8" name="Shape 6"/>
          <p:cNvSpPr/>
          <p:nvPr/>
        </p:nvSpPr>
        <p:spPr>
          <a:xfrm>
            <a:off x="484187" y="1754188"/>
            <a:ext cx="5381625" cy="730250"/>
          </a:xfrm>
          <a:custGeom>
            <a:avLst/>
            <a:gdLst/>
            <a:ahLst/>
            <a:cxnLst/>
            <a:rect l="l" t="t" r="r" b="b"/>
            <a:pathLst>
              <a:path w="5381625" h="730250">
                <a:moveTo>
                  <a:pt x="63503" y="0"/>
                </a:moveTo>
                <a:lnTo>
                  <a:pt x="5318122" y="0"/>
                </a:lnTo>
                <a:cubicBezTo>
                  <a:pt x="5353194" y="0"/>
                  <a:pt x="5381625" y="28431"/>
                  <a:pt x="5381625" y="63503"/>
                </a:cubicBezTo>
                <a:lnTo>
                  <a:pt x="5381625" y="666747"/>
                </a:lnTo>
                <a:cubicBezTo>
                  <a:pt x="5381625" y="701819"/>
                  <a:pt x="5353194" y="730250"/>
                  <a:pt x="5318122" y="730250"/>
                </a:cubicBezTo>
                <a:lnTo>
                  <a:pt x="63503" y="730250"/>
                </a:lnTo>
                <a:cubicBezTo>
                  <a:pt x="28431" y="730250"/>
                  <a:pt x="0" y="701819"/>
                  <a:pt x="0" y="666747"/>
                </a:cubicBezTo>
                <a:lnTo>
                  <a:pt x="0" y="63503"/>
                </a:lnTo>
                <a:cubicBezTo>
                  <a:pt x="0" y="28455"/>
                  <a:pt x="28455" y="0"/>
                  <a:pt x="63503" y="0"/>
                </a:cubicBezTo>
                <a:close/>
              </a:path>
            </a:pathLst>
          </a:custGeom>
          <a:solidFill>
            <a:srgbClr val="0F172A">
              <a:alpha val="50196"/>
            </a:srgbClr>
          </a:solidFill>
          <a:ln/>
        </p:spPr>
        <p:txBody>
          <a:bodyPr/>
          <a:lstStyle/>
          <a:p>
            <a:endParaRPr lang="en-GB"/>
          </a:p>
        </p:txBody>
      </p:sp>
      <p:sp>
        <p:nvSpPr>
          <p:cNvPr id="9" name="Text 7"/>
          <p:cNvSpPr/>
          <p:nvPr/>
        </p:nvSpPr>
        <p:spPr>
          <a:xfrm>
            <a:off x="579438" y="1849438"/>
            <a:ext cx="1262063"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A320 Production Rate</a:t>
            </a:r>
            <a:endParaRPr lang="en-US" sz="1600" dirty="0"/>
          </a:p>
        </p:txBody>
      </p:sp>
      <p:sp>
        <p:nvSpPr>
          <p:cNvPr id="10" name="Text 8"/>
          <p:cNvSpPr/>
          <p:nvPr/>
        </p:nvSpPr>
        <p:spPr>
          <a:xfrm>
            <a:off x="4760888" y="1849438"/>
            <a:ext cx="1071563"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75/month by 2027</a:t>
            </a:r>
            <a:endParaRPr lang="en-US" sz="1600" dirty="0"/>
          </a:p>
        </p:txBody>
      </p:sp>
      <p:sp>
        <p:nvSpPr>
          <p:cNvPr id="11" name="Shape 9"/>
          <p:cNvSpPr/>
          <p:nvPr/>
        </p:nvSpPr>
        <p:spPr>
          <a:xfrm>
            <a:off x="579438" y="2103438"/>
            <a:ext cx="5191125" cy="63500"/>
          </a:xfrm>
          <a:custGeom>
            <a:avLst/>
            <a:gdLst/>
            <a:ahLst/>
            <a:cxnLst/>
            <a:rect l="l" t="t" r="r" b="b"/>
            <a:pathLst>
              <a:path w="5191125" h="63500">
                <a:moveTo>
                  <a:pt x="31750" y="0"/>
                </a:moveTo>
                <a:lnTo>
                  <a:pt x="5159375" y="0"/>
                </a:lnTo>
                <a:cubicBezTo>
                  <a:pt x="5176898" y="0"/>
                  <a:pt x="5191125" y="14227"/>
                  <a:pt x="5191125" y="31750"/>
                </a:cubicBezTo>
                <a:lnTo>
                  <a:pt x="5191125" y="31750"/>
                </a:lnTo>
                <a:cubicBezTo>
                  <a:pt x="5191125" y="49273"/>
                  <a:pt x="5176898" y="63500"/>
                  <a:pt x="5159375" y="63500"/>
                </a:cubicBezTo>
                <a:lnTo>
                  <a:pt x="31750" y="63500"/>
                </a:lnTo>
                <a:cubicBezTo>
                  <a:pt x="14227" y="63500"/>
                  <a:pt x="0" y="49273"/>
                  <a:pt x="0" y="31750"/>
                </a:cubicBezTo>
                <a:lnTo>
                  <a:pt x="0" y="31750"/>
                </a:lnTo>
                <a:cubicBezTo>
                  <a:pt x="0" y="14227"/>
                  <a:pt x="14227" y="0"/>
                  <a:pt x="31750" y="0"/>
                </a:cubicBezTo>
                <a:close/>
              </a:path>
            </a:pathLst>
          </a:custGeom>
          <a:solidFill>
            <a:srgbClr val="475569"/>
          </a:solidFill>
          <a:ln/>
        </p:spPr>
        <p:txBody>
          <a:bodyPr/>
          <a:lstStyle/>
          <a:p>
            <a:endParaRPr lang="en-GB"/>
          </a:p>
        </p:txBody>
      </p:sp>
      <p:sp>
        <p:nvSpPr>
          <p:cNvPr id="12" name="Shape 10"/>
          <p:cNvSpPr/>
          <p:nvPr/>
        </p:nvSpPr>
        <p:spPr>
          <a:xfrm>
            <a:off x="579438" y="2103438"/>
            <a:ext cx="4516438" cy="63500"/>
          </a:xfrm>
          <a:custGeom>
            <a:avLst/>
            <a:gdLst/>
            <a:ahLst/>
            <a:cxnLst/>
            <a:rect l="l" t="t" r="r" b="b"/>
            <a:pathLst>
              <a:path w="4516438" h="63500">
                <a:moveTo>
                  <a:pt x="31750" y="0"/>
                </a:moveTo>
                <a:lnTo>
                  <a:pt x="4484688" y="0"/>
                </a:lnTo>
                <a:cubicBezTo>
                  <a:pt x="4502211" y="0"/>
                  <a:pt x="4516438" y="14227"/>
                  <a:pt x="4516438" y="31750"/>
                </a:cubicBezTo>
                <a:lnTo>
                  <a:pt x="4516438" y="31750"/>
                </a:lnTo>
                <a:cubicBezTo>
                  <a:pt x="4516438" y="49273"/>
                  <a:pt x="4502211" y="63500"/>
                  <a:pt x="4484688" y="63500"/>
                </a:cubicBezTo>
                <a:lnTo>
                  <a:pt x="31750" y="63500"/>
                </a:lnTo>
                <a:cubicBezTo>
                  <a:pt x="14227" y="63500"/>
                  <a:pt x="0" y="49273"/>
                  <a:pt x="0" y="31750"/>
                </a:cubicBezTo>
                <a:lnTo>
                  <a:pt x="0" y="31750"/>
                </a:lnTo>
                <a:cubicBezTo>
                  <a:pt x="0" y="14227"/>
                  <a:pt x="14227" y="0"/>
                  <a:pt x="31750" y="0"/>
                </a:cubicBezTo>
                <a:close/>
              </a:path>
            </a:pathLst>
          </a:custGeom>
          <a:solidFill>
            <a:srgbClr val="38BDF8"/>
          </a:solidFill>
          <a:ln/>
        </p:spPr>
        <p:txBody>
          <a:bodyPr/>
          <a:lstStyle/>
          <a:p>
            <a:endParaRPr lang="en-GB"/>
          </a:p>
        </p:txBody>
      </p:sp>
      <p:sp>
        <p:nvSpPr>
          <p:cNvPr id="13" name="Text 11"/>
          <p:cNvSpPr/>
          <p:nvPr/>
        </p:nvSpPr>
        <p:spPr>
          <a:xfrm>
            <a:off x="579438" y="219868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Currently ~65/month, targeting 1,000+ annual deliveries</a:t>
            </a:r>
            <a:endParaRPr lang="en-US" sz="1600" dirty="0"/>
          </a:p>
        </p:txBody>
      </p:sp>
      <p:sp>
        <p:nvSpPr>
          <p:cNvPr id="14" name="Shape 12"/>
          <p:cNvSpPr/>
          <p:nvPr/>
        </p:nvSpPr>
        <p:spPr>
          <a:xfrm>
            <a:off x="484187" y="2579688"/>
            <a:ext cx="5381625" cy="730250"/>
          </a:xfrm>
          <a:custGeom>
            <a:avLst/>
            <a:gdLst/>
            <a:ahLst/>
            <a:cxnLst/>
            <a:rect l="l" t="t" r="r" b="b"/>
            <a:pathLst>
              <a:path w="5381625" h="730250">
                <a:moveTo>
                  <a:pt x="63503" y="0"/>
                </a:moveTo>
                <a:lnTo>
                  <a:pt x="5318122" y="0"/>
                </a:lnTo>
                <a:cubicBezTo>
                  <a:pt x="5353194" y="0"/>
                  <a:pt x="5381625" y="28431"/>
                  <a:pt x="5381625" y="63503"/>
                </a:cubicBezTo>
                <a:lnTo>
                  <a:pt x="5381625" y="666747"/>
                </a:lnTo>
                <a:cubicBezTo>
                  <a:pt x="5381625" y="701819"/>
                  <a:pt x="5353194" y="730250"/>
                  <a:pt x="5318122" y="730250"/>
                </a:cubicBezTo>
                <a:lnTo>
                  <a:pt x="63503" y="730250"/>
                </a:lnTo>
                <a:cubicBezTo>
                  <a:pt x="28431" y="730250"/>
                  <a:pt x="0" y="701819"/>
                  <a:pt x="0" y="666747"/>
                </a:cubicBezTo>
                <a:lnTo>
                  <a:pt x="0" y="63503"/>
                </a:lnTo>
                <a:cubicBezTo>
                  <a:pt x="0" y="28455"/>
                  <a:pt x="28455" y="0"/>
                  <a:pt x="63503" y="0"/>
                </a:cubicBezTo>
                <a:close/>
              </a:path>
            </a:pathLst>
          </a:custGeom>
          <a:solidFill>
            <a:srgbClr val="0F172A">
              <a:alpha val="50196"/>
            </a:srgbClr>
          </a:solidFill>
          <a:ln/>
        </p:spPr>
        <p:txBody>
          <a:bodyPr/>
          <a:lstStyle/>
          <a:p>
            <a:endParaRPr lang="en-GB"/>
          </a:p>
        </p:txBody>
      </p:sp>
      <p:sp>
        <p:nvSpPr>
          <p:cNvPr id="15" name="Text 13"/>
          <p:cNvSpPr/>
          <p:nvPr/>
        </p:nvSpPr>
        <p:spPr>
          <a:xfrm>
            <a:off x="579438" y="2674938"/>
            <a:ext cx="1333500"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Annual Revenue Target</a:t>
            </a:r>
            <a:endParaRPr lang="en-US" sz="1600" dirty="0"/>
          </a:p>
        </p:txBody>
      </p:sp>
      <p:sp>
        <p:nvSpPr>
          <p:cNvPr id="16" name="Text 14"/>
          <p:cNvSpPr/>
          <p:nvPr/>
        </p:nvSpPr>
        <p:spPr>
          <a:xfrm>
            <a:off x="4916661" y="2674938"/>
            <a:ext cx="920750"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€100B by 2030</a:t>
            </a:r>
            <a:endParaRPr lang="en-US" sz="1600" dirty="0"/>
          </a:p>
        </p:txBody>
      </p:sp>
      <p:sp>
        <p:nvSpPr>
          <p:cNvPr id="17" name="Shape 15"/>
          <p:cNvSpPr/>
          <p:nvPr/>
        </p:nvSpPr>
        <p:spPr>
          <a:xfrm>
            <a:off x="579438" y="2928938"/>
            <a:ext cx="5191125" cy="63500"/>
          </a:xfrm>
          <a:custGeom>
            <a:avLst/>
            <a:gdLst/>
            <a:ahLst/>
            <a:cxnLst/>
            <a:rect l="l" t="t" r="r" b="b"/>
            <a:pathLst>
              <a:path w="5191125" h="63500">
                <a:moveTo>
                  <a:pt x="31750" y="0"/>
                </a:moveTo>
                <a:lnTo>
                  <a:pt x="5159375" y="0"/>
                </a:lnTo>
                <a:cubicBezTo>
                  <a:pt x="5176898" y="0"/>
                  <a:pt x="5191125" y="14227"/>
                  <a:pt x="5191125" y="31750"/>
                </a:cubicBezTo>
                <a:lnTo>
                  <a:pt x="5191125" y="31750"/>
                </a:lnTo>
                <a:cubicBezTo>
                  <a:pt x="5191125" y="49273"/>
                  <a:pt x="5176898" y="63500"/>
                  <a:pt x="5159375" y="63500"/>
                </a:cubicBezTo>
                <a:lnTo>
                  <a:pt x="31750" y="63500"/>
                </a:lnTo>
                <a:cubicBezTo>
                  <a:pt x="14227" y="63500"/>
                  <a:pt x="0" y="49273"/>
                  <a:pt x="0" y="31750"/>
                </a:cubicBezTo>
                <a:lnTo>
                  <a:pt x="0" y="31750"/>
                </a:lnTo>
                <a:cubicBezTo>
                  <a:pt x="0" y="14227"/>
                  <a:pt x="14227" y="0"/>
                  <a:pt x="31750" y="0"/>
                </a:cubicBezTo>
                <a:close/>
              </a:path>
            </a:pathLst>
          </a:custGeom>
          <a:solidFill>
            <a:srgbClr val="475569"/>
          </a:solidFill>
          <a:ln/>
        </p:spPr>
        <p:txBody>
          <a:bodyPr/>
          <a:lstStyle/>
          <a:p>
            <a:endParaRPr lang="en-GB"/>
          </a:p>
        </p:txBody>
      </p:sp>
      <p:sp>
        <p:nvSpPr>
          <p:cNvPr id="18" name="Shape 16"/>
          <p:cNvSpPr/>
          <p:nvPr/>
        </p:nvSpPr>
        <p:spPr>
          <a:xfrm>
            <a:off x="579438" y="2928938"/>
            <a:ext cx="3579813" cy="63500"/>
          </a:xfrm>
          <a:custGeom>
            <a:avLst/>
            <a:gdLst/>
            <a:ahLst/>
            <a:cxnLst/>
            <a:rect l="l" t="t" r="r" b="b"/>
            <a:pathLst>
              <a:path w="3579813" h="63500">
                <a:moveTo>
                  <a:pt x="31750" y="0"/>
                </a:moveTo>
                <a:lnTo>
                  <a:pt x="3548063" y="0"/>
                </a:lnTo>
                <a:cubicBezTo>
                  <a:pt x="3565586" y="0"/>
                  <a:pt x="3579813" y="14227"/>
                  <a:pt x="3579813" y="31750"/>
                </a:cubicBezTo>
                <a:lnTo>
                  <a:pt x="3579813" y="31750"/>
                </a:lnTo>
                <a:cubicBezTo>
                  <a:pt x="3579813" y="49273"/>
                  <a:pt x="3565586" y="63500"/>
                  <a:pt x="3548063" y="63500"/>
                </a:cubicBezTo>
                <a:lnTo>
                  <a:pt x="31750" y="63500"/>
                </a:lnTo>
                <a:cubicBezTo>
                  <a:pt x="14227" y="63500"/>
                  <a:pt x="0" y="49273"/>
                  <a:pt x="0" y="31750"/>
                </a:cubicBezTo>
                <a:lnTo>
                  <a:pt x="0" y="31750"/>
                </a:lnTo>
                <a:cubicBezTo>
                  <a:pt x="0" y="14227"/>
                  <a:pt x="14227" y="0"/>
                  <a:pt x="31750" y="0"/>
                </a:cubicBezTo>
                <a:close/>
              </a:path>
            </a:pathLst>
          </a:custGeom>
          <a:solidFill>
            <a:srgbClr val="F59E0B"/>
          </a:solidFill>
          <a:ln/>
        </p:spPr>
        <p:txBody>
          <a:bodyPr/>
          <a:lstStyle/>
          <a:p>
            <a:endParaRPr lang="en-GB"/>
          </a:p>
        </p:txBody>
      </p:sp>
      <p:sp>
        <p:nvSpPr>
          <p:cNvPr id="19" name="Text 17"/>
          <p:cNvSpPr/>
          <p:nvPr/>
        </p:nvSpPr>
        <p:spPr>
          <a:xfrm>
            <a:off x="579438" y="302418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From €69.2B in FY2024, requiring ~9% CAGR</a:t>
            </a:r>
            <a:endParaRPr lang="en-US" sz="1600" dirty="0"/>
          </a:p>
        </p:txBody>
      </p:sp>
      <p:sp>
        <p:nvSpPr>
          <p:cNvPr id="20" name="Shape 18"/>
          <p:cNvSpPr/>
          <p:nvPr/>
        </p:nvSpPr>
        <p:spPr>
          <a:xfrm>
            <a:off x="484187" y="3405188"/>
            <a:ext cx="5381625" cy="635000"/>
          </a:xfrm>
          <a:custGeom>
            <a:avLst/>
            <a:gdLst/>
            <a:ahLst/>
            <a:cxnLst/>
            <a:rect l="l" t="t" r="r" b="b"/>
            <a:pathLst>
              <a:path w="5381625" h="635000">
                <a:moveTo>
                  <a:pt x="63500" y="0"/>
                </a:moveTo>
                <a:lnTo>
                  <a:pt x="5318125" y="0"/>
                </a:lnTo>
                <a:cubicBezTo>
                  <a:pt x="5353172" y="0"/>
                  <a:pt x="5381625" y="28453"/>
                  <a:pt x="5381625" y="63500"/>
                </a:cubicBezTo>
                <a:lnTo>
                  <a:pt x="5381625" y="571500"/>
                </a:lnTo>
                <a:cubicBezTo>
                  <a:pt x="5381625" y="606547"/>
                  <a:pt x="5353172" y="635000"/>
                  <a:pt x="5318125" y="635000"/>
                </a:cubicBezTo>
                <a:lnTo>
                  <a:pt x="63500" y="635000"/>
                </a:lnTo>
                <a:cubicBezTo>
                  <a:pt x="28453" y="635000"/>
                  <a:pt x="0" y="606547"/>
                  <a:pt x="0" y="57150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21" name="Text 19"/>
          <p:cNvSpPr/>
          <p:nvPr/>
        </p:nvSpPr>
        <p:spPr>
          <a:xfrm>
            <a:off x="579438" y="3500438"/>
            <a:ext cx="1008063"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A220 Profitability</a:t>
            </a:r>
            <a:endParaRPr lang="en-US" sz="1600" dirty="0"/>
          </a:p>
        </p:txBody>
      </p:sp>
      <p:sp>
        <p:nvSpPr>
          <p:cNvPr id="22" name="Text 20"/>
          <p:cNvSpPr/>
          <p:nvPr/>
        </p:nvSpPr>
        <p:spPr>
          <a:xfrm>
            <a:off x="5067970" y="3500438"/>
            <a:ext cx="769938" cy="1905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Path to Profit</a:t>
            </a:r>
            <a:endParaRPr lang="en-US" sz="1600" dirty="0"/>
          </a:p>
        </p:txBody>
      </p:sp>
      <p:sp>
        <p:nvSpPr>
          <p:cNvPr id="23" name="Text 21"/>
          <p:cNvSpPr/>
          <p:nvPr/>
        </p:nvSpPr>
        <p:spPr>
          <a:xfrm>
            <a:off x="579438" y="3754438"/>
            <a:ext cx="5254625"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Rate 12 by 2026 essential for program economics</a:t>
            </a:r>
            <a:endParaRPr lang="en-US" sz="1600" dirty="0"/>
          </a:p>
        </p:txBody>
      </p:sp>
      <p:sp>
        <p:nvSpPr>
          <p:cNvPr id="24" name="Shape 22"/>
          <p:cNvSpPr/>
          <p:nvPr/>
        </p:nvSpPr>
        <p:spPr>
          <a:xfrm>
            <a:off x="317500" y="4333875"/>
            <a:ext cx="5715000" cy="2489260"/>
          </a:xfrm>
          <a:custGeom>
            <a:avLst/>
            <a:gdLst/>
            <a:ahLst/>
            <a:cxnLst/>
            <a:rect l="l" t="t" r="r" b="b"/>
            <a:pathLst>
              <a:path w="5715000" h="3405188">
                <a:moveTo>
                  <a:pt x="95243" y="0"/>
                </a:moveTo>
                <a:lnTo>
                  <a:pt x="5619757" y="0"/>
                </a:lnTo>
                <a:cubicBezTo>
                  <a:pt x="5672358" y="0"/>
                  <a:pt x="5715000" y="42642"/>
                  <a:pt x="5715000" y="95243"/>
                </a:cubicBezTo>
                <a:lnTo>
                  <a:pt x="5715000" y="3309944"/>
                </a:lnTo>
                <a:cubicBezTo>
                  <a:pt x="5715000" y="3362546"/>
                  <a:pt x="5672358" y="3405188"/>
                  <a:pt x="5619757" y="3405188"/>
                </a:cubicBezTo>
                <a:lnTo>
                  <a:pt x="95243" y="3405188"/>
                </a:lnTo>
                <a:cubicBezTo>
                  <a:pt x="42642" y="3405188"/>
                  <a:pt x="0" y="3362546"/>
                  <a:pt x="0" y="3309944"/>
                </a:cubicBezTo>
                <a:lnTo>
                  <a:pt x="0" y="95243"/>
                </a:lnTo>
                <a:cubicBezTo>
                  <a:pt x="0" y="42677"/>
                  <a:pt x="42677" y="0"/>
                  <a:pt x="95243" y="0"/>
                </a:cubicBezTo>
                <a:close/>
              </a:path>
            </a:pathLst>
          </a:custGeom>
          <a:solidFill>
            <a:srgbClr val="1E293B"/>
          </a:solidFill>
          <a:ln/>
        </p:spPr>
        <p:txBody>
          <a:bodyPr/>
          <a:lstStyle/>
          <a:p>
            <a:endParaRPr lang="en-GB"/>
          </a:p>
        </p:txBody>
      </p:sp>
      <p:sp>
        <p:nvSpPr>
          <p:cNvPr id="25" name="Shape 23"/>
          <p:cNvSpPr/>
          <p:nvPr/>
        </p:nvSpPr>
        <p:spPr>
          <a:xfrm>
            <a:off x="506016" y="4516438"/>
            <a:ext cx="138906" cy="158750"/>
          </a:xfrm>
          <a:custGeom>
            <a:avLst/>
            <a:gdLst/>
            <a:ahLst/>
            <a:cxnLst/>
            <a:rect l="l" t="t" r="r" b="b"/>
            <a:pathLst>
              <a:path w="138906" h="158750">
                <a:moveTo>
                  <a:pt x="52090" y="9922"/>
                </a:moveTo>
                <a:lnTo>
                  <a:pt x="7441" y="9922"/>
                </a:lnTo>
                <a:cubicBezTo>
                  <a:pt x="3318" y="9922"/>
                  <a:pt x="0" y="13240"/>
                  <a:pt x="0" y="17363"/>
                </a:cubicBezTo>
                <a:lnTo>
                  <a:pt x="0" y="62012"/>
                </a:lnTo>
                <a:cubicBezTo>
                  <a:pt x="0" y="65019"/>
                  <a:pt x="1798" y="67748"/>
                  <a:pt x="4589" y="68895"/>
                </a:cubicBezTo>
                <a:cubicBezTo>
                  <a:pt x="7379" y="70042"/>
                  <a:pt x="10573" y="69391"/>
                  <a:pt x="12712" y="67283"/>
                </a:cubicBezTo>
                <a:lnTo>
                  <a:pt x="25115" y="54880"/>
                </a:lnTo>
                <a:lnTo>
                  <a:pt x="49609" y="79375"/>
                </a:lnTo>
                <a:lnTo>
                  <a:pt x="25115" y="103870"/>
                </a:lnTo>
                <a:lnTo>
                  <a:pt x="12712" y="91467"/>
                </a:lnTo>
                <a:cubicBezTo>
                  <a:pt x="10573" y="89328"/>
                  <a:pt x="7379" y="88708"/>
                  <a:pt x="4589" y="89855"/>
                </a:cubicBezTo>
                <a:cubicBezTo>
                  <a:pt x="1798" y="91002"/>
                  <a:pt x="0" y="93731"/>
                  <a:pt x="0" y="96738"/>
                </a:cubicBezTo>
                <a:lnTo>
                  <a:pt x="0" y="141387"/>
                </a:lnTo>
                <a:cubicBezTo>
                  <a:pt x="0" y="145510"/>
                  <a:pt x="3318" y="148828"/>
                  <a:pt x="7441" y="148828"/>
                </a:cubicBezTo>
                <a:lnTo>
                  <a:pt x="52090" y="148828"/>
                </a:lnTo>
                <a:cubicBezTo>
                  <a:pt x="55097" y="148828"/>
                  <a:pt x="57826" y="147030"/>
                  <a:pt x="58973" y="144239"/>
                </a:cubicBezTo>
                <a:cubicBezTo>
                  <a:pt x="60120" y="141449"/>
                  <a:pt x="59500" y="138255"/>
                  <a:pt x="57361" y="136116"/>
                </a:cubicBezTo>
                <a:lnTo>
                  <a:pt x="44958" y="123713"/>
                </a:lnTo>
                <a:lnTo>
                  <a:pt x="69453" y="99219"/>
                </a:lnTo>
                <a:lnTo>
                  <a:pt x="93948" y="123713"/>
                </a:lnTo>
                <a:lnTo>
                  <a:pt x="81545" y="136116"/>
                </a:lnTo>
                <a:cubicBezTo>
                  <a:pt x="79406" y="138255"/>
                  <a:pt x="78786" y="141449"/>
                  <a:pt x="79933" y="144239"/>
                </a:cubicBezTo>
                <a:cubicBezTo>
                  <a:pt x="81080" y="147030"/>
                  <a:pt x="83809" y="148828"/>
                  <a:pt x="86816" y="148828"/>
                </a:cubicBezTo>
                <a:lnTo>
                  <a:pt x="131465" y="148828"/>
                </a:lnTo>
                <a:cubicBezTo>
                  <a:pt x="135589" y="148828"/>
                  <a:pt x="138906" y="145510"/>
                  <a:pt x="138906" y="141387"/>
                </a:cubicBezTo>
                <a:lnTo>
                  <a:pt x="138906" y="96738"/>
                </a:lnTo>
                <a:cubicBezTo>
                  <a:pt x="138906" y="93731"/>
                  <a:pt x="137108" y="91002"/>
                  <a:pt x="134317" y="89855"/>
                </a:cubicBezTo>
                <a:cubicBezTo>
                  <a:pt x="131527" y="88708"/>
                  <a:pt x="128333" y="89328"/>
                  <a:pt x="126194" y="91467"/>
                </a:cubicBezTo>
                <a:lnTo>
                  <a:pt x="113792" y="103870"/>
                </a:lnTo>
                <a:lnTo>
                  <a:pt x="89297" y="79375"/>
                </a:lnTo>
                <a:lnTo>
                  <a:pt x="113792" y="54880"/>
                </a:lnTo>
                <a:lnTo>
                  <a:pt x="126194" y="67283"/>
                </a:lnTo>
                <a:cubicBezTo>
                  <a:pt x="128333" y="69422"/>
                  <a:pt x="131527" y="70042"/>
                  <a:pt x="134317" y="68895"/>
                </a:cubicBezTo>
                <a:cubicBezTo>
                  <a:pt x="137108" y="67748"/>
                  <a:pt x="138906" y="65019"/>
                  <a:pt x="138906" y="62012"/>
                </a:cubicBezTo>
                <a:lnTo>
                  <a:pt x="138906" y="17363"/>
                </a:lnTo>
                <a:cubicBezTo>
                  <a:pt x="138906" y="13240"/>
                  <a:pt x="135589" y="9922"/>
                  <a:pt x="131465" y="9922"/>
                </a:cubicBezTo>
                <a:lnTo>
                  <a:pt x="86816" y="9922"/>
                </a:lnTo>
                <a:cubicBezTo>
                  <a:pt x="83809" y="9922"/>
                  <a:pt x="81080" y="11720"/>
                  <a:pt x="79933" y="14511"/>
                </a:cubicBezTo>
                <a:cubicBezTo>
                  <a:pt x="78786" y="17301"/>
                  <a:pt x="79437" y="20495"/>
                  <a:pt x="81545" y="22634"/>
                </a:cubicBezTo>
                <a:lnTo>
                  <a:pt x="93948" y="35037"/>
                </a:lnTo>
                <a:lnTo>
                  <a:pt x="69453" y="59531"/>
                </a:lnTo>
                <a:lnTo>
                  <a:pt x="44958" y="35037"/>
                </a:lnTo>
                <a:lnTo>
                  <a:pt x="57361" y="22634"/>
                </a:lnTo>
                <a:cubicBezTo>
                  <a:pt x="59500" y="20495"/>
                  <a:pt x="60120" y="17301"/>
                  <a:pt x="58973" y="14511"/>
                </a:cubicBezTo>
                <a:cubicBezTo>
                  <a:pt x="57826" y="11720"/>
                  <a:pt x="55097" y="9922"/>
                  <a:pt x="52090" y="9922"/>
                </a:cubicBezTo>
                <a:close/>
              </a:path>
            </a:pathLst>
          </a:custGeom>
          <a:solidFill>
            <a:srgbClr val="F59E0B"/>
          </a:solidFill>
          <a:ln/>
        </p:spPr>
        <p:txBody>
          <a:bodyPr/>
          <a:lstStyle/>
          <a:p>
            <a:endParaRPr lang="en-GB"/>
          </a:p>
        </p:txBody>
      </p:sp>
      <p:sp>
        <p:nvSpPr>
          <p:cNvPr id="26" name="Text 24"/>
          <p:cNvSpPr/>
          <p:nvPr/>
        </p:nvSpPr>
        <p:spPr>
          <a:xfrm>
            <a:off x="714375" y="4492625"/>
            <a:ext cx="5238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Widebody Growth Strategy</a:t>
            </a:r>
            <a:endParaRPr lang="en-US" sz="1600" dirty="0"/>
          </a:p>
        </p:txBody>
      </p:sp>
      <p:sp>
        <p:nvSpPr>
          <p:cNvPr id="27" name="Shape 25"/>
          <p:cNvSpPr/>
          <p:nvPr/>
        </p:nvSpPr>
        <p:spPr>
          <a:xfrm>
            <a:off x="492125" y="4841875"/>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38BDF8"/>
          </a:solidFill>
          <a:ln/>
        </p:spPr>
        <p:txBody>
          <a:bodyPr/>
          <a:lstStyle/>
          <a:p>
            <a:endParaRPr lang="en-GB"/>
          </a:p>
        </p:txBody>
      </p:sp>
      <p:sp>
        <p:nvSpPr>
          <p:cNvPr id="28" name="Text 26"/>
          <p:cNvSpPr/>
          <p:nvPr/>
        </p:nvSpPr>
        <p:spPr>
          <a:xfrm>
            <a:off x="698500" y="4810125"/>
            <a:ext cx="3516313"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A350:</a:t>
            </a:r>
            <a:r>
              <a:rPr lang="en-US" sz="1000" dirty="0">
                <a:solidFill>
                  <a:srgbClr val="E2E8F0"/>
                </a:solidFill>
                <a:latin typeface="Quattrocento Sans" pitchFamily="34" charset="0"/>
                <a:ea typeface="Quattrocento Sans" pitchFamily="34" charset="-122"/>
                <a:cs typeface="Quattrocento Sans" pitchFamily="34" charset="-120"/>
              </a:rPr>
              <a:t> Target 12/month by 2028, A350F gaining market traction</a:t>
            </a:r>
            <a:endParaRPr lang="en-US" sz="1600" dirty="0"/>
          </a:p>
        </p:txBody>
      </p:sp>
      <p:sp>
        <p:nvSpPr>
          <p:cNvPr id="29" name="Shape 27"/>
          <p:cNvSpPr/>
          <p:nvPr/>
        </p:nvSpPr>
        <p:spPr>
          <a:xfrm>
            <a:off x="492125" y="5095875"/>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38BDF8"/>
          </a:solidFill>
          <a:ln/>
        </p:spPr>
        <p:txBody>
          <a:bodyPr/>
          <a:lstStyle/>
          <a:p>
            <a:endParaRPr lang="en-GB"/>
          </a:p>
        </p:txBody>
      </p:sp>
      <p:sp>
        <p:nvSpPr>
          <p:cNvPr id="30" name="Text 28"/>
          <p:cNvSpPr/>
          <p:nvPr/>
        </p:nvSpPr>
        <p:spPr>
          <a:xfrm>
            <a:off x="698500" y="5064125"/>
            <a:ext cx="3714750"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A330neo:</a:t>
            </a:r>
            <a:r>
              <a:rPr lang="en-US" sz="1000" dirty="0">
                <a:solidFill>
                  <a:srgbClr val="E2E8F0"/>
                </a:solidFill>
                <a:latin typeface="Quattrocento Sans" pitchFamily="34" charset="0"/>
                <a:ea typeface="Quattrocento Sans" pitchFamily="34" charset="-122"/>
                <a:cs typeface="Quattrocento Sans" pitchFamily="34" charset="-120"/>
              </a:rPr>
              <a:t> Rate 5/month by 2029, capturing medium-haul demand</a:t>
            </a:r>
            <a:endParaRPr lang="en-US" sz="1600" dirty="0"/>
          </a:p>
        </p:txBody>
      </p:sp>
      <p:sp>
        <p:nvSpPr>
          <p:cNvPr id="31" name="Shape 29"/>
          <p:cNvSpPr/>
          <p:nvPr/>
        </p:nvSpPr>
        <p:spPr>
          <a:xfrm>
            <a:off x="492125" y="5349875"/>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38BDF8"/>
          </a:solidFill>
          <a:ln/>
        </p:spPr>
        <p:txBody>
          <a:bodyPr/>
          <a:lstStyle/>
          <a:p>
            <a:endParaRPr lang="en-GB"/>
          </a:p>
        </p:txBody>
      </p:sp>
      <p:sp>
        <p:nvSpPr>
          <p:cNvPr id="32" name="Text 30"/>
          <p:cNvSpPr/>
          <p:nvPr/>
        </p:nvSpPr>
        <p:spPr>
          <a:xfrm>
            <a:off x="698500" y="5318125"/>
            <a:ext cx="3119438"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Record Backlog:</a:t>
            </a:r>
            <a:r>
              <a:rPr lang="en-US" sz="1000" dirty="0">
                <a:solidFill>
                  <a:srgbClr val="E2E8F0"/>
                </a:solidFill>
                <a:latin typeface="Quattrocento Sans" pitchFamily="34" charset="0"/>
                <a:ea typeface="Quattrocento Sans" pitchFamily="34" charset="-122"/>
                <a:cs typeface="Quattrocento Sans" pitchFamily="34" charset="-120"/>
              </a:rPr>
              <a:t> 1,124 widebody orders provide visibility</a:t>
            </a:r>
            <a:endParaRPr lang="en-US" sz="1600" dirty="0"/>
          </a:p>
        </p:txBody>
      </p:sp>
      <p:sp>
        <p:nvSpPr>
          <p:cNvPr id="33" name="Shape 31"/>
          <p:cNvSpPr/>
          <p:nvPr/>
        </p:nvSpPr>
        <p:spPr>
          <a:xfrm>
            <a:off x="492125" y="5603875"/>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38BDF8"/>
          </a:solidFill>
          <a:ln/>
        </p:spPr>
        <p:txBody>
          <a:bodyPr/>
          <a:lstStyle/>
          <a:p>
            <a:endParaRPr lang="en-GB"/>
          </a:p>
        </p:txBody>
      </p:sp>
      <p:sp>
        <p:nvSpPr>
          <p:cNvPr id="34" name="Text 32"/>
          <p:cNvSpPr/>
          <p:nvPr/>
        </p:nvSpPr>
        <p:spPr>
          <a:xfrm>
            <a:off x="698500" y="5572125"/>
            <a:ext cx="3238500" cy="190500"/>
          </a:xfrm>
          <a:prstGeom prst="rect">
            <a:avLst/>
          </a:prstGeom>
          <a:noFill/>
          <a:ln/>
        </p:spPr>
        <p:txBody>
          <a:bodyPr wrap="square" lIns="0" tIns="0" rIns="0" bIns="0" rtlCol="0" anchor="ctr"/>
          <a:lstStyle/>
          <a:p>
            <a:pPr>
              <a:lnSpc>
                <a:spcPct val="130000"/>
              </a:lnSpc>
            </a:pPr>
            <a:r>
              <a:rPr lang="en-US" sz="1000" b="1" dirty="0">
                <a:solidFill>
                  <a:srgbClr val="E2E8F0"/>
                </a:solidFill>
                <a:latin typeface="Quattrocento Sans" pitchFamily="34" charset="0"/>
                <a:ea typeface="Quattrocento Sans" pitchFamily="34" charset="-122"/>
                <a:cs typeface="Quattrocento Sans" pitchFamily="34" charset="-120"/>
              </a:rPr>
              <a:t>Market Position:</a:t>
            </a:r>
            <a:r>
              <a:rPr lang="en-US" sz="1000" dirty="0">
                <a:solidFill>
                  <a:srgbClr val="E2E8F0"/>
                </a:solidFill>
                <a:latin typeface="Quattrocento Sans" pitchFamily="34" charset="0"/>
                <a:ea typeface="Quattrocento Sans" pitchFamily="34" charset="-122"/>
                <a:cs typeface="Quattrocento Sans" pitchFamily="34" charset="-120"/>
              </a:rPr>
              <a:t> Targeting share growth vs Boeing 787/777</a:t>
            </a:r>
            <a:endParaRPr lang="en-US" sz="1600" dirty="0"/>
          </a:p>
        </p:txBody>
      </p:sp>
      <p:sp>
        <p:nvSpPr>
          <p:cNvPr id="35" name="Shape 33"/>
          <p:cNvSpPr/>
          <p:nvPr/>
        </p:nvSpPr>
        <p:spPr>
          <a:xfrm>
            <a:off x="6163469" y="1273969"/>
            <a:ext cx="5707063" cy="2674938"/>
          </a:xfrm>
          <a:custGeom>
            <a:avLst/>
            <a:gdLst/>
            <a:ahLst/>
            <a:cxnLst/>
            <a:rect l="l" t="t" r="r" b="b"/>
            <a:pathLst>
              <a:path w="5707063" h="2674938">
                <a:moveTo>
                  <a:pt x="95255" y="0"/>
                </a:moveTo>
                <a:lnTo>
                  <a:pt x="5611808" y="0"/>
                </a:lnTo>
                <a:cubicBezTo>
                  <a:pt x="5664416" y="0"/>
                  <a:pt x="5707063" y="42647"/>
                  <a:pt x="5707063" y="95255"/>
                </a:cubicBezTo>
                <a:lnTo>
                  <a:pt x="5707063" y="2579683"/>
                </a:lnTo>
                <a:cubicBezTo>
                  <a:pt x="5707063" y="2632291"/>
                  <a:pt x="5664416" y="2674938"/>
                  <a:pt x="5611808" y="2674938"/>
                </a:cubicBezTo>
                <a:lnTo>
                  <a:pt x="95255" y="2674938"/>
                </a:lnTo>
                <a:cubicBezTo>
                  <a:pt x="42647" y="2674938"/>
                  <a:pt x="0" y="2632291"/>
                  <a:pt x="0" y="2579683"/>
                </a:cubicBezTo>
                <a:lnTo>
                  <a:pt x="0" y="95255"/>
                </a:lnTo>
                <a:cubicBezTo>
                  <a:pt x="0" y="42647"/>
                  <a:pt x="42647" y="0"/>
                  <a:pt x="95255" y="0"/>
                </a:cubicBezTo>
                <a:close/>
              </a:path>
            </a:pathLst>
          </a:custGeom>
          <a:gradFill flip="none" rotWithShape="1">
            <a:gsLst>
              <a:gs pos="0">
                <a:srgbClr val="F59E0B">
                  <a:alpha val="20000"/>
                </a:srgbClr>
              </a:gs>
              <a:gs pos="100000">
                <a:srgbClr val="0F172A"/>
              </a:gs>
            </a:gsLst>
            <a:lin ang="2700000" scaled="1"/>
          </a:gradFill>
          <a:ln w="12700">
            <a:solidFill>
              <a:srgbClr val="F59E0B">
                <a:alpha val="30196"/>
              </a:srgbClr>
            </a:solidFill>
            <a:prstDash val="solid"/>
          </a:ln>
        </p:spPr>
        <p:txBody>
          <a:bodyPr/>
          <a:lstStyle/>
          <a:p>
            <a:endParaRPr lang="en-GB"/>
          </a:p>
        </p:txBody>
      </p:sp>
      <p:sp>
        <p:nvSpPr>
          <p:cNvPr id="36" name="Shape 34"/>
          <p:cNvSpPr/>
          <p:nvPr/>
        </p:nvSpPr>
        <p:spPr>
          <a:xfrm>
            <a:off x="6346031" y="1460500"/>
            <a:ext cx="158750" cy="158750"/>
          </a:xfrm>
          <a:custGeom>
            <a:avLst/>
            <a:gdLst/>
            <a:ahLst/>
            <a:cxnLst/>
            <a:rect l="l" t="t" r="r" b="b"/>
            <a:pathLst>
              <a:path w="158750" h="158750">
                <a:moveTo>
                  <a:pt x="61702" y="2170"/>
                </a:moveTo>
                <a:cubicBezTo>
                  <a:pt x="64616" y="-744"/>
                  <a:pt x="69329" y="-744"/>
                  <a:pt x="72213" y="2170"/>
                </a:cubicBezTo>
                <a:lnTo>
                  <a:pt x="99932" y="29890"/>
                </a:lnTo>
                <a:lnTo>
                  <a:pt x="116985" y="12836"/>
                </a:lnTo>
                <a:cubicBezTo>
                  <a:pt x="120861" y="8961"/>
                  <a:pt x="127155" y="8961"/>
                  <a:pt x="131031" y="12836"/>
                </a:cubicBezTo>
                <a:lnTo>
                  <a:pt x="145914" y="27719"/>
                </a:lnTo>
                <a:cubicBezTo>
                  <a:pt x="149789" y="31595"/>
                  <a:pt x="149789" y="37889"/>
                  <a:pt x="145914" y="41765"/>
                </a:cubicBezTo>
                <a:lnTo>
                  <a:pt x="128860" y="58818"/>
                </a:lnTo>
                <a:lnTo>
                  <a:pt x="156580" y="86537"/>
                </a:lnTo>
                <a:cubicBezTo>
                  <a:pt x="159494" y="89452"/>
                  <a:pt x="159494" y="94165"/>
                  <a:pt x="156580" y="97048"/>
                </a:cubicBezTo>
                <a:lnTo>
                  <a:pt x="126814" y="126814"/>
                </a:lnTo>
                <a:cubicBezTo>
                  <a:pt x="123899" y="129729"/>
                  <a:pt x="119187" y="129729"/>
                  <a:pt x="116303" y="126814"/>
                </a:cubicBezTo>
                <a:lnTo>
                  <a:pt x="88584" y="99095"/>
                </a:lnTo>
                <a:lnTo>
                  <a:pt x="83778" y="103901"/>
                </a:lnTo>
                <a:cubicBezTo>
                  <a:pt x="87313" y="111528"/>
                  <a:pt x="89297" y="120024"/>
                  <a:pt x="89297" y="128984"/>
                </a:cubicBezTo>
                <a:cubicBezTo>
                  <a:pt x="89297" y="138813"/>
                  <a:pt x="86909" y="148053"/>
                  <a:pt x="82724" y="156208"/>
                </a:cubicBezTo>
                <a:cubicBezTo>
                  <a:pt x="81266" y="158998"/>
                  <a:pt x="77546" y="159401"/>
                  <a:pt x="75344" y="157169"/>
                </a:cubicBezTo>
                <a:lnTo>
                  <a:pt x="45486" y="127310"/>
                </a:lnTo>
                <a:lnTo>
                  <a:pt x="26882" y="145914"/>
                </a:lnTo>
                <a:cubicBezTo>
                  <a:pt x="23006" y="149789"/>
                  <a:pt x="16712" y="149789"/>
                  <a:pt x="12836" y="145914"/>
                </a:cubicBezTo>
                <a:cubicBezTo>
                  <a:pt x="8961" y="142038"/>
                  <a:pt x="8961" y="135744"/>
                  <a:pt x="12836" y="131868"/>
                </a:cubicBezTo>
                <a:lnTo>
                  <a:pt x="31440" y="113264"/>
                </a:lnTo>
                <a:lnTo>
                  <a:pt x="1581" y="83406"/>
                </a:lnTo>
                <a:cubicBezTo>
                  <a:pt x="-651" y="81173"/>
                  <a:pt x="-248" y="77453"/>
                  <a:pt x="2542" y="76026"/>
                </a:cubicBezTo>
                <a:cubicBezTo>
                  <a:pt x="10697" y="71810"/>
                  <a:pt x="19968" y="69453"/>
                  <a:pt x="29766" y="69453"/>
                </a:cubicBezTo>
                <a:cubicBezTo>
                  <a:pt x="38726" y="69453"/>
                  <a:pt x="47222" y="71438"/>
                  <a:pt x="54849" y="74972"/>
                </a:cubicBezTo>
                <a:lnTo>
                  <a:pt x="59655" y="70166"/>
                </a:lnTo>
                <a:lnTo>
                  <a:pt x="31936" y="42478"/>
                </a:lnTo>
                <a:cubicBezTo>
                  <a:pt x="29021" y="39563"/>
                  <a:pt x="29021" y="34851"/>
                  <a:pt x="31936" y="31967"/>
                </a:cubicBezTo>
                <a:lnTo>
                  <a:pt x="61702" y="2170"/>
                </a:lnTo>
                <a:close/>
                <a:moveTo>
                  <a:pt x="66973" y="17952"/>
                </a:moveTo>
                <a:lnTo>
                  <a:pt x="47718" y="37207"/>
                </a:lnTo>
                <a:lnTo>
                  <a:pt x="70166" y="59655"/>
                </a:lnTo>
                <a:lnTo>
                  <a:pt x="89421" y="40401"/>
                </a:lnTo>
                <a:lnTo>
                  <a:pt x="66973" y="17952"/>
                </a:lnTo>
                <a:close/>
                <a:moveTo>
                  <a:pt x="121543" y="111032"/>
                </a:moveTo>
                <a:lnTo>
                  <a:pt x="140798" y="91777"/>
                </a:lnTo>
                <a:lnTo>
                  <a:pt x="118349" y="69329"/>
                </a:lnTo>
                <a:lnTo>
                  <a:pt x="99095" y="88584"/>
                </a:lnTo>
                <a:lnTo>
                  <a:pt x="121543" y="111032"/>
                </a:lnTo>
                <a:close/>
              </a:path>
            </a:pathLst>
          </a:custGeom>
          <a:solidFill>
            <a:srgbClr val="F59E0B"/>
          </a:solidFill>
          <a:ln/>
        </p:spPr>
        <p:txBody>
          <a:bodyPr/>
          <a:lstStyle/>
          <a:p>
            <a:endParaRPr lang="en-GB"/>
          </a:p>
        </p:txBody>
      </p:sp>
      <p:sp>
        <p:nvSpPr>
          <p:cNvPr id="37" name="Text 35"/>
          <p:cNvSpPr/>
          <p:nvPr/>
        </p:nvSpPr>
        <p:spPr>
          <a:xfrm>
            <a:off x="6564313" y="1436688"/>
            <a:ext cx="5222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Space Consolidation</a:t>
            </a:r>
            <a:endParaRPr lang="en-US" sz="1600" dirty="0"/>
          </a:p>
        </p:txBody>
      </p:sp>
      <p:sp>
        <p:nvSpPr>
          <p:cNvPr id="38" name="Shape 36"/>
          <p:cNvSpPr/>
          <p:nvPr/>
        </p:nvSpPr>
        <p:spPr>
          <a:xfrm>
            <a:off x="6326188" y="1754188"/>
            <a:ext cx="5381625" cy="603250"/>
          </a:xfrm>
          <a:custGeom>
            <a:avLst/>
            <a:gdLst/>
            <a:ahLst/>
            <a:cxnLst/>
            <a:rect l="l" t="t" r="r" b="b"/>
            <a:pathLst>
              <a:path w="5381625" h="603250">
                <a:moveTo>
                  <a:pt x="63498" y="0"/>
                </a:moveTo>
                <a:lnTo>
                  <a:pt x="5318127" y="0"/>
                </a:lnTo>
                <a:cubicBezTo>
                  <a:pt x="5353196" y="0"/>
                  <a:pt x="5381625" y="28429"/>
                  <a:pt x="5381625" y="63498"/>
                </a:cubicBezTo>
                <a:lnTo>
                  <a:pt x="5381625" y="539752"/>
                </a:lnTo>
                <a:cubicBezTo>
                  <a:pt x="5381625" y="574821"/>
                  <a:pt x="5353196" y="603250"/>
                  <a:pt x="5318127" y="603250"/>
                </a:cubicBezTo>
                <a:lnTo>
                  <a:pt x="63498" y="603250"/>
                </a:lnTo>
                <a:cubicBezTo>
                  <a:pt x="28429" y="603250"/>
                  <a:pt x="0" y="574821"/>
                  <a:pt x="0" y="539752"/>
                </a:cubicBezTo>
                <a:lnTo>
                  <a:pt x="0" y="63498"/>
                </a:lnTo>
                <a:cubicBezTo>
                  <a:pt x="0" y="28453"/>
                  <a:pt x="28453" y="0"/>
                  <a:pt x="63498" y="0"/>
                </a:cubicBezTo>
                <a:close/>
              </a:path>
            </a:pathLst>
          </a:custGeom>
          <a:solidFill>
            <a:srgbClr val="0F172A">
              <a:alpha val="50196"/>
            </a:srgbClr>
          </a:solidFill>
          <a:ln/>
        </p:spPr>
        <p:txBody>
          <a:bodyPr/>
          <a:lstStyle/>
          <a:p>
            <a:endParaRPr lang="en-GB"/>
          </a:p>
        </p:txBody>
      </p:sp>
      <p:sp>
        <p:nvSpPr>
          <p:cNvPr id="39" name="Text 37"/>
          <p:cNvSpPr/>
          <p:nvPr/>
        </p:nvSpPr>
        <p:spPr>
          <a:xfrm>
            <a:off x="6421438" y="1849438"/>
            <a:ext cx="5254625"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MoU Signed: Create European Space Leader</a:t>
            </a:r>
            <a:endParaRPr lang="en-US" sz="1600" dirty="0"/>
          </a:p>
        </p:txBody>
      </p:sp>
      <p:sp>
        <p:nvSpPr>
          <p:cNvPr id="40" name="Text 38"/>
          <p:cNvSpPr/>
          <p:nvPr/>
        </p:nvSpPr>
        <p:spPr>
          <a:xfrm>
            <a:off x="6421438" y="2071688"/>
            <a:ext cx="5254625"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Partnership with Leonardo (35%) and Thales (32.5% each) to consolidate space activities</a:t>
            </a:r>
            <a:endParaRPr lang="en-US" sz="1600" dirty="0"/>
          </a:p>
        </p:txBody>
      </p:sp>
      <p:sp>
        <p:nvSpPr>
          <p:cNvPr id="41" name="Shape 39"/>
          <p:cNvSpPr/>
          <p:nvPr/>
        </p:nvSpPr>
        <p:spPr>
          <a:xfrm>
            <a:off x="6342063" y="24844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2" name="Text 40"/>
          <p:cNvSpPr/>
          <p:nvPr/>
        </p:nvSpPr>
        <p:spPr>
          <a:xfrm>
            <a:off x="6548438" y="2452688"/>
            <a:ext cx="2214563"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~€6.5B pro-forma revenues (end 2024)</a:t>
            </a:r>
            <a:endParaRPr lang="en-US" sz="1600" dirty="0"/>
          </a:p>
        </p:txBody>
      </p:sp>
      <p:sp>
        <p:nvSpPr>
          <p:cNvPr id="43" name="Shape 41"/>
          <p:cNvSpPr/>
          <p:nvPr/>
        </p:nvSpPr>
        <p:spPr>
          <a:xfrm>
            <a:off x="6342063" y="27384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4" name="Text 42"/>
          <p:cNvSpPr/>
          <p:nvPr/>
        </p:nvSpPr>
        <p:spPr>
          <a:xfrm>
            <a:off x="6548438" y="2706688"/>
            <a:ext cx="1174750"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~25,000 employees</a:t>
            </a:r>
            <a:endParaRPr lang="en-US" sz="1600" dirty="0"/>
          </a:p>
        </p:txBody>
      </p:sp>
      <p:sp>
        <p:nvSpPr>
          <p:cNvPr id="45" name="Shape 43"/>
          <p:cNvSpPr/>
          <p:nvPr/>
        </p:nvSpPr>
        <p:spPr>
          <a:xfrm>
            <a:off x="6342063" y="299243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8BDF8"/>
          </a:solidFill>
          <a:ln/>
        </p:spPr>
        <p:txBody>
          <a:bodyPr/>
          <a:lstStyle/>
          <a:p>
            <a:endParaRPr lang="en-GB"/>
          </a:p>
        </p:txBody>
      </p:sp>
      <p:sp>
        <p:nvSpPr>
          <p:cNvPr id="46" name="Text 44"/>
          <p:cNvSpPr/>
          <p:nvPr/>
        </p:nvSpPr>
        <p:spPr>
          <a:xfrm>
            <a:off x="6548438" y="2960688"/>
            <a:ext cx="3167063" cy="190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Mid triple-digit €M annual synergies (5 years post-close)</a:t>
            </a:r>
            <a:endParaRPr lang="en-US" sz="1600" dirty="0"/>
          </a:p>
        </p:txBody>
      </p:sp>
      <p:sp>
        <p:nvSpPr>
          <p:cNvPr id="47" name="Shape 45"/>
          <p:cNvSpPr/>
          <p:nvPr/>
        </p:nvSpPr>
        <p:spPr>
          <a:xfrm>
            <a:off x="6326188" y="3214688"/>
            <a:ext cx="5381625" cy="571500"/>
          </a:xfrm>
          <a:custGeom>
            <a:avLst/>
            <a:gdLst/>
            <a:ahLst/>
            <a:cxnLst/>
            <a:rect l="l" t="t" r="r" b="b"/>
            <a:pathLst>
              <a:path w="5381625" h="571500">
                <a:moveTo>
                  <a:pt x="63499" y="0"/>
                </a:moveTo>
                <a:lnTo>
                  <a:pt x="5318126" y="0"/>
                </a:lnTo>
                <a:cubicBezTo>
                  <a:pt x="5353195" y="0"/>
                  <a:pt x="5381625" y="28430"/>
                  <a:pt x="5381625" y="63499"/>
                </a:cubicBezTo>
                <a:lnTo>
                  <a:pt x="5381625" y="508001"/>
                </a:lnTo>
                <a:cubicBezTo>
                  <a:pt x="5381625" y="543070"/>
                  <a:pt x="5353195" y="571500"/>
                  <a:pt x="5318126" y="571500"/>
                </a:cubicBezTo>
                <a:lnTo>
                  <a:pt x="63499" y="571500"/>
                </a:lnTo>
                <a:cubicBezTo>
                  <a:pt x="28430" y="571500"/>
                  <a:pt x="0" y="543070"/>
                  <a:pt x="0" y="508001"/>
                </a:cubicBezTo>
                <a:lnTo>
                  <a:pt x="0" y="63499"/>
                </a:lnTo>
                <a:cubicBezTo>
                  <a:pt x="0" y="28453"/>
                  <a:pt x="28453" y="0"/>
                  <a:pt x="63499" y="0"/>
                </a:cubicBezTo>
                <a:close/>
              </a:path>
            </a:pathLst>
          </a:custGeom>
          <a:solidFill>
            <a:srgbClr val="0F172A">
              <a:alpha val="50196"/>
            </a:srgbClr>
          </a:solidFill>
          <a:ln/>
        </p:spPr>
        <p:txBody>
          <a:bodyPr/>
          <a:lstStyle/>
          <a:p>
            <a:endParaRPr lang="en-GB"/>
          </a:p>
        </p:txBody>
      </p:sp>
      <p:sp>
        <p:nvSpPr>
          <p:cNvPr id="48" name="Text 46"/>
          <p:cNvSpPr/>
          <p:nvPr/>
        </p:nvSpPr>
        <p:spPr>
          <a:xfrm>
            <a:off x="6421438" y="3309938"/>
            <a:ext cx="5254625" cy="381000"/>
          </a:xfrm>
          <a:prstGeom prst="rect">
            <a:avLst/>
          </a:prstGeom>
          <a:noFill/>
          <a:ln/>
        </p:spPr>
        <p:txBody>
          <a:bodyPr wrap="square" lIns="0" tIns="0" rIns="0" bIns="0" rtlCol="0" anchor="ctr"/>
          <a:lstStyle/>
          <a:p>
            <a:pPr>
              <a:lnSpc>
                <a:spcPct val="130000"/>
              </a:lnSpc>
            </a:pPr>
            <a:r>
              <a:rPr lang="en-US" sz="1000" b="1" dirty="0">
                <a:solidFill>
                  <a:srgbClr val="38BDF8"/>
                </a:solidFill>
                <a:latin typeface="Quattrocento Sans" pitchFamily="34" charset="0"/>
                <a:ea typeface="Quattrocento Sans" pitchFamily="34" charset="-122"/>
                <a:cs typeface="Quattrocento Sans" pitchFamily="34" charset="-120"/>
              </a:rPr>
              <a:t>Goal:</a:t>
            </a:r>
            <a:r>
              <a:rPr lang="en-US" sz="1000" dirty="0">
                <a:solidFill>
                  <a:srgbClr val="94A3B8"/>
                </a:solidFill>
                <a:latin typeface="Quattrocento Sans" pitchFamily="34" charset="0"/>
                <a:ea typeface="Quattrocento Sans" pitchFamily="34" charset="-122"/>
                <a:cs typeface="Quattrocento Sans" pitchFamily="34" charset="-120"/>
              </a:rPr>
              <a:t> Lead innovative European sovereign programs, foster innovation, increase competitiveness</a:t>
            </a:r>
            <a:endParaRPr lang="en-US" sz="1600" dirty="0"/>
          </a:p>
        </p:txBody>
      </p:sp>
      <p:sp>
        <p:nvSpPr>
          <p:cNvPr id="49" name="Shape 47"/>
          <p:cNvSpPr/>
          <p:nvPr/>
        </p:nvSpPr>
        <p:spPr>
          <a:xfrm>
            <a:off x="6159500" y="4079876"/>
            <a:ext cx="5715000" cy="2674938"/>
          </a:xfrm>
          <a:custGeom>
            <a:avLst/>
            <a:gdLst/>
            <a:ahLst/>
            <a:cxnLst/>
            <a:rect l="l" t="t" r="r" b="b"/>
            <a:pathLst>
              <a:path w="5715000" h="3659187">
                <a:moveTo>
                  <a:pt x="95249" y="0"/>
                </a:moveTo>
                <a:lnTo>
                  <a:pt x="5619751" y="0"/>
                </a:lnTo>
                <a:cubicBezTo>
                  <a:pt x="5672356" y="0"/>
                  <a:pt x="5715000" y="42644"/>
                  <a:pt x="5715000" y="95249"/>
                </a:cubicBezTo>
                <a:lnTo>
                  <a:pt x="5715000" y="3563939"/>
                </a:lnTo>
                <a:cubicBezTo>
                  <a:pt x="5715000" y="3616543"/>
                  <a:pt x="5672356" y="3659188"/>
                  <a:pt x="5619751" y="3659188"/>
                </a:cubicBezTo>
                <a:lnTo>
                  <a:pt x="95249" y="3659187"/>
                </a:lnTo>
                <a:cubicBezTo>
                  <a:pt x="42644" y="3659188"/>
                  <a:pt x="0" y="3616543"/>
                  <a:pt x="0" y="3563939"/>
                </a:cubicBezTo>
                <a:lnTo>
                  <a:pt x="0" y="95249"/>
                </a:lnTo>
                <a:cubicBezTo>
                  <a:pt x="0" y="42679"/>
                  <a:pt x="42679" y="0"/>
                  <a:pt x="95249" y="0"/>
                </a:cubicBezTo>
                <a:close/>
              </a:path>
            </a:pathLst>
          </a:custGeom>
          <a:solidFill>
            <a:srgbClr val="1E293B"/>
          </a:solidFill>
          <a:ln/>
        </p:spPr>
        <p:txBody>
          <a:bodyPr/>
          <a:lstStyle/>
          <a:p>
            <a:endParaRPr lang="en-GB"/>
          </a:p>
        </p:txBody>
      </p:sp>
      <p:sp>
        <p:nvSpPr>
          <p:cNvPr id="50" name="Shape 48"/>
          <p:cNvSpPr/>
          <p:nvPr/>
        </p:nvSpPr>
        <p:spPr>
          <a:xfrm>
            <a:off x="6348016" y="42624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38BDF8"/>
          </a:solidFill>
          <a:ln/>
        </p:spPr>
        <p:txBody>
          <a:bodyPr/>
          <a:lstStyle/>
          <a:p>
            <a:endParaRPr lang="en-GB"/>
          </a:p>
        </p:txBody>
      </p:sp>
      <p:sp>
        <p:nvSpPr>
          <p:cNvPr id="51" name="Text 49"/>
          <p:cNvSpPr/>
          <p:nvPr/>
        </p:nvSpPr>
        <p:spPr>
          <a:xfrm>
            <a:off x="6556375" y="4238625"/>
            <a:ext cx="523875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Leadership Perspective</a:t>
            </a:r>
            <a:endParaRPr lang="en-US" sz="1600" dirty="0"/>
          </a:p>
        </p:txBody>
      </p:sp>
      <p:sp>
        <p:nvSpPr>
          <p:cNvPr id="52" name="Shape 50"/>
          <p:cNvSpPr/>
          <p:nvPr/>
        </p:nvSpPr>
        <p:spPr>
          <a:xfrm>
            <a:off x="6318250" y="4556125"/>
            <a:ext cx="5397500" cy="1111250"/>
          </a:xfrm>
          <a:custGeom>
            <a:avLst/>
            <a:gdLst/>
            <a:ahLst/>
            <a:cxnLst/>
            <a:rect l="l" t="t" r="r" b="b"/>
            <a:pathLst>
              <a:path w="5397500" h="1111250">
                <a:moveTo>
                  <a:pt x="63497" y="0"/>
                </a:moveTo>
                <a:lnTo>
                  <a:pt x="5334003" y="0"/>
                </a:lnTo>
                <a:cubicBezTo>
                  <a:pt x="5369072" y="0"/>
                  <a:pt x="5397500" y="28428"/>
                  <a:pt x="5397500" y="63497"/>
                </a:cubicBezTo>
                <a:lnTo>
                  <a:pt x="5397500" y="1047753"/>
                </a:lnTo>
                <a:cubicBezTo>
                  <a:pt x="5397500" y="1082822"/>
                  <a:pt x="5369072" y="1111250"/>
                  <a:pt x="5334003" y="1111250"/>
                </a:cubicBezTo>
                <a:lnTo>
                  <a:pt x="63497" y="1111250"/>
                </a:lnTo>
                <a:cubicBezTo>
                  <a:pt x="28428" y="1111250"/>
                  <a:pt x="0" y="1082822"/>
                  <a:pt x="0" y="1047753"/>
                </a:cubicBezTo>
                <a:lnTo>
                  <a:pt x="0" y="63497"/>
                </a:lnTo>
                <a:cubicBezTo>
                  <a:pt x="0" y="28428"/>
                  <a:pt x="28428" y="0"/>
                  <a:pt x="63497" y="0"/>
                </a:cubicBezTo>
                <a:close/>
              </a:path>
            </a:pathLst>
          </a:custGeom>
          <a:solidFill>
            <a:srgbClr val="0F172A">
              <a:alpha val="50196"/>
            </a:srgbClr>
          </a:solidFill>
          <a:ln/>
        </p:spPr>
        <p:txBody>
          <a:bodyPr/>
          <a:lstStyle/>
          <a:p>
            <a:endParaRPr lang="en-GB"/>
          </a:p>
        </p:txBody>
      </p:sp>
      <p:sp>
        <p:nvSpPr>
          <p:cNvPr id="53" name="Text 51"/>
          <p:cNvSpPr/>
          <p:nvPr/>
        </p:nvSpPr>
        <p:spPr>
          <a:xfrm>
            <a:off x="6445250" y="4683125"/>
            <a:ext cx="5207000" cy="5715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"Our nine-month results reflect the level of commercial aircraft deliveries and a solid performance in the Defence and Space and Helicopters businesses. We continue to expand our industrial capacity to support the commercial aircraft ramp-up."</a:t>
            </a:r>
            <a:endParaRPr lang="en-US" sz="1600" dirty="0"/>
          </a:p>
        </p:txBody>
      </p:sp>
      <p:sp>
        <p:nvSpPr>
          <p:cNvPr id="54" name="Text 52"/>
          <p:cNvSpPr/>
          <p:nvPr/>
        </p:nvSpPr>
        <p:spPr>
          <a:xfrm>
            <a:off x="6445250" y="5349875"/>
            <a:ext cx="5207000" cy="190500"/>
          </a:xfrm>
          <a:prstGeom prst="rect">
            <a:avLst/>
          </a:prstGeom>
          <a:noFill/>
          <a:ln/>
        </p:spPr>
        <p:txBody>
          <a:bodyPr wrap="square" lIns="0" tIns="0" rIns="0" bIns="0" rtlCol="0" anchor="ctr"/>
          <a:lstStyle/>
          <a:p>
            <a:pPr>
              <a:lnSpc>
                <a:spcPct val="130000"/>
              </a:lnSpc>
            </a:pPr>
            <a:r>
              <a:rPr lang="en-US" sz="1000" dirty="0">
                <a:solidFill>
                  <a:srgbClr val="94A3B8"/>
                </a:solidFill>
                <a:latin typeface="Quattrocento Sans" pitchFamily="34" charset="0"/>
                <a:ea typeface="Quattrocento Sans" pitchFamily="34" charset="-122"/>
                <a:cs typeface="Quattrocento Sans" pitchFamily="34" charset="-120"/>
              </a:rPr>
              <a:t>— Guillaume Faury, Chief Executive Officer</a:t>
            </a:r>
            <a:endParaRPr lang="en-US" sz="1600" dirty="0"/>
          </a:p>
        </p:txBody>
      </p:sp>
      <p:sp>
        <p:nvSpPr>
          <p:cNvPr id="55" name="Shape 53"/>
          <p:cNvSpPr/>
          <p:nvPr/>
        </p:nvSpPr>
        <p:spPr>
          <a:xfrm>
            <a:off x="6318250" y="5762625"/>
            <a:ext cx="5397500" cy="793750"/>
          </a:xfrm>
          <a:custGeom>
            <a:avLst/>
            <a:gdLst/>
            <a:ahLst/>
            <a:cxnLst/>
            <a:rect l="l" t="t" r="r" b="b"/>
            <a:pathLst>
              <a:path w="5397500" h="793750">
                <a:moveTo>
                  <a:pt x="63500" y="0"/>
                </a:moveTo>
                <a:lnTo>
                  <a:pt x="5334000" y="0"/>
                </a:lnTo>
                <a:cubicBezTo>
                  <a:pt x="5369047" y="0"/>
                  <a:pt x="5397500" y="28453"/>
                  <a:pt x="5397500" y="63500"/>
                </a:cubicBezTo>
                <a:lnTo>
                  <a:pt x="5397500" y="730250"/>
                </a:lnTo>
                <a:cubicBezTo>
                  <a:pt x="5397500" y="765297"/>
                  <a:pt x="5369047" y="793750"/>
                  <a:pt x="5334000" y="793750"/>
                </a:cubicBezTo>
                <a:lnTo>
                  <a:pt x="63500" y="793750"/>
                </a:lnTo>
                <a:cubicBezTo>
                  <a:pt x="28453" y="793750"/>
                  <a:pt x="0" y="765297"/>
                  <a:pt x="0" y="730250"/>
                </a:cubicBezTo>
                <a:lnTo>
                  <a:pt x="0" y="63500"/>
                </a:lnTo>
                <a:cubicBezTo>
                  <a:pt x="0" y="28453"/>
                  <a:pt x="28453" y="0"/>
                  <a:pt x="63500" y="0"/>
                </a:cubicBezTo>
                <a:close/>
              </a:path>
            </a:pathLst>
          </a:custGeom>
          <a:solidFill>
            <a:srgbClr val="0F172A">
              <a:alpha val="50196"/>
            </a:srgbClr>
          </a:solidFill>
          <a:ln/>
        </p:spPr>
        <p:txBody>
          <a:bodyPr/>
          <a:lstStyle/>
          <a:p>
            <a:endParaRPr lang="en-GB"/>
          </a:p>
        </p:txBody>
      </p:sp>
      <p:sp>
        <p:nvSpPr>
          <p:cNvPr id="56" name="Text 54"/>
          <p:cNvSpPr/>
          <p:nvPr/>
        </p:nvSpPr>
        <p:spPr>
          <a:xfrm>
            <a:off x="6413500" y="5857875"/>
            <a:ext cx="5270500" cy="190500"/>
          </a:xfrm>
          <a:prstGeom prst="rect">
            <a:avLst/>
          </a:prstGeom>
          <a:noFill/>
          <a:ln/>
        </p:spPr>
        <p:txBody>
          <a:bodyPr wrap="square" lIns="0" tIns="0" rIns="0" bIns="0" rtlCol="0" anchor="ctr"/>
          <a:lstStyle/>
          <a:p>
            <a:pPr>
              <a:lnSpc>
                <a:spcPct val="130000"/>
              </a:lnSpc>
            </a:pPr>
            <a:r>
              <a:rPr lang="en-US" sz="1000" b="1" dirty="0">
                <a:solidFill>
                  <a:srgbClr val="F59E0B"/>
                </a:solidFill>
                <a:latin typeface="Quattrocento Sans" pitchFamily="34" charset="0"/>
                <a:ea typeface="Quattrocento Sans" pitchFamily="34" charset="-122"/>
                <a:cs typeface="Quattrocento Sans" pitchFamily="34" charset="-120"/>
              </a:rPr>
              <a:t>On Competition</a:t>
            </a:r>
            <a:endParaRPr lang="en-US" sz="1600" dirty="0"/>
          </a:p>
        </p:txBody>
      </p:sp>
      <p:sp>
        <p:nvSpPr>
          <p:cNvPr id="57" name="Text 55"/>
          <p:cNvSpPr/>
          <p:nvPr/>
        </p:nvSpPr>
        <p:spPr>
          <a:xfrm>
            <a:off x="6413500" y="6080125"/>
            <a:ext cx="5270500" cy="381000"/>
          </a:xfrm>
          <a:prstGeom prst="rect">
            <a:avLst/>
          </a:prstGeom>
          <a:noFill/>
          <a:ln/>
        </p:spPr>
        <p:txBody>
          <a:bodyPr wrap="square" lIns="0" tIns="0" rIns="0" bIns="0" rtlCol="0" anchor="ctr"/>
          <a:lstStyle/>
          <a:p>
            <a:pPr>
              <a:lnSpc>
                <a:spcPct val="130000"/>
              </a:lnSpc>
            </a:pPr>
            <a:r>
              <a:rPr lang="en-US" sz="1000" dirty="0">
                <a:solidFill>
                  <a:srgbClr val="E2E8F0"/>
                </a:solidFill>
                <a:latin typeface="Quattrocento Sans" pitchFamily="34" charset="0"/>
                <a:ea typeface="Quattrocento Sans" pitchFamily="34" charset="-122"/>
                <a:cs typeface="Quattrocento Sans" pitchFamily="34" charset="-120"/>
              </a:rPr>
              <a:t>"It's actually quite motivating to see Boeing back in the Major League after so many years; this competition is good." — Christian Scherer</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pic>
        <p:nvPicPr>
          <p:cNvPr id="2" name="Image 0" descr="https://kimi-web-img.moonshot.cn/img/werksfuehrung.de/d303468e6cb41763fa89efe79cb01e0bae289f63.jpg"/>
          <p:cNvPicPr>
            <a:picLocks noChangeAspect="1"/>
          </p:cNvPicPr>
          <p:nvPr/>
        </p:nvPicPr>
        <p:blipFill>
          <a:blip r:embed="rId3">
            <a:alphaModFix amt="30000"/>
          </a:blip>
          <a:srcRect t="1175" b="1175"/>
          <a:stretch/>
        </p:blipFill>
        <p:spPr>
          <a:xfrm>
            <a:off x="0" y="0"/>
            <a:ext cx="12192000" cy="7143250"/>
          </a:xfrm>
          <a:prstGeom prst="roundRect">
            <a:avLst>
              <a:gd name="adj" fmla="val 0"/>
            </a:avLst>
          </a:prstGeom>
        </p:spPr>
      </p:pic>
      <p:sp>
        <p:nvSpPr>
          <p:cNvPr id="3" name="Shape 0"/>
          <p:cNvSpPr/>
          <p:nvPr/>
        </p:nvSpPr>
        <p:spPr>
          <a:xfrm>
            <a:off x="0" y="0"/>
            <a:ext cx="12192000" cy="7143250"/>
          </a:xfrm>
          <a:custGeom>
            <a:avLst/>
            <a:gdLst/>
            <a:ahLst/>
            <a:cxnLst/>
            <a:rect l="l" t="t" r="r" b="b"/>
            <a:pathLst>
              <a:path w="12192000" h="7143250">
                <a:moveTo>
                  <a:pt x="0" y="0"/>
                </a:moveTo>
                <a:lnTo>
                  <a:pt x="12192000" y="0"/>
                </a:lnTo>
                <a:lnTo>
                  <a:pt x="12192000" y="7143250"/>
                </a:lnTo>
                <a:lnTo>
                  <a:pt x="0" y="7143250"/>
                </a:lnTo>
                <a:lnTo>
                  <a:pt x="0" y="0"/>
                </a:lnTo>
                <a:close/>
              </a:path>
            </a:pathLst>
          </a:custGeom>
          <a:gradFill flip="none" rotWithShape="1">
            <a:gsLst>
              <a:gs pos="0">
                <a:srgbClr val="0F172A">
                  <a:alpha val="95000"/>
                </a:srgbClr>
              </a:gs>
              <a:gs pos="50000">
                <a:srgbClr val="0F172A">
                  <a:alpha val="85000"/>
                </a:srgbClr>
              </a:gs>
              <a:gs pos="100000">
                <a:srgbClr val="000000">
                  <a:alpha val="0"/>
                </a:srgbClr>
              </a:gs>
            </a:gsLst>
            <a:lin ang="2700000" scaled="1"/>
          </a:gradFill>
          <a:ln/>
        </p:spPr>
        <p:txBody>
          <a:bodyPr/>
          <a:lstStyle/>
          <a:p>
            <a:endParaRPr lang="en-GB"/>
          </a:p>
        </p:txBody>
      </p:sp>
      <p:sp>
        <p:nvSpPr>
          <p:cNvPr id="4" name="Shape 1"/>
          <p:cNvSpPr/>
          <p:nvPr/>
        </p:nvSpPr>
        <p:spPr>
          <a:xfrm>
            <a:off x="5307704" y="11433"/>
            <a:ext cx="1582308" cy="484753"/>
          </a:xfrm>
          <a:custGeom>
            <a:avLst/>
            <a:gdLst/>
            <a:ahLst/>
            <a:cxnLst/>
            <a:rect l="l" t="t" r="r" b="b"/>
            <a:pathLst>
              <a:path w="1582308" h="484753">
                <a:moveTo>
                  <a:pt x="242377" y="0"/>
                </a:moveTo>
                <a:lnTo>
                  <a:pt x="1339931" y="0"/>
                </a:lnTo>
                <a:cubicBezTo>
                  <a:pt x="1473702" y="0"/>
                  <a:pt x="1582308" y="108605"/>
                  <a:pt x="1582308" y="242377"/>
                </a:cubicBezTo>
                <a:lnTo>
                  <a:pt x="1582308" y="242377"/>
                </a:lnTo>
                <a:cubicBezTo>
                  <a:pt x="1582308" y="376148"/>
                  <a:pt x="1473702" y="484753"/>
                  <a:pt x="1339931" y="484753"/>
                </a:cubicBezTo>
                <a:lnTo>
                  <a:pt x="242377" y="484753"/>
                </a:lnTo>
                <a:cubicBezTo>
                  <a:pt x="108605" y="484753"/>
                  <a:pt x="0" y="376148"/>
                  <a:pt x="0" y="242377"/>
                </a:cubicBezTo>
                <a:lnTo>
                  <a:pt x="0" y="242377"/>
                </a:lnTo>
                <a:cubicBezTo>
                  <a:pt x="0" y="108605"/>
                  <a:pt x="108605" y="0"/>
                  <a:pt x="242377" y="0"/>
                </a:cubicBezTo>
                <a:close/>
              </a:path>
            </a:pathLst>
          </a:custGeom>
          <a:solidFill>
            <a:srgbClr val="38BDF8">
              <a:alpha val="20000"/>
            </a:srgbClr>
          </a:solidFill>
          <a:ln w="12700">
            <a:solidFill>
              <a:srgbClr val="38BDF8">
                <a:alpha val="40000"/>
              </a:srgbClr>
            </a:solidFill>
            <a:prstDash val="solid"/>
          </a:ln>
        </p:spPr>
        <p:txBody>
          <a:bodyPr/>
          <a:lstStyle/>
          <a:p>
            <a:endParaRPr lang="en-GB"/>
          </a:p>
        </p:txBody>
      </p:sp>
      <p:sp>
        <p:nvSpPr>
          <p:cNvPr id="5" name="Text 2"/>
          <p:cNvSpPr/>
          <p:nvPr/>
        </p:nvSpPr>
        <p:spPr>
          <a:xfrm>
            <a:off x="5490630" y="162347"/>
            <a:ext cx="1213598" cy="182926"/>
          </a:xfrm>
          <a:prstGeom prst="rect">
            <a:avLst/>
          </a:prstGeom>
          <a:noFill/>
          <a:ln/>
        </p:spPr>
        <p:txBody>
          <a:bodyPr wrap="square" lIns="0" tIns="0" rIns="0" bIns="0" rtlCol="0" anchor="ctr"/>
          <a:lstStyle/>
          <a:p>
            <a:pPr algn="ctr">
              <a:lnSpc>
                <a:spcPct val="130000"/>
              </a:lnSpc>
            </a:pPr>
            <a:r>
              <a:rPr lang="en-US" sz="1296" b="1" kern="0" spc="130" dirty="0">
                <a:solidFill>
                  <a:srgbClr val="38BDF8"/>
                </a:solidFill>
                <a:latin typeface="Quattrocento Sans" pitchFamily="34" charset="0"/>
                <a:ea typeface="Quattrocento Sans" pitchFamily="34" charset="-122"/>
                <a:cs typeface="Quattrocento Sans" pitchFamily="34" charset="-120"/>
              </a:rPr>
              <a:t>AIRBUS 2026</a:t>
            </a:r>
            <a:endParaRPr lang="en-US" sz="1600" dirty="0"/>
          </a:p>
        </p:txBody>
      </p:sp>
      <p:sp>
        <p:nvSpPr>
          <p:cNvPr id="6" name="Text 3"/>
          <p:cNvSpPr/>
          <p:nvPr/>
        </p:nvSpPr>
        <p:spPr>
          <a:xfrm>
            <a:off x="3148038" y="720270"/>
            <a:ext cx="5899355" cy="1371943"/>
          </a:xfrm>
          <a:prstGeom prst="rect">
            <a:avLst/>
          </a:prstGeom>
          <a:noFill/>
          <a:ln/>
        </p:spPr>
        <p:txBody>
          <a:bodyPr wrap="square" lIns="0" tIns="0" rIns="0" bIns="0" rtlCol="0" anchor="ctr"/>
          <a:lstStyle/>
          <a:p>
            <a:pPr algn="ctr">
              <a:lnSpc>
                <a:spcPct val="100000"/>
              </a:lnSpc>
            </a:pPr>
            <a:r>
              <a:rPr lang="en-US" sz="4321" b="1" dirty="0">
                <a:solidFill>
                  <a:srgbClr val="FFFFFF"/>
                </a:solidFill>
                <a:latin typeface="Liter" pitchFamily="34" charset="0"/>
                <a:ea typeface="Liter" pitchFamily="34" charset="-122"/>
                <a:cs typeface="Liter" pitchFamily="34" charset="-120"/>
              </a:rPr>
              <a:t>Engineering Excellence</a:t>
            </a:r>
            <a:endParaRPr lang="en-US" sz="1600" dirty="0"/>
          </a:p>
          <a:p>
            <a:pPr algn="ctr">
              <a:lnSpc>
                <a:spcPct val="100000"/>
              </a:lnSpc>
            </a:pPr>
            <a:r>
              <a:rPr lang="en-US" sz="4321" b="1" dirty="0">
                <a:solidFill>
                  <a:srgbClr val="38BDF8"/>
                </a:solidFill>
                <a:latin typeface="Liter" pitchFamily="34" charset="0"/>
                <a:ea typeface="Liter" pitchFamily="34" charset="-122"/>
                <a:cs typeface="Liter" pitchFamily="34" charset="-120"/>
              </a:rPr>
              <a:t>Sustainable Future</a:t>
            </a:r>
            <a:endParaRPr lang="en-US" sz="1600" dirty="0"/>
          </a:p>
        </p:txBody>
      </p:sp>
      <p:sp>
        <p:nvSpPr>
          <p:cNvPr id="7" name="Shape 4"/>
          <p:cNvSpPr/>
          <p:nvPr/>
        </p:nvSpPr>
        <p:spPr>
          <a:xfrm>
            <a:off x="5365726" y="2311724"/>
            <a:ext cx="1463406" cy="36585"/>
          </a:xfrm>
          <a:custGeom>
            <a:avLst/>
            <a:gdLst/>
            <a:ahLst/>
            <a:cxnLst/>
            <a:rect l="l" t="t" r="r" b="b"/>
            <a:pathLst>
              <a:path w="1463406" h="36585">
                <a:moveTo>
                  <a:pt x="0" y="0"/>
                </a:moveTo>
                <a:lnTo>
                  <a:pt x="1463406" y="0"/>
                </a:lnTo>
                <a:lnTo>
                  <a:pt x="1463406" y="36585"/>
                </a:lnTo>
                <a:lnTo>
                  <a:pt x="0" y="36585"/>
                </a:lnTo>
                <a:lnTo>
                  <a:pt x="0" y="0"/>
                </a:lnTo>
                <a:close/>
              </a:path>
            </a:pathLst>
          </a:custGeom>
          <a:gradFill flip="none" rotWithShape="1">
            <a:gsLst>
              <a:gs pos="0">
                <a:srgbClr val="38BDF8"/>
              </a:gs>
              <a:gs pos="100000">
                <a:srgbClr val="F59E0B"/>
              </a:gs>
            </a:gsLst>
            <a:lin ang="0" scaled="1"/>
          </a:gradFill>
          <a:ln/>
        </p:spPr>
        <p:txBody>
          <a:bodyPr/>
          <a:lstStyle/>
          <a:p>
            <a:endParaRPr lang="en-GB"/>
          </a:p>
        </p:txBody>
      </p:sp>
      <p:sp>
        <p:nvSpPr>
          <p:cNvPr id="8" name="Text 5"/>
          <p:cNvSpPr/>
          <p:nvPr/>
        </p:nvSpPr>
        <p:spPr>
          <a:xfrm>
            <a:off x="1954161" y="2933671"/>
            <a:ext cx="8286536" cy="1189017"/>
          </a:xfrm>
          <a:prstGeom prst="rect">
            <a:avLst/>
          </a:prstGeom>
          <a:noFill/>
          <a:ln/>
        </p:spPr>
        <p:txBody>
          <a:bodyPr wrap="square" lIns="0" tIns="0" rIns="0" bIns="0" rtlCol="0" anchor="ctr"/>
          <a:lstStyle/>
          <a:p>
            <a:pPr algn="ctr">
              <a:lnSpc>
                <a:spcPct val="140000"/>
              </a:lnSpc>
            </a:pPr>
            <a:r>
              <a:rPr lang="en-US" sz="1440" dirty="0">
                <a:solidFill>
                  <a:srgbClr val="E2E8F0"/>
                </a:solidFill>
                <a:latin typeface="Quattrocento Sans" pitchFamily="34" charset="0"/>
                <a:ea typeface="Quattrocento Sans" pitchFamily="34" charset="-122"/>
                <a:cs typeface="Quattrocento Sans" pitchFamily="34" charset="-120"/>
              </a:rPr>
              <a:t>Airbus stands at the forefront of aviation innovation, combining engineering excellence with a bold vision for sustainable flight. With </a:t>
            </a:r>
            <a:r>
              <a:rPr lang="en-US" sz="1440" b="1" dirty="0">
                <a:solidFill>
                  <a:srgbClr val="38BDF8"/>
                </a:solidFill>
                <a:latin typeface="Quattrocento Sans" pitchFamily="34" charset="0"/>
                <a:ea typeface="Quattrocento Sans" pitchFamily="34" charset="-122"/>
                <a:cs typeface="Quattrocento Sans" pitchFamily="34" charset="-120"/>
              </a:rPr>
              <a:t>record backlogs of 8,754 aircraft</a:t>
            </a:r>
            <a:r>
              <a:rPr lang="en-US" sz="1440" dirty="0">
                <a:solidFill>
                  <a:srgbClr val="E2E8F0"/>
                </a:solidFill>
                <a:latin typeface="Quattrocento Sans" pitchFamily="34" charset="0"/>
                <a:ea typeface="Quattrocento Sans" pitchFamily="34" charset="-122"/>
                <a:cs typeface="Quattrocento Sans" pitchFamily="34" charset="-120"/>
              </a:rPr>
              <a:t>, </a:t>
            </a:r>
            <a:r>
              <a:rPr lang="en-US" sz="1440" b="1" dirty="0">
                <a:solidFill>
                  <a:srgbClr val="F59E0B"/>
                </a:solidFill>
                <a:latin typeface="Quattrocento Sans" pitchFamily="34" charset="0"/>
                <a:ea typeface="Quattrocento Sans" pitchFamily="34" charset="-122"/>
                <a:cs typeface="Quattrocento Sans" pitchFamily="34" charset="-120"/>
              </a:rPr>
              <a:t>strong financial performance</a:t>
            </a:r>
            <a:r>
              <a:rPr lang="en-US" sz="1440" dirty="0">
                <a:solidFill>
                  <a:srgbClr val="E2E8F0"/>
                </a:solidFill>
                <a:latin typeface="Quattrocento Sans" pitchFamily="34" charset="0"/>
                <a:ea typeface="Quattrocento Sans" pitchFamily="34" charset="-122"/>
                <a:cs typeface="Quattrocento Sans" pitchFamily="34" charset="-120"/>
              </a:rPr>
              <a:t>, and </a:t>
            </a:r>
            <a:r>
              <a:rPr lang="en-US" sz="1440" b="1" dirty="0">
                <a:solidFill>
                  <a:srgbClr val="38BDF8"/>
                </a:solidFill>
                <a:latin typeface="Quattrocento Sans" pitchFamily="34" charset="0"/>
                <a:ea typeface="Quattrocento Sans" pitchFamily="34" charset="-122"/>
                <a:cs typeface="Quattrocento Sans" pitchFamily="34" charset="-120"/>
              </a:rPr>
              <a:t>industry-leading decarbonization initiatives</a:t>
            </a:r>
            <a:r>
              <a:rPr lang="en-US" sz="1440" dirty="0">
                <a:solidFill>
                  <a:srgbClr val="E2E8F0"/>
                </a:solidFill>
                <a:latin typeface="Quattrocento Sans" pitchFamily="34" charset="0"/>
                <a:ea typeface="Quattrocento Sans" pitchFamily="34" charset="-122"/>
                <a:cs typeface="Quattrocento Sans" pitchFamily="34" charset="-120"/>
              </a:rPr>
              <a:t>, Airbus is positioned to shape the future of air transportation for decades to come.</a:t>
            </a:r>
            <a:endParaRPr lang="en-US" sz="1600" dirty="0"/>
          </a:p>
        </p:txBody>
      </p:sp>
      <p:sp>
        <p:nvSpPr>
          <p:cNvPr id="9" name="Text 6"/>
          <p:cNvSpPr/>
          <p:nvPr/>
        </p:nvSpPr>
        <p:spPr>
          <a:xfrm>
            <a:off x="1958734" y="4342200"/>
            <a:ext cx="8277389" cy="804873"/>
          </a:xfrm>
          <a:prstGeom prst="rect">
            <a:avLst/>
          </a:prstGeom>
          <a:noFill/>
          <a:ln/>
        </p:spPr>
        <p:txBody>
          <a:bodyPr wrap="square" lIns="0" tIns="0" rIns="0" bIns="0" rtlCol="0" anchor="ctr"/>
          <a:lstStyle/>
          <a:p>
            <a:pPr algn="ctr">
              <a:lnSpc>
                <a:spcPct val="140000"/>
              </a:lnSpc>
            </a:pPr>
            <a:r>
              <a:rPr lang="en-US" sz="1296" dirty="0">
                <a:solidFill>
                  <a:srgbClr val="94A3B8"/>
                </a:solidFill>
                <a:latin typeface="Quattrocento Sans" pitchFamily="34" charset="0"/>
                <a:ea typeface="Quattrocento Sans" pitchFamily="34" charset="-122"/>
                <a:cs typeface="Quattrocento Sans" pitchFamily="34" charset="-120"/>
              </a:rPr>
              <a:t>From the A320 family's market dominance to the revolutionary ZEROe hydrogen program, Airbus continues to push the boundaries of what's possible in aerospace—proving that European collaboration, innovation, and determination can lead the world.</a:t>
            </a:r>
            <a:endParaRPr lang="en-US" sz="1600" dirty="0"/>
          </a:p>
        </p:txBody>
      </p:sp>
      <p:sp>
        <p:nvSpPr>
          <p:cNvPr id="10" name="Shape 7"/>
          <p:cNvSpPr/>
          <p:nvPr/>
        </p:nvSpPr>
        <p:spPr>
          <a:xfrm>
            <a:off x="2004466" y="5515211"/>
            <a:ext cx="2524375" cy="1033530"/>
          </a:xfrm>
          <a:custGeom>
            <a:avLst/>
            <a:gdLst/>
            <a:ahLst/>
            <a:cxnLst/>
            <a:rect l="l" t="t" r="r" b="b"/>
            <a:pathLst>
              <a:path w="2524375" h="1033530">
                <a:moveTo>
                  <a:pt x="109751" y="0"/>
                </a:moveTo>
                <a:lnTo>
                  <a:pt x="2414625" y="0"/>
                </a:lnTo>
                <a:cubicBezTo>
                  <a:pt x="2475238" y="0"/>
                  <a:pt x="2524375" y="49137"/>
                  <a:pt x="2524375" y="109751"/>
                </a:cubicBezTo>
                <a:lnTo>
                  <a:pt x="2524375" y="923780"/>
                </a:lnTo>
                <a:cubicBezTo>
                  <a:pt x="2524375" y="984393"/>
                  <a:pt x="2475238" y="1033530"/>
                  <a:pt x="2414625" y="1033530"/>
                </a:cubicBezTo>
                <a:lnTo>
                  <a:pt x="109751" y="1033530"/>
                </a:lnTo>
                <a:cubicBezTo>
                  <a:pt x="49137" y="1033530"/>
                  <a:pt x="0" y="984393"/>
                  <a:pt x="0" y="923780"/>
                </a:cubicBezTo>
                <a:lnTo>
                  <a:pt x="0" y="109751"/>
                </a:lnTo>
                <a:cubicBezTo>
                  <a:pt x="0" y="49137"/>
                  <a:pt x="49137" y="0"/>
                  <a:pt x="109751" y="0"/>
                </a:cubicBezTo>
                <a:close/>
              </a:path>
            </a:pathLst>
          </a:custGeom>
          <a:solidFill>
            <a:srgbClr val="1E293B">
              <a:alpha val="80000"/>
            </a:srgbClr>
          </a:solidFill>
          <a:ln w="12700">
            <a:solidFill>
              <a:srgbClr val="38BDF8">
                <a:alpha val="30196"/>
              </a:srgbClr>
            </a:solidFill>
            <a:prstDash val="solid"/>
          </a:ln>
        </p:spPr>
        <p:txBody>
          <a:bodyPr/>
          <a:lstStyle/>
          <a:p>
            <a:endParaRPr lang="en-GB"/>
          </a:p>
        </p:txBody>
      </p:sp>
      <p:sp>
        <p:nvSpPr>
          <p:cNvPr id="11" name="Text 8"/>
          <p:cNvSpPr/>
          <p:nvPr/>
        </p:nvSpPr>
        <p:spPr>
          <a:xfrm>
            <a:off x="2109648" y="5702710"/>
            <a:ext cx="2314011" cy="365851"/>
          </a:xfrm>
          <a:prstGeom prst="rect">
            <a:avLst/>
          </a:prstGeom>
          <a:noFill/>
          <a:ln/>
        </p:spPr>
        <p:txBody>
          <a:bodyPr wrap="square" lIns="0" tIns="0" rIns="0" bIns="0" rtlCol="0" anchor="ctr"/>
          <a:lstStyle/>
          <a:p>
            <a:pPr algn="ctr">
              <a:lnSpc>
                <a:spcPct val="90000"/>
              </a:lnSpc>
            </a:pPr>
            <a:r>
              <a:rPr lang="en-US" sz="2593" b="1" dirty="0">
                <a:solidFill>
                  <a:srgbClr val="38BDF8"/>
                </a:solidFill>
                <a:latin typeface="Liter" pitchFamily="34" charset="0"/>
                <a:ea typeface="Liter" pitchFamily="34" charset="-122"/>
                <a:cs typeface="Liter" pitchFamily="34" charset="-120"/>
              </a:rPr>
              <a:t>€47.4B</a:t>
            </a:r>
            <a:endParaRPr lang="en-US" sz="1600" dirty="0"/>
          </a:p>
        </p:txBody>
      </p:sp>
      <p:sp>
        <p:nvSpPr>
          <p:cNvPr id="12" name="Text 9"/>
          <p:cNvSpPr/>
          <p:nvPr/>
        </p:nvSpPr>
        <p:spPr>
          <a:xfrm>
            <a:off x="2155380" y="6141731"/>
            <a:ext cx="2222548" cy="219511"/>
          </a:xfrm>
          <a:prstGeom prst="rect">
            <a:avLst/>
          </a:prstGeom>
          <a:noFill/>
          <a:ln/>
        </p:spPr>
        <p:txBody>
          <a:bodyPr wrap="square" lIns="0" tIns="0" rIns="0" bIns="0" rtlCol="0" anchor="ctr"/>
          <a:lstStyle/>
          <a:p>
            <a:pPr algn="ctr">
              <a:lnSpc>
                <a:spcPct val="130000"/>
              </a:lnSpc>
            </a:pPr>
            <a:r>
              <a:rPr lang="en-US" sz="1152" dirty="0">
                <a:solidFill>
                  <a:srgbClr val="94A3B8"/>
                </a:solidFill>
                <a:latin typeface="Quattrocento Sans" pitchFamily="34" charset="0"/>
                <a:ea typeface="Quattrocento Sans" pitchFamily="34" charset="-122"/>
                <a:cs typeface="Quattrocento Sans" pitchFamily="34" charset="-120"/>
              </a:rPr>
              <a:t>9M 2025 Revenue</a:t>
            </a:r>
            <a:endParaRPr lang="en-US" sz="1600" dirty="0"/>
          </a:p>
        </p:txBody>
      </p:sp>
      <p:sp>
        <p:nvSpPr>
          <p:cNvPr id="13" name="Shape 10"/>
          <p:cNvSpPr/>
          <p:nvPr/>
        </p:nvSpPr>
        <p:spPr>
          <a:xfrm>
            <a:off x="4833670" y="5515211"/>
            <a:ext cx="2524375" cy="1033530"/>
          </a:xfrm>
          <a:custGeom>
            <a:avLst/>
            <a:gdLst/>
            <a:ahLst/>
            <a:cxnLst/>
            <a:rect l="l" t="t" r="r" b="b"/>
            <a:pathLst>
              <a:path w="2524375" h="1033530">
                <a:moveTo>
                  <a:pt x="109751" y="0"/>
                </a:moveTo>
                <a:lnTo>
                  <a:pt x="2414625" y="0"/>
                </a:lnTo>
                <a:cubicBezTo>
                  <a:pt x="2475238" y="0"/>
                  <a:pt x="2524375" y="49137"/>
                  <a:pt x="2524375" y="109751"/>
                </a:cubicBezTo>
                <a:lnTo>
                  <a:pt x="2524375" y="923780"/>
                </a:lnTo>
                <a:cubicBezTo>
                  <a:pt x="2524375" y="984393"/>
                  <a:pt x="2475238" y="1033530"/>
                  <a:pt x="2414625" y="1033530"/>
                </a:cubicBezTo>
                <a:lnTo>
                  <a:pt x="109751" y="1033530"/>
                </a:lnTo>
                <a:cubicBezTo>
                  <a:pt x="49137" y="1033530"/>
                  <a:pt x="0" y="984393"/>
                  <a:pt x="0" y="923780"/>
                </a:cubicBezTo>
                <a:lnTo>
                  <a:pt x="0" y="109751"/>
                </a:lnTo>
                <a:cubicBezTo>
                  <a:pt x="0" y="49137"/>
                  <a:pt x="49137" y="0"/>
                  <a:pt x="109751" y="0"/>
                </a:cubicBezTo>
                <a:close/>
              </a:path>
            </a:pathLst>
          </a:custGeom>
          <a:solidFill>
            <a:srgbClr val="1E293B">
              <a:alpha val="80000"/>
            </a:srgbClr>
          </a:solidFill>
          <a:ln w="12700">
            <a:solidFill>
              <a:srgbClr val="F59E0B">
                <a:alpha val="30196"/>
              </a:srgbClr>
            </a:solidFill>
            <a:prstDash val="solid"/>
          </a:ln>
        </p:spPr>
        <p:txBody>
          <a:bodyPr/>
          <a:lstStyle/>
          <a:p>
            <a:endParaRPr lang="en-GB"/>
          </a:p>
        </p:txBody>
      </p:sp>
      <p:sp>
        <p:nvSpPr>
          <p:cNvPr id="14" name="Text 11"/>
          <p:cNvSpPr/>
          <p:nvPr/>
        </p:nvSpPr>
        <p:spPr>
          <a:xfrm>
            <a:off x="4938852" y="5702710"/>
            <a:ext cx="2314011" cy="365851"/>
          </a:xfrm>
          <a:prstGeom prst="rect">
            <a:avLst/>
          </a:prstGeom>
          <a:noFill/>
          <a:ln/>
        </p:spPr>
        <p:txBody>
          <a:bodyPr wrap="square" lIns="0" tIns="0" rIns="0" bIns="0" rtlCol="0" anchor="ctr"/>
          <a:lstStyle/>
          <a:p>
            <a:pPr algn="ctr">
              <a:lnSpc>
                <a:spcPct val="90000"/>
              </a:lnSpc>
            </a:pPr>
            <a:r>
              <a:rPr lang="en-US" sz="2593" b="1" dirty="0">
                <a:solidFill>
                  <a:srgbClr val="F59E0B"/>
                </a:solidFill>
                <a:latin typeface="Liter" pitchFamily="34" charset="0"/>
                <a:ea typeface="Liter" pitchFamily="34" charset="-122"/>
                <a:cs typeface="Liter" pitchFamily="34" charset="-120"/>
              </a:rPr>
              <a:t>8,754</a:t>
            </a:r>
            <a:endParaRPr lang="en-US" sz="1600" dirty="0"/>
          </a:p>
        </p:txBody>
      </p:sp>
      <p:sp>
        <p:nvSpPr>
          <p:cNvPr id="15" name="Text 12"/>
          <p:cNvSpPr/>
          <p:nvPr/>
        </p:nvSpPr>
        <p:spPr>
          <a:xfrm>
            <a:off x="4984583" y="6141731"/>
            <a:ext cx="2222548" cy="219511"/>
          </a:xfrm>
          <a:prstGeom prst="rect">
            <a:avLst/>
          </a:prstGeom>
          <a:noFill/>
          <a:ln/>
        </p:spPr>
        <p:txBody>
          <a:bodyPr wrap="square" lIns="0" tIns="0" rIns="0" bIns="0" rtlCol="0" anchor="ctr"/>
          <a:lstStyle/>
          <a:p>
            <a:pPr algn="ctr">
              <a:lnSpc>
                <a:spcPct val="130000"/>
              </a:lnSpc>
            </a:pPr>
            <a:r>
              <a:rPr lang="en-US" sz="1152" dirty="0">
                <a:solidFill>
                  <a:srgbClr val="94A3B8"/>
                </a:solidFill>
                <a:latin typeface="Quattrocento Sans" pitchFamily="34" charset="0"/>
                <a:ea typeface="Quattrocento Sans" pitchFamily="34" charset="-122"/>
                <a:cs typeface="Quattrocento Sans" pitchFamily="34" charset="-120"/>
              </a:rPr>
              <a:t>Aircraft Backlog</a:t>
            </a:r>
            <a:endParaRPr lang="en-US" sz="1600" dirty="0"/>
          </a:p>
        </p:txBody>
      </p:sp>
      <p:sp>
        <p:nvSpPr>
          <p:cNvPr id="16" name="Shape 13"/>
          <p:cNvSpPr/>
          <p:nvPr/>
        </p:nvSpPr>
        <p:spPr>
          <a:xfrm>
            <a:off x="7662873" y="5515211"/>
            <a:ext cx="2524375" cy="1033530"/>
          </a:xfrm>
          <a:custGeom>
            <a:avLst/>
            <a:gdLst/>
            <a:ahLst/>
            <a:cxnLst/>
            <a:rect l="l" t="t" r="r" b="b"/>
            <a:pathLst>
              <a:path w="2524375" h="1033530">
                <a:moveTo>
                  <a:pt x="109751" y="0"/>
                </a:moveTo>
                <a:lnTo>
                  <a:pt x="2414625" y="0"/>
                </a:lnTo>
                <a:cubicBezTo>
                  <a:pt x="2475238" y="0"/>
                  <a:pt x="2524375" y="49137"/>
                  <a:pt x="2524375" y="109751"/>
                </a:cubicBezTo>
                <a:lnTo>
                  <a:pt x="2524375" y="923780"/>
                </a:lnTo>
                <a:cubicBezTo>
                  <a:pt x="2524375" y="984393"/>
                  <a:pt x="2475238" y="1033530"/>
                  <a:pt x="2414625" y="1033530"/>
                </a:cubicBezTo>
                <a:lnTo>
                  <a:pt x="109751" y="1033530"/>
                </a:lnTo>
                <a:cubicBezTo>
                  <a:pt x="49137" y="1033530"/>
                  <a:pt x="0" y="984393"/>
                  <a:pt x="0" y="923780"/>
                </a:cubicBezTo>
                <a:lnTo>
                  <a:pt x="0" y="109751"/>
                </a:lnTo>
                <a:cubicBezTo>
                  <a:pt x="0" y="49137"/>
                  <a:pt x="49137" y="0"/>
                  <a:pt x="109751" y="0"/>
                </a:cubicBezTo>
                <a:close/>
              </a:path>
            </a:pathLst>
          </a:custGeom>
          <a:solidFill>
            <a:srgbClr val="1E293B">
              <a:alpha val="80000"/>
            </a:srgbClr>
          </a:solidFill>
          <a:ln w="12700">
            <a:solidFill>
              <a:srgbClr val="38BDF8">
                <a:alpha val="30196"/>
              </a:srgbClr>
            </a:solidFill>
            <a:prstDash val="solid"/>
          </a:ln>
        </p:spPr>
        <p:txBody>
          <a:bodyPr/>
          <a:lstStyle/>
          <a:p>
            <a:endParaRPr lang="en-GB"/>
          </a:p>
        </p:txBody>
      </p:sp>
      <p:sp>
        <p:nvSpPr>
          <p:cNvPr id="17" name="Text 14"/>
          <p:cNvSpPr/>
          <p:nvPr/>
        </p:nvSpPr>
        <p:spPr>
          <a:xfrm>
            <a:off x="7768056" y="5702710"/>
            <a:ext cx="2314011" cy="365851"/>
          </a:xfrm>
          <a:prstGeom prst="rect">
            <a:avLst/>
          </a:prstGeom>
          <a:noFill/>
          <a:ln/>
        </p:spPr>
        <p:txBody>
          <a:bodyPr wrap="square" lIns="0" tIns="0" rIns="0" bIns="0" rtlCol="0" anchor="ctr"/>
          <a:lstStyle/>
          <a:p>
            <a:pPr algn="ctr">
              <a:lnSpc>
                <a:spcPct val="90000"/>
              </a:lnSpc>
            </a:pPr>
            <a:r>
              <a:rPr lang="en-US" sz="2593" b="1" dirty="0">
                <a:solidFill>
                  <a:srgbClr val="38BDF8"/>
                </a:solidFill>
                <a:latin typeface="Liter" pitchFamily="34" charset="0"/>
                <a:ea typeface="Liter" pitchFamily="34" charset="-122"/>
                <a:cs typeface="Liter" pitchFamily="34" charset="-120"/>
              </a:rPr>
              <a:t>159K+</a:t>
            </a:r>
            <a:endParaRPr lang="en-US" sz="1600" dirty="0"/>
          </a:p>
        </p:txBody>
      </p:sp>
      <p:sp>
        <p:nvSpPr>
          <p:cNvPr id="18" name="Text 15"/>
          <p:cNvSpPr/>
          <p:nvPr/>
        </p:nvSpPr>
        <p:spPr>
          <a:xfrm>
            <a:off x="7813787" y="6141731"/>
            <a:ext cx="2222548" cy="219511"/>
          </a:xfrm>
          <a:prstGeom prst="rect">
            <a:avLst/>
          </a:prstGeom>
          <a:noFill/>
          <a:ln/>
        </p:spPr>
        <p:txBody>
          <a:bodyPr wrap="square" lIns="0" tIns="0" rIns="0" bIns="0" rtlCol="0" anchor="ctr"/>
          <a:lstStyle/>
          <a:p>
            <a:pPr algn="ctr">
              <a:lnSpc>
                <a:spcPct val="130000"/>
              </a:lnSpc>
            </a:pPr>
            <a:r>
              <a:rPr lang="en-US" sz="1152" dirty="0">
                <a:solidFill>
                  <a:srgbClr val="94A3B8"/>
                </a:solidFill>
                <a:latin typeface="Quattrocento Sans" pitchFamily="34" charset="0"/>
                <a:ea typeface="Quattrocento Sans" pitchFamily="34" charset="-122"/>
                <a:cs typeface="Quattrocento Sans" pitchFamily="34" charset="-120"/>
              </a:rPr>
              <a:t>Global Employees</a:t>
            </a:r>
            <a:endParaRPr lang="en-US" sz="1600" dirty="0"/>
          </a:p>
        </p:txBody>
      </p:sp>
      <p:sp>
        <p:nvSpPr>
          <p:cNvPr id="19" name="Text 16"/>
          <p:cNvSpPr/>
          <p:nvPr/>
        </p:nvSpPr>
        <p:spPr>
          <a:xfrm>
            <a:off x="5041462" y="6919166"/>
            <a:ext cx="2112792" cy="219511"/>
          </a:xfrm>
          <a:prstGeom prst="rect">
            <a:avLst/>
          </a:prstGeom>
          <a:noFill/>
          <a:ln/>
        </p:spPr>
        <p:txBody>
          <a:bodyPr wrap="square" lIns="0" tIns="0" rIns="0" bIns="0" rtlCol="0" anchor="ctr"/>
          <a:lstStyle/>
          <a:p>
            <a:pPr algn="ctr">
              <a:lnSpc>
                <a:spcPct val="130000"/>
              </a:lnSpc>
            </a:pPr>
            <a:r>
              <a:rPr lang="en-US" sz="1152" dirty="0">
                <a:solidFill>
                  <a:srgbClr val="64748B"/>
                </a:solidFill>
                <a:latin typeface="Quattrocento Sans" pitchFamily="34" charset="0"/>
                <a:ea typeface="Quattrocento Sans" pitchFamily="34" charset="-122"/>
                <a:cs typeface="Quattrocento Sans" pitchFamily="34" charset="-120"/>
              </a:rPr>
              <a:t>Leading the Future of Aerospace</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1815</Words>
  <Application>Microsoft Office PowerPoint</Application>
  <PresentationFormat>Widescreen</PresentationFormat>
  <Paragraphs>413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Quattrocento Sans</vt:lpstr>
      <vt:lpstr>Arial</vt:lpstr>
      <vt:lpstr>Hedvig Letters Sans</vt:lpstr>
      <vt:lpstr>Liter</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Airbus: Engineering the Future of Aviation</dc:title>
  <dc:subject>Airbus: Engineering the Future of Aviation</dc:subject>
  <dc:creator>Kimi</dc:creator>
  <cp:lastModifiedBy>Andrew McCreath</cp:lastModifiedBy>
  <cp:revision>2</cp:revision>
  <dcterms:created xsi:type="dcterms:W3CDTF">2026-01-29T01:48:28Z</dcterms:created>
  <dcterms:modified xsi:type="dcterms:W3CDTF">2026-01-29T01:56:26Z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{"Label":"Airbus: Engineering the Future of Aviation","ContentProducer":"001191110108MACG2KBH8F10000","ProduceID":"19c076c8-10a2-8636-8000-00007b18bb71","ReservedCode1":"","ContentPropagator":"001191110108MACG2KBH8F20000","PropagateID":"19c076c8-10a2-8636-8000-00007b18bb71","ReservedCode2":""}</vt:lpwstr>
  </property>
</Properties>
</file>